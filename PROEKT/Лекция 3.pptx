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8" r:id="rId22"/>
    <p:sldId id="276" r:id="rId23"/>
    <p:sldId id="277" r:id="rId2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6" d="100"/>
          <a:sy n="76" d="100"/>
        </p:scale>
        <p:origin x="-90" y="-75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06.10.2023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06.10.2023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5B106E36-FD25-4E2D-B0AA-010F637433A0}" type="datetimeFigureOut">
              <a:rPr lang="ru-RU" smtClean="0"/>
              <a:pPr/>
              <a:t>06.10.2023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5B106E36-FD25-4E2D-B0AA-010F637433A0}" type="datetimeFigureOut">
              <a:rPr lang="ru-RU" smtClean="0"/>
              <a:pPr/>
              <a:t>06.10.2023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5B106E36-FD25-4E2D-B0AA-010F637433A0}" type="datetimeFigureOut">
              <a:rPr lang="ru-RU" smtClean="0"/>
              <a:pPr/>
              <a:t>06.10.2023</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5B106E36-FD25-4E2D-B0AA-010F637433A0}" type="datetimeFigureOut">
              <a:rPr lang="ru-RU" smtClean="0"/>
              <a:pPr/>
              <a:t>06.10.2023</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5B106E36-FD25-4E2D-B0AA-010F637433A0}" type="datetimeFigureOut">
              <a:rPr lang="ru-RU" smtClean="0"/>
              <a:pPr/>
              <a:t>06.10.2023</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5B106E36-FD25-4E2D-B0AA-010F637433A0}" type="datetimeFigureOut">
              <a:rPr lang="ru-RU" smtClean="0"/>
              <a:pPr/>
              <a:t>06.10.2023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5B106E36-FD25-4E2D-B0AA-010F637433A0}" type="datetimeFigureOut">
              <a:rPr lang="ru-RU" smtClean="0"/>
              <a:pPr/>
              <a:t>06.10.2023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06.10.2023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06.10.2023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106E36-FD25-4E2D-B0AA-010F637433A0}" type="datetimeFigureOut">
              <a:rPr lang="ru-RU" smtClean="0"/>
              <a:pPr/>
              <a:t>06.10.2023</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5C68B6-61C2-468F-89AB-4B9F7531AA68}"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ru.wikipedia.org/wiki/%D0%9A%D0%BE%D0%BC%D0%BF%D1%8C%D1%8E%D1%82%D0%B5%D1%80%D0%BD%D0%B0%D1%8F_%D0%BF%D1%80%D0%BE%D0%B3%D1%80%D0%B0%D0%BC%D0%BC%D0%B0" TargetMode="External"/><Relationship Id="rId2" Type="http://schemas.openxmlformats.org/officeDocument/2006/relationships/hyperlink" Target="https://ru.wikipedia.org/wiki/%D0%90%D0%BD%D0%B3%D0%BB%D0%B8%D0%B9%D1%81%D0%BA%D0%B8%D0%B9_%D1%8F%D0%B7%D1%8B%D0%B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ru.wikipedia.org/wiki/%D0%A0%D0%B5%D1%84%D0%B0%D0%BA%D1%82%D0%BE%D1%80%D0%B8%D0%BD%D0%B3" TargetMode="External"/><Relationship Id="rId2" Type="http://schemas.openxmlformats.org/officeDocument/2006/relationships/hyperlink" Target="https://ru.wikipedia.org/wiki/%D0%9E%D0%BF%D1%82%D0%B8%D0%BC%D0%B8%D0%B7%D0%B0%D1%86%D0%B8%D1%8F_%D0%BA%D0%BE%D0%B4%D0%B0" TargetMode="External"/><Relationship Id="rId1" Type="http://schemas.openxmlformats.org/officeDocument/2006/relationships/slideLayout" Target="../slideLayouts/slideLayout2.xml"/><Relationship Id="rId4" Type="http://schemas.openxmlformats.org/officeDocument/2006/relationships/hyperlink" Target="https://ru.wikipedia.org/wiki/%D0%A0%D0%B5%D0%B8%D0%BD%D0%B6%D0%B8%D0%BD%D0%B8%D1%80%D0%B8%D0%BD%D0%B3_%D0%BF%D1%80%D0%BE%D0%B3%D1%80%D0%B0%D0%BC%D0%BC%D0%BD%D0%BE%D0%B3%D0%BE_%D0%BE%D0%B1%D0%B5%D1%81%D0%BF%D0%B5%D1%87%D0%B5%D0%BD%D0%B8%D1%8F"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ru.wikipedia.org/wiki/%D0%94%D1%83%D0%B1%D0%BB%D0%B8%D1%80%D0%BE%D0%B2%D0%B0%D0%BD%D0%B8%D0%B5_%D0%BA%D0%BE%D0%B4%D0%B0"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ru.wikipedia.org/wiki/%D0%A0%D0%B5%D1%84%D0%B0%D0%BA%D1%82%D0%BE%D1%80%D0%B8%D0%BD%D0%B3"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ru.wikipedia.org/wiki/%D0%9A%D0%BB%D0%B0%D1%81%D1%81_(%D0%BF%D1%80%D0%BE%D0%B3%D1%80%D0%B0%D0%BC%D0%BC%D0%B8%D1%80%D0%BE%D0%B2%D0%B0%D0%BD%D0%B8%D0%B5)" TargetMode="External"/><Relationship Id="rId2" Type="http://schemas.openxmlformats.org/officeDocument/2006/relationships/hyperlink" Target="https://ru.wikipedia.org/wiki/%D0%A3%D1%81%D0%BB%D0%BE%D0%B2%D0%BD%D1%8B%D0%B9_%D0%BE%D0%BF%D0%B5%D1%80%D0%B0%D1%82%D0%BE%D1%80" TargetMode="External"/><Relationship Id="rId1" Type="http://schemas.openxmlformats.org/officeDocument/2006/relationships/slideLayout" Target="../slideLayouts/slideLayout2.xml"/><Relationship Id="rId4" Type="http://schemas.openxmlformats.org/officeDocument/2006/relationships/hyperlink" Target="https://ru.wikipedia.org/wiki/%D0%A0%D0%B5%D1%84%D0%B0%D0%BA%D1%82%D0%BE%D1%80%D0%B8%D0%BD%D0%B3"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c2.com/cgi/wiki?ComplexityAsDebt" TargetMode="External"/><Relationship Id="rId2" Type="http://schemas.openxmlformats.org/officeDocument/2006/relationships/hyperlink" Target="http://c2.com/doc/oopsla92.html" TargetMode="External"/><Relationship Id="rId1" Type="http://schemas.openxmlformats.org/officeDocument/2006/relationships/slideLayout" Target="../slideLayouts/slideLayout2.xml"/><Relationship Id="rId6" Type="http://schemas.openxmlformats.org/officeDocument/2006/relationships/hyperlink" Target="https://martinfowler.com/bliki/TechnicalDebtQuadrant.html" TargetMode="External"/><Relationship Id="rId5" Type="http://schemas.openxmlformats.org/officeDocument/2006/relationships/hyperlink" Target="http://neopragma.com/index.php/2019/03/30/technical-debt-the-man-the-metaphor-the-message/" TargetMode="External"/><Relationship Id="rId4" Type="http://schemas.openxmlformats.org/officeDocument/2006/relationships/hyperlink" Target="https://www.youtube.com/watch?v=pqeJFYwnkjE"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www.informit.com/articles/article.aspx?p=1401640" TargetMode="External"/><Relationship Id="rId2" Type="http://schemas.openxmlformats.org/officeDocument/2006/relationships/hyperlink" Target="http://www.construx.com/10x_Software_Development/Technical_Debt/" TargetMode="External"/><Relationship Id="rId1" Type="http://schemas.openxmlformats.org/officeDocument/2006/relationships/slideLayout" Target="../slideLayouts/slideLayout2.xml"/><Relationship Id="rId5" Type="http://schemas.openxmlformats.org/officeDocument/2006/relationships/hyperlink" Target="http://www.daedtech.com/human-cost-tech-debt/" TargetMode="External"/><Relationship Id="rId4" Type="http://schemas.openxmlformats.org/officeDocument/2006/relationships/hyperlink" Target="http://blog.crisp.se/2013/10/11/henrikkniberg/good-and-bad-technical-deb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smtClean="0"/>
              <a:t>Рефакторинг</a:t>
            </a:r>
            <a:endParaRPr lang="ru-RU" dirty="0"/>
          </a:p>
        </p:txBody>
      </p:sp>
      <p:sp>
        <p:nvSpPr>
          <p:cNvPr id="3" name="Содержимое 2"/>
          <p:cNvSpPr>
            <a:spLocks noGrp="1"/>
          </p:cNvSpPr>
          <p:nvPr>
            <p:ph idx="1"/>
          </p:nvPr>
        </p:nvSpPr>
        <p:spPr>
          <a:xfrm>
            <a:off x="457200" y="1600201"/>
            <a:ext cx="8229600" cy="3268960"/>
          </a:xfrm>
        </p:spPr>
        <p:txBody>
          <a:bodyPr>
            <a:normAutofit fontScale="92500" lnSpcReduction="10000"/>
          </a:bodyPr>
          <a:lstStyle/>
          <a:p>
            <a:pPr algn="just"/>
            <a:r>
              <a:rPr lang="ru-RU" b="1" dirty="0" err="1" smtClean="0"/>
              <a:t>Рефа́кторинг</a:t>
            </a:r>
            <a:r>
              <a:rPr lang="ru-RU" dirty="0" smtClean="0"/>
              <a:t> (</a:t>
            </a:r>
            <a:r>
              <a:rPr lang="ru-RU" dirty="0" smtClean="0">
                <a:hlinkClick r:id="rId2" tooltip="Английский язык"/>
              </a:rPr>
              <a:t>англ.</a:t>
            </a:r>
            <a:r>
              <a:rPr lang="ru-RU" dirty="0" smtClean="0"/>
              <a:t> </a:t>
            </a:r>
            <a:r>
              <a:rPr lang="ru-RU" i="1" dirty="0" err="1" smtClean="0"/>
              <a:t>refactoring</a:t>
            </a:r>
            <a:r>
              <a:rPr lang="ru-RU" dirty="0" smtClean="0"/>
              <a:t>), или </a:t>
            </a:r>
            <a:r>
              <a:rPr lang="ru-RU" b="1" dirty="0" err="1" smtClean="0"/>
              <a:t>перепроектирование</a:t>
            </a:r>
            <a:r>
              <a:rPr lang="ru-RU" b="1" dirty="0" smtClean="0"/>
              <a:t> кода, переработка кода, равносильное преобразование алгоритмов</a:t>
            </a:r>
            <a:r>
              <a:rPr lang="ru-RU" dirty="0" smtClean="0"/>
              <a:t> — процесс изменения внутренней структуры </a:t>
            </a:r>
            <a:r>
              <a:rPr lang="ru-RU" dirty="0" smtClean="0">
                <a:hlinkClick r:id="rId3" tooltip="Компьютерная программа"/>
              </a:rPr>
              <a:t>программы</a:t>
            </a:r>
            <a:r>
              <a:rPr lang="ru-RU" dirty="0" smtClean="0"/>
              <a:t>, не затрагивающий её внешнего поведения и имеющий целью облегчить понимание её работы</a:t>
            </a:r>
            <a:endParaRPr lang="ru-R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Цели </a:t>
            </a:r>
            <a:r>
              <a:rPr lang="ru-RU" dirty="0" err="1" smtClean="0"/>
              <a:t>рефакторинга</a:t>
            </a:r>
            <a:endParaRPr lang="ru-RU" dirty="0"/>
          </a:p>
        </p:txBody>
      </p:sp>
      <p:sp>
        <p:nvSpPr>
          <p:cNvPr id="3" name="Содержимое 2"/>
          <p:cNvSpPr>
            <a:spLocks noGrp="1"/>
          </p:cNvSpPr>
          <p:nvPr>
            <p:ph idx="1"/>
          </p:nvPr>
        </p:nvSpPr>
        <p:spPr/>
        <p:txBody>
          <a:bodyPr>
            <a:normAutofit fontScale="77500" lnSpcReduction="20000"/>
          </a:bodyPr>
          <a:lstStyle/>
          <a:p>
            <a:r>
              <a:rPr lang="ru-RU" dirty="0" smtClean="0"/>
              <a:t>Цель </a:t>
            </a:r>
            <a:r>
              <a:rPr lang="ru-RU" dirty="0" err="1" smtClean="0"/>
              <a:t>рефакторинга</a:t>
            </a:r>
            <a:r>
              <a:rPr lang="ru-RU" dirty="0" smtClean="0"/>
              <a:t> — сделать код программы более легким для понимания; без этого </a:t>
            </a:r>
            <a:r>
              <a:rPr lang="ru-RU" dirty="0" err="1" smtClean="0"/>
              <a:t>рефакторинг</a:t>
            </a:r>
            <a:r>
              <a:rPr lang="ru-RU" dirty="0" smtClean="0"/>
              <a:t> нельзя считать успешным.</a:t>
            </a:r>
          </a:p>
          <a:p>
            <a:r>
              <a:rPr lang="ru-RU" dirty="0" err="1" smtClean="0"/>
              <a:t>Рефакторинг</a:t>
            </a:r>
            <a:r>
              <a:rPr lang="ru-RU" dirty="0" smtClean="0"/>
              <a:t> следует отличать от </a:t>
            </a:r>
            <a:r>
              <a:rPr lang="ru-RU" dirty="0" smtClean="0">
                <a:hlinkClick r:id="rId2" tooltip="Оптимизация кода"/>
              </a:rPr>
              <a:t>оптимизации производительности</a:t>
            </a:r>
            <a:r>
              <a:rPr lang="ru-RU" dirty="0" smtClean="0"/>
              <a:t>. Как и </a:t>
            </a:r>
            <a:r>
              <a:rPr lang="ru-RU" dirty="0" err="1" smtClean="0"/>
              <a:t>рефакторинг</a:t>
            </a:r>
            <a:r>
              <a:rPr lang="ru-RU" dirty="0" smtClean="0"/>
              <a:t>, оптимизация обычно не изменяет поведение программы, а только ускоряет её работу. Но оптимизация часто затрудняет понимание кода, что противоположно </a:t>
            </a:r>
            <a:r>
              <a:rPr lang="ru-RU" dirty="0" err="1" smtClean="0"/>
              <a:t>рефакторингу</a:t>
            </a:r>
            <a:r>
              <a:rPr lang="ru-RU" baseline="30000" dirty="0" smtClean="0">
                <a:hlinkClick r:id="rId3"/>
              </a:rPr>
              <a:t>[3]</a:t>
            </a:r>
            <a:r>
              <a:rPr lang="ru-RU" dirty="0" smtClean="0"/>
              <a:t>.</a:t>
            </a:r>
          </a:p>
          <a:p>
            <a:r>
              <a:rPr lang="ru-RU" dirty="0" smtClean="0"/>
              <a:t>С другой стороны, нужно отличать </a:t>
            </a:r>
            <a:r>
              <a:rPr lang="ru-RU" dirty="0" err="1" smtClean="0"/>
              <a:t>рефакторинг</a:t>
            </a:r>
            <a:r>
              <a:rPr lang="ru-RU" dirty="0" smtClean="0"/>
              <a:t> от </a:t>
            </a:r>
            <a:r>
              <a:rPr lang="ru-RU" dirty="0" err="1" smtClean="0">
                <a:hlinkClick r:id="rId4" tooltip="Реинжиниринг программного обеспечения"/>
              </a:rPr>
              <a:t>реинжиниринга</a:t>
            </a:r>
            <a:r>
              <a:rPr lang="ru-RU" dirty="0" smtClean="0"/>
              <a:t>, который осуществляется для расширения функциональности программного обеспечения. Как правило, крупные </a:t>
            </a:r>
            <a:r>
              <a:rPr lang="ru-RU" dirty="0" err="1" smtClean="0"/>
              <a:t>рефакторинги</a:t>
            </a:r>
            <a:r>
              <a:rPr lang="ru-RU" dirty="0" smtClean="0"/>
              <a:t> предваряют </a:t>
            </a:r>
            <a:r>
              <a:rPr lang="ru-RU" dirty="0" err="1" smtClean="0"/>
              <a:t>реинжиниринг</a:t>
            </a:r>
            <a:r>
              <a:rPr lang="ru-RU" dirty="0" smtClean="0"/>
              <a:t>.</a:t>
            </a:r>
            <a:endParaRPr lang="ru-RU"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Признаки плохого кода</a:t>
            </a:r>
            <a:endParaRPr lang="ru-RU" dirty="0"/>
          </a:p>
        </p:txBody>
      </p:sp>
      <p:sp>
        <p:nvSpPr>
          <p:cNvPr id="3" name="Содержимое 2"/>
          <p:cNvSpPr>
            <a:spLocks noGrp="1"/>
          </p:cNvSpPr>
          <p:nvPr>
            <p:ph idx="1"/>
          </p:nvPr>
        </p:nvSpPr>
        <p:spPr/>
        <p:txBody>
          <a:bodyPr>
            <a:normAutofit fontScale="92500" lnSpcReduction="20000"/>
          </a:bodyPr>
          <a:lstStyle/>
          <a:p>
            <a:pPr lvl="0"/>
            <a:r>
              <a:rPr lang="ru-RU" dirty="0" smtClean="0">
                <a:hlinkClick r:id="rId2" tooltip="Дублирование кода"/>
              </a:rPr>
              <a:t>дублирование кода</a:t>
            </a:r>
            <a:r>
              <a:rPr lang="ru-RU" dirty="0" smtClean="0"/>
              <a:t>;</a:t>
            </a:r>
          </a:p>
          <a:p>
            <a:pPr lvl="0"/>
            <a:r>
              <a:rPr lang="ru-RU" dirty="0" smtClean="0"/>
              <a:t>длинный метод;</a:t>
            </a:r>
          </a:p>
          <a:p>
            <a:pPr lvl="0"/>
            <a:r>
              <a:rPr lang="ru-RU" dirty="0" smtClean="0"/>
              <a:t>большой класс;</a:t>
            </a:r>
          </a:p>
          <a:p>
            <a:pPr lvl="0"/>
            <a:r>
              <a:rPr lang="ru-RU" dirty="0" smtClean="0"/>
              <a:t>длинный список параметров;</a:t>
            </a:r>
          </a:p>
          <a:p>
            <a:pPr lvl="0"/>
            <a:r>
              <a:rPr lang="ru-RU" dirty="0" smtClean="0"/>
              <a:t>«жадные» функции — это метод, который чрезмерно обращается к данным другого объекта;</a:t>
            </a:r>
          </a:p>
          <a:p>
            <a:pPr lvl="0"/>
            <a:r>
              <a:rPr lang="ru-RU" dirty="0" smtClean="0"/>
              <a:t>избыточные временные переменные;</a:t>
            </a:r>
          </a:p>
          <a:p>
            <a:pPr lvl="0"/>
            <a:r>
              <a:rPr lang="ru-RU" dirty="0" smtClean="0"/>
              <a:t>классы данных;</a:t>
            </a:r>
          </a:p>
          <a:p>
            <a:pPr lvl="0"/>
            <a:r>
              <a:rPr lang="ru-RU" dirty="0" err="1" smtClean="0"/>
              <a:t>несгруппированные</a:t>
            </a:r>
            <a:r>
              <a:rPr lang="ru-RU" dirty="0" smtClean="0"/>
              <a:t> данные.</a:t>
            </a:r>
          </a:p>
          <a:p>
            <a:endParaRPr lang="ru-R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Ценность продукта</a:t>
            </a:r>
            <a:br>
              <a:rPr lang="ru-RU" dirty="0" smtClean="0"/>
            </a:br>
            <a:endParaRPr lang="ru-RU" dirty="0"/>
          </a:p>
        </p:txBody>
      </p:sp>
      <p:sp>
        <p:nvSpPr>
          <p:cNvPr id="3" name="Содержимое 2"/>
          <p:cNvSpPr>
            <a:spLocks noGrp="1"/>
          </p:cNvSpPr>
          <p:nvPr>
            <p:ph idx="1"/>
          </p:nvPr>
        </p:nvSpPr>
        <p:spPr/>
        <p:txBody>
          <a:bodyPr>
            <a:normAutofit/>
          </a:bodyPr>
          <a:lstStyle/>
          <a:p>
            <a:pPr>
              <a:buNone/>
            </a:pPr>
            <a:r>
              <a:rPr lang="ru-RU" dirty="0" smtClean="0"/>
              <a:t>Прямые ценности продукта</a:t>
            </a:r>
          </a:p>
          <a:p>
            <a:pPr>
              <a:buNone/>
            </a:pPr>
            <a:r>
              <a:rPr lang="ru-RU" dirty="0" smtClean="0"/>
              <a:t> </a:t>
            </a:r>
          </a:p>
          <a:p>
            <a:pPr lvl="0"/>
            <a:r>
              <a:rPr lang="ru-RU" dirty="0" smtClean="0"/>
              <a:t>всевозможная функциональность продукта;</a:t>
            </a:r>
          </a:p>
          <a:p>
            <a:pPr lvl="0"/>
            <a:r>
              <a:rPr lang="ru-RU" dirty="0" smtClean="0"/>
              <a:t>удобство использования (UI/UX, быстродействие, отказоустойчивость и </a:t>
            </a:r>
            <a:r>
              <a:rPr lang="ru-RU" dirty="0" err="1" smtClean="0"/>
              <a:t>тд</a:t>
            </a:r>
            <a:r>
              <a:rPr lang="ru-RU" dirty="0" smtClean="0"/>
              <a:t>).</a:t>
            </a:r>
          </a:p>
          <a:p>
            <a:endParaRPr lang="ru-RU"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Ценность продукта</a:t>
            </a:r>
            <a:br>
              <a:rPr lang="ru-RU" dirty="0" smtClean="0"/>
            </a:br>
            <a:endParaRPr lang="ru-RU" dirty="0"/>
          </a:p>
        </p:txBody>
      </p:sp>
      <p:sp>
        <p:nvSpPr>
          <p:cNvPr id="3" name="Содержимое 2"/>
          <p:cNvSpPr>
            <a:spLocks noGrp="1"/>
          </p:cNvSpPr>
          <p:nvPr>
            <p:ph idx="1"/>
          </p:nvPr>
        </p:nvSpPr>
        <p:spPr>
          <a:xfrm>
            <a:off x="457200" y="1124744"/>
            <a:ext cx="8229600" cy="5733256"/>
          </a:xfrm>
        </p:spPr>
        <p:txBody>
          <a:bodyPr>
            <a:normAutofit fontScale="77500" lnSpcReduction="20000"/>
          </a:bodyPr>
          <a:lstStyle/>
          <a:p>
            <a:pPr>
              <a:buNone/>
            </a:pPr>
            <a:r>
              <a:rPr lang="ru-RU" dirty="0" smtClean="0"/>
              <a:t>Косвенные ценности продукта</a:t>
            </a:r>
          </a:p>
          <a:p>
            <a:pPr lvl="0"/>
            <a:endParaRPr lang="ru-RU" dirty="0" smtClean="0"/>
          </a:p>
          <a:p>
            <a:pPr lvl="0"/>
            <a:r>
              <a:rPr lang="ru-RU" dirty="0" err="1" smtClean="0"/>
              <a:t>Баги</a:t>
            </a:r>
            <a:r>
              <a:rPr lang="ru-RU" dirty="0" smtClean="0"/>
              <a:t>. Пограничный случай ценностей. Вторичны они потому, что сами ценности не несут, а забирают её у соседних </a:t>
            </a:r>
            <a:r>
              <a:rPr lang="ru-RU" dirty="0" err="1" smtClean="0"/>
              <a:t>фичей</a:t>
            </a:r>
            <a:r>
              <a:rPr lang="ru-RU" dirty="0" smtClean="0"/>
              <a:t>.</a:t>
            </a:r>
          </a:p>
          <a:p>
            <a:pPr lvl="0"/>
            <a:r>
              <a:rPr lang="ru-RU" dirty="0" smtClean="0"/>
              <a:t>Чистота. Это про читабельность, модульность, минимизацию входящих компонентов, стандартизацию и унификацию интерфейсов и </a:t>
            </a:r>
            <a:r>
              <a:rPr lang="ru-RU" dirty="0" err="1" smtClean="0"/>
              <a:t>тд</a:t>
            </a:r>
            <a:r>
              <a:rPr lang="ru-RU" dirty="0" smtClean="0"/>
              <a:t>.</a:t>
            </a:r>
          </a:p>
          <a:p>
            <a:pPr lvl="0"/>
            <a:r>
              <a:rPr lang="ru-RU" dirty="0" smtClean="0"/>
              <a:t>Документированность. Это про код и пояснения для разработчиков, не про бизнес описание или пользовательские </a:t>
            </a:r>
            <a:r>
              <a:rPr lang="ru-RU" dirty="0" err="1" smtClean="0"/>
              <a:t>юзкейсы</a:t>
            </a:r>
            <a:r>
              <a:rPr lang="ru-RU" dirty="0" smtClean="0"/>
              <a:t>. Хорошо иллюстрируется фразой весёлого мужика с одного из собеседований: "Логика в БД написана как книга".</a:t>
            </a:r>
          </a:p>
          <a:p>
            <a:pPr lvl="0"/>
            <a:r>
              <a:rPr lang="ru-RU" dirty="0" err="1" smtClean="0"/>
              <a:t>Масштабируемость</a:t>
            </a:r>
            <a:r>
              <a:rPr lang="ru-RU" dirty="0" smtClean="0"/>
              <a:t>/защищённость/безопасность. Пользователь их не видит, пока не случится что-нибудь нехорошее.</a:t>
            </a:r>
          </a:p>
          <a:p>
            <a:endParaRPr lang="ru-R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Ценности для </a:t>
            </a:r>
            <a:r>
              <a:rPr lang="ru-RU" dirty="0" smtClean="0"/>
              <a:t>разработчика</a:t>
            </a:r>
            <a:endParaRPr lang="ru-RU" dirty="0"/>
          </a:p>
        </p:txBody>
      </p:sp>
      <p:sp>
        <p:nvSpPr>
          <p:cNvPr id="3" name="Содержимое 2"/>
          <p:cNvSpPr>
            <a:spLocks noGrp="1"/>
          </p:cNvSpPr>
          <p:nvPr>
            <p:ph idx="1"/>
          </p:nvPr>
        </p:nvSpPr>
        <p:spPr/>
        <p:txBody>
          <a:bodyPr/>
          <a:lstStyle/>
          <a:p>
            <a:pPr lvl="0"/>
            <a:r>
              <a:rPr lang="ru-RU" dirty="0" smtClean="0"/>
              <a:t>Код по стандарту.</a:t>
            </a:r>
          </a:p>
          <a:p>
            <a:pPr lvl="0"/>
            <a:r>
              <a:rPr lang="ru-RU" dirty="0" smtClean="0"/>
              <a:t>Отступы по </a:t>
            </a:r>
            <a:r>
              <a:rPr lang="ru-RU" dirty="0" err="1" smtClean="0"/>
              <a:t>фен-шую</a:t>
            </a:r>
            <a:r>
              <a:rPr lang="ru-RU" dirty="0" smtClean="0"/>
              <a:t>.</a:t>
            </a:r>
          </a:p>
          <a:p>
            <a:pPr lvl="0"/>
            <a:r>
              <a:rPr lang="ru-RU" dirty="0" smtClean="0"/>
              <a:t>Иные сделки с совестью. Ведь код писал, значит результат за день есть, а значит и польза есть.</a:t>
            </a:r>
          </a:p>
          <a:p>
            <a:pPr lvl="0"/>
            <a:r>
              <a:rPr lang="ru-RU" dirty="0" smtClean="0"/>
              <a:t>Согласие кода с внутренним миром.</a:t>
            </a:r>
          </a:p>
          <a:p>
            <a:endParaRPr lang="ru-R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Взгляд со стороны бизнеса</a:t>
            </a:r>
            <a:br>
              <a:rPr lang="ru-RU" dirty="0" smtClean="0"/>
            </a:br>
            <a:endParaRPr lang="ru-RU" dirty="0"/>
          </a:p>
        </p:txBody>
      </p:sp>
      <p:sp>
        <p:nvSpPr>
          <p:cNvPr id="3" name="Содержимое 2"/>
          <p:cNvSpPr>
            <a:spLocks noGrp="1"/>
          </p:cNvSpPr>
          <p:nvPr>
            <p:ph idx="1"/>
          </p:nvPr>
        </p:nvSpPr>
        <p:spPr/>
        <p:txBody>
          <a:bodyPr>
            <a:normAutofit fontScale="85000" lnSpcReduction="10000"/>
          </a:bodyPr>
          <a:lstStyle/>
          <a:p>
            <a:pPr>
              <a:buNone/>
            </a:pPr>
            <a:r>
              <a:rPr lang="ru-RU" dirty="0" smtClean="0"/>
              <a:t>Например.</a:t>
            </a:r>
          </a:p>
          <a:p>
            <a:pPr>
              <a:buNone/>
            </a:pPr>
            <a:endParaRPr lang="ru-RU" dirty="0" smtClean="0"/>
          </a:p>
          <a:p>
            <a:pPr lvl="0"/>
            <a:r>
              <a:rPr lang="ru-RU" dirty="0" smtClean="0"/>
              <a:t>Новая </a:t>
            </a:r>
            <a:r>
              <a:rPr lang="ru-RU" dirty="0" err="1" smtClean="0"/>
              <a:t>фича</a:t>
            </a:r>
            <a:r>
              <a:rPr lang="ru-RU" dirty="0" smtClean="0"/>
              <a:t> с прикручиванием </a:t>
            </a:r>
            <a:r>
              <a:rPr lang="ru-RU" dirty="0" err="1" smtClean="0"/>
              <a:t>OAuth</a:t>
            </a:r>
            <a:r>
              <a:rPr lang="ru-RU" dirty="0" smtClean="0"/>
              <a:t> увеличила количество регистраций на 10% и мы получили +1к$.</a:t>
            </a:r>
          </a:p>
          <a:p>
            <a:pPr lvl="0"/>
            <a:r>
              <a:rPr lang="ru-RU" dirty="0" smtClean="0"/>
              <a:t>Разделили модуль </a:t>
            </a:r>
            <a:r>
              <a:rPr lang="ru-RU" dirty="0" err="1" smtClean="0"/>
              <a:t>биллинга</a:t>
            </a:r>
            <a:r>
              <a:rPr lang="ru-RU" dirty="0" smtClean="0"/>
              <a:t> на несколько независимых частей, основываясь на паттерне </a:t>
            </a:r>
            <a:r>
              <a:rPr lang="ru-RU" dirty="0" err="1" smtClean="0"/>
              <a:t>single-responsibility</a:t>
            </a:r>
            <a:r>
              <a:rPr lang="ru-RU" dirty="0" smtClean="0"/>
              <a:t>. Вроде как поддерживать проще стало, но измерить никак не получилось.</a:t>
            </a:r>
          </a:p>
          <a:p>
            <a:pPr lvl="0"/>
            <a:r>
              <a:rPr lang="ru-RU" dirty="0" smtClean="0"/>
              <a:t>Мы привели кодовую базу к соответствию с </a:t>
            </a:r>
            <a:r>
              <a:rPr lang="ru-RU" dirty="0" err="1" smtClean="0"/>
              <a:t>код-стандартом</a:t>
            </a:r>
            <a:r>
              <a:rPr lang="ru-RU" dirty="0" smtClean="0"/>
              <a:t> и… "ничего" не получили.</a:t>
            </a:r>
          </a:p>
          <a:p>
            <a:endParaRPr lang="ru-RU"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Цели </a:t>
            </a:r>
            <a:r>
              <a:rPr lang="ru-RU" dirty="0" err="1" smtClean="0"/>
              <a:t>рефакторинга</a:t>
            </a:r>
            <a:endParaRPr lang="ru-RU" dirty="0"/>
          </a:p>
        </p:txBody>
      </p:sp>
      <p:sp>
        <p:nvSpPr>
          <p:cNvPr id="3" name="Содержимое 2"/>
          <p:cNvSpPr>
            <a:spLocks noGrp="1"/>
          </p:cNvSpPr>
          <p:nvPr>
            <p:ph idx="1"/>
          </p:nvPr>
        </p:nvSpPr>
        <p:spPr/>
        <p:txBody>
          <a:bodyPr>
            <a:normAutofit fontScale="85000" lnSpcReduction="20000"/>
          </a:bodyPr>
          <a:lstStyle/>
          <a:p>
            <a:pPr>
              <a:buNone/>
            </a:pPr>
            <a:r>
              <a:rPr lang="ru-RU" dirty="0" smtClean="0"/>
              <a:t>За энтропию!</a:t>
            </a:r>
          </a:p>
          <a:p>
            <a:pPr>
              <a:buNone/>
            </a:pPr>
            <a:r>
              <a:rPr lang="ru-RU" dirty="0" smtClean="0"/>
              <a:t> </a:t>
            </a:r>
          </a:p>
          <a:p>
            <a:r>
              <a:rPr lang="ru-RU" dirty="0" smtClean="0"/>
              <a:t>Такое самому провернуть сложно. А протащить через </a:t>
            </a:r>
            <a:r>
              <a:rPr lang="ru-RU" dirty="0" err="1" smtClean="0"/>
              <a:t>ревью</a:t>
            </a:r>
            <a:r>
              <a:rPr lang="ru-RU" dirty="0" smtClean="0"/>
              <a:t> так и вообще нереально. Цель конечно благая: расчистить плацдарм для новых свершений, а так же вычистить шлаки и токсины, накопленные за время поддержки продукта. Но перелопатить с нуля пару модулей не потеряв ничего по пути — это не самая простая задача. Её надо бы решать совместно с </a:t>
            </a:r>
            <a:r>
              <a:rPr lang="ru-RU" dirty="0" err="1" smtClean="0"/>
              <a:t>бизнес-аналитиками</a:t>
            </a:r>
            <a:r>
              <a:rPr lang="ru-RU" dirty="0" smtClean="0"/>
              <a:t> и архитекторами, если таковые есть. Так что таким мало кто рискует заниматься на добровольных началах.</a:t>
            </a:r>
          </a:p>
          <a:p>
            <a:endParaRPr lang="ru-RU"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Цели </a:t>
            </a:r>
            <a:r>
              <a:rPr lang="ru-RU" dirty="0" err="1" smtClean="0"/>
              <a:t>рефакторинга</a:t>
            </a:r>
            <a:endParaRPr lang="ru-RU" dirty="0"/>
          </a:p>
        </p:txBody>
      </p:sp>
      <p:sp>
        <p:nvSpPr>
          <p:cNvPr id="3" name="Содержимое 2"/>
          <p:cNvSpPr>
            <a:spLocks noGrp="1"/>
          </p:cNvSpPr>
          <p:nvPr>
            <p:ph idx="1"/>
          </p:nvPr>
        </p:nvSpPr>
        <p:spPr/>
        <p:txBody>
          <a:bodyPr>
            <a:normAutofit fontScale="92500" lnSpcReduction="20000"/>
          </a:bodyPr>
          <a:lstStyle/>
          <a:p>
            <a:pPr>
              <a:buNone/>
            </a:pPr>
            <a:r>
              <a:rPr lang="ru-RU" dirty="0" smtClean="0"/>
              <a:t>За документацию!</a:t>
            </a:r>
          </a:p>
          <a:p>
            <a:pPr>
              <a:buNone/>
            </a:pPr>
            <a:r>
              <a:rPr lang="ru-RU" dirty="0" smtClean="0"/>
              <a:t> </a:t>
            </a:r>
          </a:p>
          <a:p>
            <a:r>
              <a:rPr lang="ru-RU" dirty="0" smtClean="0"/>
              <a:t>Это уже проще. Переименовать переменные/функции по принципу "что на коробке, то и в коробке", упростить конструкции за счёт возможностей языка и библиотек, добавить комментариев в неочевидных местах и т.д. Такое можно сделать в одиночку и, при правильном подходе, можно сделать хорошо как себе будущему, так и коллегам соседним.</a:t>
            </a:r>
          </a:p>
          <a:p>
            <a:endParaRPr lang="ru-R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Цели </a:t>
            </a:r>
            <a:r>
              <a:rPr lang="ru-RU" dirty="0" err="1" smtClean="0"/>
              <a:t>рефакторинга</a:t>
            </a:r>
            <a:endParaRPr lang="ru-RU" dirty="0"/>
          </a:p>
        </p:txBody>
      </p:sp>
      <p:sp>
        <p:nvSpPr>
          <p:cNvPr id="3" name="Содержимое 2"/>
          <p:cNvSpPr>
            <a:spLocks noGrp="1"/>
          </p:cNvSpPr>
          <p:nvPr>
            <p:ph idx="1"/>
          </p:nvPr>
        </p:nvSpPr>
        <p:spPr/>
        <p:txBody>
          <a:bodyPr>
            <a:normAutofit fontScale="70000" lnSpcReduction="20000"/>
          </a:bodyPr>
          <a:lstStyle/>
          <a:p>
            <a:pPr>
              <a:buNone/>
            </a:pPr>
            <a:r>
              <a:rPr lang="ru-RU" dirty="0" smtClean="0"/>
              <a:t>За быстродействие!</a:t>
            </a:r>
          </a:p>
          <a:p>
            <a:pPr>
              <a:buNone/>
            </a:pPr>
            <a:r>
              <a:rPr lang="ru-RU" dirty="0" smtClean="0"/>
              <a:t> </a:t>
            </a:r>
          </a:p>
          <a:p>
            <a:r>
              <a:rPr lang="ru-RU" dirty="0" smtClean="0"/>
              <a:t>По-честному, такие работы должны быть выделены в отдельную задачу. Так как либо вам достаточно текущих возможностей системы и делать ничего не надо, либо вы знаете что конкретно и на сколько именно нужно </a:t>
            </a:r>
            <a:r>
              <a:rPr lang="ru-RU" dirty="0" smtClean="0"/>
              <a:t>ускорить. В </a:t>
            </a:r>
            <a:r>
              <a:rPr lang="ru-RU" dirty="0" smtClean="0"/>
              <a:t>эту категорию входит всё: от безобидного исправления N+1 до серьёзного ускорения за счёт изменения алгоритмов работы. Вся проблема в том, что на скорости всегда сидит "чётность" </a:t>
            </a:r>
            <a:r>
              <a:rPr lang="ru-RU" dirty="0" err="1" smtClean="0"/>
              <a:t>багов</a:t>
            </a:r>
            <a:r>
              <a:rPr lang="ru-RU" dirty="0" smtClean="0"/>
              <a:t>. Вот, к случаю, пример из жизни: внутри одной транзакции пушатся данные в БД и в этой же транзакции ставится задача в </a:t>
            </a:r>
            <a:r>
              <a:rPr lang="ru-RU" dirty="0" err="1" smtClean="0"/>
              <a:t>Sidekiq</a:t>
            </a:r>
            <a:r>
              <a:rPr lang="ru-RU" dirty="0" smtClean="0"/>
              <a:t>; очередь </a:t>
            </a:r>
            <a:r>
              <a:rPr lang="ru-RU" dirty="0" err="1" smtClean="0"/>
              <a:t>Sidekiq'а</a:t>
            </a:r>
            <a:r>
              <a:rPr lang="ru-RU" dirty="0" smtClean="0"/>
              <a:t> в </a:t>
            </a:r>
            <a:r>
              <a:rPr lang="ru-RU" dirty="0" err="1" smtClean="0"/>
              <a:t>Redis'е</a:t>
            </a:r>
            <a:r>
              <a:rPr lang="ru-RU" dirty="0" smtClean="0"/>
              <a:t> и транзакция на него не распространяется; при увеличении скорости работы очереди таска иногда берётся на выполнение раньше, чем </a:t>
            </a:r>
            <a:r>
              <a:rPr lang="ru-RU" dirty="0" err="1" smtClean="0"/>
              <a:t>закоммитятся</a:t>
            </a:r>
            <a:r>
              <a:rPr lang="ru-RU" dirty="0" smtClean="0"/>
              <a:t> данные; последствия и процесс </a:t>
            </a:r>
            <a:r>
              <a:rPr lang="ru-RU" dirty="0" err="1" smtClean="0"/>
              <a:t>дебага</a:t>
            </a:r>
            <a:r>
              <a:rPr lang="ru-RU" dirty="0" smtClean="0"/>
              <a:t> можете представить сами.</a:t>
            </a:r>
          </a:p>
          <a:p>
            <a:endParaRPr lang="ru-RU"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Цели </a:t>
            </a:r>
            <a:r>
              <a:rPr lang="ru-RU" dirty="0" err="1" smtClean="0"/>
              <a:t>рефакторинга</a:t>
            </a:r>
            <a:endParaRPr lang="ru-RU" dirty="0"/>
          </a:p>
        </p:txBody>
      </p:sp>
      <p:sp>
        <p:nvSpPr>
          <p:cNvPr id="3" name="Содержимое 2"/>
          <p:cNvSpPr>
            <a:spLocks noGrp="1"/>
          </p:cNvSpPr>
          <p:nvPr>
            <p:ph idx="1"/>
          </p:nvPr>
        </p:nvSpPr>
        <p:spPr/>
        <p:txBody>
          <a:bodyPr>
            <a:normAutofit fontScale="92500" lnSpcReduction="10000"/>
          </a:bodyPr>
          <a:lstStyle/>
          <a:p>
            <a:pPr>
              <a:buNone/>
            </a:pPr>
            <a:r>
              <a:rPr lang="ru-RU" dirty="0" smtClean="0"/>
              <a:t>За </a:t>
            </a:r>
            <a:r>
              <a:rPr lang="ru-RU" dirty="0" err="1" smtClean="0"/>
              <a:t>рефакторинг</a:t>
            </a:r>
            <a:r>
              <a:rPr lang="ru-RU" dirty="0" smtClean="0"/>
              <a:t>!</a:t>
            </a:r>
          </a:p>
          <a:p>
            <a:pPr>
              <a:buNone/>
            </a:pPr>
            <a:r>
              <a:rPr lang="ru-RU" dirty="0" smtClean="0"/>
              <a:t> </a:t>
            </a:r>
          </a:p>
          <a:p>
            <a:r>
              <a:rPr lang="ru-RU" dirty="0" smtClean="0"/>
              <a:t>Представьте, что вы воспользовались сервисом по уборке квартиры. Они пришли, начали уборку, но, по ходу дела, всю мебель в квартире переставили и шторы из </a:t>
            </a:r>
            <a:r>
              <a:rPr lang="ru-RU" dirty="0" err="1" smtClean="0"/>
              <a:t>гостинной</a:t>
            </a:r>
            <a:r>
              <a:rPr lang="ru-RU" dirty="0" smtClean="0"/>
              <a:t> в ванну перевесили с аргументацией "в таких условиях уборщице было приятнее выполнять свою работу". Картинку с "WTF?!" можете домыслить сами.</a:t>
            </a:r>
            <a:endParaRPr lang="ru-RU"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Практические подходы </a:t>
            </a:r>
            <a:r>
              <a:rPr lang="ru-RU" dirty="0" smtClean="0"/>
              <a:t>к </a:t>
            </a:r>
            <a:r>
              <a:rPr lang="ru-RU" dirty="0" err="1" smtClean="0"/>
              <a:t>рефакторингу</a:t>
            </a:r>
            <a:endParaRPr lang="ru-RU" dirty="0"/>
          </a:p>
        </p:txBody>
      </p:sp>
      <p:sp>
        <p:nvSpPr>
          <p:cNvPr id="3" name="Содержимое 2"/>
          <p:cNvSpPr>
            <a:spLocks noGrp="1"/>
          </p:cNvSpPr>
          <p:nvPr>
            <p:ph idx="1"/>
          </p:nvPr>
        </p:nvSpPr>
        <p:spPr/>
        <p:txBody>
          <a:bodyPr>
            <a:normAutofit fontScale="70000" lnSpcReduction="20000"/>
          </a:bodyPr>
          <a:lstStyle/>
          <a:p>
            <a:pPr indent="0">
              <a:buNone/>
            </a:pPr>
            <a:r>
              <a:rPr lang="ru-RU" b="1" dirty="0" smtClean="0"/>
              <a:t>1.</a:t>
            </a:r>
            <a:r>
              <a:rPr lang="ru-RU" dirty="0" smtClean="0"/>
              <a:t> Длинные методы (лучше разделить функционал на несколько методов).</a:t>
            </a:r>
            <a:br>
              <a:rPr lang="ru-RU" dirty="0" smtClean="0"/>
            </a:br>
            <a:r>
              <a:rPr lang="ru-RU" dirty="0" smtClean="0"/>
              <a:t/>
            </a:r>
            <a:br>
              <a:rPr lang="ru-RU" dirty="0" smtClean="0"/>
            </a:br>
            <a:r>
              <a:rPr lang="ru-RU" b="1" dirty="0" smtClean="0"/>
              <a:t>2.</a:t>
            </a:r>
            <a:r>
              <a:rPr lang="ru-RU" dirty="0" smtClean="0"/>
              <a:t> Громоздкие классы (ваш класс должен исполнять одну функциональную задачу в вашей системе).</a:t>
            </a:r>
            <a:br>
              <a:rPr lang="ru-RU" dirty="0" smtClean="0"/>
            </a:br>
            <a:r>
              <a:rPr lang="ru-RU" dirty="0" smtClean="0"/>
              <a:t/>
            </a:r>
            <a:br>
              <a:rPr lang="ru-RU" dirty="0" smtClean="0"/>
            </a:br>
            <a:r>
              <a:rPr lang="ru-RU" b="1" dirty="0" smtClean="0"/>
              <a:t>3.</a:t>
            </a:r>
            <a:r>
              <a:rPr lang="ru-RU" dirty="0" smtClean="0"/>
              <a:t> Неясная структура класса (методы в хаотическом порядке, конструктор в середине класса, вместо констант — магические значения в коде — класс должен легко отображать, что он делает в правильной последовательности).</a:t>
            </a:r>
            <a:br>
              <a:rPr lang="ru-RU" dirty="0" smtClean="0"/>
            </a:br>
            <a:r>
              <a:rPr lang="ru-RU" dirty="0" smtClean="0"/>
              <a:t/>
            </a:r>
            <a:br>
              <a:rPr lang="ru-RU" dirty="0" smtClean="0"/>
            </a:br>
            <a:r>
              <a:rPr lang="ru-RU" b="1" dirty="0" smtClean="0"/>
              <a:t>4.</a:t>
            </a:r>
            <a:r>
              <a:rPr lang="ru-RU" dirty="0" smtClean="0"/>
              <a:t> Слишком много параметров в методе (некоторые расчеты можно сделать внутри метода, используя внутренние константы, значения полученные с атрибутов и геттеров).</a:t>
            </a:r>
            <a:br>
              <a:rPr lang="ru-RU" dirty="0" smtClean="0"/>
            </a:br>
            <a:endParaRPr lang="ru-RU"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Практические подходы </a:t>
            </a:r>
            <a:r>
              <a:rPr lang="ru-RU" dirty="0" smtClean="0"/>
              <a:t>к </a:t>
            </a:r>
            <a:r>
              <a:rPr lang="ru-RU" dirty="0" err="1" smtClean="0"/>
              <a:t>рефакторингу</a:t>
            </a:r>
            <a:endParaRPr lang="ru-RU" dirty="0"/>
          </a:p>
        </p:txBody>
      </p:sp>
      <p:sp>
        <p:nvSpPr>
          <p:cNvPr id="3" name="Содержимое 2"/>
          <p:cNvSpPr>
            <a:spLocks noGrp="1"/>
          </p:cNvSpPr>
          <p:nvPr>
            <p:ph idx="1"/>
          </p:nvPr>
        </p:nvSpPr>
        <p:spPr>
          <a:xfrm>
            <a:off x="457200" y="1600200"/>
            <a:ext cx="8229600" cy="5257800"/>
          </a:xfrm>
        </p:spPr>
        <p:txBody>
          <a:bodyPr>
            <a:normAutofit fontScale="62500" lnSpcReduction="20000"/>
          </a:bodyPr>
          <a:lstStyle/>
          <a:p>
            <a:pPr indent="0">
              <a:buNone/>
            </a:pPr>
            <a:r>
              <a:rPr lang="ru-RU" b="1" dirty="0" smtClean="0"/>
              <a:t>5.</a:t>
            </a:r>
            <a:r>
              <a:rPr lang="ru-RU" dirty="0" smtClean="0"/>
              <a:t> Классы, содержащие одинаковые переменные и методы. Проблему можно решить через создание дополнительного класса).</a:t>
            </a:r>
            <a:br>
              <a:rPr lang="ru-RU" dirty="0" smtClean="0"/>
            </a:br>
            <a:r>
              <a:rPr lang="ru-RU" dirty="0" smtClean="0"/>
              <a:t/>
            </a:r>
            <a:br>
              <a:rPr lang="ru-RU" dirty="0" smtClean="0"/>
            </a:br>
            <a:r>
              <a:rPr lang="ru-RU" b="1" dirty="0" smtClean="0"/>
              <a:t>6.</a:t>
            </a:r>
            <a:r>
              <a:rPr lang="ru-RU" dirty="0" smtClean="0"/>
              <a:t> Сложно читаемый IF (выражение можно вынести в отдельную переменную и разделить на логические части, которые также вынести в переменные, если много проверок на </a:t>
            </a:r>
            <a:r>
              <a:rPr lang="ru-RU" dirty="0" err="1" smtClean="0"/>
              <a:t>null</a:t>
            </a:r>
            <a:r>
              <a:rPr lang="ru-RU" dirty="0" smtClean="0"/>
              <a:t>, то лучше всего использовать </a:t>
            </a:r>
            <a:r>
              <a:rPr lang="ru-RU" dirty="0" err="1" smtClean="0"/>
              <a:t>NullObject</a:t>
            </a:r>
            <a:r>
              <a:rPr lang="ru-RU" dirty="0" smtClean="0"/>
              <a:t> — количество проверок значительно уменьшится).</a:t>
            </a:r>
            <a:br>
              <a:rPr lang="ru-RU" dirty="0" smtClean="0"/>
            </a:br>
            <a:r>
              <a:rPr lang="ru-RU" dirty="0" smtClean="0"/>
              <a:t/>
            </a:r>
            <a:br>
              <a:rPr lang="ru-RU" dirty="0" smtClean="0"/>
            </a:br>
            <a:r>
              <a:rPr lang="ru-RU" b="1" dirty="0" smtClean="0"/>
              <a:t>7.</a:t>
            </a:r>
            <a:r>
              <a:rPr lang="ru-RU" dirty="0" smtClean="0"/>
              <a:t> Громоздкий SWITH (выносим в отдельный метод).</a:t>
            </a:r>
            <a:br>
              <a:rPr lang="ru-RU" dirty="0" smtClean="0"/>
            </a:br>
            <a:r>
              <a:rPr lang="ru-RU" dirty="0" smtClean="0"/>
              <a:t/>
            </a:r>
            <a:br>
              <a:rPr lang="ru-RU" dirty="0" smtClean="0"/>
            </a:br>
            <a:r>
              <a:rPr lang="ru-RU" b="1" dirty="0" smtClean="0"/>
              <a:t>8.</a:t>
            </a:r>
            <a:r>
              <a:rPr lang="ru-RU" dirty="0" smtClean="0"/>
              <a:t> Использование наследования из-за одинаковых методов и свойств, в разных по своей сути сущностях (кошка и стул имеют ноги, но их нельзя группировать в категорию «животные»).</a:t>
            </a:r>
            <a:br>
              <a:rPr lang="ru-RU" dirty="0" smtClean="0"/>
            </a:br>
            <a:r>
              <a:rPr lang="ru-RU" dirty="0" smtClean="0"/>
              <a:t/>
            </a:r>
            <a:br>
              <a:rPr lang="ru-RU" dirty="0" smtClean="0"/>
            </a:br>
            <a:r>
              <a:rPr lang="ru-RU" b="1" dirty="0" smtClean="0"/>
              <a:t>9.</a:t>
            </a:r>
            <a:r>
              <a:rPr lang="ru-RU" dirty="0" smtClean="0"/>
              <a:t> Слишком большое количество маленьких классов для выполнения одной задачи, которые в последствии сложнее поддерживать.</a:t>
            </a:r>
            <a:br>
              <a:rPr lang="ru-RU" dirty="0" smtClean="0"/>
            </a:br>
            <a:r>
              <a:rPr lang="ru-RU" dirty="0" smtClean="0"/>
              <a:t/>
            </a:r>
            <a:br>
              <a:rPr lang="ru-RU" dirty="0" smtClean="0"/>
            </a:br>
            <a:r>
              <a:rPr lang="ru-RU" dirty="0" smtClean="0"/>
              <a:t/>
            </a:r>
            <a:br>
              <a:rPr lang="ru-RU" dirty="0" smtClean="0"/>
            </a:br>
            <a:endParaRPr lang="ru-R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Практические подходы </a:t>
            </a:r>
            <a:r>
              <a:rPr lang="ru-RU" dirty="0" smtClean="0"/>
              <a:t>к </a:t>
            </a:r>
            <a:r>
              <a:rPr lang="ru-RU" dirty="0" err="1" smtClean="0"/>
              <a:t>рефакторингу</a:t>
            </a:r>
            <a:endParaRPr lang="ru-RU" dirty="0"/>
          </a:p>
        </p:txBody>
      </p:sp>
      <p:sp>
        <p:nvSpPr>
          <p:cNvPr id="3" name="Содержимое 2"/>
          <p:cNvSpPr>
            <a:spLocks noGrp="1"/>
          </p:cNvSpPr>
          <p:nvPr>
            <p:ph idx="1"/>
          </p:nvPr>
        </p:nvSpPr>
        <p:spPr>
          <a:xfrm>
            <a:off x="457200" y="1600200"/>
            <a:ext cx="8229600" cy="5257800"/>
          </a:xfrm>
        </p:spPr>
        <p:txBody>
          <a:bodyPr>
            <a:normAutofit fontScale="62500" lnSpcReduction="20000"/>
          </a:bodyPr>
          <a:lstStyle/>
          <a:p>
            <a:pPr indent="0">
              <a:buNone/>
            </a:pPr>
            <a:r>
              <a:rPr lang="ru-RU" b="1" dirty="0" smtClean="0"/>
              <a:t>10.</a:t>
            </a:r>
            <a:r>
              <a:rPr lang="ru-RU" dirty="0" smtClean="0"/>
              <a:t> Слишком сложный функционал в одном классе, который можно разделить на несколько классов.</a:t>
            </a:r>
            <a:br>
              <a:rPr lang="ru-RU" dirty="0" smtClean="0"/>
            </a:br>
            <a:r>
              <a:rPr lang="ru-RU" dirty="0" smtClean="0"/>
              <a:t/>
            </a:r>
            <a:br>
              <a:rPr lang="ru-RU" dirty="0" smtClean="0"/>
            </a:br>
            <a:r>
              <a:rPr lang="ru-RU" b="1" dirty="0" smtClean="0"/>
              <a:t>11.</a:t>
            </a:r>
            <a:r>
              <a:rPr lang="ru-RU" dirty="0" smtClean="0"/>
              <a:t> Класс делает слишком мало, чтобы его оставлять в системе.</a:t>
            </a:r>
            <a:br>
              <a:rPr lang="ru-RU" dirty="0" smtClean="0"/>
            </a:br>
            <a:r>
              <a:rPr lang="ru-RU" dirty="0" smtClean="0"/>
              <a:t/>
            </a:r>
            <a:br>
              <a:rPr lang="ru-RU" dirty="0" smtClean="0"/>
            </a:br>
            <a:r>
              <a:rPr lang="ru-RU" b="1" dirty="0" smtClean="0"/>
              <a:t>12.</a:t>
            </a:r>
            <a:r>
              <a:rPr lang="ru-RU" dirty="0" smtClean="0"/>
              <a:t> «Мертвый код» — его следует удалить.</a:t>
            </a:r>
            <a:br>
              <a:rPr lang="ru-RU" dirty="0" smtClean="0"/>
            </a:br>
            <a:r>
              <a:rPr lang="ru-RU" dirty="0" smtClean="0"/>
              <a:t/>
            </a:r>
            <a:br>
              <a:rPr lang="ru-RU" dirty="0" smtClean="0"/>
            </a:br>
            <a:r>
              <a:rPr lang="ru-RU" b="1" dirty="0" smtClean="0"/>
              <a:t>13.</a:t>
            </a:r>
            <a:r>
              <a:rPr lang="ru-RU" dirty="0" smtClean="0"/>
              <a:t> Не использованные структуры классов, которые вы проектировали на будущее, но они так и не пригодились — такие лучше удалить.</a:t>
            </a:r>
            <a:br>
              <a:rPr lang="ru-RU" dirty="0" smtClean="0"/>
            </a:br>
            <a:r>
              <a:rPr lang="ru-RU" dirty="0" smtClean="0"/>
              <a:t/>
            </a:r>
            <a:br>
              <a:rPr lang="ru-RU" dirty="0" smtClean="0"/>
            </a:br>
            <a:r>
              <a:rPr lang="ru-RU" b="1" dirty="0" smtClean="0"/>
              <a:t>14.</a:t>
            </a:r>
            <a:r>
              <a:rPr lang="ru-RU" dirty="0" smtClean="0"/>
              <a:t> Методы класса больше используются в другом классе, а в своем вообще не используются или же реже (стоит перенести метод в тот класс, где он больше используется).</a:t>
            </a:r>
            <a:br>
              <a:rPr lang="ru-RU" dirty="0" smtClean="0"/>
            </a:br>
            <a:r>
              <a:rPr lang="ru-RU" dirty="0" smtClean="0"/>
              <a:t/>
            </a:r>
            <a:br>
              <a:rPr lang="ru-RU" dirty="0" smtClean="0"/>
            </a:br>
            <a:r>
              <a:rPr lang="ru-RU" b="1" dirty="0" smtClean="0"/>
              <a:t>15.</a:t>
            </a:r>
            <a:r>
              <a:rPr lang="ru-RU" dirty="0" smtClean="0"/>
              <a:t> Слишком длинная цепочка вызовов ($</a:t>
            </a:r>
            <a:r>
              <a:rPr lang="ru-RU" dirty="0" err="1" smtClean="0"/>
              <a:t>a</a:t>
            </a:r>
            <a:r>
              <a:rPr lang="ru-RU" dirty="0" smtClean="0"/>
              <a:t>-&gt;</a:t>
            </a:r>
            <a:r>
              <a:rPr lang="ru-RU" dirty="0" err="1" smtClean="0"/>
              <a:t>b</a:t>
            </a:r>
            <a:r>
              <a:rPr lang="ru-RU" dirty="0" smtClean="0"/>
              <a:t>()-&gt;</a:t>
            </a:r>
            <a:r>
              <a:rPr lang="ru-RU" dirty="0" err="1" smtClean="0"/>
              <a:t>c</a:t>
            </a:r>
            <a:r>
              <a:rPr lang="ru-RU" dirty="0" smtClean="0"/>
              <a:t>()-&gt;</a:t>
            </a:r>
            <a:r>
              <a:rPr lang="ru-RU" dirty="0" err="1" smtClean="0"/>
              <a:t>d</a:t>
            </a:r>
            <a:r>
              <a:rPr lang="ru-RU" dirty="0" smtClean="0"/>
              <a:t>()-&gt;</a:t>
            </a:r>
            <a:r>
              <a:rPr lang="ru-RU" dirty="0" err="1" smtClean="0"/>
              <a:t>e</a:t>
            </a:r>
            <a:r>
              <a:rPr lang="ru-RU" dirty="0" smtClean="0"/>
              <a:t>()), в этом случае стоит создать дополнительные методы. </a:t>
            </a:r>
            <a:br>
              <a:rPr lang="ru-RU" dirty="0" smtClean="0"/>
            </a:br>
            <a:r>
              <a:rPr lang="ru-RU" dirty="0" smtClean="0"/>
              <a:t/>
            </a:r>
            <a:br>
              <a:rPr lang="ru-RU" dirty="0" smtClean="0"/>
            </a:br>
            <a:r>
              <a:rPr lang="ru-RU" dirty="0" smtClean="0"/>
              <a:t/>
            </a:r>
            <a:br>
              <a:rPr lang="ru-RU" dirty="0" smtClean="0"/>
            </a:br>
            <a:r>
              <a:rPr lang="ru-RU" dirty="0" smtClean="0"/>
              <a:t/>
            </a:r>
            <a:br>
              <a:rPr lang="ru-RU" dirty="0" smtClean="0"/>
            </a:br>
            <a:endParaRPr lang="ru-RU"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Практические подходы </a:t>
            </a:r>
            <a:r>
              <a:rPr lang="ru-RU" dirty="0" smtClean="0"/>
              <a:t>к </a:t>
            </a:r>
            <a:r>
              <a:rPr lang="ru-RU" dirty="0" err="1" smtClean="0"/>
              <a:t>рефакторингу</a:t>
            </a:r>
            <a:endParaRPr lang="ru-RU" dirty="0"/>
          </a:p>
        </p:txBody>
      </p:sp>
      <p:sp>
        <p:nvSpPr>
          <p:cNvPr id="3" name="Содержимое 2"/>
          <p:cNvSpPr>
            <a:spLocks noGrp="1"/>
          </p:cNvSpPr>
          <p:nvPr>
            <p:ph idx="1"/>
          </p:nvPr>
        </p:nvSpPr>
        <p:spPr>
          <a:xfrm>
            <a:off x="457200" y="1600200"/>
            <a:ext cx="8229600" cy="5257800"/>
          </a:xfrm>
        </p:spPr>
        <p:txBody>
          <a:bodyPr>
            <a:normAutofit fontScale="70000" lnSpcReduction="20000"/>
          </a:bodyPr>
          <a:lstStyle/>
          <a:p>
            <a:pPr indent="0">
              <a:buNone/>
            </a:pPr>
            <a:r>
              <a:rPr lang="ru-RU" b="1" dirty="0" smtClean="0"/>
              <a:t>16.</a:t>
            </a:r>
            <a:r>
              <a:rPr lang="ru-RU" dirty="0" smtClean="0"/>
              <a:t> Класс, содержащий только один метод, который создает другой класс. (Такой класс нужно использовать с умом, к примеру, для паттерна «</a:t>
            </a:r>
            <a:r>
              <a:rPr lang="ru-RU" dirty="0" err="1" smtClean="0"/>
              <a:t>Прокси</a:t>
            </a:r>
            <a:r>
              <a:rPr lang="ru-RU" dirty="0" smtClean="0"/>
              <a:t>», в противном случае этот класс только увеличивает время и ресурс на поддержку проекта).</a:t>
            </a:r>
            <a:br>
              <a:rPr lang="ru-RU" dirty="0" smtClean="0"/>
            </a:br>
            <a:r>
              <a:rPr lang="ru-RU" dirty="0" smtClean="0"/>
              <a:t/>
            </a:r>
            <a:br>
              <a:rPr lang="ru-RU" dirty="0" smtClean="0"/>
            </a:br>
            <a:r>
              <a:rPr lang="ru-RU" b="1" dirty="0" smtClean="0"/>
              <a:t>17.</a:t>
            </a:r>
            <a:r>
              <a:rPr lang="ru-RU" dirty="0" smtClean="0"/>
              <a:t> Слишком много действий в конструкторе. (Конструктор должен только устанавливать свойства класса, если же в конструкторе создаются другие классы, происходят какие-то расчеты, то это делает его сложным для понимания, приходится вникать в суть реализации. Чтобы создать объект и выполнить какие-то действия, добавьте статический метод </a:t>
            </a:r>
            <a:r>
              <a:rPr lang="ru-RU" dirty="0" err="1" smtClean="0"/>
              <a:t>create</a:t>
            </a:r>
            <a:r>
              <a:rPr lang="ru-RU" dirty="0" smtClean="0"/>
              <a:t>($param1, ...), который создаст экземпляр класса с дополнительными действия над ним, этот метод можно назвать более подходящим к тому, что он будет все же делать).</a:t>
            </a:r>
          </a:p>
          <a:p>
            <a:pPr indent="0">
              <a:buNone/>
            </a:pPr>
            <a:r>
              <a:rPr lang="ru-RU" dirty="0" smtClean="0"/>
              <a:t/>
            </a:r>
            <a:br>
              <a:rPr lang="ru-RU" dirty="0" smtClean="0"/>
            </a:br>
            <a:r>
              <a:rPr lang="ru-RU" dirty="0" smtClean="0"/>
              <a:t/>
            </a:r>
            <a:br>
              <a:rPr lang="ru-RU" dirty="0" smtClean="0"/>
            </a:br>
            <a:r>
              <a:rPr lang="ru-RU" dirty="0" smtClean="0"/>
              <a:t/>
            </a:r>
            <a:br>
              <a:rPr lang="ru-RU" dirty="0" smtClean="0"/>
            </a:br>
            <a:r>
              <a:rPr lang="ru-RU" dirty="0" smtClean="0"/>
              <a:t/>
            </a:r>
            <a:br>
              <a:rPr lang="ru-RU" dirty="0" smtClean="0"/>
            </a:br>
            <a:endParaRPr lang="ru-R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Методы </a:t>
            </a:r>
            <a:r>
              <a:rPr lang="ru-RU" dirty="0" err="1" smtClean="0"/>
              <a:t>рефакторинга</a:t>
            </a:r>
            <a:endParaRPr lang="ru-RU" dirty="0"/>
          </a:p>
        </p:txBody>
      </p:sp>
      <p:sp>
        <p:nvSpPr>
          <p:cNvPr id="3" name="Содержимое 2"/>
          <p:cNvSpPr>
            <a:spLocks noGrp="1"/>
          </p:cNvSpPr>
          <p:nvPr>
            <p:ph idx="1"/>
          </p:nvPr>
        </p:nvSpPr>
        <p:spPr>
          <a:xfrm>
            <a:off x="457200" y="1196752"/>
            <a:ext cx="8229600" cy="5661248"/>
          </a:xfrm>
        </p:spPr>
        <p:txBody>
          <a:bodyPr>
            <a:normAutofit fontScale="55000" lnSpcReduction="20000"/>
          </a:bodyPr>
          <a:lstStyle/>
          <a:p>
            <a:pPr algn="just"/>
            <a:r>
              <a:rPr lang="ru-RU" sz="4500" b="1" dirty="0" smtClean="0"/>
              <a:t>Изменение сигнатуры метода (</a:t>
            </a:r>
            <a:r>
              <a:rPr lang="ru-RU" sz="4500" b="1" dirty="0" err="1" smtClean="0"/>
              <a:t>change</a:t>
            </a:r>
            <a:r>
              <a:rPr lang="ru-RU" sz="4500" b="1" dirty="0" smtClean="0"/>
              <a:t> </a:t>
            </a:r>
            <a:r>
              <a:rPr lang="ru-RU" sz="4500" b="1" dirty="0" err="1" smtClean="0"/>
              <a:t>method</a:t>
            </a:r>
            <a:r>
              <a:rPr lang="ru-RU" sz="4500" b="1" dirty="0" smtClean="0"/>
              <a:t> </a:t>
            </a:r>
            <a:r>
              <a:rPr lang="ru-RU" sz="4500" b="1" dirty="0" err="1" smtClean="0"/>
              <a:t>signature</a:t>
            </a:r>
            <a:r>
              <a:rPr lang="ru-RU" sz="4500" b="1" dirty="0" smtClean="0"/>
              <a:t>)</a:t>
            </a:r>
            <a:endParaRPr lang="ru-RU" sz="4500" dirty="0" smtClean="0"/>
          </a:p>
          <a:p>
            <a:pPr algn="just"/>
            <a:r>
              <a:rPr lang="ru-RU" sz="4500" dirty="0" smtClean="0"/>
              <a:t>Суть </a:t>
            </a:r>
            <a:r>
              <a:rPr lang="ru-RU" sz="4500" dirty="0" smtClean="0"/>
              <a:t>изменения сигнатуры метода заключается в добавлении, изменении или удалении параметра метода. Изменив сигнатуру метода, необходимо скорректировать обращения к нему в коде всех клиентов. Это изменение может затронуть внешний интерфейс программы, кроме того, не всегда разработчику, изменяющему интерфейс, доступны все клиенты этого интерфейса, поэтому может потребоваться та или иная форма регистрации изменений интерфейса для последующей передачи их вместе с новой версией программы.</a:t>
            </a:r>
          </a:p>
          <a:p>
            <a:pPr indent="0">
              <a:buNone/>
            </a:pPr>
            <a:r>
              <a:rPr lang="ru-RU" dirty="0" smtClean="0"/>
              <a:t/>
            </a:r>
            <a:br>
              <a:rPr lang="ru-RU" dirty="0" smtClean="0"/>
            </a:br>
            <a:r>
              <a:rPr lang="ru-RU" dirty="0" smtClean="0"/>
              <a:t/>
            </a:r>
            <a:br>
              <a:rPr lang="ru-RU" dirty="0" smtClean="0"/>
            </a:br>
            <a:r>
              <a:rPr lang="ru-RU" dirty="0" smtClean="0"/>
              <a:t/>
            </a:r>
            <a:br>
              <a:rPr lang="ru-RU" dirty="0" smtClean="0"/>
            </a:br>
            <a:r>
              <a:rPr lang="ru-RU" dirty="0" smtClean="0"/>
              <a:t/>
            </a:r>
            <a:br>
              <a:rPr lang="ru-RU" dirty="0" smtClean="0"/>
            </a:br>
            <a:endParaRPr lang="ru-RU"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Методы </a:t>
            </a:r>
            <a:r>
              <a:rPr lang="ru-RU" dirty="0" err="1" smtClean="0"/>
              <a:t>рефакторинга</a:t>
            </a:r>
            <a:endParaRPr lang="ru-RU" dirty="0"/>
          </a:p>
        </p:txBody>
      </p:sp>
      <p:sp>
        <p:nvSpPr>
          <p:cNvPr id="3" name="Содержимое 2"/>
          <p:cNvSpPr>
            <a:spLocks noGrp="1"/>
          </p:cNvSpPr>
          <p:nvPr>
            <p:ph idx="1"/>
          </p:nvPr>
        </p:nvSpPr>
        <p:spPr>
          <a:xfrm>
            <a:off x="457200" y="1196752"/>
            <a:ext cx="8229600" cy="5661248"/>
          </a:xfrm>
        </p:spPr>
        <p:txBody>
          <a:bodyPr>
            <a:normAutofit fontScale="85000" lnSpcReduction="20000"/>
          </a:bodyPr>
          <a:lstStyle/>
          <a:p>
            <a:r>
              <a:rPr lang="ru-RU" b="1" dirty="0" smtClean="0"/>
              <a:t>Инкапсуляция поля (</a:t>
            </a:r>
            <a:r>
              <a:rPr lang="ru-RU" b="1" dirty="0" err="1" smtClean="0"/>
              <a:t>encapsulate</a:t>
            </a:r>
            <a:r>
              <a:rPr lang="ru-RU" b="1" dirty="0" smtClean="0"/>
              <a:t> </a:t>
            </a:r>
            <a:r>
              <a:rPr lang="ru-RU" b="1" dirty="0" err="1" smtClean="0"/>
              <a:t>field</a:t>
            </a:r>
            <a:r>
              <a:rPr lang="ru-RU" b="1" dirty="0" smtClean="0"/>
              <a:t>)</a:t>
            </a:r>
            <a:endParaRPr lang="ru-RU" dirty="0" smtClean="0"/>
          </a:p>
          <a:p>
            <a:r>
              <a:rPr lang="ru-RU" dirty="0" smtClean="0"/>
              <a:t>В случае, если у класса имеется открытое поле, необходимо сделать его закрытым и обеспечить методы доступа. После </a:t>
            </a:r>
            <a:r>
              <a:rPr lang="ru-RU" b="1" dirty="0" smtClean="0"/>
              <a:t>«Инкапсуляции поля»</a:t>
            </a:r>
            <a:r>
              <a:rPr lang="ru-RU" dirty="0" smtClean="0"/>
              <a:t> часто применяется </a:t>
            </a:r>
            <a:r>
              <a:rPr lang="ru-RU" b="1" dirty="0" smtClean="0"/>
              <a:t>«</a:t>
            </a:r>
            <a:r>
              <a:rPr lang="ru-RU" b="1" dirty="0" smtClean="0">
                <a:hlinkClick r:id="rId2"/>
              </a:rPr>
              <a:t>Перемещение метода</a:t>
            </a:r>
            <a:r>
              <a:rPr lang="ru-RU" b="1" dirty="0" smtClean="0"/>
              <a:t>»</a:t>
            </a:r>
            <a:r>
              <a:rPr lang="ru-RU" dirty="0" smtClean="0"/>
              <a:t>.</a:t>
            </a:r>
          </a:p>
          <a:p>
            <a:r>
              <a:rPr lang="ru-RU" b="1" dirty="0" smtClean="0"/>
              <a:t>Перемещение метода (</a:t>
            </a:r>
            <a:r>
              <a:rPr lang="ru-RU" b="1" dirty="0" err="1" smtClean="0"/>
              <a:t>move</a:t>
            </a:r>
            <a:r>
              <a:rPr lang="ru-RU" b="1" dirty="0" smtClean="0"/>
              <a:t> </a:t>
            </a:r>
            <a:r>
              <a:rPr lang="ru-RU" b="1" dirty="0" err="1" smtClean="0"/>
              <a:t>method</a:t>
            </a:r>
            <a:r>
              <a:rPr lang="ru-RU" b="1" dirty="0" smtClean="0"/>
              <a:t>)</a:t>
            </a:r>
            <a:endParaRPr lang="ru-RU" dirty="0" smtClean="0"/>
          </a:p>
          <a:p>
            <a:r>
              <a:rPr lang="ru-RU" dirty="0" smtClean="0"/>
              <a:t>Перемещение метода применяется по отношению к методу, который чаще обращается к другому классу, чем к тому, в котором сам располагается.</a:t>
            </a:r>
          </a:p>
          <a:p>
            <a:endParaRPr lang="ru-RU" dirty="0" smtClean="0"/>
          </a:p>
          <a:p>
            <a:pPr indent="0">
              <a:buNone/>
            </a:pPr>
            <a:r>
              <a:rPr lang="ru-RU" dirty="0" smtClean="0"/>
              <a:t/>
            </a:r>
            <a:br>
              <a:rPr lang="ru-RU" dirty="0" smtClean="0"/>
            </a:br>
            <a:r>
              <a:rPr lang="ru-RU" dirty="0" smtClean="0"/>
              <a:t/>
            </a:r>
            <a:br>
              <a:rPr lang="ru-RU" dirty="0" smtClean="0"/>
            </a:br>
            <a:r>
              <a:rPr lang="ru-RU" dirty="0" smtClean="0"/>
              <a:t/>
            </a:r>
            <a:br>
              <a:rPr lang="ru-RU" dirty="0" smtClean="0"/>
            </a:br>
            <a:r>
              <a:rPr lang="ru-RU" dirty="0" smtClean="0"/>
              <a:t/>
            </a:r>
            <a:br>
              <a:rPr lang="ru-RU" dirty="0" smtClean="0"/>
            </a:br>
            <a:endParaRPr lang="ru-RU"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Методы </a:t>
            </a:r>
            <a:r>
              <a:rPr lang="ru-RU" dirty="0" err="1" smtClean="0"/>
              <a:t>рефакторинга</a:t>
            </a:r>
            <a:endParaRPr lang="ru-RU" dirty="0"/>
          </a:p>
        </p:txBody>
      </p:sp>
      <p:sp>
        <p:nvSpPr>
          <p:cNvPr id="3" name="Содержимое 2"/>
          <p:cNvSpPr>
            <a:spLocks noGrp="1"/>
          </p:cNvSpPr>
          <p:nvPr>
            <p:ph idx="1"/>
          </p:nvPr>
        </p:nvSpPr>
        <p:spPr>
          <a:xfrm>
            <a:off x="457200" y="1196752"/>
            <a:ext cx="8229600" cy="5661248"/>
          </a:xfrm>
        </p:spPr>
        <p:txBody>
          <a:bodyPr>
            <a:normAutofit fontScale="70000" lnSpcReduction="20000"/>
          </a:bodyPr>
          <a:lstStyle/>
          <a:p>
            <a:r>
              <a:rPr lang="ru-RU" b="1" dirty="0" smtClean="0"/>
              <a:t>Выделение метода (</a:t>
            </a:r>
            <a:r>
              <a:rPr lang="ru-RU" b="1" dirty="0" err="1" smtClean="0"/>
              <a:t>extract</a:t>
            </a:r>
            <a:r>
              <a:rPr lang="ru-RU" b="1" dirty="0" smtClean="0"/>
              <a:t> </a:t>
            </a:r>
            <a:r>
              <a:rPr lang="ru-RU" b="1" dirty="0" err="1" smtClean="0"/>
              <a:t>method</a:t>
            </a:r>
            <a:r>
              <a:rPr lang="ru-RU" b="1" dirty="0" smtClean="0"/>
              <a:t>)</a:t>
            </a:r>
            <a:endParaRPr lang="ru-RU" dirty="0" smtClean="0"/>
          </a:p>
          <a:p>
            <a:r>
              <a:rPr lang="ru-RU" dirty="0" smtClean="0"/>
              <a:t>Выделение метода заключается в выделении из длинного и/или требующего комментариев кода отдельных фрагментов и преобразовании их в отдельные методы, с подстановкой подходящих вызовов в местах использования. В этом случае действует правило: если фрагмент кода требует комментария о том, что он делает, то он должен быть выделен в отдельный метод. Также правило: один метод не должен занимать более чем один экран (25-50 строк, в зависимости от условий редактирования), в противном случае некоторые его фрагменты имеют самостоятельную ценность и подлежат выделению. Из анализа связей выделяемого фрагмента с окружающим контекстом делается вывод о перечне параметров нового метода и его локальных переменных.</a:t>
            </a:r>
          </a:p>
          <a:p>
            <a:endParaRPr lang="ru-RU" dirty="0" smtClean="0"/>
          </a:p>
          <a:p>
            <a:pPr indent="0">
              <a:buNone/>
            </a:pPr>
            <a:r>
              <a:rPr lang="ru-RU" dirty="0" smtClean="0"/>
              <a:t/>
            </a:r>
            <a:br>
              <a:rPr lang="ru-RU" dirty="0" smtClean="0"/>
            </a:br>
            <a:r>
              <a:rPr lang="ru-RU" dirty="0" smtClean="0"/>
              <a:t/>
            </a:r>
            <a:br>
              <a:rPr lang="ru-RU" dirty="0" smtClean="0"/>
            </a:br>
            <a:r>
              <a:rPr lang="ru-RU" dirty="0" smtClean="0"/>
              <a:t/>
            </a:r>
            <a:br>
              <a:rPr lang="ru-RU" dirty="0" smtClean="0"/>
            </a:br>
            <a:r>
              <a:rPr lang="ru-RU" dirty="0" smtClean="0"/>
              <a:t/>
            </a:r>
            <a:br>
              <a:rPr lang="ru-RU" dirty="0" smtClean="0"/>
            </a:br>
            <a:endParaRPr lang="ru-RU"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Методы </a:t>
            </a:r>
            <a:r>
              <a:rPr lang="ru-RU" dirty="0" err="1" smtClean="0"/>
              <a:t>рефакторинга</a:t>
            </a:r>
            <a:endParaRPr lang="ru-RU" dirty="0"/>
          </a:p>
        </p:txBody>
      </p:sp>
      <p:sp>
        <p:nvSpPr>
          <p:cNvPr id="3" name="Содержимое 2"/>
          <p:cNvSpPr>
            <a:spLocks noGrp="1"/>
          </p:cNvSpPr>
          <p:nvPr>
            <p:ph idx="1"/>
          </p:nvPr>
        </p:nvSpPr>
        <p:spPr>
          <a:xfrm>
            <a:off x="457200" y="1484784"/>
            <a:ext cx="8229600" cy="4968552"/>
          </a:xfrm>
        </p:spPr>
        <p:txBody>
          <a:bodyPr>
            <a:noAutofit/>
          </a:bodyPr>
          <a:lstStyle/>
          <a:p>
            <a:r>
              <a:rPr lang="ru-RU" sz="1600" b="1" dirty="0" smtClean="0"/>
              <a:t>Замена условного оператора полиморфизмом (</a:t>
            </a:r>
            <a:r>
              <a:rPr lang="ru-RU" sz="1600" b="1" dirty="0" err="1" smtClean="0"/>
              <a:t>replace</a:t>
            </a:r>
            <a:r>
              <a:rPr lang="ru-RU" sz="1600" b="1" dirty="0" smtClean="0"/>
              <a:t> </a:t>
            </a:r>
            <a:r>
              <a:rPr lang="ru-RU" sz="1600" b="1" dirty="0" err="1" smtClean="0"/>
              <a:t>conditional</a:t>
            </a:r>
            <a:r>
              <a:rPr lang="ru-RU" sz="1600" b="1" dirty="0" smtClean="0"/>
              <a:t> </a:t>
            </a:r>
            <a:r>
              <a:rPr lang="ru-RU" sz="1600" b="1" dirty="0" err="1" smtClean="0"/>
              <a:t>with</a:t>
            </a:r>
            <a:r>
              <a:rPr lang="ru-RU" sz="1600" b="1" dirty="0" smtClean="0"/>
              <a:t> </a:t>
            </a:r>
            <a:r>
              <a:rPr lang="ru-RU" sz="1600" b="1" dirty="0" err="1" smtClean="0"/>
              <a:t>polymorphism</a:t>
            </a:r>
            <a:r>
              <a:rPr lang="ru-RU" sz="1600" b="1" dirty="0" smtClean="0"/>
              <a:t>)</a:t>
            </a:r>
            <a:endParaRPr lang="ru-RU" sz="1600" dirty="0" smtClean="0"/>
          </a:p>
          <a:p>
            <a:endParaRPr lang="ru-RU" sz="1600" dirty="0" smtClean="0"/>
          </a:p>
          <a:p>
            <a:endParaRPr lang="ru-RU" sz="1600" dirty="0" smtClean="0"/>
          </a:p>
          <a:p>
            <a:r>
              <a:rPr lang="ru-RU" sz="1600" dirty="0" smtClean="0">
                <a:hlinkClick r:id="rId2" tooltip="Условный оператор"/>
              </a:rPr>
              <a:t>Условный оператор</a:t>
            </a:r>
            <a:r>
              <a:rPr lang="ru-RU" sz="1600" dirty="0" smtClean="0"/>
              <a:t> с несколькими ветвями заменяется вызовом полиморфного метода некоторого базового класса, имеющего подклассы для каждой ветви исходного оператора. Выбор ветви осуществляется неявно, в зависимости от того, экземпляру какого из подклассов оказался адресован вызов.</a:t>
            </a:r>
          </a:p>
          <a:p>
            <a:r>
              <a:rPr lang="ru-RU" sz="1600" dirty="0" smtClean="0"/>
              <a:t>Основные принципы:</a:t>
            </a:r>
          </a:p>
          <a:p>
            <a:pPr lvl="0"/>
            <a:r>
              <a:rPr lang="ru-RU" sz="1600" dirty="0" smtClean="0"/>
              <a:t>вначале следует создать базовый </a:t>
            </a:r>
            <a:r>
              <a:rPr lang="ru-RU" sz="1600" dirty="0" smtClean="0">
                <a:hlinkClick r:id="rId3" tooltip="Класс (программирование)"/>
              </a:rPr>
              <a:t>класс</a:t>
            </a:r>
            <a:r>
              <a:rPr lang="ru-RU" sz="1600" dirty="0" smtClean="0"/>
              <a:t> и нужное число подклассов;</a:t>
            </a:r>
          </a:p>
          <a:p>
            <a:pPr lvl="0"/>
            <a:r>
              <a:rPr lang="ru-RU" sz="1600" dirty="0" smtClean="0"/>
              <a:t>в некоторых случаях следует провести оптимизацию условного оператора путём </a:t>
            </a:r>
            <a:r>
              <a:rPr lang="ru-RU" sz="1600" b="1" dirty="0" smtClean="0"/>
              <a:t>«</a:t>
            </a:r>
            <a:r>
              <a:rPr lang="ru-RU" sz="1600" b="1" dirty="0" smtClean="0">
                <a:hlinkClick r:id="rId4"/>
              </a:rPr>
              <a:t>Выделения метода</a:t>
            </a:r>
            <a:r>
              <a:rPr lang="ru-RU" sz="1600" b="1" dirty="0" smtClean="0"/>
              <a:t>»</a:t>
            </a:r>
            <a:r>
              <a:rPr lang="ru-RU" sz="1600" dirty="0" smtClean="0"/>
              <a:t>;</a:t>
            </a:r>
          </a:p>
          <a:p>
            <a:pPr lvl="0"/>
            <a:r>
              <a:rPr lang="ru-RU" sz="1600" dirty="0" smtClean="0"/>
              <a:t>возможно использование </a:t>
            </a:r>
            <a:r>
              <a:rPr lang="ru-RU" sz="1600" b="1" dirty="0" smtClean="0"/>
              <a:t>«</a:t>
            </a:r>
            <a:r>
              <a:rPr lang="ru-RU" sz="1600" b="1" dirty="0" smtClean="0">
                <a:hlinkClick r:id="rId4"/>
              </a:rPr>
              <a:t>Перемещения метода</a:t>
            </a:r>
            <a:r>
              <a:rPr lang="ru-RU" sz="1600" b="1" dirty="0" smtClean="0"/>
              <a:t>»</a:t>
            </a:r>
            <a:r>
              <a:rPr lang="ru-RU" sz="1600" dirty="0" smtClean="0"/>
              <a:t>, чтобы поместить условный оператор в вершину иерархии наследования;</a:t>
            </a:r>
          </a:p>
          <a:p>
            <a:pPr lvl="0"/>
            <a:r>
              <a:rPr lang="ru-RU" sz="1600" dirty="0" smtClean="0"/>
              <a:t>выбрав один из подклассов, нужно конкретизировать в нём полиморфный метод базового класса и переместить в него тело соответствующей ветви условного оператора;</a:t>
            </a:r>
          </a:p>
          <a:p>
            <a:pPr lvl="0"/>
            <a:r>
              <a:rPr lang="ru-RU" sz="1600" dirty="0" smtClean="0"/>
              <a:t>повторить предыдущее действие для каждой ветви условного оператора;</a:t>
            </a:r>
          </a:p>
          <a:p>
            <a:pPr lvl="0"/>
            <a:r>
              <a:rPr lang="ru-RU" sz="1600" dirty="0" smtClean="0"/>
              <a:t>заменить весь условный оператор вызовом полиморфного метода базового класса.</a:t>
            </a:r>
          </a:p>
          <a:p>
            <a:endParaRPr lang="ru-RU" sz="1600" dirty="0" smtClean="0"/>
          </a:p>
          <a:p>
            <a:pPr indent="0">
              <a:buNone/>
            </a:pPr>
            <a:r>
              <a:rPr lang="ru-RU" sz="1600" dirty="0" smtClean="0"/>
              <a:t/>
            </a:r>
            <a:br>
              <a:rPr lang="ru-RU" sz="1600" dirty="0" smtClean="0"/>
            </a:br>
            <a:r>
              <a:rPr lang="ru-RU" sz="1600" dirty="0" smtClean="0"/>
              <a:t/>
            </a:r>
            <a:br>
              <a:rPr lang="ru-RU" sz="1600" dirty="0" smtClean="0"/>
            </a:br>
            <a:r>
              <a:rPr lang="ru-RU" sz="1600" dirty="0" smtClean="0"/>
              <a:t/>
            </a:r>
            <a:br>
              <a:rPr lang="ru-RU" sz="1600" dirty="0" smtClean="0"/>
            </a:br>
            <a:r>
              <a:rPr lang="ru-RU" sz="1600" dirty="0" smtClean="0"/>
              <a:t/>
            </a:r>
            <a:br>
              <a:rPr lang="ru-RU" sz="1600" dirty="0" smtClean="0"/>
            </a:br>
            <a:endParaRPr lang="ru-RU"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Технический </a:t>
            </a:r>
            <a:r>
              <a:rPr lang="ru-RU" dirty="0" smtClean="0"/>
              <a:t>долг</a:t>
            </a:r>
            <a:endParaRPr lang="ru-RU" dirty="0"/>
          </a:p>
        </p:txBody>
      </p:sp>
      <p:sp>
        <p:nvSpPr>
          <p:cNvPr id="3" name="Содержимое 2"/>
          <p:cNvSpPr>
            <a:spLocks noGrp="1"/>
          </p:cNvSpPr>
          <p:nvPr>
            <p:ph idx="1"/>
          </p:nvPr>
        </p:nvSpPr>
        <p:spPr/>
        <p:txBody>
          <a:bodyPr>
            <a:normAutofit fontScale="92500" lnSpcReduction="20000"/>
          </a:bodyPr>
          <a:lstStyle/>
          <a:p>
            <a:pPr indent="0">
              <a:buNone/>
            </a:pPr>
            <a:r>
              <a:rPr lang="ru-RU" dirty="0" smtClean="0"/>
              <a:t>Программные системы склонны к накоплению </a:t>
            </a:r>
            <a:r>
              <a:rPr lang="ru-RU" b="1" dirty="0" smtClean="0"/>
              <a:t>мусора</a:t>
            </a:r>
            <a:r>
              <a:rPr lang="ru-RU" dirty="0" smtClean="0"/>
              <a:t> — внутренних недоработок, которые затрудняют дальнейшее изменение и расширение системы по сравнению с идеальным кодом. Технический долг — это метафора, придуманная Уордом </a:t>
            </a:r>
            <a:r>
              <a:rPr lang="ru-RU" dirty="0" err="1" smtClean="0"/>
              <a:t>Каннингемом</a:t>
            </a:r>
            <a:r>
              <a:rPr lang="ru-RU" dirty="0" smtClean="0"/>
              <a:t>. Она объясняет, как воспринимать этот мусор, по аналогии с финансовым кредитом. Дополнительные усилия, необходимые для добавления новых функций, — это проценты по кредиту.</a:t>
            </a:r>
            <a:endParaRPr lang="ru-RU"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Технический </a:t>
            </a:r>
            <a:r>
              <a:rPr lang="ru-RU" dirty="0" smtClean="0"/>
              <a:t>долг</a:t>
            </a:r>
            <a:endParaRPr lang="ru-RU" dirty="0"/>
          </a:p>
        </p:txBody>
      </p:sp>
      <p:sp>
        <p:nvSpPr>
          <p:cNvPr id="3" name="Содержимое 2"/>
          <p:cNvSpPr>
            <a:spLocks noGrp="1"/>
          </p:cNvSpPr>
          <p:nvPr>
            <p:ph idx="1"/>
          </p:nvPr>
        </p:nvSpPr>
        <p:spPr/>
        <p:txBody>
          <a:bodyPr>
            <a:normAutofit fontScale="55000" lnSpcReduction="20000"/>
          </a:bodyPr>
          <a:lstStyle/>
          <a:p>
            <a:pPr indent="0">
              <a:buNone/>
            </a:pPr>
            <a:r>
              <a:rPr lang="ru-RU" dirty="0" smtClean="0"/>
              <a:t>Уорд </a:t>
            </a:r>
            <a:r>
              <a:rPr lang="ru-RU" dirty="0" smtClean="0"/>
              <a:t>впервые представил эту концепцию в отчёте для </a:t>
            </a:r>
            <a:r>
              <a:rPr lang="ru-RU" dirty="0" smtClean="0">
                <a:hlinkClick r:id="rId2"/>
              </a:rPr>
              <a:t>OOPSLA 1992</a:t>
            </a:r>
            <a:r>
              <a:rPr lang="ru-RU" dirty="0" smtClean="0"/>
              <a:t>. Она также обсуждалось в </a:t>
            </a:r>
            <a:r>
              <a:rPr lang="ru-RU" dirty="0" smtClean="0">
                <a:hlinkClick r:id="rId3"/>
              </a:rPr>
              <a:t>вики</a:t>
            </a:r>
            <a:r>
              <a:rPr lang="ru-RU" dirty="0" smtClean="0"/>
              <a:t>.</a:t>
            </a:r>
            <a:br>
              <a:rPr lang="ru-RU" dirty="0" smtClean="0"/>
            </a:br>
            <a:r>
              <a:rPr lang="ru-RU" dirty="0" smtClean="0"/>
              <a:t/>
            </a:r>
            <a:br>
              <a:rPr lang="ru-RU" dirty="0" smtClean="0"/>
            </a:br>
            <a:r>
              <a:rPr lang="ru-RU" dirty="0" smtClean="0"/>
              <a:t>Есть </a:t>
            </a:r>
            <a:r>
              <a:rPr lang="ru-RU" dirty="0" smtClean="0">
                <a:hlinkClick r:id="rId4"/>
              </a:rPr>
              <a:t>видеозапись</a:t>
            </a:r>
            <a:r>
              <a:rPr lang="ru-RU" dirty="0" smtClean="0"/>
              <a:t>, где Уорд </a:t>
            </a:r>
            <a:r>
              <a:rPr lang="ru-RU" dirty="0" err="1" smtClean="0"/>
              <a:t>Каннингем</a:t>
            </a:r>
            <a:r>
              <a:rPr lang="ru-RU" dirty="0" smtClean="0"/>
              <a:t> обсуждает придуманную им метафору.</a:t>
            </a:r>
            <a:br>
              <a:rPr lang="ru-RU" dirty="0" smtClean="0"/>
            </a:br>
            <a:r>
              <a:rPr lang="ru-RU" dirty="0" smtClean="0"/>
              <a:t/>
            </a:r>
            <a:br>
              <a:rPr lang="ru-RU" dirty="0" smtClean="0"/>
            </a:br>
            <a:r>
              <a:rPr lang="ru-RU" dirty="0" smtClean="0"/>
              <a:t>Дэйв </a:t>
            </a:r>
            <a:r>
              <a:rPr lang="ru-RU" dirty="0" err="1" smtClean="0"/>
              <a:t>Николетт</a:t>
            </a:r>
            <a:r>
              <a:rPr lang="ru-RU" dirty="0" smtClean="0"/>
              <a:t> расширяет взгляд Уорда на технический долг, приводя </a:t>
            </a:r>
            <a:r>
              <a:rPr lang="ru-RU" dirty="0" smtClean="0">
                <a:hlinkClick r:id="rId5"/>
              </a:rPr>
              <a:t>прекрасный пример</a:t>
            </a:r>
            <a:r>
              <a:rPr lang="ru-RU" dirty="0" smtClean="0"/>
              <a:t> того, что я называю </a:t>
            </a:r>
            <a:r>
              <a:rPr lang="ru-RU" dirty="0" smtClean="0">
                <a:hlinkClick r:id="rId6"/>
              </a:rPr>
              <a:t>разумным преднамеренным долгом</a:t>
            </a:r>
            <a:r>
              <a:rPr lang="ru-RU" dirty="0" smtClean="0"/>
              <a:t>.</a:t>
            </a:r>
            <a:br>
              <a:rPr lang="ru-RU" dirty="0" smtClean="0"/>
            </a:br>
            <a:r>
              <a:rPr lang="ru-RU" dirty="0" smtClean="0"/>
              <a:t/>
            </a:r>
            <a:br>
              <a:rPr lang="ru-RU" dirty="0" smtClean="0"/>
            </a:br>
            <a:r>
              <a:rPr lang="ru-RU" dirty="0" smtClean="0"/>
              <a:t>Несколько читателей предложили другие годные метафоры. Дэвид </a:t>
            </a:r>
            <a:r>
              <a:rPr lang="ru-RU" dirty="0" err="1" smtClean="0"/>
              <a:t>Панарити</a:t>
            </a:r>
            <a:r>
              <a:rPr lang="ru-RU" dirty="0" smtClean="0"/>
              <a:t> назвал некачественную разработку </a:t>
            </a:r>
            <a:r>
              <a:rPr lang="ru-RU" b="1" dirty="0" smtClean="0"/>
              <a:t>дефицитом программирования</a:t>
            </a:r>
            <a:r>
              <a:rPr lang="ru-RU" dirty="0" smtClean="0"/>
              <a:t>. Судя по всему, он начал использовать этот термин несколько лет назад, когда он соответствовал политике правительства; полагаю, теперь это снова актуально.</a:t>
            </a:r>
            <a:br>
              <a:rPr lang="ru-RU" dirty="0" smtClean="0"/>
            </a:br>
            <a:r>
              <a:rPr lang="ru-RU" dirty="0" smtClean="0"/>
              <a:t/>
            </a:r>
            <a:br>
              <a:rPr lang="ru-RU" dirty="0" smtClean="0"/>
            </a:br>
            <a:r>
              <a:rPr lang="ru-RU" dirty="0" smtClean="0"/>
              <a:t>Скотт Вуд предложил рассматривать «</a:t>
            </a:r>
            <a:r>
              <a:rPr lang="ru-RU" b="1" dirty="0" smtClean="0"/>
              <a:t>техническую инфляцию</a:t>
            </a:r>
            <a:r>
              <a:rPr lang="ru-RU" dirty="0" smtClean="0"/>
              <a:t> как потерю почвы, когда текущий уровень технологии настолько превосходит уровень вашего продукта, что он постепенно выпадает из окружения. Программы отстают в версиях языка до такой степени, что код больше не совместим с основными компиляторами».</a:t>
            </a:r>
            <a:endParaRPr lang="ru-RU"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Технический </a:t>
            </a:r>
            <a:r>
              <a:rPr lang="ru-RU" dirty="0" smtClean="0"/>
              <a:t>долг</a:t>
            </a:r>
            <a:endParaRPr lang="ru-RU" dirty="0"/>
          </a:p>
        </p:txBody>
      </p:sp>
      <p:sp>
        <p:nvSpPr>
          <p:cNvPr id="3" name="Содержимое 2"/>
          <p:cNvSpPr>
            <a:spLocks noGrp="1"/>
          </p:cNvSpPr>
          <p:nvPr>
            <p:ph idx="1"/>
          </p:nvPr>
        </p:nvSpPr>
        <p:spPr/>
        <p:txBody>
          <a:bodyPr>
            <a:normAutofit fontScale="62500" lnSpcReduction="20000"/>
          </a:bodyPr>
          <a:lstStyle/>
          <a:p>
            <a:pPr indent="0">
              <a:buNone/>
            </a:pPr>
            <a:r>
              <a:rPr lang="ru-RU" dirty="0" smtClean="0">
                <a:hlinkClick r:id="rId2"/>
              </a:rPr>
              <a:t>Стив </a:t>
            </a:r>
            <a:r>
              <a:rPr lang="ru-RU" dirty="0" err="1" smtClean="0">
                <a:hlinkClick r:id="rId2"/>
              </a:rPr>
              <a:t>Макконнелл</a:t>
            </a:r>
            <a:r>
              <a:rPr lang="ru-RU" dirty="0" smtClean="0"/>
              <a:t> выделил в метафоре несколько хороших моментов. В частности, как уменьшение непреднамеренного долга оставляет больше возможностей намеренно принять долг, когда это полезно. Мне также нравится его формулировка минимальных платежей (которые слишком высоки, чтобы исправить проблемы во встраиваемых системах, но не на сайтах).</a:t>
            </a:r>
            <a:br>
              <a:rPr lang="ru-RU" dirty="0" smtClean="0"/>
            </a:br>
            <a:r>
              <a:rPr lang="ru-RU" dirty="0" smtClean="0"/>
              <a:t/>
            </a:r>
            <a:br>
              <a:rPr lang="ru-RU" dirty="0" smtClean="0"/>
            </a:br>
            <a:r>
              <a:rPr lang="ru-RU" dirty="0" smtClean="0"/>
              <a:t>Аарон </a:t>
            </a:r>
            <a:r>
              <a:rPr lang="ru-RU" dirty="0" err="1" smtClean="0"/>
              <a:t>Эриксон</a:t>
            </a:r>
            <a:r>
              <a:rPr lang="ru-RU" dirty="0" smtClean="0"/>
              <a:t> говорил о </a:t>
            </a:r>
            <a:r>
              <a:rPr lang="ru-RU" dirty="0" smtClean="0">
                <a:hlinkClick r:id="rId3"/>
              </a:rPr>
              <a:t>финансировании </a:t>
            </a:r>
            <a:r>
              <a:rPr lang="ru-RU" dirty="0" err="1" smtClean="0">
                <a:hlinkClick r:id="rId3"/>
              </a:rPr>
              <a:t>Enron</a:t>
            </a:r>
            <a:r>
              <a:rPr lang="ru-RU" dirty="0" smtClean="0"/>
              <a:t>.</a:t>
            </a:r>
            <a:br>
              <a:rPr lang="ru-RU" dirty="0" smtClean="0"/>
            </a:br>
            <a:r>
              <a:rPr lang="ru-RU" dirty="0" smtClean="0"/>
              <a:t/>
            </a:r>
            <a:br>
              <a:rPr lang="ru-RU" dirty="0" smtClean="0"/>
            </a:br>
            <a:r>
              <a:rPr lang="ru-RU" dirty="0" smtClean="0">
                <a:hlinkClick r:id="rId4"/>
              </a:rPr>
              <a:t>Хенрик </a:t>
            </a:r>
            <a:r>
              <a:rPr lang="ru-RU" dirty="0" err="1" smtClean="0">
                <a:hlinkClick r:id="rId4"/>
              </a:rPr>
              <a:t>Книберг</a:t>
            </a:r>
            <a:r>
              <a:rPr lang="ru-RU" dirty="0" smtClean="0">
                <a:hlinkClick r:id="rId4"/>
              </a:rPr>
              <a:t> утверждает</a:t>
            </a:r>
            <a:r>
              <a:rPr lang="ru-RU" dirty="0" smtClean="0"/>
              <a:t>, что наибольшую проблему вызывает старый технический долг, и что разумно установить качественный потолок долга, чтобы им легче было управлять.</a:t>
            </a:r>
            <a:br>
              <a:rPr lang="ru-RU" dirty="0" smtClean="0"/>
            </a:br>
            <a:r>
              <a:rPr lang="ru-RU" dirty="0" smtClean="0"/>
              <a:t/>
            </a:r>
            <a:br>
              <a:rPr lang="ru-RU" dirty="0" smtClean="0"/>
            </a:br>
            <a:r>
              <a:rPr lang="ru-RU" dirty="0" smtClean="0"/>
              <a:t>Эрик Дитрих обсуждает </a:t>
            </a:r>
            <a:r>
              <a:rPr lang="ru-RU" dirty="0" smtClean="0">
                <a:hlinkClick r:id="rId5"/>
              </a:rPr>
              <a:t>человеческие потери из-за технического долга</a:t>
            </a:r>
            <a:r>
              <a:rPr lang="ru-RU" dirty="0" smtClean="0"/>
              <a:t>: сражения в командах, деградация навыков и выгорание.</a:t>
            </a:r>
            <a:endParaRPr lang="ru-RU" dirty="0"/>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536</Words>
  <Application>Microsoft Office PowerPoint</Application>
  <PresentationFormat>Экран (4:3)</PresentationFormat>
  <Paragraphs>99</Paragraphs>
  <Slides>23</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23</vt:i4>
      </vt:variant>
    </vt:vector>
  </HeadingPairs>
  <TitlesOfParts>
    <vt:vector size="24" baseType="lpstr">
      <vt:lpstr>Тема Office</vt:lpstr>
      <vt:lpstr>Слайд 1</vt:lpstr>
      <vt:lpstr>Рефакторинг</vt:lpstr>
      <vt:lpstr>Цели рефакторинга</vt:lpstr>
      <vt:lpstr>Признаки плохого кода</vt:lpstr>
      <vt:lpstr>Ценность продукта </vt:lpstr>
      <vt:lpstr>Ценность продукта </vt:lpstr>
      <vt:lpstr>Ценности для разработчика</vt:lpstr>
      <vt:lpstr>Взгляд со стороны бизнеса </vt:lpstr>
      <vt:lpstr>Цели рефакторинга</vt:lpstr>
      <vt:lpstr>Цели рефакторинга</vt:lpstr>
      <vt:lpstr>Цели рефакторинга</vt:lpstr>
      <vt:lpstr>Цели рефакторинга</vt:lpstr>
      <vt:lpstr>Практические подходы к рефакторингу</vt:lpstr>
      <vt:lpstr>Практические подходы к рефакторингу</vt:lpstr>
      <vt:lpstr>Практические подходы к рефакторингу</vt:lpstr>
      <vt:lpstr>Практические подходы к рефакторингу</vt:lpstr>
      <vt:lpstr>Методы рефакторинга</vt:lpstr>
      <vt:lpstr>Методы рефакторинга</vt:lpstr>
      <vt:lpstr>Методы рефакторинга</vt:lpstr>
      <vt:lpstr>Методы рефакторинга</vt:lpstr>
      <vt:lpstr>Технический долг</vt:lpstr>
      <vt:lpstr>Технический долг</vt:lpstr>
      <vt:lpstr>Технический долг</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Александра Титова</dc:creator>
  <cp:lastModifiedBy>Александра Титова</cp:lastModifiedBy>
  <cp:revision>2</cp:revision>
  <dcterms:created xsi:type="dcterms:W3CDTF">2023-10-06T07:13:56Z</dcterms:created>
  <dcterms:modified xsi:type="dcterms:W3CDTF">2023-10-06T07:26:32Z</dcterms:modified>
</cp:coreProperties>
</file>