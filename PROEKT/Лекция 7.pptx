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3" r:id="rId18"/>
    <p:sldId id="274" r:id="rId19"/>
    <p:sldId id="275" r:id="rId20"/>
    <p:sldId id="276"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 id="308" r:id="rId52"/>
    <p:sldId id="309" r:id="rId53"/>
    <p:sldId id="310" r:id="rId54"/>
    <p:sldId id="311" r:id="rId55"/>
    <p:sldId id="312" r:id="rId56"/>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6" d="100"/>
          <a:sy n="76" d="100"/>
        </p:scale>
        <p:origin x="-84" y="-54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smtClean="0"/>
              <a:t>Образец заголовка</a:t>
            </a:r>
            <a:endParaRPr lang="ru-RU"/>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5B106E36-FD25-4E2D-B0AA-010F637433A0}" type="datetimeFigureOut">
              <a:rPr lang="ru-RU" smtClean="0"/>
              <a:pPr/>
              <a:t>24.12.2023</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5B106E36-FD25-4E2D-B0AA-010F637433A0}" type="datetimeFigureOut">
              <a:rPr lang="ru-RU" smtClean="0"/>
              <a:pPr/>
              <a:t>24.12.2023</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5B106E36-FD25-4E2D-B0AA-010F637433A0}" type="datetimeFigureOut">
              <a:rPr lang="ru-RU" smtClean="0"/>
              <a:pPr/>
              <a:t>24.12.2023</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Содержимое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5B106E36-FD25-4E2D-B0AA-010F637433A0}" type="datetimeFigureOut">
              <a:rPr lang="ru-RU" smtClean="0"/>
              <a:pPr/>
              <a:t>24.12.2023</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Содержимое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Содержимое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5B106E36-FD25-4E2D-B0AA-010F637433A0}" type="datetimeFigureOut">
              <a:rPr lang="ru-RU" smtClean="0"/>
              <a:pPr/>
              <a:t>24.12.2023</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5B106E36-FD25-4E2D-B0AA-010F637433A0}" type="datetimeFigureOut">
              <a:rPr lang="ru-RU" smtClean="0"/>
              <a:pPr/>
              <a:t>24.12.2023</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5B106E36-FD25-4E2D-B0AA-010F637433A0}" type="datetimeFigureOut">
              <a:rPr lang="ru-RU" smtClean="0"/>
              <a:pPr/>
              <a:t>24.12.2023</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smtClean="0"/>
              <a:t>Образец заголовка</a:t>
            </a:r>
            <a:endParaRPr lang="ru-RU"/>
          </a:p>
        </p:txBody>
      </p:sp>
      <p:sp>
        <p:nvSpPr>
          <p:cNvPr id="3" name="Содержимое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5B106E36-FD25-4E2D-B0AA-010F637433A0}" type="datetimeFigureOut">
              <a:rPr lang="ru-RU" smtClean="0"/>
              <a:pPr/>
              <a:t>24.12.2023</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5B106E36-FD25-4E2D-B0AA-010F637433A0}" type="datetimeFigureOut">
              <a:rPr lang="ru-RU" smtClean="0"/>
              <a:pPr/>
              <a:t>24.12.2023</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5B106E36-FD25-4E2D-B0AA-010F637433A0}" type="datetimeFigureOut">
              <a:rPr lang="ru-RU" smtClean="0"/>
              <a:pPr/>
              <a:t>24.12.2023</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5B106E36-FD25-4E2D-B0AA-010F637433A0}" type="datetimeFigureOut">
              <a:rPr lang="ru-RU" smtClean="0"/>
              <a:pPr/>
              <a:t>24.12.2023</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106E36-FD25-4E2D-B0AA-010F637433A0}" type="datetimeFigureOut">
              <a:rPr lang="ru-RU" smtClean="0"/>
              <a:pPr/>
              <a:t>24.12.2023</a:t>
            </a:fld>
            <a:endParaRPr lang="ru-RU"/>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5C68B6-61C2-468F-89AB-4B9F7531AA68}" type="slidenum">
              <a:rPr lang="ru-RU" smtClean="0"/>
              <a:pPr/>
              <a:t>‹#›</a:t>
            </a:fld>
            <a:endParaRPr lang="ru-R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endParaRPr lang="ru-RU"/>
          </a:p>
        </p:txBody>
      </p:sp>
      <p:sp>
        <p:nvSpPr>
          <p:cNvPr id="3" name="Подзаголовок 2"/>
          <p:cNvSpPr>
            <a:spLocks noGrp="1"/>
          </p:cNvSpPr>
          <p:nvPr>
            <p:ph type="subTitle" idx="1"/>
          </p:nvPr>
        </p:nvSpPr>
        <p:spPr/>
        <p:txBody>
          <a:bodyPr/>
          <a:lstStyle/>
          <a:p>
            <a:endParaRPr lang="ru-RU"/>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Системы контроля версий</a:t>
            </a:r>
            <a:endParaRPr lang="ru-RU" dirty="0"/>
          </a:p>
        </p:txBody>
      </p:sp>
      <p:sp>
        <p:nvSpPr>
          <p:cNvPr id="3" name="Содержимое 2"/>
          <p:cNvSpPr>
            <a:spLocks noGrp="1"/>
          </p:cNvSpPr>
          <p:nvPr>
            <p:ph idx="1"/>
          </p:nvPr>
        </p:nvSpPr>
        <p:spPr>
          <a:xfrm>
            <a:off x="457200" y="1196752"/>
            <a:ext cx="8229600" cy="5661248"/>
          </a:xfrm>
        </p:spPr>
        <p:txBody>
          <a:bodyPr>
            <a:normAutofit fontScale="85000" lnSpcReduction="20000"/>
          </a:bodyPr>
          <a:lstStyle/>
          <a:p>
            <a:r>
              <a:rPr lang="ru-RU" dirty="0" smtClean="0"/>
              <a:t>Функции системы контроля версий</a:t>
            </a:r>
            <a:br>
              <a:rPr lang="ru-RU" dirty="0" smtClean="0"/>
            </a:br>
            <a:endParaRPr lang="ru-RU" dirty="0" smtClean="0"/>
          </a:p>
          <a:p>
            <a:r>
              <a:rPr lang="ru-RU" b="1" dirty="0" smtClean="0"/>
              <a:t>хранение несколько версий </a:t>
            </a:r>
            <a:r>
              <a:rPr lang="ru-RU" dirty="0" smtClean="0"/>
              <a:t>одного и того же</a:t>
            </a:r>
            <a:br>
              <a:rPr lang="ru-RU" dirty="0" smtClean="0"/>
            </a:br>
            <a:r>
              <a:rPr lang="ru-RU" dirty="0" smtClean="0"/>
              <a:t>документа (история версий);</a:t>
            </a:r>
          </a:p>
          <a:p>
            <a:r>
              <a:rPr lang="ru-RU" dirty="0" smtClean="0"/>
              <a:t>хранение истории разработки;</a:t>
            </a:r>
          </a:p>
          <a:p>
            <a:r>
              <a:rPr lang="ru-RU" dirty="0" smtClean="0"/>
              <a:t>при необходимости </a:t>
            </a:r>
            <a:r>
              <a:rPr lang="ru-RU" b="1" dirty="0" smtClean="0"/>
              <a:t>возвращение к более ранним</a:t>
            </a:r>
            <a:br>
              <a:rPr lang="ru-RU" b="1" dirty="0" smtClean="0"/>
            </a:br>
            <a:r>
              <a:rPr lang="ru-RU" b="1" dirty="0" smtClean="0"/>
              <a:t>версиям </a:t>
            </a:r>
            <a:r>
              <a:rPr lang="ru-RU" dirty="0" smtClean="0"/>
              <a:t>документа (отмена изменений);</a:t>
            </a:r>
          </a:p>
          <a:p>
            <a:r>
              <a:rPr lang="ru-RU" dirty="0" smtClean="0"/>
              <a:t> определение, </a:t>
            </a:r>
            <a:r>
              <a:rPr lang="ru-RU" b="1" dirty="0" smtClean="0"/>
              <a:t>кто и когда сделал изменение </a:t>
            </a:r>
            <a:r>
              <a:rPr lang="ru-RU" dirty="0" smtClean="0"/>
              <a:t>(поиск</a:t>
            </a:r>
            <a:br>
              <a:rPr lang="ru-RU" dirty="0" smtClean="0"/>
            </a:br>
            <a:r>
              <a:rPr lang="ru-RU" dirty="0" smtClean="0"/>
              <a:t>«виновного»);</a:t>
            </a:r>
          </a:p>
          <a:p>
            <a:r>
              <a:rPr lang="ru-RU" b="1" dirty="0" smtClean="0"/>
              <a:t>совмещение изменений </a:t>
            </a:r>
            <a:r>
              <a:rPr lang="ru-RU" dirty="0" smtClean="0"/>
              <a:t>сделанных разными</a:t>
            </a:r>
            <a:br>
              <a:rPr lang="ru-RU" dirty="0" smtClean="0"/>
            </a:br>
            <a:r>
              <a:rPr lang="ru-RU" dirty="0" smtClean="0"/>
              <a:t>разработчиками (синхронизация работы команды);</a:t>
            </a:r>
          </a:p>
          <a:p>
            <a:r>
              <a:rPr lang="ru-RU" dirty="0" smtClean="0"/>
              <a:t>реализация альтернативных/</a:t>
            </a:r>
            <a:r>
              <a:rPr lang="ru-RU" dirty="0" err="1" smtClean="0"/>
              <a:t>эксперементальных</a:t>
            </a:r>
            <a:r>
              <a:rPr lang="ru-RU" dirty="0" smtClean="0"/>
              <a:t/>
            </a:r>
            <a:br>
              <a:rPr lang="ru-RU" dirty="0" smtClean="0"/>
            </a:br>
            <a:r>
              <a:rPr lang="ru-RU" dirty="0" smtClean="0"/>
              <a:t>вариантов проекта. </a:t>
            </a:r>
            <a:br>
              <a:rPr lang="ru-RU" dirty="0" smtClean="0"/>
            </a:br>
            <a:endParaRPr lang="ru-RU"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smtClean="0"/>
              <a:t>История систем контроля версий </a:t>
            </a:r>
            <a:endParaRPr lang="ru-RU" dirty="0"/>
          </a:p>
        </p:txBody>
      </p:sp>
      <p:sp>
        <p:nvSpPr>
          <p:cNvPr id="3" name="Содержимое 2"/>
          <p:cNvSpPr>
            <a:spLocks noGrp="1"/>
          </p:cNvSpPr>
          <p:nvPr>
            <p:ph idx="1"/>
          </p:nvPr>
        </p:nvSpPr>
        <p:spPr/>
        <p:txBody>
          <a:bodyPr/>
          <a:lstStyle/>
          <a:p>
            <a:endParaRPr lang="ru-RU"/>
          </a:p>
        </p:txBody>
      </p:sp>
      <p:pic>
        <p:nvPicPr>
          <p:cNvPr id="1026" name="Picture 2"/>
          <p:cNvPicPr>
            <a:picLocks noChangeAspect="1" noChangeArrowheads="1"/>
          </p:cNvPicPr>
          <p:nvPr/>
        </p:nvPicPr>
        <p:blipFill>
          <a:blip r:embed="rId2" cstate="print"/>
          <a:srcRect/>
          <a:stretch>
            <a:fillRect/>
          </a:stretch>
        </p:blipFill>
        <p:spPr bwMode="auto">
          <a:xfrm>
            <a:off x="0" y="1700808"/>
            <a:ext cx="10359862" cy="3278683"/>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smtClean="0"/>
              <a:t>Типы систем контроля версий </a:t>
            </a:r>
            <a:endParaRPr lang="ru-RU" dirty="0"/>
          </a:p>
        </p:txBody>
      </p:sp>
      <p:sp>
        <p:nvSpPr>
          <p:cNvPr id="3" name="Содержимое 2"/>
          <p:cNvSpPr>
            <a:spLocks noGrp="1"/>
          </p:cNvSpPr>
          <p:nvPr>
            <p:ph idx="1"/>
          </p:nvPr>
        </p:nvSpPr>
        <p:spPr/>
        <p:txBody>
          <a:bodyPr>
            <a:normAutofit/>
          </a:bodyPr>
          <a:lstStyle/>
          <a:p>
            <a:r>
              <a:rPr lang="ru-RU" b="1" dirty="0" smtClean="0"/>
              <a:t>Локальные </a:t>
            </a:r>
            <a:r>
              <a:rPr lang="ru-RU" dirty="0" smtClean="0"/>
              <a:t>системы контроля версий (</a:t>
            </a:r>
            <a:r>
              <a:rPr lang="en-US" dirty="0" smtClean="0"/>
              <a:t>RCS</a:t>
            </a:r>
            <a:r>
              <a:rPr lang="ru-RU" dirty="0" smtClean="0"/>
              <a:t>).</a:t>
            </a:r>
          </a:p>
          <a:p>
            <a:r>
              <a:rPr lang="ru-RU" b="1" dirty="0" smtClean="0"/>
              <a:t>Централизованные </a:t>
            </a:r>
            <a:r>
              <a:rPr lang="ru-RU" dirty="0" smtClean="0"/>
              <a:t>системы контроля версий (CVS, </a:t>
            </a:r>
            <a:r>
              <a:rPr lang="ru-RU" dirty="0" err="1" smtClean="0"/>
              <a:t>Subversion</a:t>
            </a:r>
            <a:r>
              <a:rPr lang="ru-RU" dirty="0" smtClean="0"/>
              <a:t> и </a:t>
            </a:r>
            <a:r>
              <a:rPr lang="ru-RU" dirty="0" err="1" smtClean="0"/>
              <a:t>Perforce</a:t>
            </a:r>
            <a:r>
              <a:rPr lang="ru-RU" dirty="0" smtClean="0"/>
              <a:t>).</a:t>
            </a:r>
          </a:p>
          <a:p>
            <a:r>
              <a:rPr lang="ru-RU" b="1" dirty="0" smtClean="0"/>
              <a:t>Децентрализованные </a:t>
            </a:r>
            <a:r>
              <a:rPr lang="ru-RU" dirty="0" smtClean="0"/>
              <a:t>системы контроля версий (</a:t>
            </a:r>
            <a:r>
              <a:rPr lang="ru-RU" dirty="0" err="1" smtClean="0"/>
              <a:t>Git</a:t>
            </a:r>
            <a:r>
              <a:rPr lang="ru-RU" dirty="0" smtClean="0"/>
              <a:t>, </a:t>
            </a:r>
            <a:r>
              <a:rPr lang="ru-RU" dirty="0" err="1" smtClean="0"/>
              <a:t>Mercurial</a:t>
            </a:r>
            <a:r>
              <a:rPr lang="ru-RU" dirty="0" smtClean="0"/>
              <a:t>, </a:t>
            </a:r>
            <a:r>
              <a:rPr lang="ru-RU" dirty="0" err="1" smtClean="0"/>
              <a:t>Bazaar</a:t>
            </a:r>
            <a:r>
              <a:rPr lang="ru-RU" dirty="0" smtClean="0"/>
              <a:t>, </a:t>
            </a:r>
            <a:r>
              <a:rPr lang="ru-RU" dirty="0" err="1" smtClean="0"/>
              <a:t>Darcs</a:t>
            </a:r>
            <a:r>
              <a:rPr lang="ru-RU" dirty="0" smtClean="0"/>
              <a:t>). </a:t>
            </a:r>
            <a:br>
              <a:rPr lang="ru-RU" dirty="0" smtClean="0"/>
            </a:br>
            <a:endParaRPr lang="ru-RU"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Локальные системы контроля версий </a:t>
            </a:r>
            <a:endParaRPr lang="ru-RU" dirty="0"/>
          </a:p>
        </p:txBody>
      </p:sp>
      <p:pic>
        <p:nvPicPr>
          <p:cNvPr id="2050" name="Picture 2"/>
          <p:cNvPicPr>
            <a:picLocks noGrp="1" noChangeAspect="1" noChangeArrowheads="1"/>
          </p:cNvPicPr>
          <p:nvPr>
            <p:ph idx="1"/>
          </p:nvPr>
        </p:nvPicPr>
        <p:blipFill>
          <a:blip r:embed="rId2" cstate="print"/>
          <a:srcRect/>
          <a:stretch>
            <a:fillRect/>
          </a:stretch>
        </p:blipFill>
        <p:spPr bwMode="auto">
          <a:xfrm>
            <a:off x="1880423" y="1600200"/>
            <a:ext cx="5383153" cy="4525963"/>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Централизованные системы контроля версий </a:t>
            </a:r>
            <a:endParaRPr lang="ru-RU" dirty="0"/>
          </a:p>
        </p:txBody>
      </p:sp>
      <p:pic>
        <p:nvPicPr>
          <p:cNvPr id="3074" name="Picture 2"/>
          <p:cNvPicPr>
            <a:picLocks noGrp="1" noChangeAspect="1" noChangeArrowheads="1"/>
          </p:cNvPicPr>
          <p:nvPr>
            <p:ph idx="1"/>
          </p:nvPr>
        </p:nvPicPr>
        <p:blipFill>
          <a:blip r:embed="rId2" cstate="print"/>
          <a:srcRect/>
          <a:stretch>
            <a:fillRect/>
          </a:stretch>
        </p:blipFill>
        <p:spPr bwMode="auto">
          <a:xfrm>
            <a:off x="1881188" y="1618584"/>
            <a:ext cx="5381625" cy="4489195"/>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Централизованные системы контроля версий </a:t>
            </a:r>
            <a:endParaRPr lang="ru-RU" dirty="0"/>
          </a:p>
        </p:txBody>
      </p:sp>
      <p:pic>
        <p:nvPicPr>
          <p:cNvPr id="4098" name="Picture 2"/>
          <p:cNvPicPr>
            <a:picLocks noGrp="1" noChangeAspect="1" noChangeArrowheads="1"/>
          </p:cNvPicPr>
          <p:nvPr>
            <p:ph idx="1"/>
          </p:nvPr>
        </p:nvPicPr>
        <p:blipFill>
          <a:blip r:embed="rId2" cstate="print"/>
          <a:srcRect/>
          <a:stretch>
            <a:fillRect/>
          </a:stretch>
        </p:blipFill>
        <p:spPr bwMode="auto">
          <a:xfrm>
            <a:off x="0" y="1556792"/>
            <a:ext cx="8916255" cy="5040560"/>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Распределённые системы контроля версий  </a:t>
            </a:r>
            <a:endParaRPr lang="ru-RU" dirty="0"/>
          </a:p>
        </p:txBody>
      </p:sp>
      <p:pic>
        <p:nvPicPr>
          <p:cNvPr id="5122" name="Picture 2"/>
          <p:cNvPicPr>
            <a:picLocks noGrp="1" noChangeAspect="1" noChangeArrowheads="1"/>
          </p:cNvPicPr>
          <p:nvPr>
            <p:ph idx="1"/>
          </p:nvPr>
        </p:nvPicPr>
        <p:blipFill>
          <a:blip r:embed="rId2" cstate="print"/>
          <a:srcRect/>
          <a:stretch>
            <a:fillRect/>
          </a:stretch>
        </p:blipFill>
        <p:spPr bwMode="auto">
          <a:xfrm>
            <a:off x="1690630" y="1557338"/>
            <a:ext cx="5535727" cy="5040312"/>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Распределённые системы контроля версий  </a:t>
            </a:r>
            <a:endParaRPr lang="ru-RU" dirty="0"/>
          </a:p>
        </p:txBody>
      </p:sp>
      <p:pic>
        <p:nvPicPr>
          <p:cNvPr id="6146" name="Picture 2"/>
          <p:cNvPicPr>
            <a:picLocks noGrp="1" noChangeAspect="1" noChangeArrowheads="1"/>
          </p:cNvPicPr>
          <p:nvPr>
            <p:ph idx="1"/>
          </p:nvPr>
        </p:nvPicPr>
        <p:blipFill>
          <a:blip r:embed="rId2" cstate="print"/>
          <a:srcRect/>
          <a:stretch>
            <a:fillRect/>
          </a:stretch>
        </p:blipFill>
        <p:spPr bwMode="auto">
          <a:xfrm>
            <a:off x="1259632" y="1332465"/>
            <a:ext cx="6336704" cy="5437696"/>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RCS - система управления пересмотрами версий </a:t>
            </a:r>
            <a:br>
              <a:rPr lang="ru-RU" dirty="0" smtClean="0"/>
            </a:br>
            <a:r>
              <a:rPr lang="ru-RU" dirty="0" smtClean="0"/>
              <a:t>  </a:t>
            </a:r>
            <a:endParaRPr lang="ru-RU" dirty="0"/>
          </a:p>
        </p:txBody>
      </p:sp>
      <p:sp>
        <p:nvSpPr>
          <p:cNvPr id="4" name="Содержимое 3"/>
          <p:cNvSpPr>
            <a:spLocks noGrp="1"/>
          </p:cNvSpPr>
          <p:nvPr>
            <p:ph idx="1"/>
          </p:nvPr>
        </p:nvSpPr>
        <p:spPr/>
        <p:txBody>
          <a:bodyPr>
            <a:normAutofit fontScale="77500" lnSpcReduction="20000"/>
          </a:bodyPr>
          <a:lstStyle/>
          <a:p>
            <a:r>
              <a:rPr lang="en-US" b="1" dirty="0" smtClean="0"/>
              <a:t>www.gnu.org/software/rcs/rcs.html</a:t>
            </a:r>
            <a:endParaRPr lang="ru-RU" b="1" dirty="0" smtClean="0"/>
          </a:p>
          <a:p>
            <a:r>
              <a:rPr lang="en-US" dirty="0" smtClean="0"/>
              <a:t>RCS</a:t>
            </a:r>
            <a:r>
              <a:rPr lang="ru-RU" dirty="0" smtClean="0"/>
              <a:t> позволяет работать только с отдельными файлами, создавая для каждого историю изменений. Для текстовых файлов сохраняются не все версии файла, а только последняя версия и все изменение, внесенные в нее. </a:t>
            </a:r>
            <a:r>
              <a:rPr lang="en-US" dirty="0" smtClean="0"/>
              <a:t>RCS</a:t>
            </a:r>
            <a:r>
              <a:rPr lang="ru-RU" dirty="0" smtClean="0"/>
              <a:t> также может отслеживать изменения в бинарных файлах, но при этом каждое изменение хранится в виде отдельной версии файла. </a:t>
            </a:r>
            <a:r>
              <a:rPr lang="en-US" dirty="0" smtClean="0"/>
              <a:t></a:t>
            </a:r>
            <a:r>
              <a:rPr lang="ru-RU" dirty="0" smtClean="0"/>
              <a:t> </a:t>
            </a:r>
            <a:endParaRPr lang="en-US" dirty="0" smtClean="0"/>
          </a:p>
          <a:p>
            <a:r>
              <a:rPr lang="ru-RU" dirty="0" smtClean="0"/>
              <a:t>Когда изменения в файл вносит один из пользователей, для всех остальных этот файл остается заблокированным. Они не могут запросить его из </a:t>
            </a:r>
            <a:r>
              <a:rPr lang="ru-RU" dirty="0" err="1" smtClean="0"/>
              <a:t>репозитория</a:t>
            </a:r>
            <a:r>
              <a:rPr lang="ru-RU" dirty="0" smtClean="0"/>
              <a:t> для редактирования, пока первый пользователь не закончит работу и не зафиксирует изменения.</a:t>
            </a:r>
            <a:endParaRPr lang="ru-RU" b="1" dirty="0" smtClean="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RCS - система управления пересмотрами версий </a:t>
            </a:r>
            <a:br>
              <a:rPr lang="ru-RU" dirty="0" smtClean="0"/>
            </a:br>
            <a:r>
              <a:rPr lang="ru-RU" dirty="0" smtClean="0"/>
              <a:t>  </a:t>
            </a:r>
            <a:endParaRPr lang="ru-RU" dirty="0"/>
          </a:p>
        </p:txBody>
      </p:sp>
      <p:sp>
        <p:nvSpPr>
          <p:cNvPr id="4" name="Содержимое 3"/>
          <p:cNvSpPr>
            <a:spLocks noGrp="1"/>
          </p:cNvSpPr>
          <p:nvPr>
            <p:ph idx="1"/>
          </p:nvPr>
        </p:nvSpPr>
        <p:spPr>
          <a:xfrm>
            <a:off x="457200" y="1268760"/>
            <a:ext cx="8229600" cy="5589240"/>
          </a:xfrm>
        </p:spPr>
        <p:txBody>
          <a:bodyPr>
            <a:normAutofit fontScale="70000" lnSpcReduction="20000"/>
          </a:bodyPr>
          <a:lstStyle/>
          <a:p>
            <a:r>
              <a:rPr lang="en-US" b="1" dirty="0" smtClean="0"/>
              <a:t>www.gnu.org/software/rcs/rcs.html</a:t>
            </a:r>
            <a:endParaRPr lang="ru-RU" b="1" dirty="0" smtClean="0"/>
          </a:p>
          <a:p>
            <a:r>
              <a:rPr lang="ru-RU" b="1" dirty="0" smtClean="0"/>
              <a:t>Преимущества: </a:t>
            </a:r>
            <a:r>
              <a:rPr lang="en-US" dirty="0" smtClean="0"/>
              <a:t></a:t>
            </a:r>
            <a:r>
              <a:rPr lang="ru-RU" dirty="0" smtClean="0"/>
              <a:t> </a:t>
            </a:r>
            <a:endParaRPr lang="en-US" dirty="0" smtClean="0"/>
          </a:p>
          <a:p>
            <a:pPr lvl="1"/>
            <a:r>
              <a:rPr lang="ru-RU" dirty="0" smtClean="0"/>
              <a:t>1. </a:t>
            </a:r>
            <a:r>
              <a:rPr lang="en-US" dirty="0" smtClean="0"/>
              <a:t>RCS</a:t>
            </a:r>
            <a:r>
              <a:rPr lang="ru-RU" dirty="0" smtClean="0"/>
              <a:t> - проста в использовании и хорошо подходит для ознакомления с принципами работы систем контроля версий. </a:t>
            </a:r>
            <a:r>
              <a:rPr lang="en-US" dirty="0" smtClean="0"/>
              <a:t></a:t>
            </a:r>
            <a:r>
              <a:rPr lang="ru-RU" dirty="0" smtClean="0"/>
              <a:t> </a:t>
            </a:r>
            <a:endParaRPr lang="en-US" dirty="0" smtClean="0"/>
          </a:p>
          <a:p>
            <a:pPr lvl="1"/>
            <a:r>
              <a:rPr lang="ru-RU" dirty="0" smtClean="0"/>
              <a:t>2. Хорошо подходит для резервного копирования отдельных файлов, не требующих частого изменения группой пользователей. </a:t>
            </a:r>
            <a:r>
              <a:rPr lang="en-US" dirty="0" smtClean="0"/>
              <a:t></a:t>
            </a:r>
            <a:r>
              <a:rPr lang="ru-RU" dirty="0" smtClean="0"/>
              <a:t> </a:t>
            </a:r>
            <a:endParaRPr lang="en-US" dirty="0" smtClean="0"/>
          </a:p>
          <a:p>
            <a:pPr lvl="1"/>
            <a:r>
              <a:rPr lang="ru-RU" dirty="0" smtClean="0"/>
              <a:t>3. Широко распространена и предустановленна в большинстве свободно распространяемых операционных системах. </a:t>
            </a:r>
            <a:endParaRPr lang="en-US" dirty="0" smtClean="0"/>
          </a:p>
          <a:p>
            <a:r>
              <a:rPr lang="ru-RU" b="1" dirty="0" smtClean="0"/>
              <a:t>Недостатки: </a:t>
            </a:r>
            <a:r>
              <a:rPr lang="en-US" dirty="0" smtClean="0"/>
              <a:t></a:t>
            </a:r>
            <a:r>
              <a:rPr lang="ru-RU" dirty="0" smtClean="0"/>
              <a:t> </a:t>
            </a:r>
            <a:endParaRPr lang="en-US" dirty="0" smtClean="0"/>
          </a:p>
          <a:p>
            <a:pPr lvl="1"/>
            <a:r>
              <a:rPr lang="ru-RU" dirty="0" smtClean="0"/>
              <a:t>1. Отслеживает изменения только отдельных файлов, что не позволяет использовать ее для управления версиями больших проектов. </a:t>
            </a:r>
            <a:r>
              <a:rPr lang="en-US" dirty="0" smtClean="0"/>
              <a:t></a:t>
            </a:r>
            <a:r>
              <a:rPr lang="ru-RU" dirty="0" smtClean="0"/>
              <a:t> </a:t>
            </a:r>
            <a:endParaRPr lang="en-US" dirty="0" smtClean="0"/>
          </a:p>
          <a:p>
            <a:pPr lvl="1"/>
            <a:r>
              <a:rPr lang="ru-RU" dirty="0" smtClean="0"/>
              <a:t>2. Не позволяет одновременно вносить изменения в один и тот же файл несколькими пользователями. </a:t>
            </a:r>
            <a:r>
              <a:rPr lang="en-US" dirty="0" smtClean="0"/>
              <a:t></a:t>
            </a:r>
            <a:r>
              <a:rPr lang="ru-RU" dirty="0" smtClean="0"/>
              <a:t> </a:t>
            </a:r>
            <a:endParaRPr lang="en-US" dirty="0" smtClean="0"/>
          </a:p>
          <a:p>
            <a:pPr lvl="1"/>
            <a:r>
              <a:rPr lang="ru-RU" dirty="0" smtClean="0"/>
              <a:t>3. Низкая функциональность, по сравнению с современными системами контроля версий.</a:t>
            </a:r>
            <a:endParaRPr lang="ru-RU" b="1" dirty="0" smtClean="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CVS - система управления параллельными версиями</a:t>
            </a:r>
            <a:br>
              <a:rPr lang="ru-RU" dirty="0" smtClean="0"/>
            </a:br>
            <a:r>
              <a:rPr lang="ru-RU" dirty="0" smtClean="0"/>
              <a:t>  </a:t>
            </a:r>
            <a:endParaRPr lang="ru-RU" dirty="0"/>
          </a:p>
        </p:txBody>
      </p:sp>
      <p:sp>
        <p:nvSpPr>
          <p:cNvPr id="4" name="Содержимое 3"/>
          <p:cNvSpPr>
            <a:spLocks noGrp="1"/>
          </p:cNvSpPr>
          <p:nvPr>
            <p:ph idx="1"/>
          </p:nvPr>
        </p:nvSpPr>
        <p:spPr>
          <a:xfrm>
            <a:off x="457200" y="1268760"/>
            <a:ext cx="8229600" cy="5589240"/>
          </a:xfrm>
        </p:spPr>
        <p:txBody>
          <a:bodyPr>
            <a:normAutofit fontScale="85000" lnSpcReduction="10000"/>
          </a:bodyPr>
          <a:lstStyle/>
          <a:p>
            <a:r>
              <a:rPr lang="en-US" b="1" dirty="0" smtClean="0"/>
              <a:t>www.nongnu.org/cvs </a:t>
            </a:r>
          </a:p>
          <a:p>
            <a:r>
              <a:rPr lang="ru-RU" dirty="0" smtClean="0"/>
              <a:t>Последняя версия и все сделанные изменения хранятся в </a:t>
            </a:r>
            <a:r>
              <a:rPr lang="ru-RU" dirty="0" err="1" smtClean="0"/>
              <a:t>репозитории</a:t>
            </a:r>
            <a:r>
              <a:rPr lang="ru-RU" dirty="0" smtClean="0"/>
              <a:t> сервера. Клиенты, подключаясь к серверу, проверяют отличия локальной версии от последней версии, сохраненной в </a:t>
            </a:r>
            <a:r>
              <a:rPr lang="ru-RU" dirty="0" err="1" smtClean="0"/>
              <a:t>репозитории</a:t>
            </a:r>
            <a:r>
              <a:rPr lang="ru-RU" dirty="0" smtClean="0"/>
              <a:t>, и, если есть отличия, загружают их в свой локальный проект. При необходимости решают конфликты и вносят требуемые изменения в разрабатываемый продукт. После этого все изменения загружаются в </a:t>
            </a:r>
            <a:r>
              <a:rPr lang="ru-RU" dirty="0" err="1" smtClean="0"/>
              <a:t>репозиторий</a:t>
            </a:r>
            <a:r>
              <a:rPr lang="ru-RU" dirty="0" smtClean="0"/>
              <a:t> сервера. </a:t>
            </a:r>
            <a:r>
              <a:rPr lang="en-US" dirty="0" smtClean="0"/>
              <a:t>CVS</a:t>
            </a:r>
            <a:r>
              <a:rPr lang="ru-RU" dirty="0" smtClean="0"/>
              <a:t>, при необходимости, позволяет откатываться на нужную версию разрабатываемого проекта и вести управление несколькими проектами одновременно.</a:t>
            </a:r>
            <a:endParaRPr lang="ru-RU" b="1" dirty="0" smtClean="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404664"/>
            <a:ext cx="8229600" cy="576064"/>
          </a:xfrm>
        </p:spPr>
        <p:txBody>
          <a:bodyPr>
            <a:normAutofit fontScale="90000"/>
          </a:bodyPr>
          <a:lstStyle/>
          <a:p>
            <a:r>
              <a:rPr lang="ru-RU" sz="3100" dirty="0" smtClean="0"/>
              <a:t>CVS - система управления параллельными версиями</a:t>
            </a:r>
            <a:r>
              <a:rPr lang="ru-RU" dirty="0" smtClean="0"/>
              <a:t/>
            </a:r>
            <a:br>
              <a:rPr lang="ru-RU" dirty="0" smtClean="0"/>
            </a:br>
            <a:r>
              <a:rPr lang="ru-RU" dirty="0" smtClean="0"/>
              <a:t>  </a:t>
            </a:r>
            <a:endParaRPr lang="ru-RU" dirty="0"/>
          </a:p>
        </p:txBody>
      </p:sp>
      <p:sp>
        <p:nvSpPr>
          <p:cNvPr id="4" name="Содержимое 3"/>
          <p:cNvSpPr>
            <a:spLocks noGrp="1"/>
          </p:cNvSpPr>
          <p:nvPr>
            <p:ph idx="1"/>
          </p:nvPr>
        </p:nvSpPr>
        <p:spPr>
          <a:xfrm>
            <a:off x="467544" y="881336"/>
            <a:ext cx="8229600" cy="5976664"/>
          </a:xfrm>
        </p:spPr>
        <p:txBody>
          <a:bodyPr>
            <a:normAutofit fontScale="62500" lnSpcReduction="20000"/>
          </a:bodyPr>
          <a:lstStyle/>
          <a:p>
            <a:r>
              <a:rPr lang="en-US" b="1" dirty="0" smtClean="0"/>
              <a:t>www.nongnu.org/cvs </a:t>
            </a:r>
          </a:p>
          <a:p>
            <a:r>
              <a:rPr lang="ru-RU" b="1" dirty="0" smtClean="0"/>
              <a:t>Преимущества: </a:t>
            </a:r>
            <a:r>
              <a:rPr lang="en-US" dirty="0" smtClean="0"/>
              <a:t></a:t>
            </a:r>
            <a:r>
              <a:rPr lang="ru-RU" dirty="0" smtClean="0"/>
              <a:t> </a:t>
            </a:r>
            <a:endParaRPr lang="en-US" dirty="0" smtClean="0"/>
          </a:p>
          <a:p>
            <a:pPr lvl="1"/>
            <a:r>
              <a:rPr lang="ru-RU" dirty="0" smtClean="0"/>
              <a:t>1. Несколько клиентов могут одновременно работать над одним и тем же проектом. </a:t>
            </a:r>
            <a:endParaRPr lang="en-US" dirty="0" smtClean="0">
              <a:sym typeface="Wingdings 2"/>
            </a:endParaRPr>
          </a:p>
          <a:p>
            <a:pPr lvl="1"/>
            <a:r>
              <a:rPr lang="ru-RU" dirty="0" smtClean="0"/>
              <a:t>2. Позволяет управлять не одним файлом, а целыми проектами. </a:t>
            </a:r>
            <a:endParaRPr lang="en-US" dirty="0" smtClean="0">
              <a:sym typeface="Wingdings 2"/>
            </a:endParaRPr>
          </a:p>
          <a:p>
            <a:pPr lvl="1"/>
            <a:r>
              <a:rPr lang="ru-RU" dirty="0" smtClean="0"/>
              <a:t>3. Обладает огромным количеством удобных графических интерфейсов, способных удовлетворить практически любой, даже самый требовательный вкус. </a:t>
            </a:r>
            <a:endParaRPr lang="en-US" dirty="0" smtClean="0">
              <a:sym typeface="Wingdings 2"/>
            </a:endParaRPr>
          </a:p>
          <a:p>
            <a:pPr lvl="1"/>
            <a:r>
              <a:rPr lang="ru-RU" dirty="0" smtClean="0"/>
              <a:t>4. Широко распространена и поставляется по умолчанию с большинством операционных систем </a:t>
            </a:r>
            <a:r>
              <a:rPr lang="en-US" dirty="0" smtClean="0"/>
              <a:t>Linux</a:t>
            </a:r>
            <a:r>
              <a:rPr lang="ru-RU" dirty="0" smtClean="0"/>
              <a:t>. </a:t>
            </a:r>
            <a:endParaRPr lang="en-US" dirty="0" smtClean="0">
              <a:sym typeface="Wingdings 2"/>
            </a:endParaRPr>
          </a:p>
          <a:p>
            <a:pPr lvl="1"/>
            <a:r>
              <a:rPr lang="ru-RU" dirty="0" smtClean="0"/>
              <a:t>5. При загрузке тестовых файлов из </a:t>
            </a:r>
            <a:r>
              <a:rPr lang="ru-RU" dirty="0" err="1" smtClean="0"/>
              <a:t>репозитория</a:t>
            </a:r>
            <a:r>
              <a:rPr lang="ru-RU" dirty="0" smtClean="0"/>
              <a:t> передаются только изменения, а не весь файл целиком.</a:t>
            </a:r>
            <a:endParaRPr lang="en-US" dirty="0" smtClean="0"/>
          </a:p>
          <a:p>
            <a:r>
              <a:rPr lang="ru-RU" b="1" dirty="0" smtClean="0"/>
              <a:t>Недостатки: </a:t>
            </a:r>
            <a:endParaRPr lang="en-US" dirty="0" smtClean="0">
              <a:sym typeface="Wingdings 2"/>
            </a:endParaRPr>
          </a:p>
          <a:p>
            <a:pPr lvl="1"/>
            <a:r>
              <a:rPr lang="ru-RU" dirty="0" smtClean="0"/>
              <a:t>1. При перемещении или переименовании файла или директории теряются все, привязанные к этому файлу или директории, изменения. </a:t>
            </a:r>
            <a:endParaRPr lang="en-US" dirty="0" smtClean="0">
              <a:sym typeface="Wingdings 2"/>
            </a:endParaRPr>
          </a:p>
          <a:p>
            <a:pPr lvl="1"/>
            <a:r>
              <a:rPr lang="ru-RU" dirty="0" smtClean="0"/>
              <a:t>2. Сложности при ведении нескольких параллельных веток одного и того же проекта. </a:t>
            </a:r>
            <a:endParaRPr lang="en-US" dirty="0" smtClean="0">
              <a:sym typeface="Wingdings 2"/>
            </a:endParaRPr>
          </a:p>
          <a:p>
            <a:pPr lvl="1"/>
            <a:r>
              <a:rPr lang="ru-RU" dirty="0" smtClean="0"/>
              <a:t>3. Ограниченная поддержка шрифтов. </a:t>
            </a:r>
            <a:endParaRPr lang="en-US" dirty="0" smtClean="0">
              <a:sym typeface="Wingdings 2"/>
            </a:endParaRPr>
          </a:p>
          <a:p>
            <a:pPr lvl="1"/>
            <a:r>
              <a:rPr lang="ru-RU" dirty="0" smtClean="0"/>
              <a:t>4. Для каждого изменения бинарного файла сохраняется вся версия файла, а не только внесенное изменение. </a:t>
            </a:r>
            <a:endParaRPr lang="en-US" dirty="0" smtClean="0">
              <a:sym typeface="Wingdings 2"/>
            </a:endParaRPr>
          </a:p>
          <a:p>
            <a:pPr lvl="1"/>
            <a:r>
              <a:rPr lang="ru-RU" dirty="0" smtClean="0"/>
              <a:t>5. С клиента на сервер измененный файл всегда передается полностью. </a:t>
            </a:r>
            <a:endParaRPr lang="en-US" dirty="0" smtClean="0">
              <a:sym typeface="Wingdings 2"/>
            </a:endParaRPr>
          </a:p>
          <a:p>
            <a:pPr lvl="1"/>
            <a:r>
              <a:rPr lang="ru-RU" dirty="0" smtClean="0"/>
              <a:t>6. Ресурсоемкие операции, так как требуют частого обращения к </a:t>
            </a:r>
            <a:r>
              <a:rPr lang="ru-RU" dirty="0" err="1" smtClean="0"/>
              <a:t>репозиторию</a:t>
            </a:r>
            <a:r>
              <a:rPr lang="ru-RU" dirty="0" smtClean="0"/>
              <a:t>, и сохраняемые копии имеют некоторую избыточность. </a:t>
            </a:r>
            <a:endParaRPr lang="ru-RU" b="1" dirty="0" smtClean="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404664"/>
            <a:ext cx="8686800" cy="720080"/>
          </a:xfrm>
        </p:spPr>
        <p:txBody>
          <a:bodyPr>
            <a:noAutofit/>
          </a:bodyPr>
          <a:lstStyle/>
          <a:p>
            <a:r>
              <a:rPr lang="ru-RU" sz="4000" dirty="0" smtClean="0"/>
              <a:t>Система управления версиями </a:t>
            </a:r>
            <a:r>
              <a:rPr lang="en-US" sz="4000" dirty="0" smtClean="0"/>
              <a:t>Subversion </a:t>
            </a:r>
            <a:br>
              <a:rPr lang="en-US" sz="4000" dirty="0" smtClean="0"/>
            </a:br>
            <a:endParaRPr lang="ru-RU" sz="4000" dirty="0"/>
          </a:p>
        </p:txBody>
      </p:sp>
      <p:sp>
        <p:nvSpPr>
          <p:cNvPr id="4" name="Содержимое 3"/>
          <p:cNvSpPr>
            <a:spLocks noGrp="1"/>
          </p:cNvSpPr>
          <p:nvPr>
            <p:ph idx="1"/>
          </p:nvPr>
        </p:nvSpPr>
        <p:spPr>
          <a:xfrm>
            <a:off x="467544" y="881336"/>
            <a:ext cx="8229600" cy="5976664"/>
          </a:xfrm>
        </p:spPr>
        <p:txBody>
          <a:bodyPr>
            <a:normAutofit/>
          </a:bodyPr>
          <a:lstStyle/>
          <a:p>
            <a:r>
              <a:rPr lang="en-US" b="1" dirty="0" smtClean="0"/>
              <a:t>www.subversion.tigris.org </a:t>
            </a:r>
          </a:p>
          <a:p>
            <a:r>
              <a:rPr lang="ru-RU" dirty="0" smtClean="0"/>
              <a:t>При работе с файлами, не позволяющими объединять изменения, может использоваться следующий принцип: 1. Файл скачивается из </a:t>
            </a:r>
            <a:r>
              <a:rPr lang="ru-RU" dirty="0" err="1" smtClean="0"/>
              <a:t>репозитория</a:t>
            </a:r>
            <a:r>
              <a:rPr lang="ru-RU" dirty="0" smtClean="0"/>
              <a:t> и блокируется (запрещается его скачивание из </a:t>
            </a:r>
            <a:r>
              <a:rPr lang="ru-RU" dirty="0" err="1" smtClean="0"/>
              <a:t>репозитория</a:t>
            </a:r>
            <a:r>
              <a:rPr lang="ru-RU" dirty="0" smtClean="0"/>
              <a:t>). 2. Вносятся необходимые изменения. 3. Загружается файл в </a:t>
            </a:r>
            <a:r>
              <a:rPr lang="ru-RU" dirty="0" err="1" smtClean="0"/>
              <a:t>репозиторий</a:t>
            </a:r>
            <a:r>
              <a:rPr lang="ru-RU" dirty="0" smtClean="0"/>
              <a:t> и </a:t>
            </a:r>
            <a:r>
              <a:rPr lang="ru-RU" dirty="0" err="1" smtClean="0"/>
              <a:t>разблокируется</a:t>
            </a:r>
            <a:r>
              <a:rPr lang="ru-RU" dirty="0" smtClean="0"/>
              <a:t> (разрешается его скачивание из </a:t>
            </a:r>
            <a:r>
              <a:rPr lang="ru-RU" dirty="0" err="1" smtClean="0"/>
              <a:t>репозитория</a:t>
            </a:r>
            <a:r>
              <a:rPr lang="ru-RU" dirty="0" smtClean="0"/>
              <a:t> другим клиентам</a:t>
            </a:r>
            <a:endParaRPr lang="ru-RU" b="1" dirty="0" smtClean="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404664"/>
            <a:ext cx="8229600" cy="576064"/>
          </a:xfrm>
        </p:spPr>
        <p:txBody>
          <a:bodyPr>
            <a:normAutofit fontScale="90000"/>
          </a:bodyPr>
          <a:lstStyle/>
          <a:p>
            <a:r>
              <a:rPr lang="ru-RU" sz="3100" dirty="0" smtClean="0"/>
              <a:t>CVS - система управления параллельными версиями</a:t>
            </a:r>
            <a:r>
              <a:rPr lang="ru-RU" dirty="0" smtClean="0"/>
              <a:t/>
            </a:r>
            <a:br>
              <a:rPr lang="ru-RU" dirty="0" smtClean="0"/>
            </a:br>
            <a:r>
              <a:rPr lang="ru-RU" dirty="0" smtClean="0"/>
              <a:t>  </a:t>
            </a:r>
            <a:endParaRPr lang="ru-RU" dirty="0"/>
          </a:p>
        </p:txBody>
      </p:sp>
      <p:sp>
        <p:nvSpPr>
          <p:cNvPr id="4" name="Содержимое 3"/>
          <p:cNvSpPr>
            <a:spLocks noGrp="1"/>
          </p:cNvSpPr>
          <p:nvPr>
            <p:ph idx="1"/>
          </p:nvPr>
        </p:nvSpPr>
        <p:spPr>
          <a:xfrm>
            <a:off x="467544" y="881336"/>
            <a:ext cx="8229600" cy="5976664"/>
          </a:xfrm>
        </p:spPr>
        <p:txBody>
          <a:bodyPr>
            <a:normAutofit fontScale="55000" lnSpcReduction="20000"/>
          </a:bodyPr>
          <a:lstStyle/>
          <a:p>
            <a:r>
              <a:rPr lang="en-US" b="1" dirty="0" smtClean="0"/>
              <a:t>www.subversion.tigris.org </a:t>
            </a:r>
          </a:p>
          <a:p>
            <a:r>
              <a:rPr lang="ru-RU" b="1" dirty="0" smtClean="0"/>
              <a:t>Преимущества: </a:t>
            </a:r>
            <a:r>
              <a:rPr lang="en-US" dirty="0" smtClean="0"/>
              <a:t></a:t>
            </a:r>
            <a:r>
              <a:rPr lang="ru-RU" dirty="0" smtClean="0"/>
              <a:t> </a:t>
            </a:r>
            <a:endParaRPr lang="en-US" dirty="0" smtClean="0"/>
          </a:p>
          <a:p>
            <a:pPr lvl="1"/>
            <a:r>
              <a:rPr lang="en-US" dirty="0" smtClean="0"/>
              <a:t>1. </a:t>
            </a:r>
            <a:r>
              <a:rPr lang="ru-RU" dirty="0" smtClean="0"/>
              <a:t>Система команд, схожая с </a:t>
            </a:r>
            <a:r>
              <a:rPr lang="en-US" dirty="0" smtClean="0"/>
              <a:t>CVS</a:t>
            </a:r>
            <a:r>
              <a:rPr lang="ru-RU" dirty="0" smtClean="0"/>
              <a:t>. Поддерживается большинство возможностей </a:t>
            </a:r>
            <a:r>
              <a:rPr lang="en-US" dirty="0" smtClean="0"/>
              <a:t>CVS</a:t>
            </a:r>
            <a:r>
              <a:rPr lang="ru-RU" dirty="0" smtClean="0"/>
              <a:t>. </a:t>
            </a:r>
            <a:endParaRPr lang="en-US" dirty="0" smtClean="0">
              <a:sym typeface="Wingdings 2"/>
            </a:endParaRPr>
          </a:p>
          <a:p>
            <a:pPr lvl="1"/>
            <a:r>
              <a:rPr lang="en-US" dirty="0" smtClean="0"/>
              <a:t>2</a:t>
            </a:r>
            <a:r>
              <a:rPr lang="ru-RU" dirty="0" smtClean="0"/>
              <a:t>. Разнообразные графические интерфейсы и удобная работа из консоли. </a:t>
            </a:r>
            <a:endParaRPr lang="en-US" dirty="0" smtClean="0">
              <a:sym typeface="Wingdings 2"/>
            </a:endParaRPr>
          </a:p>
          <a:p>
            <a:pPr lvl="1"/>
            <a:r>
              <a:rPr lang="en-US" dirty="0" smtClean="0"/>
              <a:t>3</a:t>
            </a:r>
            <a:r>
              <a:rPr lang="ru-RU" dirty="0" smtClean="0"/>
              <a:t>. Отслеживается история изменения файлов и каталогов даже после их переименования и перемещения. </a:t>
            </a:r>
            <a:endParaRPr lang="en-US" dirty="0" smtClean="0">
              <a:sym typeface="Wingdings 2"/>
            </a:endParaRPr>
          </a:p>
          <a:p>
            <a:pPr lvl="1"/>
            <a:r>
              <a:rPr lang="en-US" dirty="0" smtClean="0"/>
              <a:t>4</a:t>
            </a:r>
            <a:r>
              <a:rPr lang="ru-RU" dirty="0" smtClean="0"/>
              <a:t>. Встроенная поддержка во многие интегрированные средства разработки, такие как </a:t>
            </a:r>
            <a:r>
              <a:rPr lang="en-US" dirty="0" err="1" smtClean="0"/>
              <a:t>KDevelop</a:t>
            </a:r>
            <a:r>
              <a:rPr lang="ru-RU" dirty="0" smtClean="0"/>
              <a:t>, </a:t>
            </a:r>
            <a:r>
              <a:rPr lang="en-US" dirty="0" err="1" smtClean="0"/>
              <a:t>Zend</a:t>
            </a:r>
            <a:r>
              <a:rPr lang="en-US" dirty="0" smtClean="0"/>
              <a:t> Studio</a:t>
            </a:r>
            <a:r>
              <a:rPr lang="ru-RU" dirty="0" smtClean="0"/>
              <a:t> и многие другие. </a:t>
            </a:r>
            <a:endParaRPr lang="en-US" dirty="0" smtClean="0"/>
          </a:p>
          <a:p>
            <a:pPr lvl="1"/>
            <a:r>
              <a:rPr lang="en-US" dirty="0" smtClean="0"/>
              <a:t>5</a:t>
            </a:r>
            <a:r>
              <a:rPr lang="ru-RU" dirty="0" smtClean="0"/>
              <a:t>. Возможность создания зеркальных копий </a:t>
            </a:r>
            <a:r>
              <a:rPr lang="ru-RU" dirty="0" err="1" smtClean="0"/>
              <a:t>репозитория</a:t>
            </a:r>
            <a:r>
              <a:rPr lang="ru-RU" dirty="0" smtClean="0"/>
              <a:t>. </a:t>
            </a:r>
            <a:endParaRPr lang="en-US" dirty="0" smtClean="0"/>
          </a:p>
          <a:p>
            <a:pPr lvl="1"/>
            <a:r>
              <a:rPr lang="en-US" dirty="0" smtClean="0"/>
              <a:t>6</a:t>
            </a:r>
            <a:r>
              <a:rPr lang="ru-RU" dirty="0" smtClean="0"/>
              <a:t>. Два типа </a:t>
            </a:r>
            <a:r>
              <a:rPr lang="ru-RU" dirty="0" err="1" smtClean="0"/>
              <a:t>репозитория</a:t>
            </a:r>
            <a:r>
              <a:rPr lang="ru-RU" dirty="0" smtClean="0"/>
              <a:t> – база данных или набор обычных файлов. </a:t>
            </a:r>
            <a:endParaRPr lang="en-US" dirty="0" smtClean="0"/>
          </a:p>
          <a:p>
            <a:pPr lvl="1"/>
            <a:r>
              <a:rPr lang="en-US" dirty="0" smtClean="0"/>
              <a:t>7</a:t>
            </a:r>
            <a:r>
              <a:rPr lang="ru-RU" dirty="0" smtClean="0"/>
              <a:t>. Возможность доступа к </a:t>
            </a:r>
            <a:r>
              <a:rPr lang="ru-RU" dirty="0" err="1" smtClean="0"/>
              <a:t>репозиторию</a:t>
            </a:r>
            <a:r>
              <a:rPr lang="ru-RU" dirty="0" smtClean="0"/>
              <a:t> через </a:t>
            </a:r>
            <a:r>
              <a:rPr lang="en-US" dirty="0" smtClean="0"/>
              <a:t>Apache</a:t>
            </a:r>
            <a:r>
              <a:rPr lang="ru-RU" dirty="0" smtClean="0"/>
              <a:t> с использованием протокола </a:t>
            </a:r>
            <a:r>
              <a:rPr lang="en-US" dirty="0" err="1" smtClean="0"/>
              <a:t>WebDAV</a:t>
            </a:r>
            <a:r>
              <a:rPr lang="ru-RU" dirty="0" smtClean="0"/>
              <a:t>. </a:t>
            </a:r>
            <a:endParaRPr lang="en-US" dirty="0" smtClean="0"/>
          </a:p>
          <a:p>
            <a:pPr lvl="1"/>
            <a:r>
              <a:rPr lang="en-US" dirty="0" smtClean="0"/>
              <a:t>8</a:t>
            </a:r>
            <a:r>
              <a:rPr lang="ru-RU" dirty="0" smtClean="0"/>
              <a:t>. Наличие удобного механизма создания меток и ветвей проектов. </a:t>
            </a:r>
            <a:endParaRPr lang="en-US" dirty="0" smtClean="0">
              <a:sym typeface="Wingdings 2"/>
            </a:endParaRPr>
          </a:p>
          <a:p>
            <a:r>
              <a:rPr lang="ru-RU" b="1" dirty="0" smtClean="0"/>
              <a:t>Недостатки: </a:t>
            </a:r>
            <a:endParaRPr lang="en-US" dirty="0" smtClean="0">
              <a:sym typeface="Wingdings 2"/>
            </a:endParaRPr>
          </a:p>
          <a:p>
            <a:pPr lvl="1"/>
            <a:r>
              <a:rPr lang="ru-RU" dirty="0" smtClean="0"/>
              <a:t>1. Полная копия </a:t>
            </a:r>
            <a:r>
              <a:rPr lang="ru-RU" dirty="0" err="1" smtClean="0"/>
              <a:t>репозитория</a:t>
            </a:r>
            <a:r>
              <a:rPr lang="ru-RU" dirty="0" smtClean="0"/>
              <a:t> хранится на локальном компьютере в скрытых файлах, что требует достаточно большого объема памяти. </a:t>
            </a:r>
            <a:endParaRPr lang="en-US" dirty="0" smtClean="0"/>
          </a:p>
          <a:p>
            <a:pPr lvl="1"/>
            <a:r>
              <a:rPr lang="ru-RU" dirty="0" smtClean="0"/>
              <a:t>2. Существуют проблемы с переименованием файлов, если переименованный локально файл одним клиентом был в это же время изменен другим клиентом и загружен в </a:t>
            </a:r>
            <a:r>
              <a:rPr lang="ru-RU" dirty="0" err="1" smtClean="0"/>
              <a:t>репозиторий</a:t>
            </a:r>
            <a:r>
              <a:rPr lang="ru-RU" dirty="0" smtClean="0"/>
              <a:t>. </a:t>
            </a:r>
            <a:endParaRPr lang="en-US" dirty="0" smtClean="0"/>
          </a:p>
          <a:p>
            <a:pPr lvl="1"/>
            <a:r>
              <a:rPr lang="ru-RU" dirty="0" smtClean="0"/>
              <a:t>3. Слабо поддерживаются операции слияния веток проекта. </a:t>
            </a:r>
            <a:endParaRPr lang="en-US" dirty="0" smtClean="0"/>
          </a:p>
          <a:p>
            <a:pPr lvl="1"/>
            <a:r>
              <a:rPr lang="ru-RU" dirty="0" smtClean="0"/>
              <a:t>4. Сложности с полным удалением информации о файлах попавших в </a:t>
            </a:r>
            <a:r>
              <a:rPr lang="ru-RU" dirty="0" err="1" smtClean="0"/>
              <a:t>репозиторий</a:t>
            </a:r>
            <a:r>
              <a:rPr lang="ru-RU" dirty="0" smtClean="0"/>
              <a:t>, так как в нем всегда остается информация о предыдущих изменениях файла, и </a:t>
            </a:r>
            <a:r>
              <a:rPr lang="ru-RU" dirty="0" err="1" smtClean="0"/>
              <a:t>непредусмотрено</a:t>
            </a:r>
            <a:r>
              <a:rPr lang="ru-RU" dirty="0" smtClean="0"/>
              <a:t> никаких штатных средств для полного удаления данных о файле из </a:t>
            </a:r>
            <a:r>
              <a:rPr lang="ru-RU" dirty="0" err="1" smtClean="0"/>
              <a:t>репозитория</a:t>
            </a:r>
            <a:r>
              <a:rPr lang="ru-RU" dirty="0" smtClean="0"/>
              <a:t>. </a:t>
            </a:r>
            <a:endParaRPr lang="ru-RU" b="1" dirty="0" smtClean="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404664"/>
            <a:ext cx="8229600" cy="576064"/>
          </a:xfrm>
        </p:spPr>
        <p:txBody>
          <a:bodyPr>
            <a:normAutofit fontScale="90000"/>
          </a:bodyPr>
          <a:lstStyle/>
          <a:p>
            <a:r>
              <a:rPr lang="ru-RU" sz="3100" dirty="0" smtClean="0"/>
              <a:t>Система управления версиями </a:t>
            </a:r>
            <a:r>
              <a:rPr lang="en-US" sz="3100" dirty="0" smtClean="0"/>
              <a:t>Aegis</a:t>
            </a:r>
            <a:r>
              <a:rPr lang="ru-RU" dirty="0" smtClean="0"/>
              <a:t/>
            </a:r>
            <a:br>
              <a:rPr lang="ru-RU" dirty="0" smtClean="0"/>
            </a:br>
            <a:r>
              <a:rPr lang="ru-RU" dirty="0" smtClean="0"/>
              <a:t>  </a:t>
            </a:r>
            <a:endParaRPr lang="ru-RU" dirty="0"/>
          </a:p>
        </p:txBody>
      </p:sp>
      <p:sp>
        <p:nvSpPr>
          <p:cNvPr id="4" name="Содержимое 3"/>
          <p:cNvSpPr>
            <a:spLocks noGrp="1"/>
          </p:cNvSpPr>
          <p:nvPr>
            <p:ph idx="1"/>
          </p:nvPr>
        </p:nvSpPr>
        <p:spPr>
          <a:xfrm>
            <a:off x="467544" y="881336"/>
            <a:ext cx="8229600" cy="5976664"/>
          </a:xfrm>
        </p:spPr>
        <p:txBody>
          <a:bodyPr>
            <a:normAutofit fontScale="70000" lnSpcReduction="20000"/>
          </a:bodyPr>
          <a:lstStyle/>
          <a:p>
            <a:r>
              <a:rPr lang="en-US" b="1" dirty="0" smtClean="0"/>
              <a:t> www.aegis.sourceforge.net </a:t>
            </a:r>
          </a:p>
          <a:p>
            <a:pPr algn="just"/>
            <a:r>
              <a:rPr lang="en-US" dirty="0" smtClean="0"/>
              <a:t>Aegis</a:t>
            </a:r>
            <a:r>
              <a:rPr lang="ru-RU" dirty="0" smtClean="0"/>
              <a:t>, созданная Питером Миллером в 1991 году, является первой альтернативой централизованным системам управления версиями. Все операции в ней производятся через файловую систему </a:t>
            </a:r>
            <a:r>
              <a:rPr lang="en-US" dirty="0" smtClean="0"/>
              <a:t>Unix</a:t>
            </a:r>
            <a:r>
              <a:rPr lang="ru-RU" dirty="0" smtClean="0"/>
              <a:t>. К сожалению, в </a:t>
            </a:r>
            <a:r>
              <a:rPr lang="en-US" dirty="0" smtClean="0"/>
              <a:t>Aegis</a:t>
            </a:r>
            <a:r>
              <a:rPr lang="ru-RU" dirty="0" smtClean="0"/>
              <a:t> нет встроенной поддержки работы по сети, но взаимодействия можно осуществлять, </a:t>
            </a:r>
            <a:r>
              <a:rPr lang="ru-RU" dirty="0" err="1" smtClean="0"/>
              <a:t>используюя</a:t>
            </a:r>
            <a:r>
              <a:rPr lang="ru-RU" dirty="0" smtClean="0"/>
              <a:t> такие протоколы, как </a:t>
            </a:r>
            <a:r>
              <a:rPr lang="en-US" b="1" dirty="0" smtClean="0"/>
              <a:t>NFS</a:t>
            </a:r>
            <a:r>
              <a:rPr lang="ru-RU" b="1" dirty="0" smtClean="0"/>
              <a:t>, </a:t>
            </a:r>
            <a:r>
              <a:rPr lang="en-US" b="1" dirty="0" smtClean="0"/>
              <a:t>HTTP</a:t>
            </a:r>
            <a:r>
              <a:rPr lang="ru-RU" b="1" dirty="0" smtClean="0"/>
              <a:t>, </a:t>
            </a:r>
            <a:r>
              <a:rPr lang="en-US" b="1" dirty="0" smtClean="0"/>
              <a:t>FTP</a:t>
            </a:r>
            <a:r>
              <a:rPr lang="ru-RU" dirty="0" smtClean="0"/>
              <a:t>. </a:t>
            </a:r>
            <a:r>
              <a:rPr lang="en-US" dirty="0" smtClean="0"/>
              <a:t> </a:t>
            </a:r>
            <a:r>
              <a:rPr lang="ru-RU" dirty="0" smtClean="0"/>
              <a:t>Основная особенность </a:t>
            </a:r>
            <a:r>
              <a:rPr lang="en-US" dirty="0" smtClean="0"/>
              <a:t>Aegis</a:t>
            </a:r>
            <a:r>
              <a:rPr lang="ru-RU" dirty="0" smtClean="0"/>
              <a:t> – это способ контроля вносимых в </a:t>
            </a:r>
            <a:r>
              <a:rPr lang="ru-RU" dirty="0" err="1" smtClean="0"/>
              <a:t>репозиторий</a:t>
            </a:r>
            <a:r>
              <a:rPr lang="ru-RU" dirty="0" smtClean="0"/>
              <a:t> изменений. </a:t>
            </a:r>
            <a:r>
              <a:rPr lang="en-US" dirty="0" smtClean="0"/>
              <a:t> </a:t>
            </a:r>
            <a:r>
              <a:rPr lang="ru-RU" dirty="0" smtClean="0"/>
              <a:t>Во-первых, перед занесением каких-либо изменений, они должны обязательно </a:t>
            </a:r>
            <a:r>
              <a:rPr lang="ru-RU" b="1" dirty="0" smtClean="0"/>
              <a:t>пройти ряд тестов</a:t>
            </a:r>
            <a:r>
              <a:rPr lang="ru-RU" dirty="0" smtClean="0"/>
              <a:t>. И если нововведения в исходный код программы не проходят тесты, то требуется либо добавлять новые тесты, либо исправлять возможные ошибки в исходном коде.</a:t>
            </a:r>
            <a:r>
              <a:rPr lang="en-US" dirty="0" smtClean="0"/>
              <a:t> </a:t>
            </a:r>
            <a:r>
              <a:rPr lang="ru-RU" dirty="0" smtClean="0"/>
              <a:t>Во-вторых, перед внесением изменений в основную ветку разрабатываемого проекта, они должны быть </a:t>
            </a:r>
            <a:r>
              <a:rPr lang="ru-RU" b="1" dirty="0" smtClean="0"/>
              <a:t>одобрены обозревателем</a:t>
            </a:r>
            <a:r>
              <a:rPr lang="ru-RU" dirty="0" smtClean="0"/>
              <a:t>.</a:t>
            </a:r>
            <a:r>
              <a:rPr lang="en-US" dirty="0" smtClean="0"/>
              <a:t> </a:t>
            </a:r>
            <a:r>
              <a:rPr lang="ru-RU" dirty="0" smtClean="0"/>
              <a:t>В третьих, предусмотрена иерархия доступа к </a:t>
            </a:r>
            <a:r>
              <a:rPr lang="ru-RU" dirty="0" err="1" smtClean="0"/>
              <a:t>репозиторию</a:t>
            </a:r>
            <a:r>
              <a:rPr lang="ru-RU" dirty="0" smtClean="0"/>
              <a:t>, основанная на системе прав доступа </a:t>
            </a:r>
            <a:r>
              <a:rPr lang="en-US" dirty="0" smtClean="0"/>
              <a:t>Unix</a:t>
            </a:r>
            <a:r>
              <a:rPr lang="ru-RU" dirty="0" smtClean="0"/>
              <a:t>-подобных операционных систем к файлам.</a:t>
            </a:r>
            <a:r>
              <a:rPr lang="en-US" dirty="0" smtClean="0"/>
              <a:t> </a:t>
            </a:r>
            <a:r>
              <a:rPr lang="ru-RU" dirty="0" smtClean="0"/>
              <a:t>Все это делает использование системы контроля версий </a:t>
            </a:r>
            <a:r>
              <a:rPr lang="en-US" dirty="0" smtClean="0"/>
              <a:t>Aegis</a:t>
            </a:r>
            <a:r>
              <a:rPr lang="ru-RU" dirty="0" smtClean="0"/>
              <a:t> надежным, но крайне сложным, и даже хорошо проработана документация не сильно это облегчает.</a:t>
            </a:r>
            <a:endParaRPr lang="ru-RU" b="1" dirty="0" smtClean="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404664"/>
            <a:ext cx="8229600" cy="576064"/>
          </a:xfrm>
        </p:spPr>
        <p:txBody>
          <a:bodyPr>
            <a:normAutofit fontScale="90000"/>
          </a:bodyPr>
          <a:lstStyle/>
          <a:p>
            <a:r>
              <a:rPr lang="ru-RU" sz="3100" dirty="0" smtClean="0"/>
              <a:t>Система управления версиями </a:t>
            </a:r>
            <a:r>
              <a:rPr lang="en-US" sz="3100" dirty="0" smtClean="0"/>
              <a:t>Monotone</a:t>
            </a:r>
            <a:r>
              <a:rPr lang="ru-RU" dirty="0" smtClean="0"/>
              <a:t/>
            </a:r>
            <a:br>
              <a:rPr lang="ru-RU" dirty="0" smtClean="0"/>
            </a:br>
            <a:r>
              <a:rPr lang="ru-RU" dirty="0" smtClean="0"/>
              <a:t>  </a:t>
            </a:r>
            <a:endParaRPr lang="ru-RU" dirty="0"/>
          </a:p>
        </p:txBody>
      </p:sp>
      <p:sp>
        <p:nvSpPr>
          <p:cNvPr id="4" name="Содержимое 3"/>
          <p:cNvSpPr>
            <a:spLocks noGrp="1"/>
          </p:cNvSpPr>
          <p:nvPr>
            <p:ph idx="1"/>
          </p:nvPr>
        </p:nvSpPr>
        <p:spPr>
          <a:xfrm>
            <a:off x="467544" y="881336"/>
            <a:ext cx="8229600" cy="5976664"/>
          </a:xfrm>
        </p:spPr>
        <p:txBody>
          <a:bodyPr>
            <a:normAutofit fontScale="77500" lnSpcReduction="20000"/>
          </a:bodyPr>
          <a:lstStyle/>
          <a:p>
            <a:r>
              <a:rPr lang="ru-RU" b="1" dirty="0" err="1" smtClean="0"/>
              <a:t>monotone.ca</a:t>
            </a:r>
            <a:endParaRPr lang="ru-RU" b="1" dirty="0" smtClean="0"/>
          </a:p>
          <a:p>
            <a:r>
              <a:rPr lang="ru-RU" dirty="0" err="1" smtClean="0"/>
              <a:t>Monotone</a:t>
            </a:r>
            <a:r>
              <a:rPr lang="ru-RU" dirty="0" smtClean="0"/>
              <a:t> –</a:t>
            </a:r>
            <a:r>
              <a:rPr lang="ru-RU" dirty="0" err="1" smtClean="0"/>
              <a:t>ецентрализованная</a:t>
            </a:r>
            <a:r>
              <a:rPr lang="ru-RU" dirty="0" smtClean="0"/>
              <a:t> система управления версиями, разработанная </a:t>
            </a:r>
            <a:r>
              <a:rPr lang="ru-RU" dirty="0" err="1" smtClean="0"/>
              <a:t>Грейдоном</a:t>
            </a:r>
            <a:r>
              <a:rPr lang="ru-RU" dirty="0" smtClean="0"/>
              <a:t> </a:t>
            </a:r>
            <a:r>
              <a:rPr lang="ru-RU" dirty="0" err="1" smtClean="0"/>
              <a:t>Хоэм</a:t>
            </a:r>
            <a:r>
              <a:rPr lang="ru-RU" dirty="0" smtClean="0"/>
              <a:t>. В ней каждый клиент сам отвечает за синхронизацию версий разрабатываемого продукта с другими клиентами. Работа с </a:t>
            </a:r>
            <a:r>
              <a:rPr lang="ru-RU" dirty="0" err="1" smtClean="0"/>
              <a:t>Monotone</a:t>
            </a:r>
            <a:r>
              <a:rPr lang="ru-RU" dirty="0" smtClean="0"/>
              <a:t> строится следующим образом. В первую очередь, создается база данных проекта </a:t>
            </a:r>
            <a:r>
              <a:rPr lang="ru-RU" dirty="0" err="1" smtClean="0"/>
              <a:t>SQLite</a:t>
            </a:r>
            <a:r>
              <a:rPr lang="ru-RU" dirty="0" smtClean="0"/>
              <a:t>, и генерируются ключи с использованием алгоритма хеширования SHA1 (</a:t>
            </a:r>
            <a:r>
              <a:rPr lang="ru-RU" dirty="0" err="1" smtClean="0"/>
              <a:t>Secure</a:t>
            </a:r>
            <a:r>
              <a:rPr lang="ru-RU" dirty="0" smtClean="0"/>
              <a:t> </a:t>
            </a:r>
            <a:r>
              <a:rPr lang="ru-RU" dirty="0" err="1" smtClean="0"/>
              <a:t>Hash</a:t>
            </a:r>
            <a:r>
              <a:rPr lang="ru-RU" dirty="0" smtClean="0"/>
              <a:t> </a:t>
            </a:r>
            <a:r>
              <a:rPr lang="ru-RU" dirty="0" err="1" smtClean="0"/>
              <a:t>Algorithm</a:t>
            </a:r>
            <a:r>
              <a:rPr lang="ru-RU" dirty="0" smtClean="0"/>
              <a:t> 1).</a:t>
            </a:r>
          </a:p>
          <a:p>
            <a:r>
              <a:rPr lang="ru-RU" dirty="0" smtClean="0"/>
              <a:t>Для синхронизации проекта с другими пользователями необходимо:</a:t>
            </a:r>
          </a:p>
          <a:p>
            <a:pPr lvl="1"/>
            <a:r>
              <a:rPr lang="ru-RU" dirty="0" smtClean="0"/>
              <a:t>Экспортировать ключ (</a:t>
            </a:r>
            <a:r>
              <a:rPr lang="ru-RU" dirty="0" err="1" smtClean="0"/>
              <a:t>хэш</a:t>
            </a:r>
            <a:r>
              <a:rPr lang="ru-RU" dirty="0" smtClean="0"/>
              <a:t> - код последней версии проекта) и получить аналогичные ключи от других клиентов.</a:t>
            </a:r>
          </a:p>
          <a:p>
            <a:pPr lvl="1"/>
            <a:r>
              <a:rPr lang="ru-RU" dirty="0" smtClean="0"/>
              <a:t>Сохранить всем клиентам полученные ключи в связке ключей своих локальных проектах </a:t>
            </a:r>
            <a:r>
              <a:rPr lang="ru-RU" dirty="0" err="1" smtClean="0"/>
              <a:t>Monotone</a:t>
            </a:r>
            <a:r>
              <a:rPr lang="ru-RU" dirty="0" smtClean="0"/>
              <a:t>.</a:t>
            </a:r>
          </a:p>
          <a:p>
            <a:pPr lvl="1"/>
            <a:r>
              <a:rPr lang="ru-RU" dirty="0" smtClean="0"/>
              <a:t>Теперь каждый, зарегистрированный таким образом пользователь, может синхронизировать разработку со своими коллегами, используя простой набор команд.</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404664"/>
            <a:ext cx="8229600" cy="576064"/>
          </a:xfrm>
        </p:spPr>
        <p:txBody>
          <a:bodyPr>
            <a:normAutofit fontScale="90000"/>
          </a:bodyPr>
          <a:lstStyle/>
          <a:p>
            <a:r>
              <a:rPr lang="ru-RU" sz="3100" dirty="0" smtClean="0"/>
              <a:t>Система управления версиями </a:t>
            </a:r>
            <a:r>
              <a:rPr lang="en-US" sz="3100" dirty="0" smtClean="0"/>
              <a:t>Monotone </a:t>
            </a:r>
            <a:r>
              <a:rPr lang="ru-RU" dirty="0" smtClean="0"/>
              <a:t/>
            </a:r>
            <a:br>
              <a:rPr lang="ru-RU" dirty="0" smtClean="0"/>
            </a:br>
            <a:r>
              <a:rPr lang="ru-RU" dirty="0" smtClean="0"/>
              <a:t>  </a:t>
            </a:r>
            <a:endParaRPr lang="ru-RU" dirty="0"/>
          </a:p>
        </p:txBody>
      </p:sp>
      <p:sp>
        <p:nvSpPr>
          <p:cNvPr id="4" name="Содержимое 3"/>
          <p:cNvSpPr>
            <a:spLocks noGrp="1"/>
          </p:cNvSpPr>
          <p:nvPr>
            <p:ph idx="1"/>
          </p:nvPr>
        </p:nvSpPr>
        <p:spPr>
          <a:xfrm>
            <a:off x="467544" y="881336"/>
            <a:ext cx="8229600" cy="5976664"/>
          </a:xfrm>
        </p:spPr>
        <p:txBody>
          <a:bodyPr>
            <a:normAutofit fontScale="92500" lnSpcReduction="20000"/>
          </a:bodyPr>
          <a:lstStyle/>
          <a:p>
            <a:r>
              <a:rPr lang="en-US" b="1" dirty="0" smtClean="0"/>
              <a:t> </a:t>
            </a:r>
            <a:r>
              <a:rPr lang="ru-RU" b="1" dirty="0" err="1" smtClean="0"/>
              <a:t>monotone.ca</a:t>
            </a:r>
            <a:endParaRPr lang="en-US" b="1" dirty="0" smtClean="0"/>
          </a:p>
          <a:p>
            <a:r>
              <a:rPr lang="ru-RU" b="1" dirty="0" smtClean="0"/>
              <a:t>Преимущества: </a:t>
            </a:r>
            <a:r>
              <a:rPr lang="en-US" dirty="0" smtClean="0"/>
              <a:t></a:t>
            </a:r>
            <a:r>
              <a:rPr lang="ru-RU" dirty="0" smtClean="0"/>
              <a:t> </a:t>
            </a:r>
            <a:endParaRPr lang="en-US" dirty="0" smtClean="0"/>
          </a:p>
          <a:p>
            <a:pPr lvl="1"/>
            <a:r>
              <a:rPr lang="ru-RU" dirty="0" smtClean="0"/>
              <a:t>1. Простой и понятный набор команд, схожий с командами </a:t>
            </a:r>
            <a:r>
              <a:rPr lang="ru-RU" dirty="0" err="1" smtClean="0"/>
              <a:t>Subversion</a:t>
            </a:r>
            <a:r>
              <a:rPr lang="ru-RU" dirty="0" smtClean="0"/>
              <a:t> и CVS.</a:t>
            </a:r>
          </a:p>
          <a:p>
            <a:pPr lvl="1"/>
            <a:r>
              <a:rPr lang="ru-RU" dirty="0" smtClean="0"/>
              <a:t>2. Поддерживает переименование и перемещение файлов и директорий.</a:t>
            </a:r>
          </a:p>
          <a:p>
            <a:pPr lvl="1"/>
            <a:r>
              <a:rPr lang="ru-RU" dirty="0" smtClean="0"/>
              <a:t>3. Качественная документация, значительно облегчающая использование системы контроля версий</a:t>
            </a:r>
          </a:p>
          <a:p>
            <a:r>
              <a:rPr lang="ru-RU" b="1" dirty="0" smtClean="0"/>
              <a:t>Недостатки: </a:t>
            </a:r>
            <a:endParaRPr lang="en-US" dirty="0" smtClean="0">
              <a:sym typeface="Wingdings 2"/>
            </a:endParaRPr>
          </a:p>
          <a:p>
            <a:pPr lvl="1"/>
            <a:r>
              <a:rPr lang="ru-RU" dirty="0" smtClean="0"/>
              <a:t>1. Низкая скорость работы.</a:t>
            </a:r>
          </a:p>
          <a:p>
            <a:pPr lvl="1"/>
            <a:r>
              <a:rPr lang="ru-RU" dirty="0" smtClean="0"/>
              <a:t>2. Отсутствие мощных графических оболочек.</a:t>
            </a:r>
          </a:p>
          <a:p>
            <a:pPr lvl="1"/>
            <a:r>
              <a:rPr lang="ru-RU" dirty="0" smtClean="0"/>
              <a:t>3. Возможные (но чрезвычайно низкие) совпадения </a:t>
            </a:r>
            <a:r>
              <a:rPr lang="ru-RU" dirty="0" err="1" smtClean="0"/>
              <a:t>хэш</a:t>
            </a:r>
            <a:r>
              <a:rPr lang="ru-RU" dirty="0" smtClean="0"/>
              <a:t> - кода отличных по содержанию ревизий</a:t>
            </a:r>
            <a:endParaRPr lang="ru-RU" b="1" dirty="0" smtClean="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404664"/>
            <a:ext cx="8229600" cy="576064"/>
          </a:xfrm>
        </p:spPr>
        <p:txBody>
          <a:bodyPr>
            <a:normAutofit fontScale="90000"/>
          </a:bodyPr>
          <a:lstStyle/>
          <a:p>
            <a:r>
              <a:rPr lang="ru-RU" sz="2800" dirty="0" smtClean="0"/>
              <a:t>Система управления версиями </a:t>
            </a:r>
            <a:r>
              <a:rPr lang="en-US" sz="2800" dirty="0" smtClean="0"/>
              <a:t>Mercurial </a:t>
            </a:r>
            <a:r>
              <a:rPr lang="ru-RU" dirty="0" smtClean="0"/>
              <a:t/>
            </a:r>
            <a:br>
              <a:rPr lang="ru-RU" dirty="0" smtClean="0"/>
            </a:br>
            <a:r>
              <a:rPr lang="ru-RU" dirty="0" smtClean="0"/>
              <a:t>  </a:t>
            </a:r>
            <a:endParaRPr lang="ru-RU" dirty="0"/>
          </a:p>
        </p:txBody>
      </p:sp>
      <p:sp>
        <p:nvSpPr>
          <p:cNvPr id="4" name="Содержимое 3"/>
          <p:cNvSpPr>
            <a:spLocks noGrp="1"/>
          </p:cNvSpPr>
          <p:nvPr>
            <p:ph idx="1"/>
          </p:nvPr>
        </p:nvSpPr>
        <p:spPr>
          <a:xfrm>
            <a:off x="467544" y="881336"/>
            <a:ext cx="8229600" cy="5976664"/>
          </a:xfrm>
        </p:spPr>
        <p:txBody>
          <a:bodyPr>
            <a:normAutofit fontScale="85000" lnSpcReduction="20000"/>
          </a:bodyPr>
          <a:lstStyle/>
          <a:p>
            <a:r>
              <a:rPr lang="en-US" b="1" dirty="0" smtClean="0"/>
              <a:t>mercurial.selenic.com </a:t>
            </a:r>
          </a:p>
          <a:p>
            <a:r>
              <a:rPr lang="ru-RU" dirty="0" smtClean="0"/>
              <a:t>Распределенная система контроля версий </a:t>
            </a:r>
            <a:r>
              <a:rPr lang="en-US" dirty="0" smtClean="0"/>
              <a:t>Mercurial</a:t>
            </a:r>
            <a:r>
              <a:rPr lang="ru-RU" dirty="0" smtClean="0"/>
              <a:t> разрабатывалась Мэттом </a:t>
            </a:r>
            <a:r>
              <a:rPr lang="ru-RU" dirty="0" err="1" smtClean="0"/>
              <a:t>Макалом</a:t>
            </a:r>
            <a:r>
              <a:rPr lang="ru-RU" dirty="0" smtClean="0"/>
              <a:t> параллельно с системой контроля версий </a:t>
            </a:r>
            <a:r>
              <a:rPr lang="en-US" dirty="0" err="1" smtClean="0"/>
              <a:t>Git</a:t>
            </a:r>
            <a:r>
              <a:rPr lang="ru-RU" dirty="0" smtClean="0"/>
              <a:t>, созданной </a:t>
            </a:r>
            <a:r>
              <a:rPr lang="ru-RU" dirty="0" err="1" smtClean="0"/>
              <a:t>Торвальдсом</a:t>
            </a:r>
            <a:r>
              <a:rPr lang="ru-RU" dirty="0" smtClean="0"/>
              <a:t> </a:t>
            </a:r>
            <a:r>
              <a:rPr lang="ru-RU" dirty="0" err="1" smtClean="0"/>
              <a:t>Линусом</a:t>
            </a:r>
            <a:r>
              <a:rPr lang="ru-RU" dirty="0" smtClean="0"/>
              <a:t>. </a:t>
            </a:r>
          </a:p>
          <a:p>
            <a:r>
              <a:rPr lang="ru-RU" dirty="0" smtClean="0"/>
              <a:t>Первоначально, она была создана для эффективного управления большими проектами под </a:t>
            </a:r>
            <a:r>
              <a:rPr lang="en-US" dirty="0" smtClean="0"/>
              <a:t>Linux</a:t>
            </a:r>
            <a:r>
              <a:rPr lang="ru-RU" dirty="0" smtClean="0"/>
              <a:t>’</a:t>
            </a:r>
            <a:r>
              <a:rPr lang="ru-RU" dirty="0" err="1" smtClean="0"/>
              <a:t>ом</a:t>
            </a:r>
            <a:r>
              <a:rPr lang="ru-RU" dirty="0" smtClean="0"/>
              <a:t>, а поэтому была ориентирована на быструю и надежную работу с большими </a:t>
            </a:r>
            <a:r>
              <a:rPr lang="ru-RU" dirty="0" err="1" smtClean="0"/>
              <a:t>репозиториями</a:t>
            </a:r>
            <a:r>
              <a:rPr lang="ru-RU" dirty="0" smtClean="0"/>
              <a:t>. На данный момент </a:t>
            </a:r>
            <a:r>
              <a:rPr lang="en-US" dirty="0" smtClean="0"/>
              <a:t>mercurial</a:t>
            </a:r>
            <a:r>
              <a:rPr lang="ru-RU" dirty="0" smtClean="0"/>
              <a:t> адаптирован для работы под </a:t>
            </a:r>
            <a:r>
              <a:rPr lang="en-US" dirty="0" smtClean="0"/>
              <a:t>Windows</a:t>
            </a:r>
            <a:r>
              <a:rPr lang="ru-RU" dirty="0" smtClean="0"/>
              <a:t>, </a:t>
            </a:r>
            <a:r>
              <a:rPr lang="en-US" dirty="0" smtClean="0"/>
              <a:t>Mac OS X</a:t>
            </a:r>
            <a:r>
              <a:rPr lang="ru-RU" dirty="0" smtClean="0"/>
              <a:t> и большинство </a:t>
            </a:r>
            <a:r>
              <a:rPr lang="en-US" dirty="0" smtClean="0"/>
              <a:t>Unix </a:t>
            </a:r>
            <a:r>
              <a:rPr lang="ru-RU" dirty="0" smtClean="0"/>
              <a:t>систем. </a:t>
            </a:r>
          </a:p>
          <a:p>
            <a:r>
              <a:rPr lang="ru-RU" dirty="0" smtClean="0"/>
              <a:t>Большая часть системы контроля версий написана на языке </a:t>
            </a:r>
            <a:r>
              <a:rPr lang="en-US" dirty="0" smtClean="0"/>
              <a:t>Python</a:t>
            </a:r>
            <a:r>
              <a:rPr lang="ru-RU" dirty="0" smtClean="0"/>
              <a:t>, и только отдельные участки программы, требующие наибольшего быстродействия, написаны на языке Си  </a:t>
            </a:r>
            <a:endParaRPr lang="ru-RU"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404664"/>
            <a:ext cx="8229600" cy="576064"/>
          </a:xfrm>
        </p:spPr>
        <p:txBody>
          <a:bodyPr>
            <a:normAutofit fontScale="90000"/>
          </a:bodyPr>
          <a:lstStyle/>
          <a:p>
            <a:r>
              <a:rPr lang="ru-RU" sz="2800" dirty="0" smtClean="0"/>
              <a:t>Система управления версиями </a:t>
            </a:r>
            <a:r>
              <a:rPr lang="en-US" sz="2800" dirty="0" smtClean="0"/>
              <a:t>Bazaar </a:t>
            </a:r>
            <a:r>
              <a:rPr lang="ru-RU" dirty="0" smtClean="0"/>
              <a:t/>
            </a:r>
            <a:br>
              <a:rPr lang="ru-RU" dirty="0" smtClean="0"/>
            </a:br>
            <a:r>
              <a:rPr lang="ru-RU" dirty="0" smtClean="0"/>
              <a:t>  </a:t>
            </a:r>
            <a:endParaRPr lang="ru-RU" dirty="0"/>
          </a:p>
        </p:txBody>
      </p:sp>
      <p:sp>
        <p:nvSpPr>
          <p:cNvPr id="4" name="Содержимое 3"/>
          <p:cNvSpPr>
            <a:spLocks noGrp="1"/>
          </p:cNvSpPr>
          <p:nvPr>
            <p:ph idx="1"/>
          </p:nvPr>
        </p:nvSpPr>
        <p:spPr>
          <a:xfrm>
            <a:off x="467544" y="881336"/>
            <a:ext cx="8229600" cy="5976664"/>
          </a:xfrm>
        </p:spPr>
        <p:txBody>
          <a:bodyPr>
            <a:normAutofit fontScale="85000" lnSpcReduction="20000"/>
          </a:bodyPr>
          <a:lstStyle/>
          <a:p>
            <a:r>
              <a:rPr lang="en-US" b="1" dirty="0" smtClean="0"/>
              <a:t>bazaar.canonical.com </a:t>
            </a:r>
          </a:p>
          <a:p>
            <a:r>
              <a:rPr lang="ru-RU" dirty="0" err="1" smtClean="0"/>
              <a:t>Bazaar</a:t>
            </a:r>
            <a:r>
              <a:rPr lang="ru-RU" dirty="0" smtClean="0"/>
              <a:t> – распределенная, свободно распространяемая система контроля версий, разрабатываемая при поддержке компании </a:t>
            </a:r>
            <a:r>
              <a:rPr lang="ru-RU" dirty="0" err="1" smtClean="0"/>
              <a:t>Canonical</a:t>
            </a:r>
            <a:r>
              <a:rPr lang="ru-RU" dirty="0" smtClean="0"/>
              <a:t> </a:t>
            </a:r>
            <a:r>
              <a:rPr lang="ru-RU" dirty="0" err="1" smtClean="0"/>
              <a:t>Ltd</a:t>
            </a:r>
            <a:r>
              <a:rPr lang="ru-RU" dirty="0" smtClean="0"/>
              <a:t>. Написана на языке </a:t>
            </a:r>
            <a:r>
              <a:rPr lang="ru-RU" dirty="0" err="1" smtClean="0"/>
              <a:t>Python</a:t>
            </a:r>
            <a:r>
              <a:rPr lang="ru-RU" dirty="0" smtClean="0"/>
              <a:t> и работает под управлением операционных систем </a:t>
            </a:r>
            <a:r>
              <a:rPr lang="ru-RU" dirty="0" err="1" smtClean="0"/>
              <a:t>Linux</a:t>
            </a:r>
            <a:r>
              <a:rPr lang="ru-RU" dirty="0" smtClean="0"/>
              <a:t>, </a:t>
            </a:r>
            <a:r>
              <a:rPr lang="ru-RU" dirty="0" err="1" smtClean="0"/>
              <a:t>Mac</a:t>
            </a:r>
            <a:r>
              <a:rPr lang="ru-RU" dirty="0" smtClean="0"/>
              <a:t> OS X и </a:t>
            </a:r>
            <a:r>
              <a:rPr lang="ru-RU" dirty="0" err="1" smtClean="0"/>
              <a:t>Windows</a:t>
            </a:r>
            <a:r>
              <a:rPr lang="ru-RU" dirty="0" smtClean="0"/>
              <a:t>.</a:t>
            </a:r>
          </a:p>
          <a:p>
            <a:r>
              <a:rPr lang="ru-RU" dirty="0" smtClean="0"/>
              <a:t>В отличие от </a:t>
            </a:r>
            <a:r>
              <a:rPr lang="ru-RU" dirty="0" err="1" smtClean="0"/>
              <a:t>Git</a:t>
            </a:r>
            <a:r>
              <a:rPr lang="ru-RU" dirty="0" smtClean="0"/>
              <a:t> и </a:t>
            </a:r>
            <a:r>
              <a:rPr lang="ru-RU" dirty="0" err="1" smtClean="0"/>
              <a:t>Mercurial</a:t>
            </a:r>
            <a:r>
              <a:rPr lang="ru-RU" dirty="0" smtClean="0"/>
              <a:t>, создаваемых для контроля версий ядра операционной системы </a:t>
            </a:r>
            <a:r>
              <a:rPr lang="ru-RU" dirty="0" err="1" smtClean="0"/>
              <a:t>Linux</a:t>
            </a:r>
            <a:r>
              <a:rPr lang="ru-RU" dirty="0" smtClean="0"/>
              <a:t>, а поэтому ориентированных на максимальное быстродействие при работе с огромным числом файлов, </a:t>
            </a:r>
            <a:r>
              <a:rPr lang="ru-RU" dirty="0" err="1" smtClean="0"/>
              <a:t>Bazaar</a:t>
            </a:r>
            <a:r>
              <a:rPr lang="ru-RU" dirty="0" smtClean="0"/>
              <a:t> ориентировался на удобный и дружественный интерфейс пользователя. Оптимизация скорости работы производилось уже на втором этапе, когда первые версии программы уже появились.</a:t>
            </a:r>
            <a:endParaRPr lang="ru-RU"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404664"/>
            <a:ext cx="8229600" cy="576064"/>
          </a:xfrm>
        </p:spPr>
        <p:txBody>
          <a:bodyPr>
            <a:normAutofit fontScale="90000"/>
          </a:bodyPr>
          <a:lstStyle/>
          <a:p>
            <a:r>
              <a:rPr lang="en-US" sz="3200" dirty="0" err="1" smtClean="0"/>
              <a:t>GitHub</a:t>
            </a:r>
            <a:r>
              <a:rPr lang="ru-RU" dirty="0" smtClean="0"/>
              <a:t>  </a:t>
            </a:r>
            <a:endParaRPr lang="ru-RU" dirty="0"/>
          </a:p>
        </p:txBody>
      </p:sp>
      <p:sp>
        <p:nvSpPr>
          <p:cNvPr id="4" name="Содержимое 3"/>
          <p:cNvSpPr>
            <a:spLocks noGrp="1"/>
          </p:cNvSpPr>
          <p:nvPr>
            <p:ph idx="1"/>
          </p:nvPr>
        </p:nvSpPr>
        <p:spPr>
          <a:xfrm>
            <a:off x="467544" y="881336"/>
            <a:ext cx="8229600" cy="5976664"/>
          </a:xfrm>
        </p:spPr>
        <p:txBody>
          <a:bodyPr>
            <a:normAutofit/>
          </a:bodyPr>
          <a:lstStyle/>
          <a:p>
            <a:pPr>
              <a:buNone/>
            </a:pPr>
            <a:endParaRPr lang="ru-RU" b="1" dirty="0" smtClean="0"/>
          </a:p>
        </p:txBody>
      </p:sp>
      <p:pic>
        <p:nvPicPr>
          <p:cNvPr id="1026" name="Picture 2"/>
          <p:cNvPicPr>
            <a:picLocks noChangeAspect="1" noChangeArrowheads="1"/>
          </p:cNvPicPr>
          <p:nvPr/>
        </p:nvPicPr>
        <p:blipFill>
          <a:blip r:embed="rId2" cstate="print"/>
          <a:srcRect/>
          <a:stretch>
            <a:fillRect/>
          </a:stretch>
        </p:blipFill>
        <p:spPr bwMode="auto">
          <a:xfrm>
            <a:off x="117322" y="1052736"/>
            <a:ext cx="8991182" cy="515337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404664"/>
            <a:ext cx="8229600" cy="576064"/>
          </a:xfrm>
        </p:spPr>
        <p:txBody>
          <a:bodyPr>
            <a:normAutofit fontScale="90000"/>
          </a:bodyPr>
          <a:lstStyle/>
          <a:p>
            <a:r>
              <a:rPr lang="en-US" sz="3200" dirty="0" err="1" smtClean="0"/>
              <a:t>GitHub</a:t>
            </a:r>
            <a:r>
              <a:rPr lang="ru-RU" dirty="0" smtClean="0"/>
              <a:t>  </a:t>
            </a:r>
            <a:endParaRPr lang="ru-RU" dirty="0"/>
          </a:p>
        </p:txBody>
      </p:sp>
      <p:sp>
        <p:nvSpPr>
          <p:cNvPr id="4" name="Содержимое 3"/>
          <p:cNvSpPr>
            <a:spLocks noGrp="1"/>
          </p:cNvSpPr>
          <p:nvPr>
            <p:ph idx="1"/>
          </p:nvPr>
        </p:nvSpPr>
        <p:spPr>
          <a:xfrm>
            <a:off x="467544" y="881336"/>
            <a:ext cx="8229600" cy="5976664"/>
          </a:xfrm>
        </p:spPr>
        <p:txBody>
          <a:bodyPr>
            <a:normAutofit/>
          </a:bodyPr>
          <a:lstStyle/>
          <a:p>
            <a:pPr>
              <a:buNone/>
            </a:pPr>
            <a:endParaRPr lang="ru-RU" b="1" dirty="0" smtClean="0"/>
          </a:p>
        </p:txBody>
      </p:sp>
      <p:pic>
        <p:nvPicPr>
          <p:cNvPr id="2050" name="Picture 2"/>
          <p:cNvPicPr>
            <a:picLocks noChangeAspect="1" noChangeArrowheads="1"/>
          </p:cNvPicPr>
          <p:nvPr/>
        </p:nvPicPr>
        <p:blipFill>
          <a:blip r:embed="rId2" cstate="print"/>
          <a:srcRect/>
          <a:stretch>
            <a:fillRect/>
          </a:stretch>
        </p:blipFill>
        <p:spPr bwMode="auto">
          <a:xfrm>
            <a:off x="179512" y="1196752"/>
            <a:ext cx="8814773" cy="5112568"/>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404664"/>
            <a:ext cx="8229600" cy="576064"/>
          </a:xfrm>
        </p:spPr>
        <p:txBody>
          <a:bodyPr>
            <a:normAutofit fontScale="90000"/>
          </a:bodyPr>
          <a:lstStyle/>
          <a:p>
            <a:r>
              <a:rPr lang="en-US" sz="3200" dirty="0" err="1" smtClean="0"/>
              <a:t>GitHub</a:t>
            </a:r>
            <a:r>
              <a:rPr lang="ru-RU" dirty="0" smtClean="0"/>
              <a:t>  </a:t>
            </a:r>
            <a:endParaRPr lang="ru-RU" dirty="0"/>
          </a:p>
        </p:txBody>
      </p:sp>
      <p:sp>
        <p:nvSpPr>
          <p:cNvPr id="4" name="Содержимое 3"/>
          <p:cNvSpPr>
            <a:spLocks noGrp="1"/>
          </p:cNvSpPr>
          <p:nvPr>
            <p:ph idx="1"/>
          </p:nvPr>
        </p:nvSpPr>
        <p:spPr>
          <a:xfrm>
            <a:off x="467544" y="881336"/>
            <a:ext cx="8229600" cy="5976664"/>
          </a:xfrm>
        </p:spPr>
        <p:txBody>
          <a:bodyPr>
            <a:normAutofit/>
          </a:bodyPr>
          <a:lstStyle/>
          <a:p>
            <a:pPr>
              <a:buNone/>
            </a:pPr>
            <a:endParaRPr lang="ru-RU" b="1" dirty="0" smtClean="0"/>
          </a:p>
        </p:txBody>
      </p:sp>
      <p:pic>
        <p:nvPicPr>
          <p:cNvPr id="3074" name="Picture 2"/>
          <p:cNvPicPr>
            <a:picLocks noChangeAspect="1" noChangeArrowheads="1"/>
          </p:cNvPicPr>
          <p:nvPr/>
        </p:nvPicPr>
        <p:blipFill>
          <a:blip r:embed="rId2" cstate="print"/>
          <a:srcRect/>
          <a:stretch>
            <a:fillRect/>
          </a:stretch>
        </p:blipFill>
        <p:spPr bwMode="auto">
          <a:xfrm>
            <a:off x="251520" y="1196752"/>
            <a:ext cx="8892480" cy="5467674"/>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404664"/>
            <a:ext cx="8229600" cy="576064"/>
          </a:xfrm>
        </p:spPr>
        <p:txBody>
          <a:bodyPr>
            <a:normAutofit fontScale="90000"/>
          </a:bodyPr>
          <a:lstStyle/>
          <a:p>
            <a:r>
              <a:rPr lang="en-US" sz="3200" dirty="0" err="1" smtClean="0"/>
              <a:t>GitHub</a:t>
            </a:r>
            <a:r>
              <a:rPr lang="ru-RU" dirty="0" smtClean="0"/>
              <a:t>  </a:t>
            </a:r>
            <a:endParaRPr lang="ru-RU" dirty="0"/>
          </a:p>
        </p:txBody>
      </p:sp>
      <p:sp>
        <p:nvSpPr>
          <p:cNvPr id="4" name="Содержимое 3"/>
          <p:cNvSpPr>
            <a:spLocks noGrp="1"/>
          </p:cNvSpPr>
          <p:nvPr>
            <p:ph idx="1"/>
          </p:nvPr>
        </p:nvSpPr>
        <p:spPr>
          <a:xfrm>
            <a:off x="467544" y="881336"/>
            <a:ext cx="8229600" cy="5976664"/>
          </a:xfrm>
        </p:spPr>
        <p:txBody>
          <a:bodyPr>
            <a:normAutofit/>
          </a:bodyPr>
          <a:lstStyle/>
          <a:p>
            <a:pPr>
              <a:buNone/>
            </a:pPr>
            <a:endParaRPr lang="ru-RU" b="1" dirty="0" smtClean="0"/>
          </a:p>
        </p:txBody>
      </p:sp>
      <p:pic>
        <p:nvPicPr>
          <p:cNvPr id="4098" name="Picture 2"/>
          <p:cNvPicPr>
            <a:picLocks noChangeAspect="1" noChangeArrowheads="1"/>
          </p:cNvPicPr>
          <p:nvPr/>
        </p:nvPicPr>
        <p:blipFill>
          <a:blip r:embed="rId2" cstate="print"/>
          <a:srcRect/>
          <a:stretch>
            <a:fillRect/>
          </a:stretch>
        </p:blipFill>
        <p:spPr bwMode="auto">
          <a:xfrm>
            <a:off x="179512" y="1124744"/>
            <a:ext cx="8869600" cy="5328592"/>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404664"/>
            <a:ext cx="8229600" cy="576064"/>
          </a:xfrm>
        </p:spPr>
        <p:txBody>
          <a:bodyPr>
            <a:normAutofit fontScale="90000"/>
          </a:bodyPr>
          <a:lstStyle/>
          <a:p>
            <a:r>
              <a:rPr lang="en-US" sz="3200" dirty="0" err="1" smtClean="0"/>
              <a:t>GitHub</a:t>
            </a:r>
            <a:r>
              <a:rPr lang="ru-RU" dirty="0" smtClean="0"/>
              <a:t>  </a:t>
            </a:r>
            <a:endParaRPr lang="ru-RU" dirty="0"/>
          </a:p>
        </p:txBody>
      </p:sp>
      <p:sp>
        <p:nvSpPr>
          <p:cNvPr id="4" name="Содержимое 3"/>
          <p:cNvSpPr>
            <a:spLocks noGrp="1"/>
          </p:cNvSpPr>
          <p:nvPr>
            <p:ph idx="1"/>
          </p:nvPr>
        </p:nvSpPr>
        <p:spPr>
          <a:xfrm>
            <a:off x="467544" y="881336"/>
            <a:ext cx="8229600" cy="5976664"/>
          </a:xfrm>
        </p:spPr>
        <p:txBody>
          <a:bodyPr>
            <a:normAutofit/>
          </a:bodyPr>
          <a:lstStyle/>
          <a:p>
            <a:pPr>
              <a:buNone/>
            </a:pPr>
            <a:endParaRPr lang="ru-RU" b="1" dirty="0" smtClean="0"/>
          </a:p>
        </p:txBody>
      </p:sp>
      <p:pic>
        <p:nvPicPr>
          <p:cNvPr id="5122" name="Picture 2"/>
          <p:cNvPicPr>
            <a:picLocks noChangeAspect="1" noChangeArrowheads="1"/>
          </p:cNvPicPr>
          <p:nvPr/>
        </p:nvPicPr>
        <p:blipFill>
          <a:blip r:embed="rId2" cstate="print"/>
          <a:srcRect/>
          <a:stretch>
            <a:fillRect/>
          </a:stretch>
        </p:blipFill>
        <p:spPr bwMode="auto">
          <a:xfrm>
            <a:off x="179512" y="1340767"/>
            <a:ext cx="8784976" cy="5027467"/>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404664"/>
            <a:ext cx="8229600" cy="576064"/>
          </a:xfrm>
        </p:spPr>
        <p:txBody>
          <a:bodyPr>
            <a:normAutofit fontScale="90000"/>
          </a:bodyPr>
          <a:lstStyle/>
          <a:p>
            <a:r>
              <a:rPr lang="en-US" sz="3200" dirty="0" err="1" smtClean="0"/>
              <a:t>GitHub</a:t>
            </a:r>
            <a:r>
              <a:rPr lang="ru-RU" dirty="0" smtClean="0"/>
              <a:t>  </a:t>
            </a:r>
            <a:endParaRPr lang="ru-RU" dirty="0"/>
          </a:p>
        </p:txBody>
      </p:sp>
      <p:sp>
        <p:nvSpPr>
          <p:cNvPr id="4" name="Содержимое 3"/>
          <p:cNvSpPr>
            <a:spLocks noGrp="1"/>
          </p:cNvSpPr>
          <p:nvPr>
            <p:ph idx="1"/>
          </p:nvPr>
        </p:nvSpPr>
        <p:spPr>
          <a:xfrm>
            <a:off x="467544" y="881336"/>
            <a:ext cx="8229600" cy="5976664"/>
          </a:xfrm>
        </p:spPr>
        <p:txBody>
          <a:bodyPr>
            <a:normAutofit/>
          </a:bodyPr>
          <a:lstStyle/>
          <a:p>
            <a:pPr>
              <a:buNone/>
            </a:pPr>
            <a:endParaRPr lang="ru-RU" b="1" dirty="0" smtClean="0"/>
          </a:p>
        </p:txBody>
      </p:sp>
      <p:pic>
        <p:nvPicPr>
          <p:cNvPr id="6146" name="Picture 2"/>
          <p:cNvPicPr>
            <a:picLocks noChangeAspect="1" noChangeArrowheads="1"/>
          </p:cNvPicPr>
          <p:nvPr/>
        </p:nvPicPr>
        <p:blipFill>
          <a:blip r:embed="rId2" cstate="print"/>
          <a:srcRect/>
          <a:stretch>
            <a:fillRect/>
          </a:stretch>
        </p:blipFill>
        <p:spPr bwMode="auto">
          <a:xfrm>
            <a:off x="179512" y="1052736"/>
            <a:ext cx="8693204" cy="4752528"/>
          </a:xfrm>
          <a:prstGeom prst="rect">
            <a:avLst/>
          </a:prstGeom>
          <a:noFill/>
          <a:ln w="9525">
            <a:noFill/>
            <a:miter lim="800000"/>
            <a:headEnd/>
            <a:tailEnd/>
          </a:ln>
        </p:spPr>
      </p:pic>
      <p:pic>
        <p:nvPicPr>
          <p:cNvPr id="6147" name="Picture 3"/>
          <p:cNvPicPr>
            <a:picLocks noChangeAspect="1" noChangeArrowheads="1"/>
          </p:cNvPicPr>
          <p:nvPr/>
        </p:nvPicPr>
        <p:blipFill>
          <a:blip r:embed="rId3" cstate="print"/>
          <a:srcRect/>
          <a:stretch>
            <a:fillRect/>
          </a:stretch>
        </p:blipFill>
        <p:spPr bwMode="auto">
          <a:xfrm>
            <a:off x="323528" y="3948429"/>
            <a:ext cx="4860031" cy="2909571"/>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404664"/>
            <a:ext cx="8229600" cy="576064"/>
          </a:xfrm>
        </p:spPr>
        <p:txBody>
          <a:bodyPr>
            <a:normAutofit fontScale="90000"/>
          </a:bodyPr>
          <a:lstStyle/>
          <a:p>
            <a:r>
              <a:rPr lang="en-US" sz="3200" dirty="0" err="1" smtClean="0"/>
              <a:t>GitHub</a:t>
            </a:r>
            <a:r>
              <a:rPr lang="ru-RU" dirty="0" smtClean="0"/>
              <a:t>  </a:t>
            </a:r>
            <a:endParaRPr lang="ru-RU" dirty="0"/>
          </a:p>
        </p:txBody>
      </p:sp>
      <p:sp>
        <p:nvSpPr>
          <p:cNvPr id="4" name="Содержимое 3"/>
          <p:cNvSpPr>
            <a:spLocks noGrp="1"/>
          </p:cNvSpPr>
          <p:nvPr>
            <p:ph idx="1"/>
          </p:nvPr>
        </p:nvSpPr>
        <p:spPr>
          <a:xfrm>
            <a:off x="467544" y="881336"/>
            <a:ext cx="8229600" cy="5976664"/>
          </a:xfrm>
        </p:spPr>
        <p:txBody>
          <a:bodyPr>
            <a:normAutofit/>
          </a:bodyPr>
          <a:lstStyle/>
          <a:p>
            <a:pPr>
              <a:buNone/>
            </a:pPr>
            <a:endParaRPr lang="ru-RU" b="1" dirty="0" smtClean="0"/>
          </a:p>
        </p:txBody>
      </p:sp>
      <p:pic>
        <p:nvPicPr>
          <p:cNvPr id="7170" name="Picture 2"/>
          <p:cNvPicPr>
            <a:picLocks noChangeAspect="1" noChangeArrowheads="1"/>
          </p:cNvPicPr>
          <p:nvPr/>
        </p:nvPicPr>
        <p:blipFill>
          <a:blip r:embed="rId2" cstate="print"/>
          <a:srcRect/>
          <a:stretch>
            <a:fillRect/>
          </a:stretch>
        </p:blipFill>
        <p:spPr bwMode="auto">
          <a:xfrm>
            <a:off x="179512" y="1124744"/>
            <a:ext cx="8806817" cy="4752528"/>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404664"/>
            <a:ext cx="8229600" cy="576064"/>
          </a:xfrm>
        </p:spPr>
        <p:txBody>
          <a:bodyPr>
            <a:normAutofit fontScale="90000"/>
          </a:bodyPr>
          <a:lstStyle/>
          <a:p>
            <a:r>
              <a:rPr lang="en-US" sz="3200" dirty="0" err="1" smtClean="0"/>
              <a:t>GitHub</a:t>
            </a:r>
            <a:r>
              <a:rPr lang="ru-RU" dirty="0" smtClean="0"/>
              <a:t>  </a:t>
            </a:r>
            <a:endParaRPr lang="ru-RU" dirty="0"/>
          </a:p>
        </p:txBody>
      </p:sp>
      <p:sp>
        <p:nvSpPr>
          <p:cNvPr id="4" name="Содержимое 3"/>
          <p:cNvSpPr>
            <a:spLocks noGrp="1"/>
          </p:cNvSpPr>
          <p:nvPr>
            <p:ph idx="1"/>
          </p:nvPr>
        </p:nvSpPr>
        <p:spPr>
          <a:xfrm>
            <a:off x="467544" y="881336"/>
            <a:ext cx="8229600" cy="5976664"/>
          </a:xfrm>
        </p:spPr>
        <p:txBody>
          <a:bodyPr>
            <a:normAutofit/>
          </a:bodyPr>
          <a:lstStyle/>
          <a:p>
            <a:pPr>
              <a:buNone/>
            </a:pPr>
            <a:endParaRPr lang="ru-RU" b="1" dirty="0" smtClean="0"/>
          </a:p>
        </p:txBody>
      </p:sp>
      <p:pic>
        <p:nvPicPr>
          <p:cNvPr id="8194" name="Picture 2"/>
          <p:cNvPicPr>
            <a:picLocks noChangeAspect="1" noChangeArrowheads="1"/>
          </p:cNvPicPr>
          <p:nvPr/>
        </p:nvPicPr>
        <p:blipFill>
          <a:blip r:embed="rId2" cstate="print"/>
          <a:srcRect/>
          <a:stretch>
            <a:fillRect/>
          </a:stretch>
        </p:blipFill>
        <p:spPr bwMode="auto">
          <a:xfrm>
            <a:off x="179512" y="1052736"/>
            <a:ext cx="8830494" cy="4392488"/>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404664"/>
            <a:ext cx="8229600" cy="576064"/>
          </a:xfrm>
        </p:spPr>
        <p:txBody>
          <a:bodyPr>
            <a:normAutofit fontScale="90000"/>
          </a:bodyPr>
          <a:lstStyle/>
          <a:p>
            <a:r>
              <a:rPr lang="en-US" sz="3200" dirty="0" err="1" smtClean="0"/>
              <a:t>GitHub</a:t>
            </a:r>
            <a:r>
              <a:rPr lang="ru-RU" dirty="0" smtClean="0"/>
              <a:t>  </a:t>
            </a:r>
            <a:endParaRPr lang="ru-RU" dirty="0"/>
          </a:p>
        </p:txBody>
      </p:sp>
      <p:sp>
        <p:nvSpPr>
          <p:cNvPr id="4" name="Содержимое 3"/>
          <p:cNvSpPr>
            <a:spLocks noGrp="1"/>
          </p:cNvSpPr>
          <p:nvPr>
            <p:ph idx="1"/>
          </p:nvPr>
        </p:nvSpPr>
        <p:spPr>
          <a:xfrm>
            <a:off x="467544" y="881336"/>
            <a:ext cx="8229600" cy="5976664"/>
          </a:xfrm>
        </p:spPr>
        <p:txBody>
          <a:bodyPr>
            <a:normAutofit/>
          </a:bodyPr>
          <a:lstStyle/>
          <a:p>
            <a:pPr>
              <a:buNone/>
            </a:pPr>
            <a:endParaRPr lang="ru-RU" b="1" dirty="0" smtClean="0"/>
          </a:p>
        </p:txBody>
      </p:sp>
      <p:pic>
        <p:nvPicPr>
          <p:cNvPr id="9218" name="Picture 2"/>
          <p:cNvPicPr>
            <a:picLocks noChangeAspect="1" noChangeArrowheads="1"/>
          </p:cNvPicPr>
          <p:nvPr/>
        </p:nvPicPr>
        <p:blipFill>
          <a:blip r:embed="rId2" cstate="print"/>
          <a:srcRect/>
          <a:stretch>
            <a:fillRect/>
          </a:stretch>
        </p:blipFill>
        <p:spPr bwMode="auto">
          <a:xfrm>
            <a:off x="1" y="1052736"/>
            <a:ext cx="9144000" cy="2644271"/>
          </a:xfrm>
          <a:prstGeom prst="rect">
            <a:avLst/>
          </a:prstGeom>
          <a:noFill/>
          <a:ln w="9525">
            <a:noFill/>
            <a:miter lim="800000"/>
            <a:headEnd/>
            <a:tailEnd/>
          </a:ln>
        </p:spPr>
      </p:pic>
      <p:pic>
        <p:nvPicPr>
          <p:cNvPr id="9219" name="Picture 3"/>
          <p:cNvPicPr>
            <a:picLocks noChangeAspect="1" noChangeArrowheads="1"/>
          </p:cNvPicPr>
          <p:nvPr/>
        </p:nvPicPr>
        <p:blipFill>
          <a:blip r:embed="rId3" cstate="print"/>
          <a:srcRect/>
          <a:stretch>
            <a:fillRect/>
          </a:stretch>
        </p:blipFill>
        <p:spPr bwMode="auto">
          <a:xfrm>
            <a:off x="0" y="3789040"/>
            <a:ext cx="8388424" cy="2492000"/>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404664"/>
            <a:ext cx="8229600" cy="576064"/>
          </a:xfrm>
        </p:spPr>
        <p:txBody>
          <a:bodyPr>
            <a:normAutofit fontScale="90000"/>
          </a:bodyPr>
          <a:lstStyle/>
          <a:p>
            <a:r>
              <a:rPr lang="en-US" sz="3200" dirty="0" err="1" smtClean="0"/>
              <a:t>GitHub</a:t>
            </a:r>
            <a:r>
              <a:rPr lang="ru-RU" dirty="0" smtClean="0"/>
              <a:t>  </a:t>
            </a:r>
            <a:endParaRPr lang="ru-RU" dirty="0"/>
          </a:p>
        </p:txBody>
      </p:sp>
      <p:sp>
        <p:nvSpPr>
          <p:cNvPr id="4" name="Содержимое 3"/>
          <p:cNvSpPr>
            <a:spLocks noGrp="1"/>
          </p:cNvSpPr>
          <p:nvPr>
            <p:ph idx="1"/>
          </p:nvPr>
        </p:nvSpPr>
        <p:spPr>
          <a:xfrm>
            <a:off x="467544" y="881336"/>
            <a:ext cx="8229600" cy="5976664"/>
          </a:xfrm>
        </p:spPr>
        <p:txBody>
          <a:bodyPr>
            <a:normAutofit/>
          </a:bodyPr>
          <a:lstStyle/>
          <a:p>
            <a:pPr>
              <a:buNone/>
            </a:pPr>
            <a:endParaRPr lang="ru-RU" b="1" dirty="0" smtClean="0"/>
          </a:p>
        </p:txBody>
      </p:sp>
      <p:pic>
        <p:nvPicPr>
          <p:cNvPr id="10242" name="Picture 2"/>
          <p:cNvPicPr>
            <a:picLocks noChangeAspect="1" noChangeArrowheads="1"/>
          </p:cNvPicPr>
          <p:nvPr/>
        </p:nvPicPr>
        <p:blipFill>
          <a:blip r:embed="rId2" cstate="print"/>
          <a:srcRect/>
          <a:stretch>
            <a:fillRect/>
          </a:stretch>
        </p:blipFill>
        <p:spPr bwMode="auto">
          <a:xfrm>
            <a:off x="252534" y="2564904"/>
            <a:ext cx="8567938" cy="2304256"/>
          </a:xfrm>
          <a:prstGeom prst="rect">
            <a:avLst/>
          </a:prstGeom>
          <a:noFill/>
          <a:ln w="9525">
            <a:noFill/>
            <a:miter lim="800000"/>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404664"/>
            <a:ext cx="8229600" cy="576064"/>
          </a:xfrm>
        </p:spPr>
        <p:txBody>
          <a:bodyPr>
            <a:normAutofit fontScale="90000"/>
          </a:bodyPr>
          <a:lstStyle/>
          <a:p>
            <a:r>
              <a:rPr lang="en-US" sz="3200" dirty="0" err="1" smtClean="0"/>
              <a:t>GitHub</a:t>
            </a:r>
            <a:r>
              <a:rPr lang="ru-RU" dirty="0" smtClean="0"/>
              <a:t>  </a:t>
            </a:r>
            <a:endParaRPr lang="ru-RU" dirty="0"/>
          </a:p>
        </p:txBody>
      </p:sp>
      <p:sp>
        <p:nvSpPr>
          <p:cNvPr id="4" name="Содержимое 3"/>
          <p:cNvSpPr>
            <a:spLocks noGrp="1"/>
          </p:cNvSpPr>
          <p:nvPr>
            <p:ph idx="1"/>
          </p:nvPr>
        </p:nvSpPr>
        <p:spPr>
          <a:xfrm>
            <a:off x="467544" y="881336"/>
            <a:ext cx="8229600" cy="5976664"/>
          </a:xfrm>
        </p:spPr>
        <p:txBody>
          <a:bodyPr>
            <a:normAutofit/>
          </a:bodyPr>
          <a:lstStyle/>
          <a:p>
            <a:pPr>
              <a:buNone/>
            </a:pPr>
            <a:endParaRPr lang="ru-RU" b="1" dirty="0" smtClean="0"/>
          </a:p>
        </p:txBody>
      </p:sp>
      <p:pic>
        <p:nvPicPr>
          <p:cNvPr id="11266" name="Picture 2"/>
          <p:cNvPicPr>
            <a:picLocks noChangeAspect="1" noChangeArrowheads="1"/>
          </p:cNvPicPr>
          <p:nvPr/>
        </p:nvPicPr>
        <p:blipFill>
          <a:blip r:embed="rId2" cstate="print"/>
          <a:srcRect/>
          <a:stretch>
            <a:fillRect/>
          </a:stretch>
        </p:blipFill>
        <p:spPr bwMode="auto">
          <a:xfrm>
            <a:off x="1043608" y="1196752"/>
            <a:ext cx="7010400" cy="5238750"/>
          </a:xfrm>
          <a:prstGeom prst="rect">
            <a:avLst/>
          </a:prstGeom>
          <a:noFill/>
          <a:ln w="9525">
            <a:noFill/>
            <a:miter lim="800000"/>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404664"/>
            <a:ext cx="8229600" cy="576064"/>
          </a:xfrm>
        </p:spPr>
        <p:txBody>
          <a:bodyPr>
            <a:normAutofit fontScale="90000"/>
          </a:bodyPr>
          <a:lstStyle/>
          <a:p>
            <a:r>
              <a:rPr lang="en-US" sz="3200" dirty="0" err="1" smtClean="0"/>
              <a:t>GitHub</a:t>
            </a:r>
            <a:r>
              <a:rPr lang="ru-RU" dirty="0" smtClean="0"/>
              <a:t>  </a:t>
            </a:r>
            <a:endParaRPr lang="ru-RU" dirty="0"/>
          </a:p>
        </p:txBody>
      </p:sp>
      <p:sp>
        <p:nvSpPr>
          <p:cNvPr id="4" name="Содержимое 3"/>
          <p:cNvSpPr>
            <a:spLocks noGrp="1"/>
          </p:cNvSpPr>
          <p:nvPr>
            <p:ph idx="1"/>
          </p:nvPr>
        </p:nvSpPr>
        <p:spPr>
          <a:xfrm>
            <a:off x="467544" y="881336"/>
            <a:ext cx="8229600" cy="5976664"/>
          </a:xfrm>
        </p:spPr>
        <p:txBody>
          <a:bodyPr>
            <a:normAutofit/>
          </a:bodyPr>
          <a:lstStyle/>
          <a:p>
            <a:pPr>
              <a:buNone/>
            </a:pPr>
            <a:endParaRPr lang="ru-RU" b="1" dirty="0" smtClean="0"/>
          </a:p>
        </p:txBody>
      </p:sp>
      <p:pic>
        <p:nvPicPr>
          <p:cNvPr id="12290" name="Picture 2"/>
          <p:cNvPicPr>
            <a:picLocks noChangeAspect="1" noChangeArrowheads="1"/>
          </p:cNvPicPr>
          <p:nvPr/>
        </p:nvPicPr>
        <p:blipFill>
          <a:blip r:embed="rId2" cstate="print"/>
          <a:srcRect/>
          <a:stretch>
            <a:fillRect/>
          </a:stretch>
        </p:blipFill>
        <p:spPr bwMode="auto">
          <a:xfrm>
            <a:off x="827584" y="1124744"/>
            <a:ext cx="7439025" cy="5029200"/>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404664"/>
            <a:ext cx="8229600" cy="576064"/>
          </a:xfrm>
        </p:spPr>
        <p:txBody>
          <a:bodyPr>
            <a:normAutofit/>
          </a:bodyPr>
          <a:lstStyle/>
          <a:p>
            <a:r>
              <a:rPr lang="ru-RU" sz="2800" dirty="0" smtClean="0"/>
              <a:t>Три закона </a:t>
            </a:r>
            <a:r>
              <a:rPr lang="en-US" sz="2800" dirty="0" smtClean="0"/>
              <a:t>TDD</a:t>
            </a:r>
            <a:endParaRPr lang="ru-RU" dirty="0"/>
          </a:p>
        </p:txBody>
      </p:sp>
      <p:sp>
        <p:nvSpPr>
          <p:cNvPr id="4" name="Содержимое 3"/>
          <p:cNvSpPr>
            <a:spLocks noGrp="1"/>
          </p:cNvSpPr>
          <p:nvPr>
            <p:ph idx="1"/>
          </p:nvPr>
        </p:nvSpPr>
        <p:spPr>
          <a:xfrm>
            <a:off x="467544" y="881336"/>
            <a:ext cx="8229600" cy="5976664"/>
          </a:xfrm>
        </p:spPr>
        <p:txBody>
          <a:bodyPr>
            <a:normAutofit fontScale="62500" lnSpcReduction="20000"/>
          </a:bodyPr>
          <a:lstStyle/>
          <a:p>
            <a:pPr algn="just">
              <a:buNone/>
            </a:pPr>
            <a:r>
              <a:rPr lang="ru-RU" dirty="0" smtClean="0"/>
              <a:t>Прежде чем я начну знакомить вас с тремя законами, хотелось бы сделать некоторые предварительные замечания. Разработка через тестирование сводится к следующим действиям. </a:t>
            </a:r>
            <a:endParaRPr lang="en-US" dirty="0" smtClean="0"/>
          </a:p>
          <a:p>
            <a:pPr marL="514350" indent="-514350" algn="just">
              <a:buAutoNum type="arabicPeriod"/>
            </a:pPr>
            <a:r>
              <a:rPr lang="ru-RU" dirty="0" smtClean="0"/>
              <a:t>Создание набора тестов, прохождение которых позволяет перейти к </a:t>
            </a:r>
            <a:r>
              <a:rPr lang="ru-RU" dirty="0" err="1" smtClean="0"/>
              <a:t>рефакторингу</a:t>
            </a:r>
            <a:r>
              <a:rPr lang="ru-RU" dirty="0" smtClean="0"/>
              <a:t> кода и предполагает его последующее развертывание. То есть успешное прохождение этого набора тестов означает, что систему можно безопасно развернуть. </a:t>
            </a:r>
            <a:endParaRPr lang="en-US" dirty="0" smtClean="0"/>
          </a:p>
          <a:p>
            <a:pPr marL="514350" indent="-514350" algn="just">
              <a:buAutoNum type="arabicPeriod"/>
            </a:pPr>
            <a:r>
              <a:rPr lang="ru-RU" dirty="0" smtClean="0"/>
              <a:t>Написание окончательной версии кода, достаточно несвязанной, чтобы этот код можно было тестировать и подвергать </a:t>
            </a:r>
            <a:r>
              <a:rPr lang="ru-RU" dirty="0" err="1" smtClean="0"/>
              <a:t>рефакторингу</a:t>
            </a:r>
            <a:r>
              <a:rPr lang="ru-RU" dirty="0" smtClean="0"/>
              <a:t>. </a:t>
            </a:r>
            <a:endParaRPr lang="en-US" dirty="0" smtClean="0"/>
          </a:p>
          <a:p>
            <a:pPr marL="514350" indent="-514350" algn="just">
              <a:buAutoNum type="arabicPeriod"/>
            </a:pPr>
            <a:r>
              <a:rPr lang="ru-RU" dirty="0" smtClean="0"/>
              <a:t>Формирование чрезвычайно короткого цикла обратной связи, который позволяет поддерживать стабильный ритм и производительность при написании программы. </a:t>
            </a:r>
            <a:endParaRPr lang="en-US" dirty="0" smtClean="0"/>
          </a:p>
          <a:p>
            <a:pPr marL="514350" indent="-514350" algn="just">
              <a:buAutoNum type="arabicPeriod"/>
            </a:pPr>
            <a:r>
              <a:rPr lang="ru-RU" dirty="0" smtClean="0"/>
              <a:t>Создание тестов и производственного кода, которые не связаны в такой степени, что их удобно обслуживать и ничто не препятствует репликации вносимых в них изменений. </a:t>
            </a:r>
            <a:endParaRPr lang="en-US" dirty="0" smtClean="0"/>
          </a:p>
          <a:p>
            <a:pPr marL="514350" indent="-514350" algn="just">
              <a:buNone/>
            </a:pPr>
            <a:r>
              <a:rPr lang="ru-RU" dirty="0" smtClean="0"/>
              <a:t>Практика TDD сводится к соблюдению трех законов, практически полностью состоящих из произвольной части. Отсутствие обязательной части подтверждает, например, тот факт, что конечная цель может достигаться разными средствами. В частности, с помощью предложенной Кентом Беком практики </a:t>
            </a:r>
            <a:r>
              <a:rPr lang="ru-RU" dirty="0" err="1" smtClean="0"/>
              <a:t>test</a:t>
            </a:r>
            <a:r>
              <a:rPr lang="ru-RU" dirty="0" smtClean="0"/>
              <a:t> &amp;&amp; </a:t>
            </a:r>
            <a:r>
              <a:rPr lang="ru-RU" dirty="0" err="1" smtClean="0"/>
              <a:t>commit</a:t>
            </a:r>
            <a:r>
              <a:rPr lang="ru-RU" dirty="0" smtClean="0"/>
              <a:t> || </a:t>
            </a:r>
            <a:r>
              <a:rPr lang="ru-RU" dirty="0" err="1" smtClean="0"/>
              <a:t>revert</a:t>
            </a:r>
            <a:r>
              <a:rPr lang="ru-RU" dirty="0" smtClean="0"/>
              <a:t> (TCR). Несмотря на свою непохожесть на TDD, TCR позволяет получить точно такие же результаты.</a:t>
            </a:r>
            <a:endParaRPr lang="ru-RU" b="1" dirty="0" smtClean="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404664"/>
            <a:ext cx="8229600" cy="576064"/>
          </a:xfrm>
        </p:spPr>
        <p:txBody>
          <a:bodyPr>
            <a:normAutofit/>
          </a:bodyPr>
          <a:lstStyle/>
          <a:p>
            <a:r>
              <a:rPr lang="ru-RU" sz="2800" dirty="0" smtClean="0"/>
              <a:t>Три закона </a:t>
            </a:r>
            <a:r>
              <a:rPr lang="en-US" sz="2800" dirty="0" smtClean="0"/>
              <a:t>TDD</a:t>
            </a:r>
            <a:endParaRPr lang="ru-RU" dirty="0"/>
          </a:p>
        </p:txBody>
      </p:sp>
      <p:sp>
        <p:nvSpPr>
          <p:cNvPr id="4" name="Содержимое 3"/>
          <p:cNvSpPr>
            <a:spLocks noGrp="1"/>
          </p:cNvSpPr>
          <p:nvPr>
            <p:ph idx="1"/>
          </p:nvPr>
        </p:nvSpPr>
        <p:spPr>
          <a:xfrm>
            <a:off x="467544" y="881336"/>
            <a:ext cx="8229600" cy="5976664"/>
          </a:xfrm>
        </p:spPr>
        <p:txBody>
          <a:bodyPr>
            <a:normAutofit fontScale="92500" lnSpcReduction="20000"/>
          </a:bodyPr>
          <a:lstStyle/>
          <a:p>
            <a:pPr algn="just">
              <a:buNone/>
            </a:pPr>
            <a:r>
              <a:rPr lang="ru-RU" b="1" dirty="0" smtClean="0"/>
              <a:t>Первый закон </a:t>
            </a:r>
            <a:endParaRPr lang="en-US" b="1" dirty="0" smtClean="0"/>
          </a:p>
          <a:p>
            <a:pPr algn="just">
              <a:buNone/>
            </a:pPr>
            <a:r>
              <a:rPr lang="ru-RU" dirty="0" smtClean="0"/>
              <a:t>Не пишите код, пока не напишете первый тест. </a:t>
            </a:r>
            <a:endParaRPr lang="en-US" dirty="0" smtClean="0"/>
          </a:p>
          <a:p>
            <a:pPr algn="just">
              <a:buNone/>
            </a:pPr>
            <a:endParaRPr lang="en-US" dirty="0" smtClean="0"/>
          </a:p>
          <a:p>
            <a:pPr algn="just">
              <a:buNone/>
            </a:pPr>
            <a:r>
              <a:rPr lang="ru-RU" dirty="0" smtClean="0"/>
              <a:t>Опытному программисту этот закон может показаться глупым. У вас тоже, скорее всего, возник вопрос, как написать тест без кода, который следует протестировать. Это естественная реакция, ведь считается, что сначала пишется код, а только потом тесты для него. Но если вдуматься, то само знание того, как должен работать код, позволяет написать для него тест. Хотя, конечно, эта идея </a:t>
            </a:r>
            <a:r>
              <a:rPr lang="ru-RU" dirty="0" err="1" smtClean="0"/>
              <a:t>контринтуитивна</a:t>
            </a:r>
            <a:r>
              <a:rPr lang="ru-RU" dirty="0" smtClean="0"/>
              <a:t> и кажется совершенно нелогичной.</a:t>
            </a:r>
            <a:endParaRPr lang="ru-RU" b="1" dirty="0" smtClean="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404664"/>
            <a:ext cx="8229600" cy="576064"/>
          </a:xfrm>
        </p:spPr>
        <p:txBody>
          <a:bodyPr>
            <a:normAutofit/>
          </a:bodyPr>
          <a:lstStyle/>
          <a:p>
            <a:r>
              <a:rPr lang="ru-RU" sz="2800" dirty="0" smtClean="0"/>
              <a:t>Три закона </a:t>
            </a:r>
            <a:r>
              <a:rPr lang="en-US" sz="2800" dirty="0" smtClean="0"/>
              <a:t>TDD</a:t>
            </a:r>
            <a:endParaRPr lang="ru-RU" dirty="0"/>
          </a:p>
        </p:txBody>
      </p:sp>
      <p:sp>
        <p:nvSpPr>
          <p:cNvPr id="4" name="Содержимое 3"/>
          <p:cNvSpPr>
            <a:spLocks noGrp="1"/>
          </p:cNvSpPr>
          <p:nvPr>
            <p:ph idx="1"/>
          </p:nvPr>
        </p:nvSpPr>
        <p:spPr>
          <a:xfrm>
            <a:off x="467544" y="881336"/>
            <a:ext cx="8229600" cy="5976664"/>
          </a:xfrm>
        </p:spPr>
        <p:txBody>
          <a:bodyPr>
            <a:normAutofit fontScale="92500" lnSpcReduction="20000"/>
          </a:bodyPr>
          <a:lstStyle/>
          <a:p>
            <a:pPr algn="just">
              <a:buNone/>
            </a:pPr>
            <a:r>
              <a:rPr lang="ru-RU" b="1" dirty="0" smtClean="0"/>
              <a:t>Второй закон </a:t>
            </a:r>
            <a:endParaRPr lang="en-US" b="1" dirty="0" smtClean="0"/>
          </a:p>
          <a:p>
            <a:pPr algn="just">
              <a:buNone/>
            </a:pPr>
            <a:r>
              <a:rPr lang="ru-RU" dirty="0" smtClean="0"/>
              <a:t>Пишите минимальный тест, который не будет пройден. </a:t>
            </a:r>
            <a:endParaRPr lang="en-US" dirty="0" smtClean="0"/>
          </a:p>
          <a:p>
            <a:pPr algn="just">
              <a:buNone/>
            </a:pPr>
            <a:endParaRPr lang="en-US" dirty="0" smtClean="0"/>
          </a:p>
          <a:p>
            <a:pPr algn="just">
              <a:buNone/>
            </a:pPr>
            <a:r>
              <a:rPr lang="ru-RU" dirty="0" smtClean="0"/>
              <a:t>Добейтесь его прохождения, написав необходимый код. Опытный программист сразу поймет, что первая же строка теста вызовет сбой компиляции, ведь она предполагает взаимодействие с кодом, которого пока не существует. Фактически это означает невозможность написать тест, состоящий более чем из одной строки, так как вам сразу придется переключиться на написание производственного кода.</a:t>
            </a:r>
            <a:endParaRPr lang="ru-RU" b="1" dirty="0" smtClean="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404664"/>
            <a:ext cx="8229600" cy="576064"/>
          </a:xfrm>
        </p:spPr>
        <p:txBody>
          <a:bodyPr>
            <a:normAutofit/>
          </a:bodyPr>
          <a:lstStyle/>
          <a:p>
            <a:r>
              <a:rPr lang="ru-RU" sz="2800" dirty="0" smtClean="0"/>
              <a:t>Три закона </a:t>
            </a:r>
            <a:r>
              <a:rPr lang="en-US" sz="2800" dirty="0" smtClean="0"/>
              <a:t>TDD</a:t>
            </a:r>
            <a:endParaRPr lang="ru-RU" dirty="0"/>
          </a:p>
        </p:txBody>
      </p:sp>
      <p:sp>
        <p:nvSpPr>
          <p:cNvPr id="4" name="Содержимое 3"/>
          <p:cNvSpPr>
            <a:spLocks noGrp="1"/>
          </p:cNvSpPr>
          <p:nvPr>
            <p:ph idx="1"/>
          </p:nvPr>
        </p:nvSpPr>
        <p:spPr>
          <a:xfrm>
            <a:off x="467544" y="881336"/>
            <a:ext cx="8229600" cy="5976664"/>
          </a:xfrm>
        </p:spPr>
        <p:txBody>
          <a:bodyPr>
            <a:normAutofit/>
          </a:bodyPr>
          <a:lstStyle/>
          <a:p>
            <a:pPr algn="just">
              <a:buNone/>
            </a:pPr>
            <a:r>
              <a:rPr lang="ru-RU" b="1" dirty="0" smtClean="0"/>
              <a:t>Третий закон </a:t>
            </a:r>
            <a:endParaRPr lang="en-US" b="1" dirty="0" smtClean="0"/>
          </a:p>
          <a:p>
            <a:pPr algn="just">
              <a:buNone/>
            </a:pPr>
            <a:r>
              <a:rPr lang="ru-RU" dirty="0" smtClean="0"/>
              <a:t>Ограничьтесь минимальным количеством кода, необходимым для прохождения текущего теста. После этого сразу пишите следующий тест.</a:t>
            </a:r>
            <a:endParaRPr lang="ru-RU" b="1" dirty="0" smtClean="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404664"/>
            <a:ext cx="8229600" cy="576064"/>
          </a:xfrm>
        </p:spPr>
        <p:txBody>
          <a:bodyPr>
            <a:normAutofit/>
          </a:bodyPr>
          <a:lstStyle/>
          <a:p>
            <a:r>
              <a:rPr lang="en-US" sz="2800" dirty="0" smtClean="0"/>
              <a:t>TDD</a:t>
            </a:r>
            <a:endParaRPr lang="ru-RU" dirty="0"/>
          </a:p>
        </p:txBody>
      </p:sp>
      <p:sp>
        <p:nvSpPr>
          <p:cNvPr id="4" name="Содержимое 3"/>
          <p:cNvSpPr>
            <a:spLocks noGrp="1"/>
          </p:cNvSpPr>
          <p:nvPr>
            <p:ph idx="1"/>
          </p:nvPr>
        </p:nvSpPr>
        <p:spPr>
          <a:xfrm>
            <a:off x="467544" y="881336"/>
            <a:ext cx="8229600" cy="5976664"/>
          </a:xfrm>
        </p:spPr>
        <p:txBody>
          <a:bodyPr>
            <a:normAutofit fontScale="62500" lnSpcReduction="20000"/>
          </a:bodyPr>
          <a:lstStyle/>
          <a:p>
            <a:pPr algn="just">
              <a:buNone/>
            </a:pPr>
            <a:r>
              <a:rPr lang="ru-RU" dirty="0" smtClean="0"/>
              <a:t>На этом цикл завершается. Очевидно, что эти три закона вовлекают вас в цикл продолжительностью всего несколько секунд. В утрированном виде процесс выглядит примерно так:</a:t>
            </a:r>
            <a:endParaRPr lang="en-US" dirty="0" smtClean="0"/>
          </a:p>
          <a:p>
            <a:pPr algn="just"/>
            <a:r>
              <a:rPr lang="ru-RU" dirty="0" smtClean="0"/>
              <a:t>вы пишете строку тестового кода, и этот тест, конечно же, не проходит; </a:t>
            </a:r>
            <a:endParaRPr lang="en-US" dirty="0" smtClean="0"/>
          </a:p>
          <a:p>
            <a:pPr algn="just"/>
            <a:r>
              <a:rPr lang="ru-RU" dirty="0" smtClean="0"/>
              <a:t>вы пишете строку производственного кода, позволяющую пройти тест; </a:t>
            </a:r>
            <a:endParaRPr lang="en-US" dirty="0" smtClean="0"/>
          </a:p>
          <a:p>
            <a:pPr algn="just"/>
            <a:r>
              <a:rPr lang="ru-RU" dirty="0" smtClean="0"/>
              <a:t>вы пишете следующую строку тестового кода, и тест снова не проходит; </a:t>
            </a:r>
            <a:endParaRPr lang="en-US" dirty="0" smtClean="0"/>
          </a:p>
          <a:p>
            <a:pPr algn="just"/>
            <a:r>
              <a:rPr lang="ru-RU" dirty="0" smtClean="0"/>
              <a:t>вы пишете следующий рабочий код, позволяющий пройти тест; </a:t>
            </a:r>
            <a:endParaRPr lang="en-US" dirty="0" smtClean="0"/>
          </a:p>
          <a:p>
            <a:pPr algn="just"/>
            <a:r>
              <a:rPr lang="ru-RU" dirty="0" smtClean="0"/>
              <a:t>вы пишете еще одну-две строки тестового кода и обнаруживаете, что проверка утверждения не пройдена; </a:t>
            </a:r>
            <a:endParaRPr lang="en-US" dirty="0" smtClean="0"/>
          </a:p>
          <a:p>
            <a:pPr algn="just"/>
            <a:r>
              <a:rPr lang="ru-RU" dirty="0" smtClean="0"/>
              <a:t>вы пишете еще одну-две строки производственного кода, обеспечивающие положительный результат проверки утверждения. </a:t>
            </a:r>
            <a:endParaRPr lang="en-US" dirty="0" smtClean="0"/>
          </a:p>
          <a:p>
            <a:pPr algn="just">
              <a:buNone/>
            </a:pPr>
            <a:endParaRPr lang="en-US" dirty="0" smtClean="0"/>
          </a:p>
          <a:p>
            <a:pPr algn="just">
              <a:buNone/>
            </a:pPr>
            <a:r>
              <a:rPr lang="ru-RU" dirty="0" smtClean="0"/>
              <a:t>Вся ваша дальнейшая работа будет выглядеть только так. С точки зрения опытного программиста, ситуация, скорее всего, выглядит абсурдно. Три закона запирают нас внутри цикла, длящегося всего несколько секунд. Нам все время приходится переключаться между тестовым и производственным кодом. Невозможно просто добавить оператор </a:t>
            </a:r>
            <a:r>
              <a:rPr lang="ru-RU" dirty="0" err="1" smtClean="0"/>
              <a:t>if</a:t>
            </a:r>
            <a:r>
              <a:rPr lang="ru-RU" dirty="0" smtClean="0"/>
              <a:t> или цикл </a:t>
            </a:r>
            <a:r>
              <a:rPr lang="ru-RU" dirty="0" err="1" smtClean="0"/>
              <a:t>while</a:t>
            </a:r>
            <a:r>
              <a:rPr lang="ru-RU" dirty="0" smtClean="0"/>
              <a:t> или написать функцию. Мы навсегда попали в ловушку постоянных переключений. </a:t>
            </a:r>
            <a:endParaRPr lang="ru-RU" b="1" dirty="0" smtClean="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404664"/>
            <a:ext cx="8229600" cy="576064"/>
          </a:xfrm>
        </p:spPr>
        <p:txBody>
          <a:bodyPr>
            <a:normAutofit/>
          </a:bodyPr>
          <a:lstStyle/>
          <a:p>
            <a:r>
              <a:rPr lang="ru-RU" sz="2800" dirty="0" smtClean="0"/>
              <a:t>Страх </a:t>
            </a:r>
            <a:endParaRPr lang="ru-RU" dirty="0"/>
          </a:p>
        </p:txBody>
      </p:sp>
      <p:sp>
        <p:nvSpPr>
          <p:cNvPr id="4" name="Содержимое 3"/>
          <p:cNvSpPr>
            <a:spLocks noGrp="1"/>
          </p:cNvSpPr>
          <p:nvPr>
            <p:ph idx="1"/>
          </p:nvPr>
        </p:nvSpPr>
        <p:spPr>
          <a:xfrm>
            <a:off x="467544" y="881336"/>
            <a:ext cx="8229600" cy="5976664"/>
          </a:xfrm>
        </p:spPr>
        <p:txBody>
          <a:bodyPr>
            <a:normAutofit fontScale="62500" lnSpcReduction="20000"/>
          </a:bodyPr>
          <a:lstStyle/>
          <a:p>
            <a:pPr indent="0" algn="just">
              <a:buNone/>
            </a:pPr>
            <a:r>
              <a:rPr lang="ru-RU" dirty="0" smtClean="0"/>
              <a:t>Программировать непросто. Возможно, это самый трудный из всех навыков, в которых люди пытаются достичь мастерства. Сегодня наша цивилизация зависит от сотен тысяч взаимосвязанных приложений, каждое из которых состоит из сотен тысяч, если не десятков миллионов строк кода. Ни один из созданных людьми аппаратов больше не имеет такого количества подвижных деталей. К</a:t>
            </a:r>
          </a:p>
          <a:p>
            <a:pPr indent="0" algn="just">
              <a:buNone/>
            </a:pPr>
            <a:r>
              <a:rPr lang="ru-RU" dirty="0" err="1" smtClean="0"/>
              <a:t>аждое</a:t>
            </a:r>
            <a:r>
              <a:rPr lang="ru-RU" dirty="0" smtClean="0"/>
              <a:t> из приложений поддерживается командами разработчиков, которые до смерти боятся что-либо менять. Ирония в том, что все это программное обеспечение написано, чтобы позволить нам легко менять поведение машин. </a:t>
            </a:r>
          </a:p>
          <a:p>
            <a:pPr indent="0" algn="just">
              <a:buNone/>
            </a:pPr>
            <a:r>
              <a:rPr lang="ru-RU" dirty="0" smtClean="0"/>
              <a:t>Но разработчики знают, что каждое изменение сопряжено с риском сбоя, причину которого бывает сложно обнаружить и устранить. </a:t>
            </a:r>
          </a:p>
          <a:p>
            <a:pPr indent="0" algn="just">
              <a:buNone/>
            </a:pPr>
            <a:r>
              <a:rPr lang="ru-RU" dirty="0" smtClean="0"/>
              <a:t>Представьте ужасно запутанный код. Скорее всего, вам не придется напрягаться, чтобы вызвать в воображении такой образ. Большинство из нас сталкивается с подобным каждый день. </a:t>
            </a:r>
          </a:p>
          <a:p>
            <a:pPr indent="0" algn="just">
              <a:buNone/>
            </a:pPr>
            <a:r>
              <a:rPr lang="ru-RU" dirty="0" smtClean="0"/>
              <a:t>При виде такого кода вы иногда начинаете испытывать желание привести его в порядок. Но я практически уверен, что следом, как молот Тора, обрушивается мысль: «Я к этому не прикоснусь!» Ведь вы прекрасно знаете: если, прикоснувшись к этому коду, вы что-то сломаете, то он станет вашим навсегда.</a:t>
            </a:r>
            <a:endParaRPr lang="ru-RU" b="1" dirty="0" smtClean="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404664"/>
            <a:ext cx="8229600" cy="576064"/>
          </a:xfrm>
        </p:spPr>
        <p:txBody>
          <a:bodyPr>
            <a:normAutofit/>
          </a:bodyPr>
          <a:lstStyle/>
          <a:p>
            <a:r>
              <a:rPr lang="ru-RU" sz="2800" dirty="0" err="1" smtClean="0"/>
              <a:t>Рефакторинг</a:t>
            </a:r>
            <a:endParaRPr lang="ru-RU" dirty="0"/>
          </a:p>
        </p:txBody>
      </p:sp>
      <p:pic>
        <p:nvPicPr>
          <p:cNvPr id="13314" name="Picture 2"/>
          <p:cNvPicPr>
            <a:picLocks noGrp="1" noChangeAspect="1" noChangeArrowheads="1"/>
          </p:cNvPicPr>
          <p:nvPr>
            <p:ph idx="1"/>
          </p:nvPr>
        </p:nvPicPr>
        <p:blipFill>
          <a:blip r:embed="rId2" cstate="print"/>
          <a:srcRect/>
          <a:stretch>
            <a:fillRect/>
          </a:stretch>
        </p:blipFill>
        <p:spPr bwMode="auto">
          <a:xfrm>
            <a:off x="935038" y="1931194"/>
            <a:ext cx="7296150" cy="3876675"/>
          </a:xfrm>
          <a:prstGeom prst="rect">
            <a:avLst/>
          </a:prstGeom>
          <a:noFill/>
          <a:ln w="9525">
            <a:noFill/>
            <a:miter lim="800000"/>
            <a:headEnd/>
            <a:tailEnd/>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404664"/>
            <a:ext cx="8229600" cy="576064"/>
          </a:xfrm>
        </p:spPr>
        <p:txBody>
          <a:bodyPr>
            <a:normAutofit/>
          </a:bodyPr>
          <a:lstStyle/>
          <a:p>
            <a:r>
              <a:rPr lang="ru-RU" sz="2800" dirty="0" err="1" smtClean="0"/>
              <a:t>Рефакторинг</a:t>
            </a:r>
            <a:endParaRPr lang="ru-RU" dirty="0"/>
          </a:p>
        </p:txBody>
      </p:sp>
      <p:sp>
        <p:nvSpPr>
          <p:cNvPr id="4" name="Содержимое 3"/>
          <p:cNvSpPr>
            <a:spLocks noGrp="1"/>
          </p:cNvSpPr>
          <p:nvPr>
            <p:ph idx="1"/>
          </p:nvPr>
        </p:nvSpPr>
        <p:spPr>
          <a:xfrm>
            <a:off x="467544" y="881336"/>
            <a:ext cx="8229600" cy="5976664"/>
          </a:xfrm>
        </p:spPr>
        <p:txBody>
          <a:bodyPr>
            <a:normAutofit fontScale="92500"/>
          </a:bodyPr>
          <a:lstStyle/>
          <a:p>
            <a:pPr indent="0" algn="just"/>
            <a:r>
              <a:rPr lang="ru-RU" dirty="0" err="1" smtClean="0"/>
              <a:t>Рефакторинг</a:t>
            </a:r>
            <a:r>
              <a:rPr lang="ru-RU" dirty="0" smtClean="0"/>
              <a:t> выполняется постоянно. В каждом цикле TDD происходит очистка кода. </a:t>
            </a:r>
          </a:p>
          <a:p>
            <a:pPr indent="0" algn="just"/>
            <a:r>
              <a:rPr lang="ru-RU" dirty="0" err="1" smtClean="0"/>
              <a:t>Рефакторинг</a:t>
            </a:r>
            <a:r>
              <a:rPr lang="ru-RU" dirty="0" smtClean="0"/>
              <a:t> не меняет поведение. Он проводится только в случаях, когда выполняются все тесты, причем в процессе </a:t>
            </a:r>
            <a:r>
              <a:rPr lang="ru-RU" dirty="0" err="1" smtClean="0"/>
              <a:t>рефакторинга</a:t>
            </a:r>
            <a:r>
              <a:rPr lang="ru-RU" dirty="0" smtClean="0"/>
              <a:t> тесты продолжают успешно выполняться. </a:t>
            </a:r>
          </a:p>
          <a:p>
            <a:pPr indent="0" algn="just"/>
            <a:r>
              <a:rPr lang="ru-RU" dirty="0" err="1" smtClean="0"/>
              <a:t>Рефакторинг</a:t>
            </a:r>
            <a:r>
              <a:rPr lang="ru-RU" dirty="0" smtClean="0"/>
              <a:t> никогда не фигурирует в расписании или плане. На него не нужно отдельно выделять время или спрашивать разрешения. Вы просто все время его делаете. </a:t>
            </a:r>
            <a:endParaRPr lang="ru-RU" b="1" dirty="0" smtClean="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404664"/>
            <a:ext cx="8229600" cy="576064"/>
          </a:xfrm>
        </p:spPr>
        <p:txBody>
          <a:bodyPr>
            <a:normAutofit/>
          </a:bodyPr>
          <a:lstStyle/>
          <a:p>
            <a:r>
              <a:rPr lang="ru-RU" sz="2800" dirty="0" smtClean="0"/>
              <a:t>Пример </a:t>
            </a:r>
            <a:r>
              <a:rPr lang="en-US" sz="2800" dirty="0" smtClean="0"/>
              <a:t>TDD</a:t>
            </a:r>
            <a:endParaRPr lang="ru-RU" dirty="0"/>
          </a:p>
        </p:txBody>
      </p:sp>
      <p:sp>
        <p:nvSpPr>
          <p:cNvPr id="4" name="Содержимое 3"/>
          <p:cNvSpPr>
            <a:spLocks noGrp="1"/>
          </p:cNvSpPr>
          <p:nvPr>
            <p:ph idx="1"/>
          </p:nvPr>
        </p:nvSpPr>
        <p:spPr>
          <a:xfrm>
            <a:off x="467544" y="881336"/>
            <a:ext cx="8229600" cy="5976664"/>
          </a:xfrm>
        </p:spPr>
        <p:txBody>
          <a:bodyPr>
            <a:normAutofit fontScale="92500" lnSpcReduction="20000"/>
          </a:bodyPr>
          <a:lstStyle/>
          <a:p>
            <a:pPr indent="0">
              <a:buNone/>
            </a:pPr>
            <a:r>
              <a:rPr lang="ru-RU" dirty="0" smtClean="0"/>
              <a:t>Итак, начнем:</a:t>
            </a:r>
            <a:br>
              <a:rPr lang="ru-RU" dirty="0" smtClean="0"/>
            </a:br>
            <a:endParaRPr lang="en-US" dirty="0" smtClean="0"/>
          </a:p>
          <a:p>
            <a:pPr indent="0">
              <a:buNone/>
            </a:pPr>
            <a:r>
              <a:rPr lang="en-US" dirty="0" smtClean="0"/>
              <a:t>package stack;</a:t>
            </a:r>
            <a:br>
              <a:rPr lang="en-US" dirty="0" smtClean="0"/>
            </a:br>
            <a:r>
              <a:rPr lang="en-US" dirty="0" smtClean="0"/>
              <a:t>import </a:t>
            </a:r>
            <a:r>
              <a:rPr lang="en-US" dirty="0" err="1" smtClean="0"/>
              <a:t>org.junit.Test</a:t>
            </a:r>
            <a:r>
              <a:rPr lang="en-US" dirty="0" smtClean="0"/>
              <a:t>;</a:t>
            </a:r>
            <a:br>
              <a:rPr lang="en-US" dirty="0" smtClean="0"/>
            </a:br>
            <a:r>
              <a:rPr lang="en-US" dirty="0" smtClean="0"/>
              <a:t>public class </a:t>
            </a:r>
            <a:r>
              <a:rPr lang="en-US" dirty="0" err="1" smtClean="0"/>
              <a:t>StackTest</a:t>
            </a:r>
            <a:r>
              <a:rPr lang="en-US" dirty="0" smtClean="0"/>
              <a:t> {</a:t>
            </a:r>
            <a:br>
              <a:rPr lang="en-US" dirty="0" smtClean="0"/>
            </a:br>
            <a:r>
              <a:rPr lang="en-US" dirty="0" smtClean="0"/>
              <a:t>@Test</a:t>
            </a:r>
            <a:br>
              <a:rPr lang="en-US" dirty="0" smtClean="0"/>
            </a:br>
            <a:r>
              <a:rPr lang="en-US" dirty="0" smtClean="0"/>
              <a:t>public void nothing() throws Exception {</a:t>
            </a:r>
            <a:br>
              <a:rPr lang="en-US" dirty="0" smtClean="0"/>
            </a:br>
            <a:r>
              <a:rPr lang="en-US" dirty="0" smtClean="0"/>
              <a:t>}</a:t>
            </a:r>
            <a:br>
              <a:rPr lang="en-US" dirty="0" smtClean="0"/>
            </a:br>
            <a:r>
              <a:rPr lang="en-US" dirty="0" smtClean="0"/>
              <a:t>}</a:t>
            </a:r>
            <a:br>
              <a:rPr lang="en-US" dirty="0" smtClean="0"/>
            </a:br>
            <a:endParaRPr lang="en-US" dirty="0" smtClean="0"/>
          </a:p>
          <a:p>
            <a:pPr indent="0">
              <a:buNone/>
            </a:pPr>
            <a:r>
              <a:rPr lang="ru-RU" dirty="0" smtClean="0"/>
              <a:t>Правильным считается начинать с теста, который ничего не делает</a:t>
            </a:r>
            <a:r>
              <a:rPr lang="en-US" dirty="0" smtClean="0"/>
              <a:t> </a:t>
            </a:r>
            <a:r>
              <a:rPr lang="ru-RU" dirty="0" smtClean="0"/>
              <a:t>Прохождение такого теста просто показывает, что среда выполнения</a:t>
            </a:r>
            <a:r>
              <a:rPr lang="en-US" dirty="0" smtClean="0"/>
              <a:t> </a:t>
            </a:r>
            <a:r>
              <a:rPr lang="ru-RU" dirty="0" smtClean="0"/>
              <a:t>работает </a:t>
            </a:r>
            <a:br>
              <a:rPr lang="ru-RU" dirty="0" smtClean="0"/>
            </a:br>
            <a:endParaRPr lang="ru-RU" b="1" dirty="0" smtClean="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404664"/>
            <a:ext cx="8229600" cy="576064"/>
          </a:xfrm>
        </p:spPr>
        <p:txBody>
          <a:bodyPr>
            <a:normAutofit/>
          </a:bodyPr>
          <a:lstStyle/>
          <a:p>
            <a:r>
              <a:rPr lang="ru-RU" sz="2800" dirty="0" smtClean="0"/>
              <a:t>Пример </a:t>
            </a:r>
            <a:r>
              <a:rPr lang="en-US" sz="2800" dirty="0" smtClean="0"/>
              <a:t>TDD</a:t>
            </a:r>
            <a:endParaRPr lang="ru-RU" dirty="0"/>
          </a:p>
        </p:txBody>
      </p:sp>
      <p:sp>
        <p:nvSpPr>
          <p:cNvPr id="4" name="Содержимое 3"/>
          <p:cNvSpPr>
            <a:spLocks noGrp="1"/>
          </p:cNvSpPr>
          <p:nvPr>
            <p:ph idx="1"/>
          </p:nvPr>
        </p:nvSpPr>
        <p:spPr>
          <a:xfrm>
            <a:off x="467544" y="881336"/>
            <a:ext cx="8229600" cy="5976664"/>
          </a:xfrm>
        </p:spPr>
        <p:txBody>
          <a:bodyPr>
            <a:normAutofit fontScale="55000" lnSpcReduction="20000"/>
          </a:bodyPr>
          <a:lstStyle/>
          <a:p>
            <a:pPr indent="0">
              <a:buNone/>
            </a:pPr>
            <a:r>
              <a:rPr lang="ru-RU" i="1" dirty="0" smtClean="0"/>
              <a:t>Правило 1. Напишите тест для проверки кода, который вы собираетесь написать</a:t>
            </a:r>
            <a:r>
              <a:rPr lang="ru-RU" dirty="0" smtClean="0"/>
              <a:t> </a:t>
            </a:r>
            <a:br>
              <a:rPr lang="ru-RU" dirty="0" smtClean="0"/>
            </a:br>
            <a:r>
              <a:rPr lang="ru-RU" dirty="0" smtClean="0"/>
              <a:t>Правило 1 — не высшая математика Ничего сложного для понимания</a:t>
            </a:r>
            <a:br>
              <a:rPr lang="ru-RU" dirty="0" smtClean="0"/>
            </a:br>
            <a:r>
              <a:rPr lang="ru-RU" dirty="0" smtClean="0"/>
              <a:t>в нем нет Если можно написать строку кода, то можно написать и тест,</a:t>
            </a:r>
            <a:br>
              <a:rPr lang="ru-RU" dirty="0" smtClean="0"/>
            </a:br>
            <a:r>
              <a:rPr lang="ru-RU" dirty="0" smtClean="0"/>
              <a:t>который будет ее проверять И ничто не мешает написать его первым</a:t>
            </a:r>
            <a:br>
              <a:rPr lang="ru-RU" dirty="0" smtClean="0"/>
            </a:br>
            <a:r>
              <a:rPr lang="ru-RU" dirty="0" smtClean="0"/>
              <a:t>Так и сделаем: </a:t>
            </a:r>
            <a:br>
              <a:rPr lang="ru-RU" dirty="0" smtClean="0"/>
            </a:br>
            <a:r>
              <a:rPr lang="ru-RU" dirty="0" smtClean="0"/>
              <a:t/>
            </a:r>
            <a:br>
              <a:rPr lang="ru-RU" dirty="0" smtClean="0"/>
            </a:br>
            <a:endParaRPr lang="en-US" dirty="0" smtClean="0"/>
          </a:p>
          <a:p>
            <a:pPr indent="0">
              <a:buNone/>
            </a:pPr>
            <a:r>
              <a:rPr lang="en-US" dirty="0" smtClean="0"/>
              <a:t>public class </a:t>
            </a:r>
            <a:r>
              <a:rPr lang="en-US" dirty="0" err="1" smtClean="0"/>
              <a:t>StackTest</a:t>
            </a:r>
            <a:r>
              <a:rPr lang="en-US" dirty="0" smtClean="0"/>
              <a:t> {</a:t>
            </a:r>
            <a:br>
              <a:rPr lang="en-US" dirty="0" smtClean="0"/>
            </a:br>
            <a:r>
              <a:rPr lang="en-US" dirty="0" smtClean="0"/>
              <a:t>@Test</a:t>
            </a:r>
            <a:br>
              <a:rPr lang="en-US" dirty="0" smtClean="0"/>
            </a:br>
            <a:r>
              <a:rPr lang="en-US" dirty="0" smtClean="0"/>
              <a:t>public void </a:t>
            </a:r>
            <a:r>
              <a:rPr lang="en-US" b="1" dirty="0" err="1" smtClean="0"/>
              <a:t>canCreateStack</a:t>
            </a:r>
            <a:r>
              <a:rPr lang="en-US" b="1" dirty="0" smtClean="0"/>
              <a:t>() </a:t>
            </a:r>
            <a:r>
              <a:rPr lang="en-US" dirty="0" smtClean="0"/>
              <a:t>throws Exception {</a:t>
            </a:r>
            <a:br>
              <a:rPr lang="en-US" dirty="0" smtClean="0"/>
            </a:br>
            <a:r>
              <a:rPr lang="en-US" b="1" dirty="0" err="1" smtClean="0"/>
              <a:t>MyStack</a:t>
            </a:r>
            <a:r>
              <a:rPr lang="en-US" b="1" dirty="0" smtClean="0"/>
              <a:t> stack = new </a:t>
            </a:r>
            <a:r>
              <a:rPr lang="en-US" b="1" dirty="0" err="1" smtClean="0"/>
              <a:t>MyStack</a:t>
            </a:r>
            <a:r>
              <a:rPr lang="en-US" b="1" dirty="0" smtClean="0"/>
              <a:t>();</a:t>
            </a:r>
            <a:br>
              <a:rPr lang="en-US" b="1" dirty="0" smtClean="0"/>
            </a:br>
            <a:r>
              <a:rPr lang="en-US" dirty="0" smtClean="0"/>
              <a:t>}</a:t>
            </a:r>
            <a:br>
              <a:rPr lang="en-US" dirty="0" smtClean="0"/>
            </a:br>
            <a:r>
              <a:rPr lang="en-US" dirty="0" smtClean="0"/>
              <a:t>} </a:t>
            </a:r>
            <a:br>
              <a:rPr lang="en-US" dirty="0" smtClean="0"/>
            </a:br>
            <a:r>
              <a:rPr lang="en-US" dirty="0" smtClean="0"/>
              <a:t/>
            </a:r>
            <a:br>
              <a:rPr lang="en-US" dirty="0" smtClean="0"/>
            </a:br>
            <a:r>
              <a:rPr lang="ru-RU" dirty="0" smtClean="0"/>
              <a:t>Обратите внимание, что во фрагменте кода я дал тесту более описательное название Теперь в соответствии со вторым законом нужно</a:t>
            </a:r>
            <a:br>
              <a:rPr lang="ru-RU" dirty="0" smtClean="0"/>
            </a:br>
            <a:r>
              <a:rPr lang="ru-RU" dirty="0" smtClean="0"/>
              <a:t>создать стек, поскольку без этого код </a:t>
            </a:r>
            <a:r>
              <a:rPr lang="ru-RU" dirty="0" err="1" smtClean="0"/>
              <a:t>MyStack</a:t>
            </a:r>
            <a:r>
              <a:rPr lang="ru-RU" dirty="0" smtClean="0"/>
              <a:t> компилироваться не</a:t>
            </a:r>
            <a:br>
              <a:rPr lang="ru-RU" dirty="0" smtClean="0"/>
            </a:br>
            <a:r>
              <a:rPr lang="ru-RU" dirty="0" smtClean="0"/>
              <a:t>будет При этом нужно придерживаться третьего правила: не писать</a:t>
            </a:r>
            <a:br>
              <a:rPr lang="ru-RU" dirty="0" smtClean="0"/>
            </a:br>
            <a:r>
              <a:rPr lang="ru-RU" dirty="0" smtClean="0"/>
              <a:t>больше, чем требуется для прохождения теста: </a:t>
            </a:r>
            <a:br>
              <a:rPr lang="ru-RU" dirty="0" smtClean="0"/>
            </a:br>
            <a:r>
              <a:rPr lang="en-US" b="1" dirty="0" smtClean="0"/>
              <a:t>package stack;</a:t>
            </a:r>
            <a:br>
              <a:rPr lang="en-US" b="1" dirty="0" smtClean="0"/>
            </a:br>
            <a:r>
              <a:rPr lang="en-US" b="1" dirty="0" smtClean="0"/>
              <a:t>public class </a:t>
            </a:r>
            <a:r>
              <a:rPr lang="en-US" b="1" dirty="0" err="1" smtClean="0"/>
              <a:t>MyStack</a:t>
            </a:r>
            <a:r>
              <a:rPr lang="en-US" b="1" dirty="0" smtClean="0"/>
              <a:t> {</a:t>
            </a:r>
            <a:br>
              <a:rPr lang="en-US" b="1" dirty="0" smtClean="0"/>
            </a:br>
            <a:r>
              <a:rPr lang="en-US" b="1" dirty="0" smtClean="0"/>
              <a:t>}</a:t>
            </a:r>
            <a:r>
              <a:rPr lang="en-US" dirty="0" smtClean="0"/>
              <a:t> </a:t>
            </a:r>
            <a:br>
              <a:rPr lang="en-US" dirty="0" smtClean="0"/>
            </a:br>
            <a:r>
              <a:rPr lang="ru-RU" dirty="0" smtClean="0"/>
              <a:t/>
            </a:r>
            <a:br>
              <a:rPr lang="ru-RU" dirty="0" smtClean="0"/>
            </a:br>
            <a:endParaRPr lang="ru-RU" b="1" dirty="0" smtClean="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404664"/>
            <a:ext cx="8229600" cy="576064"/>
          </a:xfrm>
        </p:spPr>
        <p:txBody>
          <a:bodyPr>
            <a:normAutofit/>
          </a:bodyPr>
          <a:lstStyle/>
          <a:p>
            <a:r>
              <a:rPr lang="ru-RU" sz="2800" dirty="0" smtClean="0"/>
              <a:t>Пример </a:t>
            </a:r>
            <a:r>
              <a:rPr lang="en-US" sz="2800" dirty="0" smtClean="0"/>
              <a:t>TDD</a:t>
            </a:r>
            <a:endParaRPr lang="ru-RU" dirty="0"/>
          </a:p>
        </p:txBody>
      </p:sp>
      <p:sp>
        <p:nvSpPr>
          <p:cNvPr id="4" name="Содержимое 3"/>
          <p:cNvSpPr>
            <a:spLocks noGrp="1"/>
          </p:cNvSpPr>
          <p:nvPr>
            <p:ph idx="1"/>
          </p:nvPr>
        </p:nvSpPr>
        <p:spPr>
          <a:xfrm>
            <a:off x="467544" y="881336"/>
            <a:ext cx="8229600" cy="5976664"/>
          </a:xfrm>
        </p:spPr>
        <p:txBody>
          <a:bodyPr>
            <a:normAutofit fontScale="62500" lnSpcReduction="20000"/>
          </a:bodyPr>
          <a:lstStyle/>
          <a:p>
            <a:pPr indent="0">
              <a:buNone/>
            </a:pPr>
            <a:r>
              <a:rPr lang="ru-RU" i="1" dirty="0" smtClean="0"/>
              <a:t>Правило 2. Сделайте так, чтобы тест перестал проходить.</a:t>
            </a:r>
            <a:br>
              <a:rPr lang="ru-RU" i="1" dirty="0" smtClean="0"/>
            </a:br>
            <a:r>
              <a:rPr lang="ru-RU" i="1" dirty="0" smtClean="0"/>
              <a:t>Сделайте так, чтобы он снова начал проходить. Очистите код.</a:t>
            </a:r>
            <a:r>
              <a:rPr lang="ru-RU" dirty="0" smtClean="0"/>
              <a:t> </a:t>
            </a:r>
            <a:br>
              <a:rPr lang="ru-RU" dirty="0" smtClean="0"/>
            </a:br>
            <a:r>
              <a:rPr lang="ru-RU" dirty="0" smtClean="0"/>
              <a:t/>
            </a:r>
            <a:br>
              <a:rPr lang="ru-RU" dirty="0" smtClean="0"/>
            </a:br>
            <a:r>
              <a:rPr lang="ru-RU" dirty="0" smtClean="0"/>
              <a:t> Сначала пишем работающий код, не обращая внимания на его качество. Затем, благодаря наличию тестов, мы легко можем почистить этот код, сохранив его работоспособность. То есть на каждом витке цикла </a:t>
            </a:r>
            <a:r>
              <a:rPr lang="en-US" dirty="0" smtClean="0"/>
              <a:t>TDD</a:t>
            </a:r>
            <a:r>
              <a:rPr lang="ru-RU" dirty="0" smtClean="0"/>
              <a:t> мы пользуемся возможностью навести порядок в созданном собственными руками беспорядке. Вы могли заметить, что наш тест не утверждает никакого поведения. Он компилируется и проходит, но не дает информации о созданном нами стеке. </a:t>
            </a:r>
          </a:p>
          <a:p>
            <a:pPr indent="0">
              <a:buNone/>
            </a:pPr>
            <a:r>
              <a:rPr lang="ru-RU" dirty="0" smtClean="0"/>
              <a:t/>
            </a:r>
            <a:br>
              <a:rPr lang="ru-RU" dirty="0" smtClean="0"/>
            </a:br>
            <a:r>
              <a:rPr lang="en-US" dirty="0" smtClean="0"/>
              <a:t> public class </a:t>
            </a:r>
            <a:r>
              <a:rPr lang="en-US" dirty="0" err="1" smtClean="0"/>
              <a:t>StackTest</a:t>
            </a:r>
            <a:r>
              <a:rPr lang="en-US" dirty="0" smtClean="0"/>
              <a:t> {</a:t>
            </a:r>
            <a:br>
              <a:rPr lang="en-US" dirty="0" smtClean="0"/>
            </a:br>
            <a:r>
              <a:rPr lang="en-US" dirty="0" smtClean="0"/>
              <a:t>@Test</a:t>
            </a:r>
            <a:br>
              <a:rPr lang="en-US" dirty="0" smtClean="0"/>
            </a:br>
            <a:r>
              <a:rPr lang="en-US" dirty="0" smtClean="0"/>
              <a:t>public void </a:t>
            </a:r>
            <a:r>
              <a:rPr lang="en-US" dirty="0" err="1" smtClean="0"/>
              <a:t>canCreateStack</a:t>
            </a:r>
            <a:r>
              <a:rPr lang="en-US" dirty="0" smtClean="0"/>
              <a:t>() throws Exception {</a:t>
            </a:r>
            <a:br>
              <a:rPr lang="en-US" dirty="0" smtClean="0"/>
            </a:br>
            <a:r>
              <a:rPr lang="en-US" dirty="0" smtClean="0"/>
              <a:t>Stack </a:t>
            </a:r>
            <a:r>
              <a:rPr lang="en-US" dirty="0" err="1" smtClean="0"/>
              <a:t>stack</a:t>
            </a:r>
            <a:r>
              <a:rPr lang="en-US" dirty="0" smtClean="0"/>
              <a:t> = new Stack();</a:t>
            </a:r>
            <a:br>
              <a:rPr lang="en-US" dirty="0" smtClean="0"/>
            </a:br>
            <a:r>
              <a:rPr lang="en-US" dirty="0" err="1" smtClean="0"/>
              <a:t>assertTrue</a:t>
            </a:r>
            <a:r>
              <a:rPr lang="en-US" dirty="0" smtClean="0"/>
              <a:t>(</a:t>
            </a:r>
            <a:r>
              <a:rPr lang="en-US" b="1" dirty="0" err="1" smtClean="0"/>
              <a:t>stack.</a:t>
            </a:r>
            <a:r>
              <a:rPr lang="en-US" dirty="0" err="1" smtClean="0"/>
              <a:t>isEmpty</a:t>
            </a:r>
            <a:r>
              <a:rPr lang="en-US" b="1" dirty="0" smtClean="0"/>
              <a:t>());</a:t>
            </a:r>
            <a:br>
              <a:rPr lang="en-US" b="1" dirty="0" smtClean="0"/>
            </a:br>
            <a:r>
              <a:rPr lang="en-US" dirty="0" smtClean="0"/>
              <a:t>}</a:t>
            </a:r>
            <a:br>
              <a:rPr lang="en-US" dirty="0" smtClean="0"/>
            </a:br>
            <a:r>
              <a:rPr lang="en-US" dirty="0" smtClean="0"/>
              <a:t>}</a:t>
            </a:r>
            <a:br>
              <a:rPr lang="en-US" dirty="0" smtClean="0"/>
            </a:br>
            <a:r>
              <a:rPr lang="en-US" dirty="0" smtClean="0"/>
              <a:t/>
            </a:r>
            <a:br>
              <a:rPr lang="en-US" dirty="0" smtClean="0"/>
            </a:br>
            <a:r>
              <a:rPr lang="ru-RU" dirty="0" smtClean="0"/>
              <a:t/>
            </a:r>
            <a:br>
              <a:rPr lang="ru-RU" dirty="0" smtClean="0"/>
            </a:br>
            <a:endParaRPr lang="ru-RU" b="1" dirty="0" smtClean="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404664"/>
            <a:ext cx="8229600" cy="576064"/>
          </a:xfrm>
        </p:spPr>
        <p:txBody>
          <a:bodyPr>
            <a:normAutofit/>
          </a:bodyPr>
          <a:lstStyle/>
          <a:p>
            <a:r>
              <a:rPr lang="ru-RU" sz="2800" dirty="0" smtClean="0"/>
              <a:t>Пример </a:t>
            </a:r>
            <a:r>
              <a:rPr lang="en-US" sz="2800" dirty="0" smtClean="0"/>
              <a:t>TDD</a:t>
            </a:r>
            <a:endParaRPr lang="ru-RU" dirty="0"/>
          </a:p>
        </p:txBody>
      </p:sp>
      <p:sp>
        <p:nvSpPr>
          <p:cNvPr id="4" name="Содержимое 3"/>
          <p:cNvSpPr>
            <a:spLocks noGrp="1"/>
          </p:cNvSpPr>
          <p:nvPr>
            <p:ph idx="1"/>
          </p:nvPr>
        </p:nvSpPr>
        <p:spPr>
          <a:xfrm>
            <a:off x="467544" y="881336"/>
            <a:ext cx="8229600" cy="5976664"/>
          </a:xfrm>
        </p:spPr>
        <p:txBody>
          <a:bodyPr>
            <a:normAutofit fontScale="62500" lnSpcReduction="20000"/>
          </a:bodyPr>
          <a:lstStyle/>
          <a:p>
            <a:pPr indent="0">
              <a:buNone/>
            </a:pPr>
            <a:r>
              <a:rPr lang="ru-RU" i="1" dirty="0" smtClean="0"/>
              <a:t>Правило 2. Сделайте так, чтобы тест перестал проходить.</a:t>
            </a:r>
            <a:br>
              <a:rPr lang="ru-RU" i="1" dirty="0" smtClean="0"/>
            </a:br>
            <a:r>
              <a:rPr lang="ru-RU" i="1" dirty="0" smtClean="0"/>
              <a:t>Сделайте так, чтобы он снова начал проходить. Очистите код.</a:t>
            </a:r>
            <a:r>
              <a:rPr lang="ru-RU" dirty="0" smtClean="0"/>
              <a:t> </a:t>
            </a:r>
            <a:br>
              <a:rPr lang="ru-RU" dirty="0" smtClean="0"/>
            </a:br>
            <a:r>
              <a:rPr lang="ru-RU" dirty="0" smtClean="0"/>
              <a:t/>
            </a:r>
            <a:br>
              <a:rPr lang="ru-RU" dirty="0" smtClean="0"/>
            </a:br>
            <a:r>
              <a:rPr lang="ru-RU" dirty="0" smtClean="0"/>
              <a:t> Здесь вступает в дело второй закон, и нам нужно скомпилировать</a:t>
            </a:r>
            <a:br>
              <a:rPr lang="ru-RU" dirty="0" smtClean="0"/>
            </a:br>
            <a:r>
              <a:rPr lang="ru-RU" dirty="0" smtClean="0"/>
              <a:t>этот код:</a:t>
            </a:r>
            <a:br>
              <a:rPr lang="ru-RU" dirty="0" smtClean="0"/>
            </a:br>
            <a:r>
              <a:rPr lang="en-US" dirty="0" smtClean="0"/>
              <a:t/>
            </a:r>
            <a:br>
              <a:rPr lang="en-US" dirty="0" smtClean="0"/>
            </a:br>
            <a:r>
              <a:rPr lang="en-US" b="1" dirty="0" smtClean="0"/>
              <a:t>import static </a:t>
            </a:r>
            <a:r>
              <a:rPr lang="en-US" b="1" dirty="0" err="1" smtClean="0"/>
              <a:t>junit.framework.TestCase.assertTrue</a:t>
            </a:r>
            <a:r>
              <a:rPr lang="en-US" b="1" dirty="0" smtClean="0"/>
              <a:t>;</a:t>
            </a:r>
            <a:br>
              <a:rPr lang="en-US" b="1" dirty="0" smtClean="0"/>
            </a:br>
            <a:r>
              <a:rPr lang="en-US" dirty="0" smtClean="0"/>
              <a:t>public class </a:t>
            </a:r>
            <a:r>
              <a:rPr lang="en-US" dirty="0" err="1" smtClean="0"/>
              <a:t>StackTest</a:t>
            </a:r>
            <a:r>
              <a:rPr lang="en-US" dirty="0" smtClean="0"/>
              <a:t> {</a:t>
            </a:r>
            <a:br>
              <a:rPr lang="en-US" dirty="0" smtClean="0"/>
            </a:br>
            <a:r>
              <a:rPr lang="en-US" dirty="0" smtClean="0"/>
              <a:t>@Test</a:t>
            </a:r>
            <a:br>
              <a:rPr lang="en-US" dirty="0" smtClean="0"/>
            </a:br>
            <a:r>
              <a:rPr lang="en-US" dirty="0" smtClean="0"/>
              <a:t>public void </a:t>
            </a:r>
            <a:r>
              <a:rPr lang="en-US" dirty="0" err="1" smtClean="0"/>
              <a:t>canCreateStack</a:t>
            </a:r>
            <a:r>
              <a:rPr lang="en-US" dirty="0" smtClean="0"/>
              <a:t>() throws Exception {</a:t>
            </a:r>
            <a:br>
              <a:rPr lang="en-US" dirty="0" smtClean="0"/>
            </a:br>
            <a:r>
              <a:rPr lang="en-US" dirty="0" smtClean="0"/>
              <a:t>Stack </a:t>
            </a:r>
            <a:r>
              <a:rPr lang="en-US" dirty="0" err="1" smtClean="0"/>
              <a:t>stack</a:t>
            </a:r>
            <a:r>
              <a:rPr lang="en-US" dirty="0" smtClean="0"/>
              <a:t> = new Stack();</a:t>
            </a:r>
            <a:br>
              <a:rPr lang="en-US" dirty="0" smtClean="0"/>
            </a:br>
            <a:r>
              <a:rPr lang="en-US" dirty="0" err="1" smtClean="0"/>
              <a:t>assertTrue</a:t>
            </a:r>
            <a:r>
              <a:rPr lang="en-US" dirty="0" smtClean="0"/>
              <a:t>(</a:t>
            </a:r>
            <a:r>
              <a:rPr lang="en-US" dirty="0" err="1" smtClean="0"/>
              <a:t>stack.isEmpty</a:t>
            </a:r>
            <a:r>
              <a:rPr lang="en-US" dirty="0" smtClean="0"/>
              <a:t>());</a:t>
            </a:r>
            <a:br>
              <a:rPr lang="en-US" dirty="0" smtClean="0"/>
            </a:br>
            <a:r>
              <a:rPr lang="en-US" dirty="0" smtClean="0"/>
              <a:t>}</a:t>
            </a:r>
            <a:br>
              <a:rPr lang="en-US" dirty="0" smtClean="0"/>
            </a:br>
            <a:r>
              <a:rPr lang="en-US" dirty="0" smtClean="0"/>
              <a:t>}</a:t>
            </a:r>
            <a:br>
              <a:rPr lang="en-US" dirty="0" smtClean="0"/>
            </a:br>
            <a:r>
              <a:rPr lang="en-US" dirty="0" smtClean="0"/>
              <a:t/>
            </a:r>
            <a:br>
              <a:rPr lang="en-US" dirty="0" smtClean="0"/>
            </a:br>
            <a:r>
              <a:rPr lang="en-US" dirty="0" smtClean="0"/>
              <a:t>public class Stack {</a:t>
            </a:r>
            <a:br>
              <a:rPr lang="en-US" dirty="0" smtClean="0"/>
            </a:br>
            <a:r>
              <a:rPr lang="en-US" b="1" dirty="0" smtClean="0"/>
              <a:t>public </a:t>
            </a:r>
            <a:r>
              <a:rPr lang="en-US" b="1" dirty="0" err="1" smtClean="0"/>
              <a:t>boolean</a:t>
            </a:r>
            <a:r>
              <a:rPr lang="en-US" b="1" dirty="0" smtClean="0"/>
              <a:t> </a:t>
            </a:r>
            <a:r>
              <a:rPr lang="en-US" b="1" dirty="0" err="1" smtClean="0"/>
              <a:t>isEmpty</a:t>
            </a:r>
            <a:r>
              <a:rPr lang="en-US" b="1" dirty="0" smtClean="0"/>
              <a:t>() {</a:t>
            </a:r>
            <a:br>
              <a:rPr lang="en-US" b="1" dirty="0" smtClean="0"/>
            </a:br>
            <a:r>
              <a:rPr lang="en-US" b="1" dirty="0" smtClean="0"/>
              <a:t>return false;</a:t>
            </a:r>
            <a:br>
              <a:rPr lang="en-US" b="1" dirty="0" smtClean="0"/>
            </a:br>
            <a:r>
              <a:rPr lang="en-US" dirty="0" smtClean="0"/>
              <a:t>}</a:t>
            </a:r>
            <a:br>
              <a:rPr lang="en-US" dirty="0" smtClean="0"/>
            </a:br>
            <a:r>
              <a:rPr lang="en-US" dirty="0" smtClean="0"/>
              <a:t>} </a:t>
            </a:r>
            <a:br>
              <a:rPr lang="en-US" dirty="0" smtClean="0"/>
            </a:br>
            <a:r>
              <a:rPr lang="en-US" dirty="0" smtClean="0"/>
              <a:t> </a:t>
            </a:r>
            <a:br>
              <a:rPr lang="en-US" dirty="0" smtClean="0"/>
            </a:br>
            <a:r>
              <a:rPr lang="en-US" dirty="0" smtClean="0"/>
              <a:t/>
            </a:r>
            <a:br>
              <a:rPr lang="en-US" dirty="0" smtClean="0"/>
            </a:br>
            <a:r>
              <a:rPr lang="ru-RU" dirty="0" smtClean="0"/>
              <a:t/>
            </a:r>
            <a:br>
              <a:rPr lang="ru-RU" dirty="0" smtClean="0"/>
            </a:br>
            <a:endParaRPr lang="ru-RU" b="1" dirty="0" smtClean="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404664"/>
            <a:ext cx="8229600" cy="576064"/>
          </a:xfrm>
        </p:spPr>
        <p:txBody>
          <a:bodyPr>
            <a:normAutofit/>
          </a:bodyPr>
          <a:lstStyle/>
          <a:p>
            <a:r>
              <a:rPr lang="ru-RU" sz="2800" dirty="0" smtClean="0"/>
              <a:t>Пример </a:t>
            </a:r>
            <a:r>
              <a:rPr lang="en-US" sz="2800" dirty="0" smtClean="0"/>
              <a:t>TDD</a:t>
            </a:r>
            <a:endParaRPr lang="ru-RU" dirty="0"/>
          </a:p>
        </p:txBody>
      </p:sp>
      <p:sp>
        <p:nvSpPr>
          <p:cNvPr id="4" name="Содержимое 3"/>
          <p:cNvSpPr>
            <a:spLocks noGrp="1"/>
          </p:cNvSpPr>
          <p:nvPr>
            <p:ph idx="1"/>
          </p:nvPr>
        </p:nvSpPr>
        <p:spPr>
          <a:xfrm>
            <a:off x="467544" y="881336"/>
            <a:ext cx="8229600" cy="5976664"/>
          </a:xfrm>
        </p:spPr>
        <p:txBody>
          <a:bodyPr>
            <a:normAutofit fontScale="62500" lnSpcReduction="20000"/>
          </a:bodyPr>
          <a:lstStyle/>
          <a:p>
            <a:pPr indent="0">
              <a:buNone/>
            </a:pPr>
            <a:r>
              <a:rPr lang="ru-RU" i="1" dirty="0" smtClean="0"/>
              <a:t>Правило 2. Сделайте так, чтобы тест перестал проходить.</a:t>
            </a:r>
            <a:br>
              <a:rPr lang="ru-RU" i="1" dirty="0" smtClean="0"/>
            </a:br>
            <a:r>
              <a:rPr lang="ru-RU" i="1" dirty="0" smtClean="0"/>
              <a:t>Сделайте так, чтобы он снова начал проходить. Очистите код.</a:t>
            </a:r>
            <a:r>
              <a:rPr lang="ru-RU" dirty="0" smtClean="0"/>
              <a:t> </a:t>
            </a:r>
            <a:br>
              <a:rPr lang="ru-RU" dirty="0" smtClean="0"/>
            </a:br>
            <a:r>
              <a:rPr lang="ru-RU" dirty="0" smtClean="0"/>
              <a:t/>
            </a:r>
            <a:br>
              <a:rPr lang="ru-RU" dirty="0" smtClean="0"/>
            </a:br>
            <a:r>
              <a:rPr lang="ru-RU" dirty="0" smtClean="0"/>
              <a:t> Двадцать пять секунд спустя тест компилируется, но проваливается</a:t>
            </a:r>
            <a:br>
              <a:rPr lang="ru-RU" dirty="0" smtClean="0"/>
            </a:br>
            <a:r>
              <a:rPr lang="ru-RU" dirty="0" smtClean="0"/>
              <a:t>Это сделано преднамеренно Я специально добавил утверждение</a:t>
            </a:r>
            <a:br>
              <a:rPr lang="ru-RU" dirty="0" smtClean="0"/>
            </a:br>
            <a:r>
              <a:rPr lang="ru-RU" dirty="0" err="1" smtClean="0"/>
              <a:t>isEmpty</a:t>
            </a:r>
            <a:r>
              <a:rPr lang="ru-RU" dirty="0" smtClean="0"/>
              <a:t>, возвращающее значение </a:t>
            </a:r>
            <a:r>
              <a:rPr lang="ru-RU" dirty="0" err="1" smtClean="0"/>
              <a:t>false</a:t>
            </a:r>
            <a:r>
              <a:rPr lang="ru-RU" dirty="0" smtClean="0"/>
              <a:t>, поскольку, согласно первому</a:t>
            </a:r>
            <a:br>
              <a:rPr lang="ru-RU" dirty="0" smtClean="0"/>
            </a:br>
            <a:r>
              <a:rPr lang="ru-RU" dirty="0" smtClean="0"/>
              <a:t>закону, тестирование должно окончиться неудачей Зачем это нужно?</a:t>
            </a:r>
            <a:br>
              <a:rPr lang="ru-RU" dirty="0" smtClean="0"/>
            </a:br>
            <a:r>
              <a:rPr lang="ru-RU" dirty="0" smtClean="0"/>
              <a:t>Чтобы убедиться, что в ситуациях, когда тест не должен проходить,</a:t>
            </a:r>
            <a:br>
              <a:rPr lang="ru-RU" dirty="0" smtClean="0"/>
            </a:br>
            <a:r>
              <a:rPr lang="ru-RU" dirty="0" smtClean="0"/>
              <a:t>все так и есть И мы наполовину проверили, как он работает Проверим вторую половину, изменив утверждение </a:t>
            </a:r>
            <a:r>
              <a:rPr lang="ru-RU" dirty="0" err="1" smtClean="0"/>
              <a:t>isEmpty</a:t>
            </a:r>
            <a:r>
              <a:rPr lang="ru-RU" dirty="0" smtClean="0"/>
              <a:t> таким образом,</a:t>
            </a:r>
            <a:br>
              <a:rPr lang="ru-RU" dirty="0" smtClean="0"/>
            </a:br>
            <a:r>
              <a:rPr lang="ru-RU" dirty="0" smtClean="0"/>
              <a:t>чтобы оно возвращало значение </a:t>
            </a:r>
            <a:r>
              <a:rPr lang="ru-RU" dirty="0" err="1" smtClean="0"/>
              <a:t>true</a:t>
            </a:r>
            <a:r>
              <a:rPr lang="ru-RU" dirty="0" smtClean="0"/>
              <a:t>:</a:t>
            </a:r>
            <a:br>
              <a:rPr lang="ru-RU" dirty="0" smtClean="0"/>
            </a:br>
            <a:endParaRPr lang="en-US" dirty="0" smtClean="0"/>
          </a:p>
          <a:p>
            <a:pPr indent="0">
              <a:buNone/>
            </a:pPr>
            <a:r>
              <a:rPr lang="ru-RU" dirty="0" smtClean="0"/>
              <a:t/>
            </a:r>
            <a:br>
              <a:rPr lang="ru-RU" dirty="0" smtClean="0"/>
            </a:br>
            <a:r>
              <a:rPr lang="ru-RU" dirty="0" err="1" smtClean="0"/>
              <a:t>public</a:t>
            </a:r>
            <a:r>
              <a:rPr lang="ru-RU" dirty="0" smtClean="0"/>
              <a:t> </a:t>
            </a:r>
            <a:r>
              <a:rPr lang="ru-RU" dirty="0" err="1" smtClean="0"/>
              <a:t>class</a:t>
            </a:r>
            <a:r>
              <a:rPr lang="ru-RU" dirty="0" smtClean="0"/>
              <a:t> </a:t>
            </a:r>
            <a:r>
              <a:rPr lang="ru-RU" dirty="0" err="1" smtClean="0"/>
              <a:t>Stack</a:t>
            </a:r>
            <a:r>
              <a:rPr lang="ru-RU" dirty="0" smtClean="0"/>
              <a:t> {</a:t>
            </a:r>
            <a:br>
              <a:rPr lang="ru-RU" dirty="0" smtClean="0"/>
            </a:br>
            <a:r>
              <a:rPr lang="ru-RU" dirty="0" err="1" smtClean="0"/>
              <a:t>public</a:t>
            </a:r>
            <a:r>
              <a:rPr lang="ru-RU" dirty="0" smtClean="0"/>
              <a:t> </a:t>
            </a:r>
            <a:r>
              <a:rPr lang="ru-RU" dirty="0" err="1" smtClean="0"/>
              <a:t>boolean</a:t>
            </a:r>
            <a:r>
              <a:rPr lang="ru-RU" dirty="0" smtClean="0"/>
              <a:t> </a:t>
            </a:r>
            <a:r>
              <a:rPr lang="ru-RU" dirty="0" err="1" smtClean="0"/>
              <a:t>isEmpty</a:t>
            </a:r>
            <a:r>
              <a:rPr lang="ru-RU" dirty="0" smtClean="0"/>
              <a:t>() {</a:t>
            </a:r>
            <a:br>
              <a:rPr lang="ru-RU" dirty="0" smtClean="0"/>
            </a:br>
            <a:r>
              <a:rPr lang="ru-RU" dirty="0" err="1" smtClean="0"/>
              <a:t>return</a:t>
            </a:r>
            <a:r>
              <a:rPr lang="ru-RU" dirty="0" smtClean="0"/>
              <a:t> </a:t>
            </a:r>
            <a:r>
              <a:rPr lang="ru-RU" b="1" dirty="0" err="1" smtClean="0"/>
              <a:t>true</a:t>
            </a:r>
            <a:r>
              <a:rPr lang="ru-RU" dirty="0" smtClean="0"/>
              <a:t>;</a:t>
            </a:r>
            <a:br>
              <a:rPr lang="ru-RU" dirty="0" smtClean="0"/>
            </a:br>
            <a:r>
              <a:rPr lang="ru-RU" dirty="0" smtClean="0"/>
              <a:t>}</a:t>
            </a:r>
            <a:br>
              <a:rPr lang="ru-RU" dirty="0" smtClean="0"/>
            </a:br>
            <a:r>
              <a:rPr lang="ru-RU" dirty="0" smtClean="0"/>
              <a:t>} </a:t>
            </a:r>
            <a:br>
              <a:rPr lang="ru-RU" dirty="0" smtClean="0"/>
            </a:br>
            <a:r>
              <a:rPr lang="ru-RU" dirty="0" smtClean="0"/>
              <a:t> </a:t>
            </a:r>
            <a:r>
              <a:rPr lang="en-US" dirty="0" smtClean="0"/>
              <a:t/>
            </a:r>
            <a:br>
              <a:rPr lang="en-US" dirty="0" smtClean="0"/>
            </a:br>
            <a:r>
              <a:rPr lang="en-US" dirty="0" smtClean="0"/>
              <a:t> </a:t>
            </a:r>
            <a:br>
              <a:rPr lang="en-US" dirty="0" smtClean="0"/>
            </a:br>
            <a:r>
              <a:rPr lang="en-US" dirty="0" smtClean="0"/>
              <a:t/>
            </a:r>
            <a:br>
              <a:rPr lang="en-US" dirty="0" smtClean="0"/>
            </a:br>
            <a:r>
              <a:rPr lang="ru-RU" dirty="0" smtClean="0"/>
              <a:t/>
            </a:r>
            <a:br>
              <a:rPr lang="ru-RU" dirty="0" smtClean="0"/>
            </a:br>
            <a:endParaRPr lang="ru-RU" b="1" dirty="0" smtClean="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404664"/>
            <a:ext cx="8229600" cy="576064"/>
          </a:xfrm>
        </p:spPr>
        <p:txBody>
          <a:bodyPr>
            <a:normAutofit/>
          </a:bodyPr>
          <a:lstStyle/>
          <a:p>
            <a:r>
              <a:rPr lang="ru-RU" sz="2800" dirty="0" smtClean="0"/>
              <a:t>Пример </a:t>
            </a:r>
            <a:r>
              <a:rPr lang="en-US" sz="2800" dirty="0" smtClean="0"/>
              <a:t>TDD</a:t>
            </a:r>
            <a:endParaRPr lang="ru-RU" dirty="0"/>
          </a:p>
        </p:txBody>
      </p:sp>
      <p:sp>
        <p:nvSpPr>
          <p:cNvPr id="4" name="Содержимое 3"/>
          <p:cNvSpPr>
            <a:spLocks noGrp="1"/>
          </p:cNvSpPr>
          <p:nvPr>
            <p:ph idx="1"/>
          </p:nvPr>
        </p:nvSpPr>
        <p:spPr>
          <a:xfrm>
            <a:off x="467544" y="881336"/>
            <a:ext cx="8229600" cy="5976664"/>
          </a:xfrm>
        </p:spPr>
        <p:txBody>
          <a:bodyPr>
            <a:normAutofit fontScale="62500" lnSpcReduction="20000"/>
          </a:bodyPr>
          <a:lstStyle/>
          <a:p>
            <a:pPr indent="0">
              <a:buNone/>
            </a:pPr>
            <a:r>
              <a:rPr lang="ru-RU" i="1" dirty="0" smtClean="0"/>
              <a:t>Правило 2. Сделайте так, чтобы тест перестал проходить.</a:t>
            </a:r>
            <a:br>
              <a:rPr lang="ru-RU" i="1" dirty="0" smtClean="0"/>
            </a:br>
            <a:r>
              <a:rPr lang="ru-RU" i="1" dirty="0" smtClean="0"/>
              <a:t>Сделайте так, чтобы он снова начал проходить. Очистите код.</a:t>
            </a:r>
            <a:r>
              <a:rPr lang="ru-RU" dirty="0" smtClean="0"/>
              <a:t> </a:t>
            </a:r>
            <a:br>
              <a:rPr lang="ru-RU" dirty="0" smtClean="0"/>
            </a:br>
            <a:r>
              <a:rPr lang="ru-RU" dirty="0" smtClean="0"/>
              <a:t/>
            </a:r>
            <a:br>
              <a:rPr lang="ru-RU" dirty="0" smtClean="0"/>
            </a:br>
            <a:r>
              <a:rPr lang="ru-RU" dirty="0" smtClean="0"/>
              <a:t> Что дальше? Мне нужно добавить функцию </a:t>
            </a:r>
            <a:r>
              <a:rPr lang="en-US" dirty="0" smtClean="0"/>
              <a:t>push, </a:t>
            </a:r>
            <a:r>
              <a:rPr lang="ru-RU" dirty="0" smtClean="0"/>
              <a:t>поэтому в соответствии с правилом 1 я напишу тест, который будет проверять ее работу:</a:t>
            </a:r>
            <a:br>
              <a:rPr lang="ru-RU" dirty="0" smtClean="0"/>
            </a:br>
            <a:r>
              <a:rPr lang="en-US" dirty="0" smtClean="0"/>
              <a:t/>
            </a:r>
            <a:br>
              <a:rPr lang="en-US" dirty="0" smtClean="0"/>
            </a:br>
            <a:r>
              <a:rPr lang="en-US" b="1" dirty="0" smtClean="0"/>
              <a:t>@Test</a:t>
            </a:r>
            <a:br>
              <a:rPr lang="en-US" b="1" dirty="0" smtClean="0"/>
            </a:br>
            <a:r>
              <a:rPr lang="en-US" b="1" dirty="0" smtClean="0"/>
              <a:t>public void </a:t>
            </a:r>
            <a:r>
              <a:rPr lang="en-US" b="1" dirty="0" err="1" smtClean="0"/>
              <a:t>canPush</a:t>
            </a:r>
            <a:r>
              <a:rPr lang="en-US" b="1" dirty="0" smtClean="0"/>
              <a:t>() throws Exception {</a:t>
            </a:r>
            <a:r>
              <a:rPr lang="en-US" dirty="0" smtClean="0"/>
              <a:t/>
            </a:r>
            <a:br>
              <a:rPr lang="en-US" dirty="0" smtClean="0"/>
            </a:br>
            <a:r>
              <a:rPr lang="ru-RU" b="1" dirty="0" smtClean="0"/>
              <a:t/>
            </a:r>
            <a:br>
              <a:rPr lang="ru-RU" b="1" dirty="0" smtClean="0"/>
            </a:br>
            <a:r>
              <a:rPr lang="en-US" b="1" dirty="0" smtClean="0"/>
              <a:t>Stack </a:t>
            </a:r>
            <a:r>
              <a:rPr lang="en-US" b="1" dirty="0" err="1" smtClean="0"/>
              <a:t>stack</a:t>
            </a:r>
            <a:r>
              <a:rPr lang="en-US" b="1" dirty="0" smtClean="0"/>
              <a:t> = new Stack();</a:t>
            </a:r>
            <a:br>
              <a:rPr lang="en-US" b="1" dirty="0" smtClean="0"/>
            </a:br>
            <a:r>
              <a:rPr lang="en-US" b="1" dirty="0" err="1" smtClean="0"/>
              <a:t>stack.push</a:t>
            </a:r>
            <a:r>
              <a:rPr lang="en-US" b="1" dirty="0" smtClean="0"/>
              <a:t>(0);</a:t>
            </a:r>
            <a:br>
              <a:rPr lang="en-US" b="1" dirty="0" smtClean="0"/>
            </a:br>
            <a:r>
              <a:rPr lang="en-US" dirty="0" smtClean="0"/>
              <a:t>}</a:t>
            </a:r>
            <a:br>
              <a:rPr lang="en-US" dirty="0" smtClean="0"/>
            </a:br>
            <a:r>
              <a:rPr lang="ru-RU" dirty="0" smtClean="0"/>
              <a:t>Тест не компилируется, значит, согласно второму закону нужно написать код, который заставит его компилироваться:</a:t>
            </a:r>
            <a:br>
              <a:rPr lang="ru-RU" dirty="0" smtClean="0"/>
            </a:br>
            <a:r>
              <a:rPr lang="en-US" dirty="0" smtClean="0"/>
              <a:t/>
            </a:r>
            <a:br>
              <a:rPr lang="en-US" dirty="0" smtClean="0"/>
            </a:br>
            <a:r>
              <a:rPr lang="en-US" b="1" dirty="0" smtClean="0"/>
              <a:t>public void push(</a:t>
            </a:r>
            <a:r>
              <a:rPr lang="en-US" b="1" dirty="0" err="1" smtClean="0"/>
              <a:t>int</a:t>
            </a:r>
            <a:r>
              <a:rPr lang="en-US" b="1" dirty="0" smtClean="0"/>
              <a:t> element) {</a:t>
            </a:r>
            <a:br>
              <a:rPr lang="en-US" b="1" dirty="0" smtClean="0"/>
            </a:br>
            <a:r>
              <a:rPr lang="en-US" b="1" dirty="0" smtClean="0"/>
              <a:t>}</a:t>
            </a:r>
            <a:br>
              <a:rPr lang="en-US" b="1" dirty="0" smtClean="0"/>
            </a:br>
            <a:r>
              <a:rPr lang="ru-RU" dirty="0" smtClean="0"/>
              <a:t/>
            </a:r>
            <a:br>
              <a:rPr lang="ru-RU" dirty="0" smtClean="0"/>
            </a:br>
            <a:r>
              <a:rPr lang="ru-RU" dirty="0" smtClean="0"/>
              <a:t> </a:t>
            </a:r>
            <a:r>
              <a:rPr lang="en-US" dirty="0" smtClean="0"/>
              <a:t/>
            </a:r>
            <a:br>
              <a:rPr lang="en-US" dirty="0" smtClean="0"/>
            </a:br>
            <a:r>
              <a:rPr lang="en-US" dirty="0" smtClean="0"/>
              <a:t> </a:t>
            </a:r>
            <a:br>
              <a:rPr lang="en-US" dirty="0" smtClean="0"/>
            </a:br>
            <a:r>
              <a:rPr lang="en-US" dirty="0" smtClean="0"/>
              <a:t/>
            </a:r>
            <a:br>
              <a:rPr lang="en-US" dirty="0" smtClean="0"/>
            </a:br>
            <a:r>
              <a:rPr lang="ru-RU" dirty="0" smtClean="0"/>
              <a:t/>
            </a:r>
            <a:br>
              <a:rPr lang="ru-RU" dirty="0" smtClean="0"/>
            </a:br>
            <a:endParaRPr lang="ru-RU" b="1" dirty="0" smtClean="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404664"/>
            <a:ext cx="8229600" cy="576064"/>
          </a:xfrm>
        </p:spPr>
        <p:txBody>
          <a:bodyPr>
            <a:normAutofit/>
          </a:bodyPr>
          <a:lstStyle/>
          <a:p>
            <a:r>
              <a:rPr lang="ru-RU" sz="2800" dirty="0" smtClean="0"/>
              <a:t>Пример </a:t>
            </a:r>
            <a:r>
              <a:rPr lang="en-US" sz="2800" dirty="0" smtClean="0"/>
              <a:t>TDD</a:t>
            </a:r>
            <a:endParaRPr lang="ru-RU" dirty="0"/>
          </a:p>
        </p:txBody>
      </p:sp>
      <p:sp>
        <p:nvSpPr>
          <p:cNvPr id="4" name="Содержимое 3"/>
          <p:cNvSpPr>
            <a:spLocks noGrp="1"/>
          </p:cNvSpPr>
          <p:nvPr>
            <p:ph idx="1"/>
          </p:nvPr>
        </p:nvSpPr>
        <p:spPr>
          <a:xfrm>
            <a:off x="467544" y="881336"/>
            <a:ext cx="8229600" cy="5976664"/>
          </a:xfrm>
        </p:spPr>
        <p:txBody>
          <a:bodyPr>
            <a:normAutofit fontScale="62500" lnSpcReduction="20000"/>
          </a:bodyPr>
          <a:lstStyle/>
          <a:p>
            <a:pPr indent="0">
              <a:buNone/>
            </a:pPr>
            <a:r>
              <a:rPr lang="ru-RU" i="1" dirty="0" smtClean="0"/>
              <a:t>Правило 2. Сделайте так, чтобы тест перестал проходить.</a:t>
            </a:r>
            <a:br>
              <a:rPr lang="ru-RU" i="1" dirty="0" smtClean="0"/>
            </a:br>
            <a:r>
              <a:rPr lang="ru-RU" i="1" dirty="0" smtClean="0"/>
              <a:t>Сделайте так, чтобы он снова начал проходить. Очистите код.</a:t>
            </a:r>
            <a:r>
              <a:rPr lang="ru-RU" dirty="0" smtClean="0"/>
              <a:t> </a:t>
            </a:r>
            <a:br>
              <a:rPr lang="ru-RU" dirty="0" smtClean="0"/>
            </a:br>
            <a:r>
              <a:rPr lang="ru-RU" dirty="0" smtClean="0"/>
              <a:t/>
            </a:r>
            <a:br>
              <a:rPr lang="ru-RU" dirty="0" smtClean="0"/>
            </a:br>
            <a:r>
              <a:rPr lang="ru-RU" dirty="0" smtClean="0"/>
              <a:t> Теперь тест компилируется, но в нем отсутствует утверждение Поэтому нужно добавить предикат, что после однократного применения</a:t>
            </a:r>
            <a:br>
              <a:rPr lang="ru-RU" dirty="0" smtClean="0"/>
            </a:br>
            <a:r>
              <a:rPr lang="ru-RU" dirty="0" smtClean="0"/>
              <a:t>метода </a:t>
            </a:r>
            <a:r>
              <a:rPr lang="en-US" dirty="0" smtClean="0"/>
              <a:t>push </a:t>
            </a:r>
            <a:r>
              <a:rPr lang="ru-RU" dirty="0" smtClean="0"/>
              <a:t>стек перестает быть пустым:</a:t>
            </a:r>
            <a:br>
              <a:rPr lang="ru-RU" dirty="0" smtClean="0"/>
            </a:br>
            <a:r>
              <a:rPr lang="en-US" dirty="0" smtClean="0"/>
              <a:t/>
            </a:r>
            <a:br>
              <a:rPr lang="en-US" dirty="0" smtClean="0"/>
            </a:br>
            <a:r>
              <a:rPr lang="en-US" dirty="0" smtClean="0"/>
              <a:t>@Test</a:t>
            </a:r>
            <a:br>
              <a:rPr lang="en-US" dirty="0" smtClean="0"/>
            </a:br>
            <a:r>
              <a:rPr lang="en-US" dirty="0" smtClean="0"/>
              <a:t>public void </a:t>
            </a:r>
            <a:r>
              <a:rPr lang="en-US" dirty="0" err="1" smtClean="0"/>
              <a:t>canPush</a:t>
            </a:r>
            <a:r>
              <a:rPr lang="en-US" dirty="0" smtClean="0"/>
              <a:t>() throws Exception {</a:t>
            </a:r>
            <a:br>
              <a:rPr lang="en-US" dirty="0" smtClean="0"/>
            </a:br>
            <a:r>
              <a:rPr lang="en-US" dirty="0" smtClean="0"/>
              <a:t>Stack </a:t>
            </a:r>
            <a:r>
              <a:rPr lang="en-US" dirty="0" err="1" smtClean="0"/>
              <a:t>stack</a:t>
            </a:r>
            <a:r>
              <a:rPr lang="en-US" dirty="0" smtClean="0"/>
              <a:t> = new Stack();</a:t>
            </a:r>
            <a:br>
              <a:rPr lang="en-US" dirty="0" smtClean="0"/>
            </a:br>
            <a:r>
              <a:rPr lang="en-US" dirty="0" err="1" smtClean="0"/>
              <a:t>stack.push</a:t>
            </a:r>
            <a:r>
              <a:rPr lang="en-US" dirty="0" smtClean="0"/>
              <a:t>(0);</a:t>
            </a:r>
            <a:br>
              <a:rPr lang="en-US" dirty="0" smtClean="0"/>
            </a:br>
            <a:r>
              <a:rPr lang="en-US" b="1" dirty="0" err="1" smtClean="0"/>
              <a:t>assertFalse</a:t>
            </a:r>
            <a:r>
              <a:rPr lang="en-US" b="1" dirty="0" smtClean="0"/>
              <a:t>(</a:t>
            </a:r>
            <a:r>
              <a:rPr lang="en-US" b="1" dirty="0" err="1" smtClean="0"/>
              <a:t>stack.isEmpty</a:t>
            </a:r>
            <a:r>
              <a:rPr lang="en-US" b="1" dirty="0" smtClean="0"/>
              <a:t>());</a:t>
            </a:r>
            <a:br>
              <a:rPr lang="en-US" b="1" dirty="0" smtClean="0"/>
            </a:br>
            <a:r>
              <a:rPr lang="en-US" dirty="0" smtClean="0"/>
              <a:t>} </a:t>
            </a:r>
            <a:br>
              <a:rPr lang="en-US" dirty="0" smtClean="0"/>
            </a:br>
            <a:r>
              <a:rPr lang="en-US" dirty="0" smtClean="0"/>
              <a:t> </a:t>
            </a:r>
            <a:r>
              <a:rPr lang="en-US" b="1" dirty="0" smtClean="0"/>
              <a:t/>
            </a:r>
            <a:br>
              <a:rPr lang="en-US" b="1" dirty="0" smtClean="0"/>
            </a:br>
            <a:r>
              <a:rPr lang="ru-RU" dirty="0" smtClean="0"/>
              <a:t/>
            </a:r>
            <a:br>
              <a:rPr lang="ru-RU" dirty="0" smtClean="0"/>
            </a:br>
            <a:r>
              <a:rPr lang="ru-RU" dirty="0" smtClean="0"/>
              <a:t> </a:t>
            </a:r>
            <a:r>
              <a:rPr lang="en-US" dirty="0" smtClean="0"/>
              <a:t/>
            </a:r>
            <a:br>
              <a:rPr lang="en-US" dirty="0" smtClean="0"/>
            </a:br>
            <a:r>
              <a:rPr lang="en-US" dirty="0" smtClean="0"/>
              <a:t> </a:t>
            </a:r>
            <a:br>
              <a:rPr lang="en-US" dirty="0" smtClean="0"/>
            </a:br>
            <a:r>
              <a:rPr lang="en-US" dirty="0" smtClean="0"/>
              <a:t/>
            </a:r>
            <a:br>
              <a:rPr lang="en-US" dirty="0" smtClean="0"/>
            </a:br>
            <a:r>
              <a:rPr lang="ru-RU" dirty="0" smtClean="0"/>
              <a:t/>
            </a:r>
            <a:br>
              <a:rPr lang="ru-RU" dirty="0" smtClean="0"/>
            </a:br>
            <a:endParaRPr lang="ru-RU" b="1" dirty="0" smtClean="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404664"/>
            <a:ext cx="8229600" cy="576064"/>
          </a:xfrm>
        </p:spPr>
        <p:txBody>
          <a:bodyPr>
            <a:normAutofit/>
          </a:bodyPr>
          <a:lstStyle/>
          <a:p>
            <a:r>
              <a:rPr lang="ru-RU" sz="2800" dirty="0" smtClean="0"/>
              <a:t>Пример </a:t>
            </a:r>
            <a:r>
              <a:rPr lang="en-US" sz="2800" dirty="0" smtClean="0"/>
              <a:t>TDD</a:t>
            </a:r>
            <a:endParaRPr lang="ru-RU" dirty="0"/>
          </a:p>
        </p:txBody>
      </p:sp>
      <p:sp>
        <p:nvSpPr>
          <p:cNvPr id="4" name="Содержимое 3"/>
          <p:cNvSpPr>
            <a:spLocks noGrp="1"/>
          </p:cNvSpPr>
          <p:nvPr>
            <p:ph idx="1"/>
          </p:nvPr>
        </p:nvSpPr>
        <p:spPr>
          <a:xfrm>
            <a:off x="467544" y="881336"/>
            <a:ext cx="8229600" cy="6796136"/>
          </a:xfrm>
        </p:spPr>
        <p:txBody>
          <a:bodyPr>
            <a:normAutofit fontScale="62500" lnSpcReduction="20000"/>
          </a:bodyPr>
          <a:lstStyle/>
          <a:p>
            <a:pPr indent="0">
              <a:buNone/>
            </a:pPr>
            <a:r>
              <a:rPr lang="ru-RU" i="1" dirty="0" smtClean="0"/>
              <a:t>Правило 2. Сделайте так, чтобы тест перестал проходить.</a:t>
            </a:r>
            <a:br>
              <a:rPr lang="ru-RU" i="1" dirty="0" smtClean="0"/>
            </a:br>
            <a:r>
              <a:rPr lang="ru-RU" i="1" dirty="0" smtClean="0"/>
              <a:t>Сделайте так, чтобы он снова начал проходить. Очистите код.</a:t>
            </a:r>
            <a:r>
              <a:rPr lang="ru-RU" dirty="0" smtClean="0"/>
              <a:t> </a:t>
            </a:r>
            <a:br>
              <a:rPr lang="ru-RU" dirty="0" smtClean="0"/>
            </a:br>
            <a:r>
              <a:rPr lang="ru-RU" dirty="0" smtClean="0"/>
              <a:t/>
            </a:r>
            <a:br>
              <a:rPr lang="ru-RU" dirty="0" smtClean="0"/>
            </a:br>
            <a:r>
              <a:rPr lang="ru-RU" dirty="0" smtClean="0"/>
              <a:t> Разумеется, такой тест не пройдет, поскольку метод </a:t>
            </a:r>
            <a:r>
              <a:rPr lang="en-US" dirty="0" err="1" smtClean="0"/>
              <a:t>isEmpty</a:t>
            </a:r>
            <a:r>
              <a:rPr lang="en-US" dirty="0" smtClean="0"/>
              <a:t> </a:t>
            </a:r>
            <a:r>
              <a:rPr lang="ru-RU" dirty="0" smtClean="0"/>
              <a:t>возвращает значение </a:t>
            </a:r>
            <a:r>
              <a:rPr lang="en-US" dirty="0" smtClean="0"/>
              <a:t>true </a:t>
            </a:r>
            <a:r>
              <a:rPr lang="ru-RU" dirty="0" smtClean="0"/>
              <a:t>Нужна более интеллектуальная проверка, например,</a:t>
            </a:r>
            <a:br>
              <a:rPr lang="ru-RU" dirty="0" smtClean="0"/>
            </a:br>
            <a:r>
              <a:rPr lang="ru-RU" dirty="0" smtClean="0"/>
              <a:t>добавим для отслеживания пустоты стека логический флаг:</a:t>
            </a:r>
            <a:br>
              <a:rPr lang="ru-RU" dirty="0" smtClean="0"/>
            </a:br>
            <a:r>
              <a:rPr lang="en-US" dirty="0" smtClean="0"/>
              <a:t/>
            </a:r>
            <a:br>
              <a:rPr lang="en-US" dirty="0" smtClean="0"/>
            </a:br>
            <a:r>
              <a:rPr lang="en-US" dirty="0" smtClean="0"/>
              <a:t>public class Stack {</a:t>
            </a:r>
            <a:br>
              <a:rPr lang="en-US" dirty="0" smtClean="0"/>
            </a:br>
            <a:r>
              <a:rPr lang="en-US" b="1" dirty="0" smtClean="0"/>
              <a:t>private </a:t>
            </a:r>
            <a:r>
              <a:rPr lang="en-US" b="1" dirty="0" err="1" smtClean="0"/>
              <a:t>boolean</a:t>
            </a:r>
            <a:r>
              <a:rPr lang="en-US" b="1" dirty="0" smtClean="0"/>
              <a:t> empty = true;</a:t>
            </a:r>
            <a:br>
              <a:rPr lang="en-US" b="1" dirty="0" smtClean="0"/>
            </a:br>
            <a:r>
              <a:rPr lang="en-US" dirty="0" smtClean="0"/>
              <a:t>public </a:t>
            </a:r>
            <a:r>
              <a:rPr lang="en-US" dirty="0" err="1" smtClean="0"/>
              <a:t>boolean</a:t>
            </a:r>
            <a:r>
              <a:rPr lang="en-US" dirty="0" smtClean="0"/>
              <a:t> </a:t>
            </a:r>
            <a:r>
              <a:rPr lang="en-US" dirty="0" err="1" smtClean="0"/>
              <a:t>isEmpty</a:t>
            </a:r>
            <a:r>
              <a:rPr lang="en-US" dirty="0" smtClean="0"/>
              <a:t>() {</a:t>
            </a:r>
            <a:br>
              <a:rPr lang="en-US" dirty="0" smtClean="0"/>
            </a:br>
            <a:r>
              <a:rPr lang="en-US" dirty="0" smtClean="0"/>
              <a:t>return </a:t>
            </a:r>
            <a:r>
              <a:rPr lang="en-US" b="1" dirty="0" smtClean="0"/>
              <a:t>empty</a:t>
            </a:r>
            <a:r>
              <a:rPr lang="en-US" dirty="0" smtClean="0"/>
              <a:t>;</a:t>
            </a:r>
            <a:br>
              <a:rPr lang="en-US" dirty="0" smtClean="0"/>
            </a:br>
            <a:r>
              <a:rPr lang="en-US" dirty="0" smtClean="0"/>
              <a:t>}</a:t>
            </a:r>
            <a:br>
              <a:rPr lang="en-US" dirty="0" smtClean="0"/>
            </a:br>
            <a:r>
              <a:rPr lang="en-US" dirty="0" smtClean="0"/>
              <a:t>public void push(</a:t>
            </a:r>
            <a:r>
              <a:rPr lang="en-US" dirty="0" err="1" smtClean="0"/>
              <a:t>int</a:t>
            </a:r>
            <a:r>
              <a:rPr lang="en-US" dirty="0" smtClean="0"/>
              <a:t> element) {</a:t>
            </a:r>
            <a:br>
              <a:rPr lang="en-US" dirty="0" smtClean="0"/>
            </a:br>
            <a:r>
              <a:rPr lang="en-US" b="1" dirty="0" smtClean="0"/>
              <a:t>empty=false;</a:t>
            </a:r>
            <a:br>
              <a:rPr lang="en-US" b="1" dirty="0" smtClean="0"/>
            </a:br>
            <a:r>
              <a:rPr lang="en-US" dirty="0" smtClean="0"/>
              <a:t>}</a:t>
            </a:r>
            <a:br>
              <a:rPr lang="en-US" dirty="0" smtClean="0"/>
            </a:br>
            <a:r>
              <a:rPr lang="en-US" dirty="0" smtClean="0"/>
              <a:t>} </a:t>
            </a:r>
            <a:br>
              <a:rPr lang="en-US" dirty="0" smtClean="0"/>
            </a:br>
            <a:r>
              <a:rPr lang="en-US" dirty="0" smtClean="0"/>
              <a:t/>
            </a:r>
            <a:br>
              <a:rPr lang="en-US" dirty="0" smtClean="0"/>
            </a:br>
            <a:r>
              <a:rPr lang="en-US" dirty="0" smtClean="0"/>
              <a:t> </a:t>
            </a:r>
            <a:r>
              <a:rPr lang="en-US" b="1" dirty="0" smtClean="0"/>
              <a:t/>
            </a:r>
            <a:br>
              <a:rPr lang="en-US" b="1" dirty="0" smtClean="0"/>
            </a:br>
            <a:r>
              <a:rPr lang="ru-RU" dirty="0" smtClean="0"/>
              <a:t/>
            </a:r>
            <a:br>
              <a:rPr lang="ru-RU" dirty="0" smtClean="0"/>
            </a:br>
            <a:r>
              <a:rPr lang="ru-RU" dirty="0" smtClean="0"/>
              <a:t> </a:t>
            </a:r>
            <a:r>
              <a:rPr lang="en-US" dirty="0" smtClean="0"/>
              <a:t/>
            </a:r>
            <a:br>
              <a:rPr lang="en-US" dirty="0" smtClean="0"/>
            </a:br>
            <a:r>
              <a:rPr lang="en-US" dirty="0" smtClean="0"/>
              <a:t> </a:t>
            </a:r>
            <a:br>
              <a:rPr lang="en-US" dirty="0" smtClean="0"/>
            </a:br>
            <a:r>
              <a:rPr lang="en-US" dirty="0" smtClean="0"/>
              <a:t/>
            </a:r>
            <a:br>
              <a:rPr lang="en-US" dirty="0" smtClean="0"/>
            </a:br>
            <a:r>
              <a:rPr lang="ru-RU" dirty="0" smtClean="0"/>
              <a:t/>
            </a:r>
            <a:br>
              <a:rPr lang="ru-RU" dirty="0" smtClean="0"/>
            </a:br>
            <a:endParaRPr lang="ru-RU" b="1" dirty="0" smtClean="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404664"/>
            <a:ext cx="8229600" cy="576064"/>
          </a:xfrm>
        </p:spPr>
        <p:txBody>
          <a:bodyPr>
            <a:normAutofit/>
          </a:bodyPr>
          <a:lstStyle/>
          <a:p>
            <a:r>
              <a:rPr lang="ru-RU" sz="2800" dirty="0" smtClean="0"/>
              <a:t>Пример </a:t>
            </a:r>
            <a:r>
              <a:rPr lang="en-US" sz="2800" dirty="0" smtClean="0"/>
              <a:t>TDD</a:t>
            </a:r>
            <a:endParaRPr lang="ru-RU" dirty="0"/>
          </a:p>
        </p:txBody>
      </p:sp>
      <p:sp>
        <p:nvSpPr>
          <p:cNvPr id="4" name="Содержимое 3"/>
          <p:cNvSpPr>
            <a:spLocks noGrp="1"/>
          </p:cNvSpPr>
          <p:nvPr>
            <p:ph idx="1"/>
          </p:nvPr>
        </p:nvSpPr>
        <p:spPr>
          <a:xfrm>
            <a:off x="467544" y="881336"/>
            <a:ext cx="8229600" cy="6796136"/>
          </a:xfrm>
        </p:spPr>
        <p:txBody>
          <a:bodyPr>
            <a:normAutofit fontScale="47500" lnSpcReduction="20000"/>
          </a:bodyPr>
          <a:lstStyle/>
          <a:p>
            <a:pPr indent="0">
              <a:buNone/>
            </a:pPr>
            <a:r>
              <a:rPr lang="ru-RU" i="1" dirty="0" smtClean="0"/>
              <a:t>Правило 2. Сделайте так, чтобы тест перестал проходить.</a:t>
            </a:r>
            <a:br>
              <a:rPr lang="ru-RU" i="1" dirty="0" smtClean="0"/>
            </a:br>
            <a:r>
              <a:rPr lang="ru-RU" i="1" dirty="0" smtClean="0"/>
              <a:t>Сделайте так, чтобы он снова начал проходить. Очистите код.</a:t>
            </a:r>
            <a:r>
              <a:rPr lang="ru-RU" dirty="0" smtClean="0"/>
              <a:t> </a:t>
            </a:r>
            <a:br>
              <a:rPr lang="ru-RU" dirty="0" smtClean="0"/>
            </a:br>
            <a:r>
              <a:rPr lang="ru-RU" dirty="0" smtClean="0"/>
              <a:t/>
            </a:r>
            <a:br>
              <a:rPr lang="ru-RU" dirty="0" smtClean="0"/>
            </a:br>
            <a:r>
              <a:rPr lang="ru-RU" dirty="0" smtClean="0"/>
              <a:t> Исправленный код перестал компилироваться, поэтому действуем</a:t>
            </a:r>
            <a:br>
              <a:rPr lang="ru-RU" dirty="0" smtClean="0"/>
            </a:br>
            <a:r>
              <a:rPr lang="ru-RU" dirty="0" smtClean="0"/>
              <a:t>в соответствии с первым законом:</a:t>
            </a:r>
            <a:br>
              <a:rPr lang="ru-RU" dirty="0" smtClean="0"/>
            </a:br>
            <a:r>
              <a:rPr lang="ru-RU" dirty="0" smtClean="0"/>
              <a:t/>
            </a:r>
            <a:br>
              <a:rPr lang="ru-RU" dirty="0" smtClean="0"/>
            </a:br>
            <a:r>
              <a:rPr lang="ru-RU" b="1" dirty="0" err="1" smtClean="0"/>
              <a:t>public</a:t>
            </a:r>
            <a:r>
              <a:rPr lang="ru-RU" b="1" dirty="0" smtClean="0"/>
              <a:t> </a:t>
            </a:r>
            <a:r>
              <a:rPr lang="ru-RU" b="1" dirty="0" err="1" smtClean="0"/>
              <a:t>int</a:t>
            </a:r>
            <a:r>
              <a:rPr lang="ru-RU" b="1" dirty="0" smtClean="0"/>
              <a:t> </a:t>
            </a:r>
            <a:r>
              <a:rPr lang="ru-RU" b="1" dirty="0" err="1" smtClean="0"/>
              <a:t>pop</a:t>
            </a:r>
            <a:r>
              <a:rPr lang="ru-RU" b="1" dirty="0" smtClean="0"/>
              <a:t>() {</a:t>
            </a:r>
            <a:r>
              <a:rPr lang="ru-RU" dirty="0" smtClean="0"/>
              <a:t> </a:t>
            </a:r>
            <a:endParaRPr lang="en-US" dirty="0" smtClean="0"/>
          </a:p>
          <a:p>
            <a:pPr indent="0">
              <a:buNone/>
            </a:pPr>
            <a:r>
              <a:rPr lang="en-US" b="1" dirty="0" smtClean="0"/>
              <a:t>return -1;</a:t>
            </a:r>
            <a:br>
              <a:rPr lang="en-US" b="1" dirty="0" smtClean="0"/>
            </a:br>
            <a:r>
              <a:rPr lang="en-US" b="1" dirty="0" smtClean="0"/>
              <a:t>}</a:t>
            </a:r>
            <a:br>
              <a:rPr lang="en-US" b="1" dirty="0" smtClean="0"/>
            </a:br>
            <a:r>
              <a:rPr lang="ru-RU" dirty="0" smtClean="0"/>
              <a:t>Третий закон позволит нам закончить тест:</a:t>
            </a:r>
            <a:br>
              <a:rPr lang="ru-RU" dirty="0" smtClean="0"/>
            </a:br>
            <a:r>
              <a:rPr lang="ru-RU" dirty="0" smtClean="0"/>
              <a:t>// </a:t>
            </a:r>
            <a:r>
              <a:rPr lang="en-US" dirty="0" smtClean="0"/>
              <a:t>T: 05:51</a:t>
            </a:r>
            <a:br>
              <a:rPr lang="en-US" dirty="0" smtClean="0"/>
            </a:br>
            <a:r>
              <a:rPr lang="en-US" dirty="0" smtClean="0"/>
              <a:t>@Test</a:t>
            </a:r>
            <a:br>
              <a:rPr lang="en-US" dirty="0" smtClean="0"/>
            </a:br>
            <a:r>
              <a:rPr lang="en-US" dirty="0" smtClean="0"/>
              <a:t>public void </a:t>
            </a:r>
            <a:r>
              <a:rPr lang="en-US" dirty="0" err="1" smtClean="0"/>
              <a:t>afterOnePushAndOnePop_isEmpty</a:t>
            </a:r>
            <a:r>
              <a:rPr lang="en-US" dirty="0" smtClean="0"/>
              <a:t>() throws Exception {</a:t>
            </a:r>
            <a:br>
              <a:rPr lang="en-US" dirty="0" smtClean="0"/>
            </a:br>
            <a:r>
              <a:rPr lang="en-US" dirty="0" err="1" smtClean="0"/>
              <a:t>stack.push</a:t>
            </a:r>
            <a:r>
              <a:rPr lang="en-US" dirty="0" smtClean="0"/>
              <a:t>(0);</a:t>
            </a:r>
            <a:br>
              <a:rPr lang="en-US" dirty="0" smtClean="0"/>
            </a:br>
            <a:r>
              <a:rPr lang="en-US" dirty="0" smtClean="0"/>
              <a:t>stack.pop();</a:t>
            </a:r>
            <a:br>
              <a:rPr lang="en-US" dirty="0" smtClean="0"/>
            </a:br>
            <a:r>
              <a:rPr lang="en-US" b="1" dirty="0" err="1" smtClean="0"/>
              <a:t>assertTrue</a:t>
            </a:r>
            <a:r>
              <a:rPr lang="en-US" b="1" dirty="0" smtClean="0"/>
              <a:t>(</a:t>
            </a:r>
            <a:r>
              <a:rPr lang="en-US" b="1" dirty="0" err="1" smtClean="0"/>
              <a:t>stack.isEmpty</a:t>
            </a:r>
            <a:r>
              <a:rPr lang="en-US" b="1" dirty="0" smtClean="0"/>
              <a:t>());</a:t>
            </a:r>
            <a:br>
              <a:rPr lang="en-US" b="1" dirty="0" smtClean="0"/>
            </a:br>
            <a:r>
              <a:rPr lang="en-US" dirty="0" smtClean="0"/>
              <a:t>}</a:t>
            </a:r>
            <a:br>
              <a:rPr lang="en-US" dirty="0" smtClean="0"/>
            </a:br>
            <a:r>
              <a:rPr lang="ru-RU" dirty="0" smtClean="0"/>
              <a:t>Тест провален, поскольку флаг </a:t>
            </a:r>
            <a:r>
              <a:rPr lang="en-US" dirty="0" smtClean="0"/>
              <a:t>empty </a:t>
            </a:r>
            <a:r>
              <a:rPr lang="ru-RU" dirty="0" smtClean="0"/>
              <a:t>так и остается со значением </a:t>
            </a:r>
            <a:r>
              <a:rPr lang="en-US" dirty="0" smtClean="0"/>
              <a:t>true</a:t>
            </a:r>
            <a:br>
              <a:rPr lang="en-US" dirty="0" smtClean="0"/>
            </a:br>
            <a:r>
              <a:rPr lang="ru-RU" dirty="0" smtClean="0"/>
              <a:t>Исправим эту недоработку:</a:t>
            </a:r>
            <a:br>
              <a:rPr lang="ru-RU" dirty="0" smtClean="0"/>
            </a:br>
            <a:r>
              <a:rPr lang="ru-RU" dirty="0" smtClean="0"/>
              <a:t>// </a:t>
            </a:r>
            <a:r>
              <a:rPr lang="en-US" dirty="0" smtClean="0"/>
              <a:t>T: 06:06 Stack.java</a:t>
            </a:r>
            <a:br>
              <a:rPr lang="en-US" dirty="0" smtClean="0"/>
            </a:br>
            <a:r>
              <a:rPr lang="en-US" dirty="0" smtClean="0"/>
              <a:t>public </a:t>
            </a:r>
            <a:r>
              <a:rPr lang="en-US" dirty="0" err="1" smtClean="0"/>
              <a:t>int</a:t>
            </a:r>
            <a:r>
              <a:rPr lang="en-US" dirty="0" smtClean="0"/>
              <a:t> pop() {</a:t>
            </a:r>
            <a:br>
              <a:rPr lang="en-US" dirty="0" smtClean="0"/>
            </a:br>
            <a:r>
              <a:rPr lang="en-US" b="1" dirty="0" smtClean="0"/>
              <a:t>empty=true;</a:t>
            </a:r>
            <a:br>
              <a:rPr lang="en-US" b="1" dirty="0" smtClean="0"/>
            </a:br>
            <a:r>
              <a:rPr lang="en-US" dirty="0" smtClean="0"/>
              <a:t>return -1;</a:t>
            </a:r>
            <a:br>
              <a:rPr lang="en-US" dirty="0" smtClean="0"/>
            </a:br>
            <a:r>
              <a:rPr lang="en-US" dirty="0" smtClean="0"/>
              <a:t>} </a:t>
            </a:r>
            <a:br>
              <a:rPr lang="en-US" dirty="0" smtClean="0"/>
            </a:br>
            <a:r>
              <a:rPr lang="en-US" dirty="0" smtClean="0"/>
              <a:t> </a:t>
            </a:r>
            <a:r>
              <a:rPr lang="ru-RU" dirty="0" smtClean="0"/>
              <a:t/>
            </a:r>
            <a:br>
              <a:rPr lang="ru-RU" dirty="0" smtClean="0"/>
            </a:br>
            <a:r>
              <a:rPr lang="ru-RU" dirty="0" smtClean="0"/>
              <a:t> </a:t>
            </a:r>
            <a:r>
              <a:rPr lang="en-US" dirty="0" smtClean="0"/>
              <a:t/>
            </a:r>
            <a:br>
              <a:rPr lang="en-US" dirty="0" smtClean="0"/>
            </a:br>
            <a:r>
              <a:rPr lang="en-US" dirty="0" smtClean="0"/>
              <a:t/>
            </a:r>
            <a:br>
              <a:rPr lang="en-US" dirty="0" smtClean="0"/>
            </a:br>
            <a:r>
              <a:rPr lang="en-US" dirty="0" smtClean="0"/>
              <a:t> </a:t>
            </a:r>
            <a:r>
              <a:rPr lang="en-US" b="1" dirty="0" smtClean="0"/>
              <a:t/>
            </a:r>
            <a:br>
              <a:rPr lang="en-US" b="1" dirty="0" smtClean="0"/>
            </a:br>
            <a:r>
              <a:rPr lang="ru-RU" dirty="0" smtClean="0"/>
              <a:t/>
            </a:r>
            <a:br>
              <a:rPr lang="ru-RU" dirty="0" smtClean="0"/>
            </a:br>
            <a:r>
              <a:rPr lang="ru-RU" dirty="0" smtClean="0"/>
              <a:t> </a:t>
            </a:r>
            <a:r>
              <a:rPr lang="en-US" dirty="0" smtClean="0"/>
              <a:t/>
            </a:r>
            <a:br>
              <a:rPr lang="en-US" dirty="0" smtClean="0"/>
            </a:br>
            <a:r>
              <a:rPr lang="en-US" dirty="0" smtClean="0"/>
              <a:t> </a:t>
            </a:r>
            <a:br>
              <a:rPr lang="en-US" dirty="0" smtClean="0"/>
            </a:br>
            <a:r>
              <a:rPr lang="en-US" dirty="0" smtClean="0"/>
              <a:t/>
            </a:r>
            <a:br>
              <a:rPr lang="en-US" dirty="0" smtClean="0"/>
            </a:br>
            <a:r>
              <a:rPr lang="ru-RU" dirty="0" smtClean="0"/>
              <a:t/>
            </a:r>
            <a:br>
              <a:rPr lang="ru-RU" dirty="0" smtClean="0"/>
            </a:br>
            <a:endParaRPr lang="ru-RU" b="1" dirty="0" smtClean="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404664"/>
            <a:ext cx="8229600" cy="576064"/>
          </a:xfrm>
        </p:spPr>
        <p:txBody>
          <a:bodyPr>
            <a:normAutofit/>
          </a:bodyPr>
          <a:lstStyle/>
          <a:p>
            <a:r>
              <a:rPr lang="ru-RU" sz="2800" dirty="0" smtClean="0"/>
              <a:t>Пример </a:t>
            </a:r>
            <a:r>
              <a:rPr lang="en-US" sz="2800" dirty="0" smtClean="0"/>
              <a:t>TDD</a:t>
            </a:r>
            <a:endParaRPr lang="ru-RU" dirty="0"/>
          </a:p>
        </p:txBody>
      </p:sp>
      <p:sp>
        <p:nvSpPr>
          <p:cNvPr id="4" name="Содержимое 3"/>
          <p:cNvSpPr>
            <a:spLocks noGrp="1"/>
          </p:cNvSpPr>
          <p:nvPr>
            <p:ph idx="1"/>
          </p:nvPr>
        </p:nvSpPr>
        <p:spPr>
          <a:xfrm>
            <a:off x="467544" y="881336"/>
            <a:ext cx="8229600" cy="6796136"/>
          </a:xfrm>
        </p:spPr>
        <p:txBody>
          <a:bodyPr>
            <a:normAutofit fontScale="62500" lnSpcReduction="20000"/>
          </a:bodyPr>
          <a:lstStyle/>
          <a:p>
            <a:pPr indent="0">
              <a:buNone/>
            </a:pPr>
            <a:r>
              <a:rPr lang="ru-RU" i="1" dirty="0" smtClean="0"/>
              <a:t>Правило 3. Не гонитесь за золотом.</a:t>
            </a:r>
            <a:r>
              <a:rPr lang="ru-RU" dirty="0" smtClean="0"/>
              <a:t> </a:t>
            </a:r>
            <a:br>
              <a:rPr lang="ru-RU" dirty="0" smtClean="0"/>
            </a:br>
            <a:r>
              <a:rPr lang="ru-RU" dirty="0" smtClean="0"/>
              <a:t> </a:t>
            </a:r>
            <a:br>
              <a:rPr lang="ru-RU" dirty="0" smtClean="0"/>
            </a:br>
            <a:r>
              <a:rPr lang="ru-RU" dirty="0" smtClean="0"/>
              <a:t> Любого новичка в </a:t>
            </a:r>
            <a:r>
              <a:rPr lang="en-US" dirty="0" smtClean="0"/>
              <a:t>TDD</a:t>
            </a:r>
            <a:r>
              <a:rPr lang="ru-RU" dirty="0" smtClean="0"/>
              <a:t> посещает огромное искушение первым делом заняться сложными или интересными вещами Например, в случае написания стека так соблазнительно начать с тестирования поведения </a:t>
            </a:r>
            <a:r>
              <a:rPr lang="en-US" dirty="0" smtClean="0"/>
              <a:t>FILO</a:t>
            </a:r>
            <a:r>
              <a:rPr lang="ru-RU" dirty="0" smtClean="0"/>
              <a:t> (</a:t>
            </a:r>
            <a:r>
              <a:rPr lang="en-US" dirty="0" smtClean="0"/>
              <a:t>first</a:t>
            </a:r>
            <a:r>
              <a:rPr lang="ru-RU" dirty="0" smtClean="0"/>
              <a:t>-</a:t>
            </a:r>
            <a:r>
              <a:rPr lang="en-US" dirty="0" smtClean="0"/>
              <a:t>in</a:t>
            </a:r>
            <a:r>
              <a:rPr lang="ru-RU" dirty="0" smtClean="0"/>
              <a:t>-</a:t>
            </a:r>
            <a:r>
              <a:rPr lang="en-US" dirty="0" smtClean="0"/>
              <a:t>last</a:t>
            </a:r>
            <a:r>
              <a:rPr lang="ru-RU" dirty="0" smtClean="0"/>
              <a:t>-</a:t>
            </a:r>
            <a:r>
              <a:rPr lang="en-US" dirty="0" smtClean="0"/>
              <a:t>out</a:t>
            </a:r>
            <a:r>
              <a:rPr lang="ru-RU" dirty="0" smtClean="0"/>
              <a:t>, «первым пришел — последним вышел») Именно такой подход называется «погоней за золотом» Я думаю, вы обратили внимание, что я намеренно избегал тестирования чего-либо, напоминающего стек Я сосредоточился на вспомогательных элементах, таких как пустота и размер Почему я не погнался за золотом? Зачем вообще придумали правило 3? Дело в том, что слишком рано погнавшись за золотом, вы, как правило, упускаете множество деталей Скоро я вам покажу, что вместе с этим вы упускаете и возможность упростить код </a:t>
            </a:r>
            <a:r>
              <a:rPr lang="en-US" dirty="0" smtClean="0"/>
              <a:t/>
            </a:r>
            <a:br>
              <a:rPr lang="en-US" dirty="0" smtClean="0"/>
            </a:br>
            <a:r>
              <a:rPr lang="en-US" dirty="0" smtClean="0"/>
              <a:t> </a:t>
            </a:r>
            <a:r>
              <a:rPr lang="ru-RU" dirty="0" smtClean="0"/>
              <a:t/>
            </a:r>
            <a:br>
              <a:rPr lang="ru-RU" dirty="0" smtClean="0"/>
            </a:br>
            <a:r>
              <a:rPr lang="ru-RU" dirty="0" smtClean="0"/>
              <a:t> </a:t>
            </a:r>
            <a:r>
              <a:rPr lang="en-US" dirty="0" smtClean="0"/>
              <a:t/>
            </a:r>
            <a:br>
              <a:rPr lang="en-US" dirty="0" smtClean="0"/>
            </a:br>
            <a:r>
              <a:rPr lang="en-US" dirty="0" smtClean="0"/>
              <a:t/>
            </a:r>
            <a:br>
              <a:rPr lang="en-US" dirty="0" smtClean="0"/>
            </a:br>
            <a:r>
              <a:rPr lang="en-US" dirty="0" smtClean="0"/>
              <a:t> </a:t>
            </a:r>
            <a:r>
              <a:rPr lang="en-US" b="1" dirty="0" smtClean="0"/>
              <a:t/>
            </a:r>
            <a:br>
              <a:rPr lang="en-US" b="1" dirty="0" smtClean="0"/>
            </a:br>
            <a:r>
              <a:rPr lang="ru-RU" dirty="0" smtClean="0"/>
              <a:t/>
            </a:r>
            <a:br>
              <a:rPr lang="ru-RU" dirty="0" smtClean="0"/>
            </a:br>
            <a:r>
              <a:rPr lang="ru-RU" dirty="0" smtClean="0"/>
              <a:t> </a:t>
            </a:r>
            <a:r>
              <a:rPr lang="en-US" dirty="0" smtClean="0"/>
              <a:t/>
            </a:r>
            <a:br>
              <a:rPr lang="en-US" dirty="0" smtClean="0"/>
            </a:br>
            <a:r>
              <a:rPr lang="en-US" dirty="0" smtClean="0"/>
              <a:t> </a:t>
            </a:r>
            <a:br>
              <a:rPr lang="en-US" dirty="0" smtClean="0"/>
            </a:br>
            <a:r>
              <a:rPr lang="en-US" dirty="0" smtClean="0"/>
              <a:t/>
            </a:r>
            <a:br>
              <a:rPr lang="en-US" dirty="0" smtClean="0"/>
            </a:br>
            <a:r>
              <a:rPr lang="ru-RU" dirty="0" smtClean="0"/>
              <a:t/>
            </a:r>
            <a:br>
              <a:rPr lang="ru-RU" dirty="0" smtClean="0"/>
            </a:br>
            <a:endParaRPr lang="ru-RU" b="1" dirty="0" smtClean="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404664"/>
            <a:ext cx="8229600" cy="576064"/>
          </a:xfrm>
        </p:spPr>
        <p:txBody>
          <a:bodyPr>
            <a:normAutofit/>
          </a:bodyPr>
          <a:lstStyle/>
          <a:p>
            <a:r>
              <a:rPr lang="ru-RU" sz="2800" dirty="0" smtClean="0"/>
              <a:t>Пример </a:t>
            </a:r>
            <a:r>
              <a:rPr lang="en-US" sz="2800" dirty="0" smtClean="0"/>
              <a:t>TDD</a:t>
            </a:r>
            <a:endParaRPr lang="ru-RU" dirty="0"/>
          </a:p>
        </p:txBody>
      </p:sp>
      <p:sp>
        <p:nvSpPr>
          <p:cNvPr id="4" name="Содержимое 3"/>
          <p:cNvSpPr>
            <a:spLocks noGrp="1"/>
          </p:cNvSpPr>
          <p:nvPr>
            <p:ph idx="1"/>
          </p:nvPr>
        </p:nvSpPr>
        <p:spPr>
          <a:xfrm>
            <a:off x="467544" y="881336"/>
            <a:ext cx="8229600" cy="7732240"/>
          </a:xfrm>
        </p:spPr>
        <p:txBody>
          <a:bodyPr>
            <a:normAutofit fontScale="40000" lnSpcReduction="20000"/>
          </a:bodyPr>
          <a:lstStyle/>
          <a:p>
            <a:pPr indent="0">
              <a:buNone/>
            </a:pPr>
            <a:r>
              <a:rPr lang="ru-RU" i="1" dirty="0" smtClean="0"/>
              <a:t>Правило 3. Не гонитесь за золотом.</a:t>
            </a:r>
            <a:r>
              <a:rPr lang="ru-RU" dirty="0" smtClean="0"/>
              <a:t> </a:t>
            </a:r>
            <a:br>
              <a:rPr lang="ru-RU" dirty="0" smtClean="0"/>
            </a:br>
            <a:r>
              <a:rPr lang="ru-RU" dirty="0" smtClean="0"/>
              <a:t> </a:t>
            </a:r>
            <a:br>
              <a:rPr lang="ru-RU" dirty="0" smtClean="0"/>
            </a:br>
            <a:r>
              <a:rPr lang="ru-RU" dirty="0" smtClean="0"/>
              <a:t> Впрочем, сейчас в соответствии с первым законом нужно написать</a:t>
            </a:r>
            <a:br>
              <a:rPr lang="ru-RU" dirty="0" smtClean="0"/>
            </a:br>
            <a:r>
              <a:rPr lang="ru-RU" dirty="0" smtClean="0"/>
              <a:t>неработающий тест И самый очевидный кандидат для тестирования</a:t>
            </a:r>
            <a:br>
              <a:rPr lang="ru-RU" dirty="0" smtClean="0"/>
            </a:br>
            <a:r>
              <a:rPr lang="ru-RU" dirty="0" smtClean="0"/>
              <a:t>на этом этапе — поведение </a:t>
            </a:r>
            <a:r>
              <a:rPr lang="en-US" dirty="0" smtClean="0"/>
              <a:t>FILO:</a:t>
            </a:r>
            <a:br>
              <a:rPr lang="en-US" dirty="0" smtClean="0"/>
            </a:br>
            <a:r>
              <a:rPr lang="en-US" dirty="0" smtClean="0"/>
              <a:t/>
            </a:r>
            <a:br>
              <a:rPr lang="en-US" dirty="0" smtClean="0"/>
            </a:br>
            <a:r>
              <a:rPr lang="en-US" b="1" dirty="0" smtClean="0"/>
              <a:t>@Test</a:t>
            </a:r>
            <a:br>
              <a:rPr lang="en-US" b="1" dirty="0" smtClean="0"/>
            </a:br>
            <a:r>
              <a:rPr lang="en-US" b="1" dirty="0" smtClean="0"/>
              <a:t>public void </a:t>
            </a:r>
            <a:r>
              <a:rPr lang="en-US" b="1" dirty="0" err="1" smtClean="0"/>
              <a:t>afterPushingXandY_willPopYthenX</a:t>
            </a:r>
            <a:r>
              <a:rPr lang="en-US" b="1" dirty="0" smtClean="0"/>
              <a:t>() {</a:t>
            </a:r>
            <a:br>
              <a:rPr lang="en-US" b="1" dirty="0" smtClean="0"/>
            </a:br>
            <a:r>
              <a:rPr lang="en-US" b="1" dirty="0" err="1" smtClean="0"/>
              <a:t>stack.push</a:t>
            </a:r>
            <a:r>
              <a:rPr lang="en-US" b="1" dirty="0" smtClean="0"/>
              <a:t>(99);</a:t>
            </a:r>
            <a:br>
              <a:rPr lang="en-US" b="1" dirty="0" smtClean="0"/>
            </a:br>
            <a:r>
              <a:rPr lang="en-US" b="1" dirty="0" err="1" smtClean="0"/>
              <a:t>stack.push</a:t>
            </a:r>
            <a:r>
              <a:rPr lang="en-US" b="1" dirty="0" smtClean="0"/>
              <a:t>(88);</a:t>
            </a:r>
            <a:br>
              <a:rPr lang="en-US" b="1" dirty="0" smtClean="0"/>
            </a:br>
            <a:r>
              <a:rPr lang="en-US" b="1" dirty="0" err="1" smtClean="0"/>
              <a:t>assertEquals</a:t>
            </a:r>
            <a:r>
              <a:rPr lang="en-US" b="1" dirty="0" smtClean="0"/>
              <a:t>(88, stack.pop());</a:t>
            </a:r>
            <a:br>
              <a:rPr lang="en-US" b="1" dirty="0" smtClean="0"/>
            </a:br>
            <a:r>
              <a:rPr lang="en-US" b="1" dirty="0" err="1" smtClean="0"/>
              <a:t>assertEquals</a:t>
            </a:r>
            <a:r>
              <a:rPr lang="en-US" b="1" dirty="0" smtClean="0"/>
              <a:t>(99, stack.pop());</a:t>
            </a:r>
            <a:br>
              <a:rPr lang="en-US" b="1" dirty="0" smtClean="0"/>
            </a:br>
            <a:r>
              <a:rPr lang="en-US" b="1" dirty="0" smtClean="0"/>
              <a:t>}</a:t>
            </a:r>
            <a:br>
              <a:rPr lang="en-US" b="1" dirty="0" smtClean="0"/>
            </a:br>
            <a:r>
              <a:rPr lang="ru-RU" dirty="0" smtClean="0"/>
              <a:t>Тест проваливается, так как для его прохождения следует помнить</a:t>
            </a:r>
            <a:br>
              <a:rPr lang="ru-RU" dirty="0" smtClean="0"/>
            </a:br>
            <a:r>
              <a:rPr lang="ru-RU" dirty="0" smtClean="0"/>
              <a:t>более одного значения Наверное, в этом случае имеет смысл использовать массив Поэтому я переименую поле в </a:t>
            </a:r>
            <a:r>
              <a:rPr lang="en-US" dirty="0" smtClean="0"/>
              <a:t>elements </a:t>
            </a:r>
            <a:r>
              <a:rPr lang="ru-RU" dirty="0" smtClean="0"/>
              <a:t>и превращу</a:t>
            </a:r>
            <a:br>
              <a:rPr lang="ru-RU" dirty="0" smtClean="0"/>
            </a:br>
            <a:r>
              <a:rPr lang="ru-RU" dirty="0" smtClean="0"/>
              <a:t>его в массив:</a:t>
            </a:r>
            <a:br>
              <a:rPr lang="ru-RU" dirty="0" smtClean="0"/>
            </a:br>
            <a:r>
              <a:rPr lang="en-US" dirty="0" smtClean="0"/>
              <a:t/>
            </a:r>
            <a:br>
              <a:rPr lang="en-US" dirty="0" smtClean="0"/>
            </a:br>
            <a:r>
              <a:rPr lang="en-US" dirty="0" smtClean="0"/>
              <a:t>public class Stack {</a:t>
            </a:r>
            <a:br>
              <a:rPr lang="en-US" dirty="0" smtClean="0"/>
            </a:br>
            <a:r>
              <a:rPr lang="en-US" dirty="0" smtClean="0"/>
              <a:t>private </a:t>
            </a:r>
            <a:r>
              <a:rPr lang="en-US" dirty="0" err="1" smtClean="0"/>
              <a:t>int</a:t>
            </a:r>
            <a:r>
              <a:rPr lang="en-US" dirty="0" smtClean="0"/>
              <a:t> size = 0;</a:t>
            </a:r>
            <a:br>
              <a:rPr lang="en-US" dirty="0" smtClean="0"/>
            </a:br>
            <a:r>
              <a:rPr lang="en-US" b="1" dirty="0" smtClean="0"/>
              <a:t>private </a:t>
            </a:r>
            <a:r>
              <a:rPr lang="en-US" b="1" dirty="0" err="1" smtClean="0"/>
              <a:t>int</a:t>
            </a:r>
            <a:r>
              <a:rPr lang="en-US" b="1" dirty="0" smtClean="0"/>
              <a:t>[] elements = new </a:t>
            </a:r>
            <a:r>
              <a:rPr lang="en-US" b="1" dirty="0" err="1" smtClean="0"/>
              <a:t>int</a:t>
            </a:r>
            <a:r>
              <a:rPr lang="en-US" b="1" dirty="0" smtClean="0"/>
              <a:t>[2];</a:t>
            </a:r>
            <a:r>
              <a:rPr lang="en-US" dirty="0" smtClean="0"/>
              <a:t> </a:t>
            </a:r>
            <a:br>
              <a:rPr lang="en-US" dirty="0" smtClean="0"/>
            </a:br>
            <a:r>
              <a:rPr lang="en-US" dirty="0" smtClean="0"/>
              <a:t> public void push(</a:t>
            </a:r>
            <a:r>
              <a:rPr lang="en-US" dirty="0" err="1" smtClean="0"/>
              <a:t>int</a:t>
            </a:r>
            <a:r>
              <a:rPr lang="en-US" dirty="0" smtClean="0"/>
              <a:t> element) {</a:t>
            </a:r>
            <a:br>
              <a:rPr lang="en-US" dirty="0" smtClean="0"/>
            </a:br>
            <a:r>
              <a:rPr lang="en-US" dirty="0" smtClean="0"/>
              <a:t>size++;</a:t>
            </a:r>
            <a:br>
              <a:rPr lang="en-US" dirty="0" smtClean="0"/>
            </a:br>
            <a:r>
              <a:rPr lang="en-US" dirty="0" err="1" smtClean="0"/>
              <a:t>this.</a:t>
            </a:r>
            <a:r>
              <a:rPr lang="en-US" b="1" dirty="0" err="1" smtClean="0"/>
              <a:t>elements</a:t>
            </a:r>
            <a:r>
              <a:rPr lang="en-US" b="1" dirty="0" smtClean="0"/>
              <a:t> </a:t>
            </a:r>
            <a:r>
              <a:rPr lang="en-US" dirty="0" smtClean="0"/>
              <a:t>= element;</a:t>
            </a:r>
            <a:br>
              <a:rPr lang="en-US" dirty="0" smtClean="0"/>
            </a:br>
            <a:r>
              <a:rPr lang="en-US" dirty="0" smtClean="0"/>
              <a:t>}</a:t>
            </a:r>
            <a:br>
              <a:rPr lang="en-US" dirty="0" smtClean="0"/>
            </a:br>
            <a:r>
              <a:rPr lang="en-US" dirty="0" smtClean="0"/>
              <a:t>public </a:t>
            </a:r>
            <a:r>
              <a:rPr lang="en-US" dirty="0" err="1" smtClean="0"/>
              <a:t>int</a:t>
            </a:r>
            <a:r>
              <a:rPr lang="en-US" dirty="0" smtClean="0"/>
              <a:t> pop() {</a:t>
            </a:r>
            <a:br>
              <a:rPr lang="en-US" dirty="0" smtClean="0"/>
            </a:br>
            <a:r>
              <a:rPr lang="en-US" dirty="0" smtClean="0"/>
              <a:t>if (size == 0)</a:t>
            </a:r>
            <a:br>
              <a:rPr lang="en-US" dirty="0" smtClean="0"/>
            </a:br>
            <a:r>
              <a:rPr lang="en-US" dirty="0" smtClean="0"/>
              <a:t>throw new Underflow();</a:t>
            </a:r>
            <a:br>
              <a:rPr lang="en-US" dirty="0" smtClean="0"/>
            </a:br>
            <a:r>
              <a:rPr lang="en-US" dirty="0" smtClean="0"/>
              <a:t>--size;</a:t>
            </a:r>
            <a:br>
              <a:rPr lang="en-US" dirty="0" smtClean="0"/>
            </a:br>
            <a:r>
              <a:rPr lang="en-US" dirty="0" smtClean="0"/>
              <a:t>return </a:t>
            </a:r>
            <a:r>
              <a:rPr lang="en-US" b="1" dirty="0" smtClean="0"/>
              <a:t>elements</a:t>
            </a:r>
            <a:r>
              <a:rPr lang="en-US" dirty="0" smtClean="0"/>
              <a:t>;</a:t>
            </a:r>
            <a:br>
              <a:rPr lang="en-US" dirty="0" smtClean="0"/>
            </a:br>
            <a:r>
              <a:rPr lang="en-US" dirty="0" smtClean="0"/>
              <a:t>}</a:t>
            </a:r>
            <a:br>
              <a:rPr lang="en-US" dirty="0" smtClean="0"/>
            </a:br>
            <a:r>
              <a:rPr lang="en-US" dirty="0" smtClean="0"/>
              <a:t>} </a:t>
            </a:r>
            <a:br>
              <a:rPr lang="en-US" dirty="0" smtClean="0"/>
            </a:br>
            <a:r>
              <a:rPr lang="en-US" dirty="0" smtClean="0"/>
              <a:t> </a:t>
            </a:r>
            <a:br>
              <a:rPr lang="en-US" dirty="0" smtClean="0"/>
            </a:br>
            <a:r>
              <a:rPr lang="en-US" dirty="0" smtClean="0"/>
              <a:t> </a:t>
            </a:r>
            <a:r>
              <a:rPr lang="ru-RU" dirty="0" smtClean="0"/>
              <a:t/>
            </a:r>
            <a:br>
              <a:rPr lang="ru-RU" dirty="0" smtClean="0"/>
            </a:br>
            <a:r>
              <a:rPr lang="ru-RU" dirty="0" smtClean="0"/>
              <a:t> </a:t>
            </a:r>
            <a:r>
              <a:rPr lang="en-US" dirty="0" smtClean="0"/>
              <a:t/>
            </a:r>
            <a:br>
              <a:rPr lang="en-US" dirty="0" smtClean="0"/>
            </a:br>
            <a:r>
              <a:rPr lang="en-US" dirty="0" smtClean="0"/>
              <a:t/>
            </a:r>
            <a:br>
              <a:rPr lang="en-US" dirty="0" smtClean="0"/>
            </a:br>
            <a:r>
              <a:rPr lang="en-US" dirty="0" smtClean="0"/>
              <a:t> </a:t>
            </a:r>
            <a:r>
              <a:rPr lang="en-US" b="1" dirty="0" smtClean="0"/>
              <a:t/>
            </a:r>
            <a:br>
              <a:rPr lang="en-US" b="1" dirty="0" smtClean="0"/>
            </a:br>
            <a:r>
              <a:rPr lang="ru-RU" dirty="0" smtClean="0"/>
              <a:t/>
            </a:r>
            <a:br>
              <a:rPr lang="ru-RU" dirty="0" smtClean="0"/>
            </a:br>
            <a:r>
              <a:rPr lang="ru-RU" dirty="0" smtClean="0"/>
              <a:t> </a:t>
            </a:r>
            <a:r>
              <a:rPr lang="en-US" dirty="0" smtClean="0"/>
              <a:t/>
            </a:r>
            <a:br>
              <a:rPr lang="en-US" dirty="0" smtClean="0"/>
            </a:br>
            <a:r>
              <a:rPr lang="en-US" dirty="0" smtClean="0"/>
              <a:t> </a:t>
            </a:r>
            <a:br>
              <a:rPr lang="en-US" dirty="0" smtClean="0"/>
            </a:br>
            <a:r>
              <a:rPr lang="en-US" dirty="0" smtClean="0"/>
              <a:t/>
            </a:r>
            <a:br>
              <a:rPr lang="en-US" dirty="0" smtClean="0"/>
            </a:br>
            <a:r>
              <a:rPr lang="ru-RU" dirty="0" smtClean="0"/>
              <a:t/>
            </a:r>
            <a:br>
              <a:rPr lang="ru-RU" dirty="0" smtClean="0"/>
            </a:br>
            <a:endParaRPr lang="ru-RU" b="1" dirty="0" smtClean="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404664"/>
            <a:ext cx="8229600" cy="576064"/>
          </a:xfrm>
        </p:spPr>
        <p:txBody>
          <a:bodyPr>
            <a:normAutofit/>
          </a:bodyPr>
          <a:lstStyle/>
          <a:p>
            <a:r>
              <a:rPr lang="ru-RU" sz="2800" dirty="0" smtClean="0"/>
              <a:t>Пример </a:t>
            </a:r>
            <a:r>
              <a:rPr lang="en-US" sz="2800" dirty="0" smtClean="0"/>
              <a:t>TDD</a:t>
            </a:r>
            <a:endParaRPr lang="ru-RU" dirty="0"/>
          </a:p>
        </p:txBody>
      </p:sp>
      <p:sp>
        <p:nvSpPr>
          <p:cNvPr id="4" name="Содержимое 3"/>
          <p:cNvSpPr>
            <a:spLocks noGrp="1"/>
          </p:cNvSpPr>
          <p:nvPr>
            <p:ph idx="1"/>
          </p:nvPr>
        </p:nvSpPr>
        <p:spPr>
          <a:xfrm>
            <a:off x="467544" y="881336"/>
            <a:ext cx="8229600" cy="7732240"/>
          </a:xfrm>
        </p:spPr>
        <p:txBody>
          <a:bodyPr>
            <a:normAutofit fontScale="40000" lnSpcReduction="20000"/>
          </a:bodyPr>
          <a:lstStyle/>
          <a:p>
            <a:pPr indent="0">
              <a:buNone/>
            </a:pPr>
            <a:r>
              <a:rPr lang="ru-RU" i="1" dirty="0" smtClean="0"/>
              <a:t>Правило 3. Не гонитесь за золотом.</a:t>
            </a:r>
            <a:r>
              <a:rPr lang="ru-RU" dirty="0" smtClean="0"/>
              <a:t> </a:t>
            </a:r>
            <a:br>
              <a:rPr lang="ru-RU" dirty="0" smtClean="0"/>
            </a:br>
            <a:r>
              <a:rPr lang="ru-RU" dirty="0" smtClean="0"/>
              <a:t> </a:t>
            </a:r>
            <a:br>
              <a:rPr lang="ru-RU" dirty="0" smtClean="0"/>
            </a:br>
            <a:r>
              <a:rPr lang="ru-RU" dirty="0" smtClean="0"/>
              <a:t> По очереди рассмотрим ошибки компиляции этого кода Переменной</a:t>
            </a:r>
            <a:br>
              <a:rPr lang="ru-RU" dirty="0" smtClean="0"/>
            </a:br>
            <a:r>
              <a:rPr lang="en-US" dirty="0" smtClean="0"/>
              <a:t>elements </a:t>
            </a:r>
            <a:r>
              <a:rPr lang="ru-RU" dirty="0" smtClean="0"/>
              <a:t>в методе </a:t>
            </a:r>
            <a:r>
              <a:rPr lang="en-US" dirty="0" smtClean="0"/>
              <a:t>push </a:t>
            </a:r>
            <a:r>
              <a:rPr lang="ru-RU" dirty="0" smtClean="0"/>
              <a:t>не хватает квадратных скобок:</a:t>
            </a:r>
            <a:br>
              <a:rPr lang="ru-RU" dirty="0" smtClean="0"/>
            </a:br>
            <a:r>
              <a:rPr lang="en-US" dirty="0" smtClean="0"/>
              <a:t/>
            </a:r>
            <a:br>
              <a:rPr lang="en-US" dirty="0" smtClean="0"/>
            </a:br>
            <a:r>
              <a:rPr lang="en-US" dirty="0" smtClean="0"/>
              <a:t>public void push(</a:t>
            </a:r>
            <a:r>
              <a:rPr lang="en-US" dirty="0" err="1" smtClean="0"/>
              <a:t>int</a:t>
            </a:r>
            <a:r>
              <a:rPr lang="en-US" dirty="0" smtClean="0"/>
              <a:t> element) {</a:t>
            </a:r>
            <a:br>
              <a:rPr lang="en-US" dirty="0" smtClean="0"/>
            </a:br>
            <a:r>
              <a:rPr lang="en-US" dirty="0" smtClean="0"/>
              <a:t>size++;</a:t>
            </a:r>
            <a:br>
              <a:rPr lang="en-US" dirty="0" smtClean="0"/>
            </a:br>
            <a:r>
              <a:rPr lang="en-US" dirty="0" err="1" smtClean="0"/>
              <a:t>this.elements</a:t>
            </a:r>
            <a:r>
              <a:rPr lang="en-US" b="1" dirty="0" smtClean="0"/>
              <a:t>[] </a:t>
            </a:r>
            <a:r>
              <a:rPr lang="en-US" dirty="0" smtClean="0"/>
              <a:t>= element;</a:t>
            </a:r>
            <a:br>
              <a:rPr lang="en-US" dirty="0" smtClean="0"/>
            </a:br>
            <a:r>
              <a:rPr lang="en-US" dirty="0" smtClean="0"/>
              <a:t>}</a:t>
            </a:r>
            <a:br>
              <a:rPr lang="en-US" dirty="0" smtClean="0"/>
            </a:br>
            <a:r>
              <a:rPr lang="ru-RU" dirty="0" smtClean="0"/>
              <a:t>В эти скобки нужно что-то поместить </a:t>
            </a:r>
            <a:r>
              <a:rPr lang="ru-RU" dirty="0" err="1" smtClean="0"/>
              <a:t>Хм-м-м</a:t>
            </a:r>
            <a:r>
              <a:rPr lang="ru-RU" dirty="0" smtClean="0"/>
              <a:t> В предыдущем фрагменте кода есть инкремент переменной </a:t>
            </a:r>
            <a:r>
              <a:rPr lang="en-US" dirty="0" smtClean="0"/>
              <a:t>size++:</a:t>
            </a:r>
            <a:br>
              <a:rPr lang="en-US" dirty="0" smtClean="0"/>
            </a:br>
            <a:r>
              <a:rPr lang="en-US" dirty="0" smtClean="0"/>
              <a:t/>
            </a:r>
            <a:br>
              <a:rPr lang="en-US" dirty="0" smtClean="0"/>
            </a:br>
            <a:r>
              <a:rPr lang="en-US" dirty="0" smtClean="0"/>
              <a:t>public void push(</a:t>
            </a:r>
            <a:r>
              <a:rPr lang="en-US" dirty="0" err="1" smtClean="0"/>
              <a:t>int</a:t>
            </a:r>
            <a:r>
              <a:rPr lang="en-US" dirty="0" smtClean="0"/>
              <a:t> element) {</a:t>
            </a:r>
            <a:br>
              <a:rPr lang="en-US" dirty="0" smtClean="0"/>
            </a:br>
            <a:r>
              <a:rPr lang="en-US" dirty="0" err="1" smtClean="0"/>
              <a:t>this.elements</a:t>
            </a:r>
            <a:r>
              <a:rPr lang="en-US" dirty="0" smtClean="0"/>
              <a:t>[</a:t>
            </a:r>
            <a:r>
              <a:rPr lang="en-US" b="1" dirty="0" smtClean="0"/>
              <a:t>size++</a:t>
            </a:r>
            <a:r>
              <a:rPr lang="en-US" dirty="0" smtClean="0"/>
              <a:t>] = element;</a:t>
            </a:r>
            <a:br>
              <a:rPr lang="en-US" dirty="0" smtClean="0"/>
            </a:br>
            <a:r>
              <a:rPr lang="en-US" dirty="0" smtClean="0"/>
              <a:t>}</a:t>
            </a:r>
            <a:br>
              <a:rPr lang="en-US" dirty="0" smtClean="0"/>
            </a:br>
            <a:r>
              <a:rPr lang="ru-RU" dirty="0" smtClean="0"/>
              <a:t>Метод </a:t>
            </a:r>
            <a:r>
              <a:rPr lang="en-US" dirty="0" smtClean="0"/>
              <a:t>pop </a:t>
            </a:r>
            <a:r>
              <a:rPr lang="ru-RU" dirty="0" smtClean="0"/>
              <a:t>также содержит переменную </a:t>
            </a:r>
            <a:r>
              <a:rPr lang="en-US" dirty="0" smtClean="0"/>
              <a:t>elements, </a:t>
            </a:r>
            <a:r>
              <a:rPr lang="ru-RU" dirty="0" smtClean="0"/>
              <a:t>нуждающуюся</a:t>
            </a:r>
            <a:br>
              <a:rPr lang="ru-RU" dirty="0" smtClean="0"/>
            </a:br>
            <a:r>
              <a:rPr lang="ru-RU" dirty="0" smtClean="0"/>
              <a:t>в квадратных скобках:</a:t>
            </a:r>
            <a:br>
              <a:rPr lang="ru-RU" dirty="0" smtClean="0"/>
            </a:br>
            <a:r>
              <a:rPr lang="en-US" dirty="0" smtClean="0"/>
              <a:t/>
            </a:r>
            <a:br>
              <a:rPr lang="en-US" dirty="0" smtClean="0"/>
            </a:br>
            <a:r>
              <a:rPr lang="en-US" dirty="0" smtClean="0"/>
              <a:t>public </a:t>
            </a:r>
            <a:r>
              <a:rPr lang="en-US" dirty="0" err="1" smtClean="0"/>
              <a:t>int</a:t>
            </a:r>
            <a:r>
              <a:rPr lang="en-US" dirty="0" smtClean="0"/>
              <a:t> pop() {</a:t>
            </a:r>
            <a:br>
              <a:rPr lang="en-US" dirty="0" smtClean="0"/>
            </a:br>
            <a:r>
              <a:rPr lang="en-US" dirty="0" smtClean="0"/>
              <a:t>if (size == 0)</a:t>
            </a:r>
            <a:br>
              <a:rPr lang="en-US" dirty="0" smtClean="0"/>
            </a:br>
            <a:r>
              <a:rPr lang="en-US" dirty="0" smtClean="0"/>
              <a:t>throw new Underflow();</a:t>
            </a:r>
            <a:br>
              <a:rPr lang="en-US" dirty="0" smtClean="0"/>
            </a:br>
            <a:r>
              <a:rPr lang="en-US" dirty="0" smtClean="0"/>
              <a:t>--size;</a:t>
            </a:r>
            <a:br>
              <a:rPr lang="en-US" dirty="0" smtClean="0"/>
            </a:br>
            <a:r>
              <a:rPr lang="en-US" dirty="0" smtClean="0"/>
              <a:t>return elements</a:t>
            </a:r>
            <a:r>
              <a:rPr lang="en-US" b="1" dirty="0" smtClean="0"/>
              <a:t>[]</a:t>
            </a:r>
            <a:r>
              <a:rPr lang="en-US" dirty="0" smtClean="0"/>
              <a:t>;</a:t>
            </a:r>
            <a:br>
              <a:rPr lang="en-US" dirty="0" smtClean="0"/>
            </a:br>
            <a:r>
              <a:rPr lang="en-US" dirty="0" smtClean="0"/>
              <a:t>}</a:t>
            </a:r>
            <a:br>
              <a:rPr lang="en-US" dirty="0" smtClean="0"/>
            </a:br>
            <a:r>
              <a:rPr lang="ru-RU" dirty="0" smtClean="0"/>
              <a:t>О, смотрите! Сюда можно поместить декремент переменной --</a:t>
            </a:r>
            <a:r>
              <a:rPr lang="en-US" dirty="0" smtClean="0"/>
              <a:t>size:</a:t>
            </a:r>
            <a:br>
              <a:rPr lang="en-US" dirty="0" smtClean="0"/>
            </a:br>
            <a:r>
              <a:rPr lang="en-US" dirty="0" smtClean="0"/>
              <a:t/>
            </a:r>
            <a:br>
              <a:rPr lang="en-US" dirty="0" smtClean="0"/>
            </a:br>
            <a:r>
              <a:rPr lang="en-US" dirty="0" smtClean="0"/>
              <a:t>public </a:t>
            </a:r>
            <a:r>
              <a:rPr lang="en-US" dirty="0" err="1" smtClean="0"/>
              <a:t>int</a:t>
            </a:r>
            <a:r>
              <a:rPr lang="en-US" dirty="0" smtClean="0"/>
              <a:t> pop() { </a:t>
            </a:r>
            <a:br>
              <a:rPr lang="en-US" dirty="0" smtClean="0"/>
            </a:br>
            <a:r>
              <a:rPr lang="en-US" dirty="0" smtClean="0"/>
              <a:t> if (size == 0)</a:t>
            </a:r>
            <a:br>
              <a:rPr lang="en-US" dirty="0" smtClean="0"/>
            </a:br>
            <a:r>
              <a:rPr lang="en-US" dirty="0" smtClean="0"/>
              <a:t>throw new Underflow();</a:t>
            </a:r>
            <a:br>
              <a:rPr lang="en-US" dirty="0" smtClean="0"/>
            </a:br>
            <a:r>
              <a:rPr lang="en-US" dirty="0" smtClean="0"/>
              <a:t>return elements[</a:t>
            </a:r>
            <a:r>
              <a:rPr lang="en-US" b="1" dirty="0" smtClean="0"/>
              <a:t>--size</a:t>
            </a:r>
            <a:r>
              <a:rPr lang="en-US" dirty="0" smtClean="0"/>
              <a:t>];</a:t>
            </a:r>
            <a:br>
              <a:rPr lang="en-US" dirty="0" smtClean="0"/>
            </a:br>
            <a:r>
              <a:rPr lang="en-US" dirty="0" smtClean="0"/>
              <a:t>} </a:t>
            </a:r>
            <a:br>
              <a:rPr lang="en-US" dirty="0" smtClean="0"/>
            </a:br>
            <a:r>
              <a:rPr lang="en-US" dirty="0" smtClean="0"/>
              <a:t> </a:t>
            </a:r>
            <a:br>
              <a:rPr lang="en-US" dirty="0" smtClean="0"/>
            </a:br>
            <a:r>
              <a:rPr lang="en-US" dirty="0" smtClean="0"/>
              <a:t> </a:t>
            </a:r>
            <a:br>
              <a:rPr lang="en-US" dirty="0" smtClean="0"/>
            </a:br>
            <a:r>
              <a:rPr lang="en-US" dirty="0" smtClean="0"/>
              <a:t> </a:t>
            </a:r>
            <a:r>
              <a:rPr lang="ru-RU" dirty="0" smtClean="0"/>
              <a:t/>
            </a:r>
            <a:br>
              <a:rPr lang="ru-RU" dirty="0" smtClean="0"/>
            </a:br>
            <a:r>
              <a:rPr lang="ru-RU" dirty="0" smtClean="0"/>
              <a:t> </a:t>
            </a:r>
            <a:r>
              <a:rPr lang="en-US" dirty="0" smtClean="0"/>
              <a:t/>
            </a:r>
            <a:br>
              <a:rPr lang="en-US" dirty="0" smtClean="0"/>
            </a:br>
            <a:r>
              <a:rPr lang="en-US" dirty="0" smtClean="0"/>
              <a:t/>
            </a:r>
            <a:br>
              <a:rPr lang="en-US" dirty="0" smtClean="0"/>
            </a:br>
            <a:r>
              <a:rPr lang="en-US" dirty="0" smtClean="0"/>
              <a:t> </a:t>
            </a:r>
            <a:r>
              <a:rPr lang="en-US" b="1" dirty="0" smtClean="0"/>
              <a:t/>
            </a:r>
            <a:br>
              <a:rPr lang="en-US" b="1" dirty="0" smtClean="0"/>
            </a:br>
            <a:r>
              <a:rPr lang="ru-RU" dirty="0" smtClean="0"/>
              <a:t/>
            </a:r>
            <a:br>
              <a:rPr lang="ru-RU" dirty="0" smtClean="0"/>
            </a:br>
            <a:r>
              <a:rPr lang="ru-RU" dirty="0" smtClean="0"/>
              <a:t> </a:t>
            </a:r>
            <a:r>
              <a:rPr lang="en-US" dirty="0" smtClean="0"/>
              <a:t/>
            </a:r>
            <a:br>
              <a:rPr lang="en-US" dirty="0" smtClean="0"/>
            </a:br>
            <a:r>
              <a:rPr lang="en-US" dirty="0" smtClean="0"/>
              <a:t> </a:t>
            </a:r>
            <a:br>
              <a:rPr lang="en-US" dirty="0" smtClean="0"/>
            </a:br>
            <a:r>
              <a:rPr lang="en-US" dirty="0" smtClean="0"/>
              <a:t/>
            </a:r>
            <a:br>
              <a:rPr lang="en-US" dirty="0" smtClean="0"/>
            </a:br>
            <a:r>
              <a:rPr lang="ru-RU" dirty="0" smtClean="0"/>
              <a:t/>
            </a:r>
            <a:br>
              <a:rPr lang="ru-RU" dirty="0" smtClean="0"/>
            </a:br>
            <a:endParaRPr lang="ru-RU" b="1" dirty="0" smtClean="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404664"/>
            <a:ext cx="8229600" cy="576064"/>
          </a:xfrm>
        </p:spPr>
        <p:txBody>
          <a:bodyPr>
            <a:normAutofit/>
          </a:bodyPr>
          <a:lstStyle/>
          <a:p>
            <a:r>
              <a:rPr lang="ru-RU" sz="2800" dirty="0" smtClean="0"/>
              <a:t>Пример </a:t>
            </a:r>
            <a:r>
              <a:rPr lang="en-US" sz="2800" dirty="0" smtClean="0"/>
              <a:t>TDD</a:t>
            </a:r>
            <a:endParaRPr lang="ru-RU" dirty="0"/>
          </a:p>
        </p:txBody>
      </p:sp>
      <p:sp>
        <p:nvSpPr>
          <p:cNvPr id="4" name="Содержимое 3"/>
          <p:cNvSpPr>
            <a:spLocks noGrp="1"/>
          </p:cNvSpPr>
          <p:nvPr>
            <p:ph idx="1"/>
          </p:nvPr>
        </p:nvSpPr>
        <p:spPr>
          <a:xfrm>
            <a:off x="467544" y="881336"/>
            <a:ext cx="8229600" cy="7732240"/>
          </a:xfrm>
        </p:spPr>
        <p:txBody>
          <a:bodyPr>
            <a:normAutofit fontScale="62500" lnSpcReduction="20000"/>
          </a:bodyPr>
          <a:lstStyle/>
          <a:p>
            <a:pPr indent="0">
              <a:buNone/>
            </a:pPr>
            <a:r>
              <a:rPr lang="ru-RU" i="1" dirty="0" smtClean="0"/>
              <a:t>Правило 4. Пишите самый простой, самый конкретный, самый</a:t>
            </a:r>
            <a:br>
              <a:rPr lang="ru-RU" i="1" dirty="0" smtClean="0"/>
            </a:br>
            <a:r>
              <a:rPr lang="ru-RU" i="1" dirty="0" smtClean="0"/>
              <a:t>вырожденный1 тест, который не будет пройден.</a:t>
            </a:r>
            <a:r>
              <a:rPr lang="ru-RU" dirty="0" smtClean="0"/>
              <a:t> </a:t>
            </a:r>
            <a:br>
              <a:rPr lang="ru-RU" dirty="0" smtClean="0"/>
            </a:br>
            <a:r>
              <a:rPr lang="ru-RU" dirty="0" smtClean="0"/>
              <a:t> </a:t>
            </a:r>
            <a:br>
              <a:rPr lang="ru-RU" dirty="0" smtClean="0"/>
            </a:br>
            <a:r>
              <a:rPr lang="ru-RU" dirty="0" smtClean="0"/>
              <a:t>Требуется найти простые сомножители для набора целых чисел. </a:t>
            </a:r>
            <a:br>
              <a:rPr lang="ru-RU" dirty="0" smtClean="0"/>
            </a:br>
            <a:r>
              <a:rPr lang="ru-RU" dirty="0" smtClean="0"/>
              <a:t>В нашем случае — это умножение на 1 И самый вырожденный тест,</a:t>
            </a:r>
            <a:br>
              <a:rPr lang="ru-RU" dirty="0" smtClean="0"/>
            </a:br>
            <a:r>
              <a:rPr lang="ru-RU" dirty="0" smtClean="0"/>
              <a:t>который не будет пройден, — просто вернуть значение </a:t>
            </a:r>
            <a:r>
              <a:rPr lang="en-US" dirty="0" smtClean="0"/>
              <a:t>null</a:t>
            </a:r>
            <a:br>
              <a:rPr lang="en-US" dirty="0" smtClean="0"/>
            </a:br>
            <a:r>
              <a:rPr lang="en-US" b="1" dirty="0" smtClean="0"/>
              <a:t>public class </a:t>
            </a:r>
            <a:r>
              <a:rPr lang="en-US" b="1" dirty="0" err="1" smtClean="0"/>
              <a:t>PrimeFactorsTest</a:t>
            </a:r>
            <a:r>
              <a:rPr lang="en-US" b="1" dirty="0" smtClean="0"/>
              <a:t> {</a:t>
            </a:r>
            <a:br>
              <a:rPr lang="en-US" b="1" dirty="0" smtClean="0"/>
            </a:br>
            <a:r>
              <a:rPr lang="en-US" b="1" dirty="0" smtClean="0"/>
              <a:t>@Test</a:t>
            </a:r>
            <a:br>
              <a:rPr lang="en-US" b="1" dirty="0" smtClean="0"/>
            </a:br>
            <a:r>
              <a:rPr lang="en-US" b="1" dirty="0" smtClean="0"/>
              <a:t>public void factors() throws Exception {</a:t>
            </a:r>
            <a:br>
              <a:rPr lang="en-US" b="1" dirty="0" smtClean="0"/>
            </a:br>
            <a:r>
              <a:rPr lang="en-US" b="1" dirty="0" err="1" smtClean="0"/>
              <a:t>assertThat</a:t>
            </a:r>
            <a:r>
              <a:rPr lang="en-US" b="1" dirty="0" smtClean="0"/>
              <a:t>(</a:t>
            </a:r>
            <a:r>
              <a:rPr lang="en-US" b="1" dirty="0" err="1" smtClean="0"/>
              <a:t>factorsOf</a:t>
            </a:r>
            <a:r>
              <a:rPr lang="en-US" b="1" dirty="0" smtClean="0"/>
              <a:t>(1), is(empty()));</a:t>
            </a:r>
            <a:br>
              <a:rPr lang="en-US" b="1" dirty="0" smtClean="0"/>
            </a:br>
            <a:r>
              <a:rPr lang="en-US" b="1" dirty="0" smtClean="0"/>
              <a:t>}</a:t>
            </a:r>
            <a:br>
              <a:rPr lang="en-US" b="1" dirty="0" smtClean="0"/>
            </a:br>
            <a:r>
              <a:rPr lang="en-US" b="1" dirty="0" smtClean="0"/>
              <a:t>private List&lt;Integer&gt; </a:t>
            </a:r>
            <a:r>
              <a:rPr lang="en-US" b="1" dirty="0" err="1" smtClean="0"/>
              <a:t>factorsOf</a:t>
            </a:r>
            <a:r>
              <a:rPr lang="en-US" b="1" dirty="0" smtClean="0"/>
              <a:t>(</a:t>
            </a:r>
            <a:r>
              <a:rPr lang="en-US" b="1" dirty="0" err="1" smtClean="0"/>
              <a:t>int</a:t>
            </a:r>
            <a:r>
              <a:rPr lang="en-US" b="1" dirty="0" smtClean="0"/>
              <a:t> n) {</a:t>
            </a:r>
            <a:br>
              <a:rPr lang="en-US" b="1" dirty="0" smtClean="0"/>
            </a:br>
            <a:r>
              <a:rPr lang="en-US" b="1" dirty="0" smtClean="0"/>
              <a:t>return null;</a:t>
            </a:r>
            <a:br>
              <a:rPr lang="en-US" b="1" dirty="0" smtClean="0"/>
            </a:br>
            <a:r>
              <a:rPr lang="en-US" b="1" dirty="0" smtClean="0"/>
              <a:t>}</a:t>
            </a:r>
            <a:br>
              <a:rPr lang="en-US" b="1" dirty="0" smtClean="0"/>
            </a:br>
            <a:r>
              <a:rPr lang="en-US" b="1" dirty="0" smtClean="0"/>
              <a:t>}</a:t>
            </a:r>
            <a:r>
              <a:rPr lang="en-US" dirty="0" smtClean="0"/>
              <a:t> </a:t>
            </a:r>
            <a:br>
              <a:rPr lang="en-US" dirty="0" smtClean="0"/>
            </a:br>
            <a:r>
              <a:rPr lang="en-US" dirty="0" smtClean="0"/>
              <a:t> </a:t>
            </a:r>
            <a:br>
              <a:rPr lang="en-US" dirty="0" smtClean="0"/>
            </a:br>
            <a:r>
              <a:rPr lang="en-US" dirty="0" smtClean="0"/>
              <a:t> </a:t>
            </a:r>
            <a:br>
              <a:rPr lang="en-US" dirty="0" smtClean="0"/>
            </a:br>
            <a:r>
              <a:rPr lang="en-US" dirty="0" smtClean="0"/>
              <a:t> </a:t>
            </a:r>
            <a:r>
              <a:rPr lang="ru-RU" dirty="0" smtClean="0"/>
              <a:t/>
            </a:r>
            <a:br>
              <a:rPr lang="ru-RU" dirty="0" smtClean="0"/>
            </a:br>
            <a:r>
              <a:rPr lang="ru-RU" dirty="0" smtClean="0"/>
              <a:t> </a:t>
            </a:r>
            <a:r>
              <a:rPr lang="en-US" dirty="0" smtClean="0"/>
              <a:t/>
            </a:r>
            <a:br>
              <a:rPr lang="en-US" dirty="0" smtClean="0"/>
            </a:br>
            <a:r>
              <a:rPr lang="en-US" dirty="0" smtClean="0"/>
              <a:t/>
            </a:r>
            <a:br>
              <a:rPr lang="en-US" dirty="0" smtClean="0"/>
            </a:br>
            <a:r>
              <a:rPr lang="en-US" dirty="0" smtClean="0"/>
              <a:t> </a:t>
            </a:r>
            <a:r>
              <a:rPr lang="en-US" b="1" dirty="0" smtClean="0"/>
              <a:t/>
            </a:r>
            <a:br>
              <a:rPr lang="en-US" b="1" dirty="0" smtClean="0"/>
            </a:br>
            <a:r>
              <a:rPr lang="ru-RU" dirty="0" smtClean="0"/>
              <a:t/>
            </a:r>
            <a:br>
              <a:rPr lang="ru-RU" dirty="0" smtClean="0"/>
            </a:br>
            <a:r>
              <a:rPr lang="ru-RU" dirty="0" smtClean="0"/>
              <a:t> </a:t>
            </a:r>
            <a:r>
              <a:rPr lang="en-US" dirty="0" smtClean="0"/>
              <a:t/>
            </a:r>
            <a:br>
              <a:rPr lang="en-US" dirty="0" smtClean="0"/>
            </a:br>
            <a:r>
              <a:rPr lang="en-US" dirty="0" smtClean="0"/>
              <a:t> </a:t>
            </a:r>
            <a:br>
              <a:rPr lang="en-US" dirty="0" smtClean="0"/>
            </a:br>
            <a:r>
              <a:rPr lang="en-US" dirty="0" smtClean="0"/>
              <a:t/>
            </a:r>
            <a:br>
              <a:rPr lang="en-US" dirty="0" smtClean="0"/>
            </a:br>
            <a:r>
              <a:rPr lang="ru-RU" dirty="0" smtClean="0"/>
              <a:t/>
            </a:r>
            <a:br>
              <a:rPr lang="ru-RU" dirty="0" smtClean="0"/>
            </a:br>
            <a:endParaRPr lang="ru-RU" b="1" dirty="0" smtClean="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404664"/>
            <a:ext cx="8229600" cy="576064"/>
          </a:xfrm>
        </p:spPr>
        <p:txBody>
          <a:bodyPr>
            <a:normAutofit/>
          </a:bodyPr>
          <a:lstStyle/>
          <a:p>
            <a:r>
              <a:rPr lang="ru-RU" sz="2800" dirty="0" smtClean="0"/>
              <a:t>Пример </a:t>
            </a:r>
            <a:r>
              <a:rPr lang="en-US" sz="2800" dirty="0" smtClean="0"/>
              <a:t>TDD</a:t>
            </a:r>
            <a:endParaRPr lang="ru-RU" dirty="0"/>
          </a:p>
        </p:txBody>
      </p:sp>
      <p:sp>
        <p:nvSpPr>
          <p:cNvPr id="4" name="Содержимое 3"/>
          <p:cNvSpPr>
            <a:spLocks noGrp="1"/>
          </p:cNvSpPr>
          <p:nvPr>
            <p:ph idx="1"/>
          </p:nvPr>
        </p:nvSpPr>
        <p:spPr>
          <a:xfrm>
            <a:off x="467544" y="881336"/>
            <a:ext cx="8229600" cy="7732240"/>
          </a:xfrm>
        </p:spPr>
        <p:txBody>
          <a:bodyPr>
            <a:normAutofit fontScale="62500" lnSpcReduction="20000"/>
          </a:bodyPr>
          <a:lstStyle/>
          <a:p>
            <a:pPr indent="0">
              <a:buNone/>
            </a:pPr>
            <a:r>
              <a:rPr lang="ru-RU" i="1" dirty="0" smtClean="0"/>
              <a:t>Правило 5. По возможности обобщайте.</a:t>
            </a:r>
            <a:r>
              <a:rPr lang="ru-RU" dirty="0" smtClean="0"/>
              <a:t> </a:t>
            </a:r>
            <a:br>
              <a:rPr lang="ru-RU" dirty="0" smtClean="0"/>
            </a:br>
            <a:r>
              <a:rPr lang="ru-RU" dirty="0" smtClean="0"/>
              <a:t> </a:t>
            </a:r>
            <a:r>
              <a:rPr lang="ru-RU" i="1" dirty="0" smtClean="0"/>
              <a:t>По мере того как тесты становятся более конкретными, код становится более универсальным.</a:t>
            </a:r>
            <a:r>
              <a:rPr lang="ru-RU" dirty="0" smtClean="0"/>
              <a:t> </a:t>
            </a:r>
            <a:br>
              <a:rPr lang="ru-RU" dirty="0" smtClean="0"/>
            </a:br>
            <a:r>
              <a:rPr lang="ru-RU" dirty="0" smtClean="0"/>
              <a:t> </a:t>
            </a:r>
            <a:br>
              <a:rPr lang="ru-RU" dirty="0" smtClean="0"/>
            </a:br>
            <a:r>
              <a:rPr lang="ru-RU" dirty="0" smtClean="0"/>
              <a:t> </a:t>
            </a:r>
            <a:br>
              <a:rPr lang="ru-RU" dirty="0" smtClean="0"/>
            </a:br>
            <a:r>
              <a:rPr lang="ru-RU" i="1" dirty="0" smtClean="0"/>
              <a:t> Правило 6. Если вам кажется, что с кодом что-то не так, то внесите коррективы в проект и только потом продолжайте работу.</a:t>
            </a:r>
            <a:r>
              <a:rPr lang="ru-RU" dirty="0" smtClean="0"/>
              <a:t> </a:t>
            </a:r>
            <a:br>
              <a:rPr lang="ru-RU" dirty="0" smtClean="0"/>
            </a:br>
            <a:r>
              <a:rPr lang="ru-RU" dirty="0" smtClean="0"/>
              <a:t> </a:t>
            </a:r>
          </a:p>
          <a:p>
            <a:pPr indent="0">
              <a:buNone/>
            </a:pPr>
            <a:r>
              <a:rPr lang="ru-RU" i="1" dirty="0" smtClean="0"/>
              <a:t>Правило 7. Полностью протестируйте текущий, более простой случай и только потом переходите к более сложному.</a:t>
            </a:r>
            <a:r>
              <a:rPr lang="ru-RU" dirty="0" smtClean="0"/>
              <a:t> </a:t>
            </a:r>
            <a:br>
              <a:rPr lang="ru-RU" dirty="0" smtClean="0"/>
            </a:br>
            <a:r>
              <a:rPr lang="ru-RU" dirty="0" smtClean="0"/>
              <a:t> </a:t>
            </a:r>
          </a:p>
          <a:p>
            <a:pPr indent="0">
              <a:buNone/>
            </a:pPr>
            <a:r>
              <a:rPr lang="ru-RU" i="1" dirty="0" smtClean="0"/>
              <a:t>Правило 8. Если для прохождения текущего теста требуется написать слишком много кода, то удалите этот тест и напишите более простой, который будет легче пройти.</a:t>
            </a:r>
            <a:r>
              <a:rPr lang="ru-RU" dirty="0" smtClean="0"/>
              <a:t> </a:t>
            </a:r>
            <a:br>
              <a:rPr lang="ru-RU" dirty="0" smtClean="0"/>
            </a:br>
            <a:r>
              <a:rPr lang="ru-RU" dirty="0" smtClean="0"/>
              <a:t> </a:t>
            </a:r>
            <a:r>
              <a:rPr lang="en-US" dirty="0" smtClean="0"/>
              <a:t/>
            </a:r>
            <a:br>
              <a:rPr lang="en-US" dirty="0" smtClean="0"/>
            </a:br>
            <a:r>
              <a:rPr lang="en-US" dirty="0" smtClean="0"/>
              <a:t> </a:t>
            </a:r>
            <a:r>
              <a:rPr lang="ru-RU" i="1" dirty="0" smtClean="0"/>
              <a:t>Правило 9. Пошагово следуйте найденному шаблону, который</a:t>
            </a:r>
            <a:br>
              <a:rPr lang="ru-RU" i="1" dirty="0" smtClean="0"/>
            </a:br>
            <a:r>
              <a:rPr lang="ru-RU" i="1" dirty="0" smtClean="0"/>
              <a:t>охватывает тестовое пространство.</a:t>
            </a:r>
            <a:r>
              <a:rPr lang="ru-RU" dirty="0" smtClean="0"/>
              <a:t> </a:t>
            </a:r>
            <a:br>
              <a:rPr lang="ru-RU" dirty="0" smtClean="0"/>
            </a:br>
            <a:r>
              <a:rPr lang="ru-RU" dirty="0" smtClean="0"/>
              <a:t> </a:t>
            </a:r>
            <a:r>
              <a:rPr lang="en-US" dirty="0" smtClean="0"/>
              <a:t/>
            </a:r>
            <a:br>
              <a:rPr lang="en-US" dirty="0" smtClean="0"/>
            </a:br>
            <a:r>
              <a:rPr lang="en-US" dirty="0" smtClean="0"/>
              <a:t> </a:t>
            </a:r>
            <a:r>
              <a:rPr lang="ru-RU" dirty="0" smtClean="0"/>
              <a:t/>
            </a:r>
            <a:br>
              <a:rPr lang="ru-RU" dirty="0" smtClean="0"/>
            </a:br>
            <a:r>
              <a:rPr lang="ru-RU" dirty="0" smtClean="0"/>
              <a:t> </a:t>
            </a:r>
            <a:r>
              <a:rPr lang="en-US" dirty="0" smtClean="0"/>
              <a:t/>
            </a:r>
            <a:br>
              <a:rPr lang="en-US" dirty="0" smtClean="0"/>
            </a:br>
            <a:r>
              <a:rPr lang="en-US" dirty="0" smtClean="0"/>
              <a:t/>
            </a:r>
            <a:br>
              <a:rPr lang="en-US" dirty="0" smtClean="0"/>
            </a:br>
            <a:r>
              <a:rPr lang="en-US" dirty="0" smtClean="0"/>
              <a:t> </a:t>
            </a:r>
            <a:r>
              <a:rPr lang="en-US" b="1" dirty="0" smtClean="0"/>
              <a:t/>
            </a:r>
            <a:br>
              <a:rPr lang="en-US" b="1" dirty="0" smtClean="0"/>
            </a:br>
            <a:r>
              <a:rPr lang="ru-RU" dirty="0" smtClean="0"/>
              <a:t/>
            </a:r>
            <a:br>
              <a:rPr lang="ru-RU" dirty="0" smtClean="0"/>
            </a:br>
            <a:r>
              <a:rPr lang="ru-RU" dirty="0" smtClean="0"/>
              <a:t> </a:t>
            </a:r>
            <a:r>
              <a:rPr lang="en-US" dirty="0" smtClean="0"/>
              <a:t/>
            </a:r>
            <a:br>
              <a:rPr lang="en-US" dirty="0" smtClean="0"/>
            </a:br>
            <a:r>
              <a:rPr lang="en-US" dirty="0" smtClean="0"/>
              <a:t> </a:t>
            </a:r>
            <a:br>
              <a:rPr lang="en-US" dirty="0" smtClean="0"/>
            </a:br>
            <a:r>
              <a:rPr lang="en-US" dirty="0" smtClean="0"/>
              <a:t/>
            </a:r>
            <a:br>
              <a:rPr lang="en-US" dirty="0" smtClean="0"/>
            </a:br>
            <a:r>
              <a:rPr lang="ru-RU" dirty="0" smtClean="0"/>
              <a:t/>
            </a:r>
            <a:br>
              <a:rPr lang="ru-RU" dirty="0" smtClean="0"/>
            </a:br>
            <a:endParaRPr lang="ru-RU" b="1" dirty="0" smtClean="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404664"/>
            <a:ext cx="8229600" cy="576064"/>
          </a:xfrm>
        </p:spPr>
        <p:txBody>
          <a:bodyPr>
            <a:normAutofit/>
          </a:bodyPr>
          <a:lstStyle/>
          <a:p>
            <a:r>
              <a:rPr lang="en-US" sz="2800" dirty="0" smtClean="0"/>
              <a:t>BDD</a:t>
            </a:r>
            <a:endParaRPr lang="ru-RU" dirty="0"/>
          </a:p>
        </p:txBody>
      </p:sp>
      <p:sp>
        <p:nvSpPr>
          <p:cNvPr id="4" name="Содержимое 3"/>
          <p:cNvSpPr>
            <a:spLocks noGrp="1"/>
          </p:cNvSpPr>
          <p:nvPr>
            <p:ph idx="1"/>
          </p:nvPr>
        </p:nvSpPr>
        <p:spPr>
          <a:xfrm>
            <a:off x="467544" y="881336"/>
            <a:ext cx="8229600" cy="7732240"/>
          </a:xfrm>
        </p:spPr>
        <p:txBody>
          <a:bodyPr>
            <a:normAutofit fontScale="47500" lnSpcReduction="20000"/>
          </a:bodyPr>
          <a:lstStyle/>
          <a:p>
            <a:pPr indent="0">
              <a:buNone/>
            </a:pPr>
            <a:r>
              <a:rPr lang="ru-RU" dirty="0" smtClean="0"/>
              <a:t>В 2003 году практикующий преподаватель TDD Дэн </a:t>
            </a:r>
            <a:r>
              <a:rPr lang="ru-RU" dirty="0" err="1" smtClean="0"/>
              <a:t>Норт</a:t>
            </a:r>
            <a:r>
              <a:rPr lang="ru-RU" dirty="0" smtClean="0"/>
              <a:t> (</a:t>
            </a:r>
            <a:r>
              <a:rPr lang="ru-RU" dirty="0" err="1" smtClean="0"/>
              <a:t>Dan</a:t>
            </a:r>
            <a:r>
              <a:rPr lang="ru-RU" dirty="0" smtClean="0"/>
              <a:t/>
            </a:r>
            <a:br>
              <a:rPr lang="ru-RU" dirty="0" smtClean="0"/>
            </a:br>
            <a:r>
              <a:rPr lang="ru-RU" dirty="0" err="1" smtClean="0"/>
              <a:t>North</a:t>
            </a:r>
            <a:r>
              <a:rPr lang="ru-RU" dirty="0" smtClean="0"/>
              <a:t>) совместно с </a:t>
            </a:r>
            <a:r>
              <a:rPr lang="ru-RU" dirty="0" err="1" smtClean="0"/>
              <a:t>Крисом</a:t>
            </a:r>
            <a:r>
              <a:rPr lang="ru-RU" dirty="0" smtClean="0"/>
              <a:t> Стивенсоном (</a:t>
            </a:r>
            <a:r>
              <a:rPr lang="ru-RU" dirty="0" err="1" smtClean="0"/>
              <a:t>Chris</a:t>
            </a:r>
            <a:r>
              <a:rPr lang="ru-RU" dirty="0" smtClean="0"/>
              <a:t> </a:t>
            </a:r>
            <a:r>
              <a:rPr lang="ru-RU" dirty="0" err="1" smtClean="0"/>
              <a:t>Stevenson</a:t>
            </a:r>
            <a:r>
              <a:rPr lang="ru-RU" dirty="0" smtClean="0"/>
              <a:t>) и </a:t>
            </a:r>
            <a:r>
              <a:rPr lang="ru-RU" dirty="0" err="1" smtClean="0"/>
              <a:t>Крисом</a:t>
            </a:r>
            <a:r>
              <a:rPr lang="ru-RU" dirty="0" smtClean="0"/>
              <a:t/>
            </a:r>
            <a:br>
              <a:rPr lang="ru-RU" dirty="0" smtClean="0"/>
            </a:br>
            <a:r>
              <a:rPr lang="ru-RU" dirty="0" err="1" smtClean="0"/>
              <a:t>Матцем</a:t>
            </a:r>
            <a:r>
              <a:rPr lang="ru-RU" dirty="0" smtClean="0"/>
              <a:t> (</a:t>
            </a:r>
            <a:r>
              <a:rPr lang="ru-RU" dirty="0" err="1" smtClean="0"/>
              <a:t>Chris</a:t>
            </a:r>
            <a:r>
              <a:rPr lang="ru-RU" dirty="0" smtClean="0"/>
              <a:t> </a:t>
            </a:r>
            <a:r>
              <a:rPr lang="ru-RU" dirty="0" err="1" smtClean="0"/>
              <a:t>Matz</a:t>
            </a:r>
            <a:r>
              <a:rPr lang="ru-RU" dirty="0" smtClean="0"/>
              <a:t>) сделали то же открытие, что и Билл </a:t>
            </a:r>
            <a:r>
              <a:rPr lang="ru-RU" dirty="0" err="1" smtClean="0"/>
              <a:t>Уэйк</a:t>
            </a:r>
            <a:r>
              <a:rPr lang="ru-RU" dirty="0" smtClean="0"/>
              <a:t>, но</a:t>
            </a:r>
            <a:br>
              <a:rPr lang="ru-RU" dirty="0" smtClean="0"/>
            </a:br>
            <a:r>
              <a:rPr lang="ru-RU" dirty="0" smtClean="0"/>
              <a:t>назвали его по-другому: </a:t>
            </a:r>
            <a:r>
              <a:rPr lang="ru-RU" dirty="0" err="1" smtClean="0"/>
              <a:t>Given-When-Then</a:t>
            </a:r>
            <a:r>
              <a:rPr lang="ru-RU" dirty="0" smtClean="0"/>
              <a:t> (GWT)</a:t>
            </a:r>
            <a:br>
              <a:rPr lang="ru-RU" dirty="0" smtClean="0"/>
            </a:br>
            <a:endParaRPr lang="ru-RU" dirty="0" smtClean="0"/>
          </a:p>
          <a:p>
            <a:pPr indent="0">
              <a:buNone/>
            </a:pPr>
            <a:r>
              <a:rPr lang="ru-RU" dirty="0" smtClean="0"/>
              <a:t>Это послужило началом новой методологии: </a:t>
            </a:r>
            <a:r>
              <a:rPr lang="ru-RU" i="1" dirty="0" smtClean="0"/>
              <a:t>разработки, управляемой поведением </a:t>
            </a:r>
            <a:r>
              <a:rPr lang="ru-RU" dirty="0" smtClean="0"/>
              <a:t>(</a:t>
            </a:r>
            <a:r>
              <a:rPr lang="ru-RU" dirty="0" err="1" smtClean="0"/>
              <a:t>behavior-driven</a:t>
            </a:r>
            <a:r>
              <a:rPr lang="ru-RU" dirty="0" smtClean="0"/>
              <a:t> </a:t>
            </a:r>
            <a:r>
              <a:rPr lang="ru-RU" dirty="0" err="1" smtClean="0"/>
              <a:t>development</a:t>
            </a:r>
            <a:r>
              <a:rPr lang="ru-RU" dirty="0" smtClean="0"/>
              <a:t>, BDD)</a:t>
            </a:r>
            <a:br>
              <a:rPr lang="ru-RU" dirty="0" smtClean="0"/>
            </a:br>
            <a:endParaRPr lang="ru-RU" dirty="0" smtClean="0"/>
          </a:p>
          <a:p>
            <a:pPr indent="0">
              <a:buNone/>
            </a:pPr>
            <a:r>
              <a:rPr lang="ru-RU" dirty="0" smtClean="0"/>
              <a:t>Сначала BDD считали улучшенным способом написания тестов Дэну</a:t>
            </a:r>
            <a:br>
              <a:rPr lang="ru-RU" dirty="0" smtClean="0"/>
            </a:br>
            <a:r>
              <a:rPr lang="ru-RU" dirty="0" smtClean="0"/>
              <a:t>и другим сторонникам этой методологии новый словарь понравился больше, и его добавили в такие инструменты тестирования, как</a:t>
            </a:r>
            <a:br>
              <a:rPr lang="ru-RU" dirty="0" smtClean="0"/>
            </a:br>
            <a:r>
              <a:rPr lang="ru-RU" dirty="0" err="1" smtClean="0"/>
              <a:t>JBehave</a:t>
            </a:r>
            <a:r>
              <a:rPr lang="ru-RU" dirty="0" smtClean="0"/>
              <a:t> и </a:t>
            </a:r>
            <a:r>
              <a:rPr lang="ru-RU" dirty="0" err="1" smtClean="0"/>
              <a:t>RSpec</a:t>
            </a:r>
            <a:r>
              <a:rPr lang="ru-RU" dirty="0" smtClean="0"/>
              <a:t/>
            </a:r>
            <a:br>
              <a:rPr lang="ru-RU" dirty="0" smtClean="0"/>
            </a:br>
            <a:endParaRPr lang="ru-RU" dirty="0" smtClean="0"/>
          </a:p>
          <a:p>
            <a:pPr indent="0">
              <a:buNone/>
            </a:pPr>
            <a:r>
              <a:rPr lang="ru-RU" dirty="0" smtClean="0"/>
              <a:t>В терминах BDD тест </a:t>
            </a:r>
            <a:r>
              <a:rPr lang="ru-RU" dirty="0" err="1" smtClean="0"/>
              <a:t>gutterGame</a:t>
            </a:r>
            <a:r>
              <a:rPr lang="ru-RU" dirty="0" smtClean="0"/>
              <a:t> будет выглядеть так:</a:t>
            </a:r>
            <a:br>
              <a:rPr lang="ru-RU" dirty="0" smtClean="0"/>
            </a:br>
            <a:endParaRPr lang="ru-RU" dirty="0" smtClean="0"/>
          </a:p>
          <a:p>
            <a:pPr indent="0"/>
            <a:r>
              <a:rPr lang="ru-RU" dirty="0" smtClean="0"/>
              <a:t>Если дано (</a:t>
            </a:r>
            <a:r>
              <a:rPr lang="ru-RU" dirty="0" err="1" smtClean="0"/>
              <a:t>Given</a:t>
            </a:r>
            <a:r>
              <a:rPr lang="ru-RU" dirty="0" smtClean="0"/>
              <a:t>), что за игру шар попал в желоб 20 раз,</a:t>
            </a:r>
          </a:p>
          <a:p>
            <a:pPr indent="0"/>
            <a:r>
              <a:rPr lang="ru-RU" dirty="0" smtClean="0"/>
              <a:t>Когда (</a:t>
            </a:r>
            <a:r>
              <a:rPr lang="ru-RU" dirty="0" err="1" smtClean="0"/>
              <a:t>When</a:t>
            </a:r>
            <a:r>
              <a:rPr lang="ru-RU" dirty="0" smtClean="0"/>
              <a:t>) запрашивается счет игры,</a:t>
            </a:r>
          </a:p>
          <a:p>
            <a:pPr indent="0"/>
            <a:r>
              <a:rPr lang="ru-RU" dirty="0" smtClean="0"/>
              <a:t>Тогда (</a:t>
            </a:r>
            <a:r>
              <a:rPr lang="ru-RU" dirty="0" err="1" smtClean="0"/>
              <a:t>Then</a:t>
            </a:r>
            <a:r>
              <a:rPr lang="ru-RU" dirty="0" smtClean="0"/>
              <a:t>) этот счет равен нулю.</a:t>
            </a:r>
            <a:br>
              <a:rPr lang="ru-RU" dirty="0" smtClean="0"/>
            </a:br>
            <a:endParaRPr lang="ru-RU" dirty="0" smtClean="0"/>
          </a:p>
          <a:p>
            <a:pPr indent="0">
              <a:buNone/>
            </a:pPr>
            <a:r>
              <a:rPr lang="ru-RU" dirty="0" smtClean="0"/>
              <a:t>Понятно, что для превращения такой записи в исполняемый тест</a:t>
            </a:r>
            <a:br>
              <a:rPr lang="ru-RU" dirty="0" smtClean="0"/>
            </a:br>
            <a:r>
              <a:rPr lang="ru-RU" dirty="0" smtClean="0"/>
              <a:t>требуется синтаксический анализ Его можно выполнить с помощью</a:t>
            </a:r>
            <a:br>
              <a:rPr lang="ru-RU" dirty="0" smtClean="0"/>
            </a:br>
            <a:r>
              <a:rPr lang="ru-RU" dirty="0" smtClean="0"/>
              <a:t>инструментов </a:t>
            </a:r>
            <a:r>
              <a:rPr lang="ru-RU" dirty="0" err="1" smtClean="0"/>
              <a:t>JBehave</a:t>
            </a:r>
            <a:r>
              <a:rPr lang="ru-RU" dirty="0" smtClean="0"/>
              <a:t> и </a:t>
            </a:r>
            <a:r>
              <a:rPr lang="ru-RU" dirty="0" err="1" smtClean="0"/>
              <a:t>RSpec</a:t>
            </a:r>
            <a:r>
              <a:rPr lang="ru-RU" dirty="0" smtClean="0"/>
              <a:t> Очевидна и синонимичность тестов</a:t>
            </a:r>
            <a:br>
              <a:rPr lang="ru-RU" dirty="0" smtClean="0"/>
            </a:br>
            <a:r>
              <a:rPr lang="ru-RU" dirty="0" smtClean="0"/>
              <a:t>TDD и BDD </a:t>
            </a:r>
            <a:r>
              <a:rPr lang="ru-RU" i="1" dirty="0" smtClean="0"/>
              <a:t>.</a:t>
            </a:r>
            <a:r>
              <a:rPr lang="ru-RU" dirty="0" smtClean="0"/>
              <a:t> </a:t>
            </a:r>
            <a:br>
              <a:rPr lang="ru-RU" dirty="0" smtClean="0"/>
            </a:br>
            <a:r>
              <a:rPr lang="ru-RU" dirty="0" smtClean="0"/>
              <a:t> </a:t>
            </a:r>
            <a:r>
              <a:rPr lang="en-US" dirty="0" smtClean="0"/>
              <a:t/>
            </a:r>
            <a:br>
              <a:rPr lang="en-US" dirty="0" smtClean="0"/>
            </a:br>
            <a:r>
              <a:rPr lang="en-US" dirty="0" smtClean="0"/>
              <a:t> </a:t>
            </a:r>
            <a:r>
              <a:rPr lang="ru-RU" dirty="0" smtClean="0"/>
              <a:t/>
            </a:r>
            <a:br>
              <a:rPr lang="ru-RU" dirty="0" smtClean="0"/>
            </a:br>
            <a:r>
              <a:rPr lang="ru-RU" dirty="0" smtClean="0"/>
              <a:t> </a:t>
            </a:r>
            <a:r>
              <a:rPr lang="en-US" dirty="0" smtClean="0"/>
              <a:t/>
            </a:r>
            <a:br>
              <a:rPr lang="en-US" dirty="0" smtClean="0"/>
            </a:br>
            <a:r>
              <a:rPr lang="en-US" dirty="0" smtClean="0"/>
              <a:t/>
            </a:r>
            <a:br>
              <a:rPr lang="en-US" dirty="0" smtClean="0"/>
            </a:br>
            <a:r>
              <a:rPr lang="en-US" dirty="0" smtClean="0"/>
              <a:t> </a:t>
            </a:r>
            <a:r>
              <a:rPr lang="en-US" b="1" dirty="0" smtClean="0"/>
              <a:t/>
            </a:r>
            <a:br>
              <a:rPr lang="en-US" b="1" dirty="0" smtClean="0"/>
            </a:br>
            <a:r>
              <a:rPr lang="ru-RU" dirty="0" smtClean="0"/>
              <a:t/>
            </a:r>
            <a:br>
              <a:rPr lang="ru-RU" dirty="0" smtClean="0"/>
            </a:br>
            <a:r>
              <a:rPr lang="ru-RU" dirty="0" smtClean="0"/>
              <a:t> </a:t>
            </a:r>
            <a:r>
              <a:rPr lang="en-US" dirty="0" smtClean="0"/>
              <a:t/>
            </a:r>
            <a:br>
              <a:rPr lang="en-US" dirty="0" smtClean="0"/>
            </a:br>
            <a:r>
              <a:rPr lang="en-US" dirty="0" smtClean="0"/>
              <a:t> </a:t>
            </a:r>
            <a:br>
              <a:rPr lang="en-US" dirty="0" smtClean="0"/>
            </a:br>
            <a:r>
              <a:rPr lang="en-US" dirty="0" smtClean="0"/>
              <a:t/>
            </a:r>
            <a:br>
              <a:rPr lang="en-US" dirty="0" smtClean="0"/>
            </a:br>
            <a:r>
              <a:rPr lang="ru-RU" dirty="0" smtClean="0"/>
              <a:t/>
            </a:r>
            <a:br>
              <a:rPr lang="ru-RU" dirty="0" smtClean="0"/>
            </a:br>
            <a:endParaRPr lang="ru-RU" b="1" dirty="0" smtClean="0"/>
          </a:p>
        </p:txBody>
      </p:sp>
    </p:spTree>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350</TotalTime>
  <Words>2384</Words>
  <Application>Microsoft Office PowerPoint</Application>
  <PresentationFormat>Экран (4:3)</PresentationFormat>
  <Paragraphs>196</Paragraphs>
  <Slides>55</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55</vt:i4>
      </vt:variant>
    </vt:vector>
  </HeadingPairs>
  <TitlesOfParts>
    <vt:vector size="56" baseType="lpstr">
      <vt:lpstr>Тема Office</vt:lpstr>
      <vt:lpstr>Слайд 1</vt:lpstr>
      <vt:lpstr>Системы контроля версий</vt:lpstr>
      <vt:lpstr>История систем контроля версий </vt:lpstr>
      <vt:lpstr>Типы систем контроля версий </vt:lpstr>
      <vt:lpstr>Локальные системы контроля версий </vt:lpstr>
      <vt:lpstr>Централизованные системы контроля версий </vt:lpstr>
      <vt:lpstr>Централизованные системы контроля версий </vt:lpstr>
      <vt:lpstr>Распределённые системы контроля версий  </vt:lpstr>
      <vt:lpstr>Распределённые системы контроля версий  </vt:lpstr>
      <vt:lpstr>RCS - система управления пересмотрами версий    </vt:lpstr>
      <vt:lpstr>RCS - система управления пересмотрами версий    </vt:lpstr>
      <vt:lpstr>CVS - система управления параллельными версиями   </vt:lpstr>
      <vt:lpstr>CVS - система управления параллельными версиями   </vt:lpstr>
      <vt:lpstr>Система управления версиями Subversion  </vt:lpstr>
      <vt:lpstr>CVS - система управления параллельными версиями   </vt:lpstr>
      <vt:lpstr>Система управления версиями Aegis   </vt:lpstr>
      <vt:lpstr>Система управления версиями Monotone   </vt:lpstr>
      <vt:lpstr>Система управления версиями Monotone    </vt:lpstr>
      <vt:lpstr>Система управления версиями Mercurial    </vt:lpstr>
      <vt:lpstr>Система управления версиями Bazaar    </vt:lpstr>
      <vt:lpstr>GitHub  </vt:lpstr>
      <vt:lpstr>GitHub  </vt:lpstr>
      <vt:lpstr>GitHub  </vt:lpstr>
      <vt:lpstr>GitHub  </vt:lpstr>
      <vt:lpstr>GitHub  </vt:lpstr>
      <vt:lpstr>GitHub  </vt:lpstr>
      <vt:lpstr>GitHub  </vt:lpstr>
      <vt:lpstr>GitHub  </vt:lpstr>
      <vt:lpstr>GitHub  </vt:lpstr>
      <vt:lpstr>GitHub  </vt:lpstr>
      <vt:lpstr>GitHub  </vt:lpstr>
      <vt:lpstr>GitHub  </vt:lpstr>
      <vt:lpstr>Три закона TDD</vt:lpstr>
      <vt:lpstr>Три закона TDD</vt:lpstr>
      <vt:lpstr>Три закона TDD</vt:lpstr>
      <vt:lpstr>Три закона TDD</vt:lpstr>
      <vt:lpstr>TDD</vt:lpstr>
      <vt:lpstr>Страх </vt:lpstr>
      <vt:lpstr>Рефакторинг</vt:lpstr>
      <vt:lpstr>Рефакторинг</vt:lpstr>
      <vt:lpstr>Пример TDD</vt:lpstr>
      <vt:lpstr>Пример TDD</vt:lpstr>
      <vt:lpstr>Пример TDD</vt:lpstr>
      <vt:lpstr>Пример TDD</vt:lpstr>
      <vt:lpstr>Пример TDD</vt:lpstr>
      <vt:lpstr>Пример TDD</vt:lpstr>
      <vt:lpstr>Пример TDD</vt:lpstr>
      <vt:lpstr>Пример TDD</vt:lpstr>
      <vt:lpstr>Пример TDD</vt:lpstr>
      <vt:lpstr>Пример TDD</vt:lpstr>
      <vt:lpstr>Пример TDD</vt:lpstr>
      <vt:lpstr>Пример TDD</vt:lpstr>
      <vt:lpstr>Пример TDD</vt:lpstr>
      <vt:lpstr>Пример TDD</vt:lpstr>
      <vt:lpstr>BDD</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Слайд 1</dc:title>
  <dc:creator>Александра Титова</dc:creator>
  <cp:lastModifiedBy>Александра Титова</cp:lastModifiedBy>
  <cp:revision>21</cp:revision>
  <dcterms:created xsi:type="dcterms:W3CDTF">2023-11-09T10:09:41Z</dcterms:created>
  <dcterms:modified xsi:type="dcterms:W3CDTF">2023-12-24T12:30:00Z</dcterms:modified>
</cp:coreProperties>
</file>