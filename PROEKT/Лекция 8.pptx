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uit.ru/studies/courses/48/48/literatur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uit.ru/studies/courses/48/48/lecture/1428?page=3" TargetMode="External"/><Relationship Id="rId2" Type="http://schemas.openxmlformats.org/officeDocument/2006/relationships/hyperlink" Target="https://www.intuit.ru/studies/courses/48/48/literatur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uit.ru/studies/courses/48/48/lecture/1430?page=2" TargetMode="External"/><Relationship Id="rId2" Type="http://schemas.openxmlformats.org/officeDocument/2006/relationships/hyperlink" Target="https://www.intuit.ru/studies/courses/48/48/lecture/1430?page=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uit.ru/studies/courses/48/48/literature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uit.ru/studies/courses/48/48/literature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uit.ru/studies/courses/48/48/literature" TargetMode="External"/><Relationship Id="rId2" Type="http://schemas.openxmlformats.org/officeDocument/2006/relationships/hyperlink" Target="https://www.intuit.ru/studies/courses/48/48/lecture/1432?page=2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Концепция тестирования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b="1" i="1" dirty="0" smtClean="0"/>
              <a:t>Отладка (</a:t>
            </a:r>
            <a:r>
              <a:rPr lang="ru-RU" b="1" i="1" dirty="0" err="1" smtClean="0"/>
              <a:t>debug</a:t>
            </a:r>
            <a:r>
              <a:rPr lang="ru-RU" b="1" i="1" dirty="0" smtClean="0"/>
              <a:t>, </a:t>
            </a:r>
            <a:r>
              <a:rPr lang="ru-RU" b="1" i="1" dirty="0" err="1" smtClean="0"/>
              <a:t>debugging</a:t>
            </a:r>
            <a:r>
              <a:rPr lang="ru-RU" b="1" i="1" dirty="0" smtClean="0"/>
              <a:t>)</a:t>
            </a:r>
            <a:r>
              <a:rPr lang="ru-RU" dirty="0" smtClean="0"/>
              <a:t> – процесс поиска, локализации и исправления ошибок в программе [IEEE Std.610-12.1990].</a:t>
            </a:r>
          </a:p>
          <a:p>
            <a:r>
              <a:rPr lang="ru-RU" dirty="0" smtClean="0"/>
              <a:t>Термин " </a:t>
            </a:r>
            <a:r>
              <a:rPr lang="ru-RU" i="1" dirty="0" smtClean="0"/>
              <a:t>отладка</a:t>
            </a:r>
            <a:r>
              <a:rPr lang="ru-RU" dirty="0" smtClean="0"/>
              <a:t> " в отечественной литературе используется двояко: для обозначения активности по поиску ошибок (собственно </a:t>
            </a:r>
            <a:r>
              <a:rPr lang="ru-RU" i="1" dirty="0" smtClean="0"/>
              <a:t>тестирование</a:t>
            </a:r>
            <a:r>
              <a:rPr lang="ru-RU" dirty="0" smtClean="0"/>
              <a:t>), по нахождению причин их появления и исправлению, или активности по локализации и исправлению ошибок.</a:t>
            </a:r>
          </a:p>
          <a:p>
            <a:r>
              <a:rPr lang="ru-RU" b="1" i="1" dirty="0" smtClean="0"/>
              <a:t>Тестирование</a:t>
            </a:r>
            <a:r>
              <a:rPr lang="ru-RU" dirty="0" smtClean="0"/>
              <a:t> обеспечивает выявление (констатацию наличия) фактов расхождений с требованиями (ошибок).</a:t>
            </a:r>
          </a:p>
          <a:p>
            <a:r>
              <a:rPr lang="ru-RU" dirty="0" smtClean="0"/>
              <a:t>Как правило, на </a:t>
            </a:r>
            <a:r>
              <a:rPr lang="ru-RU" b="1" i="1" dirty="0" smtClean="0"/>
              <a:t>фазе тестирования</a:t>
            </a:r>
            <a:r>
              <a:rPr lang="ru-RU" dirty="0" smtClean="0"/>
              <a:t> осуществляется и исправление идентифицированных ошибок, включающее локализацию ошибок, нахождение причин ошибок и соответствующую корректировку программы тестируемого приложения (</a:t>
            </a:r>
            <a:r>
              <a:rPr lang="ru-RU" dirty="0" err="1" smtClean="0"/>
              <a:t>Application</a:t>
            </a:r>
            <a:r>
              <a:rPr lang="ru-RU" dirty="0" smtClean="0"/>
              <a:t> </a:t>
            </a:r>
            <a:r>
              <a:rPr lang="ru-RU" dirty="0" err="1" smtClean="0"/>
              <a:t>Under</a:t>
            </a:r>
            <a:r>
              <a:rPr lang="ru-RU" dirty="0" smtClean="0"/>
              <a:t> </a:t>
            </a:r>
            <a:r>
              <a:rPr lang="ru-RU" dirty="0" err="1" smtClean="0"/>
              <a:t>Testing</a:t>
            </a:r>
            <a:r>
              <a:rPr lang="ru-RU" dirty="0" smtClean="0"/>
              <a:t> (AUT) или </a:t>
            </a:r>
            <a:r>
              <a:rPr lang="ru-RU" dirty="0" err="1" smtClean="0"/>
              <a:t>Implementation</a:t>
            </a:r>
            <a:r>
              <a:rPr lang="ru-RU" dirty="0" smtClean="0"/>
              <a:t> </a:t>
            </a:r>
            <a:r>
              <a:rPr lang="ru-RU" dirty="0" err="1" smtClean="0"/>
              <a:t>Under</a:t>
            </a:r>
            <a:r>
              <a:rPr lang="ru-RU" dirty="0" smtClean="0"/>
              <a:t> </a:t>
            </a:r>
            <a:r>
              <a:rPr lang="ru-RU" dirty="0" err="1" smtClean="0"/>
              <a:t>Testing</a:t>
            </a:r>
            <a:r>
              <a:rPr lang="ru-RU" dirty="0" smtClean="0"/>
              <a:t> (IUT)).</a:t>
            </a:r>
          </a:p>
          <a:p>
            <a:r>
              <a:rPr lang="ru-RU" dirty="0" smtClean="0"/>
              <a:t>Если </a:t>
            </a:r>
            <a:r>
              <a:rPr lang="ru-RU" i="1" dirty="0" smtClean="0"/>
              <a:t>программа</a:t>
            </a:r>
            <a:r>
              <a:rPr lang="ru-RU" dirty="0" smtClean="0"/>
              <a:t> не содержит синтаксических ошибок (прошла трансляцию) и может быть выполнена на компьютере, она обязательно вычисляет какую-либо функцию, осуществляющую </a:t>
            </a:r>
            <a:r>
              <a:rPr lang="ru-RU" i="1" dirty="0" smtClean="0"/>
              <a:t>отображение</a:t>
            </a:r>
            <a:r>
              <a:rPr lang="ru-RU" dirty="0" smtClean="0"/>
              <a:t> входных данных в выходные. Это означает, что </a:t>
            </a:r>
            <a:r>
              <a:rPr lang="ru-RU" i="1" dirty="0" smtClean="0"/>
              <a:t>компьютер</a:t>
            </a:r>
            <a:r>
              <a:rPr lang="ru-RU" dirty="0" smtClean="0"/>
              <a:t> на своих ресурсах доопределяет частично определенную программой функцию до тотальной определенности. Следовательно, судить о правильности или неправильности результатов выполнения программы можно, только сравнивая спецификацию желаемой функции с результатами ее вычисления, что и осуществляется в процессе </a:t>
            </a:r>
            <a:r>
              <a:rPr lang="ru-RU" i="1" dirty="0" smtClean="0"/>
              <a:t>тестирования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Пример поиска и исправления ошибки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56792"/>
            <a:ext cx="8229600" cy="5501208"/>
          </a:xfrm>
        </p:spPr>
        <p:txBody>
          <a:bodyPr>
            <a:normAutofit fontScale="85000" lnSpcReduction="20000"/>
          </a:bodyPr>
          <a:lstStyle/>
          <a:p>
            <a:r>
              <a:rPr lang="ru-RU" b="1" i="1" dirty="0" smtClean="0"/>
              <a:t>Отладка</a:t>
            </a:r>
            <a:r>
              <a:rPr lang="ru-RU" dirty="0" smtClean="0"/>
              <a:t> обеспечивает локализацию ошибок, поиск причин ошибок и соответствующую корректировку программы</a:t>
            </a:r>
          </a:p>
          <a:p>
            <a:pPr>
              <a:buNone/>
            </a:pPr>
            <a:r>
              <a:rPr lang="en-US" dirty="0" smtClean="0"/>
              <a:t>Power(double </a:t>
            </a:r>
            <a:r>
              <a:rPr lang="en-US" dirty="0" err="1" smtClean="0"/>
              <a:t>x,int</a:t>
            </a:r>
            <a:r>
              <a:rPr lang="en-US" dirty="0" smtClean="0"/>
              <a:t> n)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double z=1;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for(</a:t>
            </a:r>
            <a:r>
              <a:rPr lang="en-US" dirty="0" err="1" smtClean="0"/>
              <a:t>i</a:t>
            </a:r>
            <a:r>
              <a:rPr lang="en-US" dirty="0" smtClean="0"/>
              <a:t>=1;n&gt;=</a:t>
            </a:r>
            <a:r>
              <a:rPr lang="en-US" dirty="0" err="1" smtClean="0"/>
              <a:t>i;i</a:t>
            </a:r>
            <a:r>
              <a:rPr lang="en-US" dirty="0" smtClean="0"/>
              <a:t>++)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z=z*x;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}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return z;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}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Пример поиска и исправления ошибки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56792"/>
            <a:ext cx="8229600" cy="5501208"/>
          </a:xfrm>
        </p:spPr>
        <p:txBody>
          <a:bodyPr numCol="2">
            <a:normAutofit fontScale="62500" lnSpcReduction="20000"/>
          </a:bodyPr>
          <a:lstStyle/>
          <a:p>
            <a:r>
              <a:rPr lang="ru-RU" dirty="0" smtClean="0"/>
              <a:t>Если вызвать метод </a:t>
            </a:r>
            <a:r>
              <a:rPr lang="ru-RU" dirty="0" err="1" smtClean="0"/>
              <a:t>Power</a:t>
            </a:r>
            <a:r>
              <a:rPr lang="ru-RU" dirty="0" smtClean="0"/>
              <a:t> с отрицательным значением степени </a:t>
            </a:r>
            <a:r>
              <a:rPr lang="ru-RU" dirty="0" err="1" smtClean="0"/>
              <a:t>n</a:t>
            </a:r>
            <a:r>
              <a:rPr lang="ru-RU" dirty="0" smtClean="0"/>
              <a:t> </a:t>
            </a:r>
            <a:r>
              <a:rPr lang="ru-RU" dirty="0" err="1" smtClean="0"/>
              <a:t>Power</a:t>
            </a:r>
            <a:r>
              <a:rPr lang="ru-RU" dirty="0" smtClean="0"/>
              <a:t>(2,-1), то получим некорректный результат 1. Исправим метод так, чтобы ошибочное значение параметра (недопустимое по спецификации значение) идентифицировалось специальным сообщением, а возвращаемый результат был равен 1</a:t>
            </a:r>
          </a:p>
          <a:p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err="1" smtClean="0"/>
              <a:t>double</a:t>
            </a:r>
            <a:r>
              <a:rPr lang="ru-RU" dirty="0" smtClean="0"/>
              <a:t> </a:t>
            </a:r>
            <a:r>
              <a:rPr lang="ru-RU" dirty="0" err="1" smtClean="0"/>
              <a:t>PowerNonNeg</a:t>
            </a:r>
            <a:r>
              <a:rPr lang="ru-RU" dirty="0" smtClean="0"/>
              <a:t>(</a:t>
            </a:r>
            <a:r>
              <a:rPr lang="ru-RU" dirty="0" err="1" smtClean="0"/>
              <a:t>double</a:t>
            </a:r>
            <a:r>
              <a:rPr lang="ru-RU" dirty="0" smtClean="0"/>
              <a:t> </a:t>
            </a:r>
            <a:r>
              <a:rPr lang="ru-RU" dirty="0" err="1" smtClean="0"/>
              <a:t>x</a:t>
            </a:r>
            <a:r>
              <a:rPr lang="ru-RU" dirty="0" smtClean="0"/>
              <a:t>, </a:t>
            </a:r>
            <a:r>
              <a:rPr lang="ru-RU" dirty="0" err="1" smtClean="0"/>
              <a:t>int</a:t>
            </a:r>
            <a:r>
              <a:rPr lang="ru-RU" dirty="0" smtClean="0"/>
              <a:t> </a:t>
            </a:r>
            <a:r>
              <a:rPr lang="ru-RU" dirty="0" err="1" smtClean="0"/>
              <a:t>n</a:t>
            </a:r>
            <a:r>
              <a:rPr lang="ru-RU" dirty="0" smtClean="0"/>
              <a:t>)</a:t>
            </a:r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double z=1;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if (n&gt;0)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for (</a:t>
            </a:r>
            <a:r>
              <a:rPr lang="en-US" dirty="0" err="1" smtClean="0"/>
              <a:t>i</a:t>
            </a:r>
            <a:r>
              <a:rPr lang="en-US" dirty="0" smtClean="0"/>
              <a:t>=1;n&gt;=</a:t>
            </a:r>
            <a:r>
              <a:rPr lang="en-US" dirty="0" err="1" smtClean="0"/>
              <a:t>i;i</a:t>
            </a:r>
            <a:r>
              <a:rPr lang="en-US" dirty="0" smtClean="0"/>
              <a:t>++)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z = z*x;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  }</a:t>
            </a:r>
          </a:p>
          <a:p>
            <a:pPr>
              <a:buNone/>
            </a:pPr>
            <a:r>
              <a:rPr lang="ru-RU" dirty="0" smtClean="0"/>
              <a:t>  </a:t>
            </a:r>
            <a:r>
              <a:rPr lang="ru-RU" dirty="0" err="1" smtClean="0"/>
              <a:t>else</a:t>
            </a:r>
            <a:r>
              <a:rPr lang="ru-RU" dirty="0" smtClean="0"/>
              <a:t> </a:t>
            </a:r>
            <a:r>
              <a:rPr lang="ru-RU" dirty="0" err="1" smtClean="0"/>
              <a:t>printf</a:t>
            </a:r>
            <a:r>
              <a:rPr lang="ru-RU" dirty="0" smtClean="0"/>
              <a:t>("Ошибка! Степень числа </a:t>
            </a:r>
            <a:r>
              <a:rPr lang="ru-RU" dirty="0" err="1" smtClean="0"/>
              <a:t>n</a:t>
            </a:r>
            <a:r>
              <a:rPr lang="ru-RU" dirty="0" smtClean="0"/>
              <a:t> должна быть больше 0.\n");</a:t>
            </a:r>
          </a:p>
          <a:p>
            <a:pPr>
              <a:buNone/>
            </a:pPr>
            <a:r>
              <a:rPr lang="ru-RU" dirty="0" smtClean="0"/>
              <a:t>  </a:t>
            </a:r>
            <a:r>
              <a:rPr lang="ru-RU" dirty="0" err="1" smtClean="0"/>
              <a:t>return</a:t>
            </a:r>
            <a:r>
              <a:rPr lang="ru-RU" dirty="0" smtClean="0"/>
              <a:t> </a:t>
            </a:r>
            <a:r>
              <a:rPr lang="ru-RU" dirty="0" err="1" smtClean="0"/>
              <a:t>z</a:t>
            </a:r>
            <a:r>
              <a:rPr lang="ru-RU" dirty="0" smtClean="0"/>
              <a:t>;</a:t>
            </a:r>
          </a:p>
          <a:p>
            <a:pPr>
              <a:buNone/>
            </a:pPr>
            <a:r>
              <a:rPr lang="ru-RU" dirty="0" smtClean="0"/>
              <a:t>}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Организация тестирования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56792"/>
            <a:ext cx="8229600" cy="5501208"/>
          </a:xfrm>
        </p:spPr>
        <p:txBody>
          <a:bodyPr numCol="1">
            <a:normAutofit fontScale="70000" lnSpcReduction="20000"/>
          </a:bodyPr>
          <a:lstStyle/>
          <a:p>
            <a:r>
              <a:rPr lang="ru-RU" i="1" dirty="0" smtClean="0"/>
              <a:t>Тестирование</a:t>
            </a:r>
            <a:r>
              <a:rPr lang="ru-RU" dirty="0" smtClean="0"/>
              <a:t> осуществляется на заданном заранее множестве входных данных X и множестве предполагаемых результатов Y – (X,Y), которые задают </a:t>
            </a:r>
            <a:r>
              <a:rPr lang="ru-RU" i="1" dirty="0" smtClean="0"/>
              <a:t>график</a:t>
            </a:r>
            <a:r>
              <a:rPr lang="ru-RU" dirty="0" smtClean="0"/>
              <a:t> желаемой функции. Кроме того, зафиксирована процедура </a:t>
            </a:r>
            <a:r>
              <a:rPr lang="ru-RU" b="1" i="1" dirty="0" smtClean="0"/>
              <a:t>Оракул (</a:t>
            </a:r>
            <a:r>
              <a:rPr lang="ru-RU" b="1" i="1" dirty="0" err="1" smtClean="0"/>
              <a:t>oracle</a:t>
            </a:r>
            <a:r>
              <a:rPr lang="ru-RU" b="1" i="1" dirty="0" smtClean="0"/>
              <a:t>)</a:t>
            </a:r>
            <a:r>
              <a:rPr lang="ru-RU" dirty="0" smtClean="0"/>
              <a:t>, которая определяет, соответствуют ли </a:t>
            </a:r>
            <a:r>
              <a:rPr lang="ru-RU" i="1" dirty="0" smtClean="0"/>
              <a:t>выходные данные</a:t>
            </a:r>
            <a:r>
              <a:rPr lang="ru-RU" dirty="0" smtClean="0"/>
              <a:t> – </a:t>
            </a:r>
            <a:r>
              <a:rPr lang="ru-RU" dirty="0" err="1" smtClean="0"/>
              <a:t>Yв</a:t>
            </a:r>
            <a:r>
              <a:rPr lang="ru-RU" dirty="0" smtClean="0"/>
              <a:t> (вычисленные по входным данным – X) желаемым результатам – Y, т.е. принадлежит ли каждая вычисленная точка (</a:t>
            </a:r>
            <a:r>
              <a:rPr lang="ru-RU" dirty="0" err="1" smtClean="0"/>
              <a:t>X,Yв</a:t>
            </a:r>
            <a:r>
              <a:rPr lang="ru-RU" dirty="0" smtClean="0"/>
              <a:t>) графику желаемой функции (X,Y).</a:t>
            </a:r>
          </a:p>
          <a:p>
            <a:r>
              <a:rPr lang="ru-RU" i="1" dirty="0" smtClean="0"/>
              <a:t>Оракул</a:t>
            </a:r>
            <a:r>
              <a:rPr lang="ru-RU" dirty="0" smtClean="0"/>
              <a:t> дает заключение о факте появления неправильной пары (</a:t>
            </a:r>
            <a:r>
              <a:rPr lang="ru-RU" dirty="0" err="1" smtClean="0"/>
              <a:t>X,Yв</a:t>
            </a:r>
            <a:r>
              <a:rPr lang="ru-RU" dirty="0" smtClean="0"/>
              <a:t>) и ничего не говорит о том, каким образом она была вычислена или каков правильный </a:t>
            </a:r>
            <a:r>
              <a:rPr lang="ru-RU" i="1" dirty="0" smtClean="0"/>
              <a:t>алгоритм</a:t>
            </a:r>
            <a:r>
              <a:rPr lang="ru-RU" dirty="0" smtClean="0"/>
              <a:t> – он только сравнивает вычисленные и желаемые результаты. </a:t>
            </a:r>
            <a:r>
              <a:rPr lang="ru-RU" i="1" dirty="0" smtClean="0"/>
              <a:t>Оракулом</a:t>
            </a:r>
            <a:r>
              <a:rPr lang="ru-RU" dirty="0" smtClean="0"/>
              <a:t> может быть даже Заказчик или программист, производящий соответствующие вычисления в уме, поскольку </a:t>
            </a:r>
            <a:r>
              <a:rPr lang="ru-RU" i="1" dirty="0" smtClean="0"/>
              <a:t>Оракулу</a:t>
            </a:r>
            <a:r>
              <a:rPr lang="ru-RU" dirty="0" smtClean="0"/>
              <a:t> нужен какой-либо альтернативный способ получения функции (X,Y) для вычисления эталонных значений Y.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/>
              <a:t>Пример выполнения программы с заказанными контрольными точками и анализом трасс и дампов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56792"/>
            <a:ext cx="8229600" cy="5501208"/>
          </a:xfrm>
        </p:spPr>
        <p:txBody>
          <a:bodyPr numCol="1">
            <a:normAutofit fontScale="55000" lnSpcReduction="20000"/>
          </a:bodyPr>
          <a:lstStyle/>
          <a:p>
            <a:pPr lvl="0"/>
            <a:r>
              <a:rPr lang="ru-RU" b="1" i="1" dirty="0" smtClean="0"/>
              <a:t>Контрольная точка (</a:t>
            </a:r>
            <a:r>
              <a:rPr lang="ru-RU" b="1" i="1" dirty="0" err="1" smtClean="0"/>
              <a:t>breakpoint</a:t>
            </a:r>
            <a:r>
              <a:rPr lang="ru-RU" b="1" i="1" dirty="0" smtClean="0"/>
              <a:t>)</a:t>
            </a:r>
            <a:r>
              <a:rPr lang="ru-RU" dirty="0" smtClean="0"/>
              <a:t> – </a:t>
            </a:r>
            <a:r>
              <a:rPr lang="ru-RU" dirty="0" err="1" smtClean="0"/>
              <a:t>точка</a:t>
            </a:r>
            <a:r>
              <a:rPr lang="ru-RU" dirty="0" smtClean="0"/>
              <a:t> программы, которая при ее достижении посылает отладчику сигнал. По этому сигналу либо временно приостанавливается выполнение отлаживаемой программы, либо запускается программа "агент", фиксирующая состояние заранее определенных переменных или областей в данный момент.</a:t>
            </a:r>
          </a:p>
          <a:p>
            <a:pPr lvl="0"/>
            <a:r>
              <a:rPr lang="ru-RU" dirty="0" smtClean="0"/>
              <a:t>Когда выполнение в контрольной точке приостанавливается, отлаживаемая программа переходит в режим останова (</a:t>
            </a:r>
            <a:r>
              <a:rPr lang="ru-RU" dirty="0" err="1" smtClean="0"/>
              <a:t>break</a:t>
            </a:r>
            <a:r>
              <a:rPr lang="ru-RU" dirty="0" smtClean="0"/>
              <a:t> </a:t>
            </a:r>
            <a:r>
              <a:rPr lang="ru-RU" dirty="0" err="1" smtClean="0"/>
              <a:t>mode</a:t>
            </a:r>
            <a:r>
              <a:rPr lang="ru-RU" dirty="0" smtClean="0"/>
              <a:t>). Вход в режим останова не прерывает и не заканчивает выполнение программы и позволяет анализировать состояние отдельных переменных или структур данных. Возврат из режима </a:t>
            </a:r>
            <a:r>
              <a:rPr lang="ru-RU" dirty="0" err="1" smtClean="0"/>
              <a:t>break</a:t>
            </a:r>
            <a:r>
              <a:rPr lang="ru-RU" dirty="0" smtClean="0"/>
              <a:t> </a:t>
            </a:r>
            <a:r>
              <a:rPr lang="ru-RU" dirty="0" err="1" smtClean="0"/>
              <a:t>mode</a:t>
            </a:r>
            <a:r>
              <a:rPr lang="ru-RU" dirty="0" smtClean="0"/>
              <a:t> в режим выполнения может произойти в любой момент по желанию пользователя.</a:t>
            </a:r>
          </a:p>
          <a:p>
            <a:pPr lvl="0"/>
            <a:r>
              <a:rPr lang="ru-RU" dirty="0" smtClean="0"/>
              <a:t>Когда в контрольной точке вызывается программа "агент", она тоже приостанавливает выполнение отлаживаемой программы, но только на время, необходимое для фиксации состояния выбранных переменных или структур данных в специальном электронном журнале - Log-файле, после чего происходит автоматический возврат в режим исполнения.</a:t>
            </a:r>
          </a:p>
          <a:p>
            <a:pPr lvl="0"/>
            <a:r>
              <a:rPr lang="ru-RU" dirty="0" smtClean="0"/>
              <a:t>Трасса - это "сохраненный </a:t>
            </a:r>
            <a:r>
              <a:rPr lang="ru-RU" i="1" dirty="0" smtClean="0"/>
              <a:t>путь</a:t>
            </a:r>
            <a:r>
              <a:rPr lang="ru-RU" dirty="0" smtClean="0"/>
              <a:t> " на </a:t>
            </a:r>
            <a:r>
              <a:rPr lang="ru-RU" i="1" dirty="0" smtClean="0"/>
              <a:t>управляющем графе</a:t>
            </a:r>
            <a:r>
              <a:rPr lang="ru-RU" dirty="0" smtClean="0"/>
              <a:t> программы, т.е. зафиксированные в журнале записи о состояниях переменных в заданных точках в ходе выполнения программы.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717232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/>
              <a:t>Спецификация программы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На вход программа принимает два параметра: </a:t>
            </a:r>
            <a:r>
              <a:rPr lang="ru-RU" dirty="0" err="1" smtClean="0"/>
              <a:t>x</a:t>
            </a:r>
            <a:r>
              <a:rPr lang="ru-RU" dirty="0" smtClean="0"/>
              <a:t> - число, </a:t>
            </a:r>
            <a:r>
              <a:rPr lang="ru-RU" dirty="0" err="1" smtClean="0"/>
              <a:t>n</a:t>
            </a:r>
            <a:r>
              <a:rPr lang="ru-RU" dirty="0" smtClean="0"/>
              <a:t> – степень. Результат вычисления выводится на консоль.</a:t>
            </a:r>
          </a:p>
          <a:p>
            <a:pPr>
              <a:buNone/>
            </a:pPr>
            <a:r>
              <a:rPr lang="ru-RU" dirty="0" smtClean="0"/>
              <a:t>Значения числа и степени должны быть целыми.</a:t>
            </a:r>
          </a:p>
          <a:p>
            <a:pPr>
              <a:buNone/>
            </a:pPr>
            <a:r>
              <a:rPr lang="ru-RU" dirty="0" smtClean="0"/>
              <a:t>Значения числа, возводимого в степень, должны лежать в диапазоне – [0..999].</a:t>
            </a:r>
          </a:p>
          <a:p>
            <a:pPr>
              <a:buNone/>
            </a:pPr>
            <a:r>
              <a:rPr lang="ru-RU" dirty="0" smtClean="0"/>
              <a:t>Значения степени должны лежать в диапазоне – [1..100].</a:t>
            </a:r>
          </a:p>
          <a:p>
            <a:pPr>
              <a:buNone/>
            </a:pPr>
            <a:r>
              <a:rPr lang="ru-RU" dirty="0" smtClean="0"/>
              <a:t>Если числа, подаваемые на вход, лежат за пределами указанных диапазонов, то должно выдаваться сообщение об ошибке.</a:t>
            </a:r>
          </a:p>
          <a:p>
            <a:r>
              <a:rPr lang="ru-RU" b="1" dirty="0" smtClean="0"/>
              <a:t>Разработка тестов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Определим области эквивалентности входных параметров.</a:t>
            </a:r>
          </a:p>
          <a:p>
            <a:pPr>
              <a:buNone/>
            </a:pPr>
            <a:r>
              <a:rPr lang="ru-RU" dirty="0" smtClean="0"/>
              <a:t>Для </a:t>
            </a:r>
            <a:r>
              <a:rPr lang="ru-RU" dirty="0" err="1" smtClean="0"/>
              <a:t>x</a:t>
            </a:r>
            <a:r>
              <a:rPr lang="ru-RU" dirty="0" smtClean="0"/>
              <a:t> – числа, возводимого в степень, определим классы возможных значений:</a:t>
            </a:r>
          </a:p>
          <a:p>
            <a:pPr lvl="0">
              <a:buNone/>
            </a:pPr>
            <a:r>
              <a:rPr lang="ru-RU" dirty="0" err="1" smtClean="0"/>
              <a:t>x</a:t>
            </a:r>
            <a:r>
              <a:rPr lang="ru-RU" dirty="0" smtClean="0"/>
              <a:t> &lt; 0 (ошибочное)</a:t>
            </a:r>
          </a:p>
          <a:p>
            <a:pPr lvl="0">
              <a:buNone/>
            </a:pPr>
            <a:r>
              <a:rPr lang="ru-RU" dirty="0" err="1" smtClean="0"/>
              <a:t>x</a:t>
            </a:r>
            <a:r>
              <a:rPr lang="ru-RU" dirty="0" smtClean="0"/>
              <a:t> &gt; 999 (ошибочное)</a:t>
            </a:r>
          </a:p>
          <a:p>
            <a:pPr lvl="0">
              <a:buNone/>
            </a:pPr>
            <a:r>
              <a:rPr lang="ru-RU" dirty="0" err="1" smtClean="0"/>
              <a:t>x</a:t>
            </a:r>
            <a:r>
              <a:rPr lang="ru-RU" dirty="0" smtClean="0"/>
              <a:t> - не число (ошибочное)</a:t>
            </a:r>
          </a:p>
          <a:p>
            <a:pPr lvl="0">
              <a:buNone/>
            </a:pPr>
            <a:r>
              <a:rPr lang="ru-RU" dirty="0" smtClean="0"/>
              <a:t>0 &lt;= </a:t>
            </a:r>
            <a:r>
              <a:rPr lang="ru-RU" dirty="0" err="1" smtClean="0"/>
              <a:t>x</a:t>
            </a:r>
            <a:r>
              <a:rPr lang="ru-RU" dirty="0" smtClean="0"/>
              <a:t> &lt;= 999 (корректное)</a:t>
            </a:r>
          </a:p>
          <a:p>
            <a:pPr>
              <a:buNone/>
            </a:pPr>
            <a:r>
              <a:rPr lang="ru-RU" dirty="0" smtClean="0"/>
              <a:t>Для </a:t>
            </a:r>
            <a:r>
              <a:rPr lang="ru-RU" dirty="0" err="1" smtClean="0"/>
              <a:t>n</a:t>
            </a:r>
            <a:r>
              <a:rPr lang="ru-RU" dirty="0" smtClean="0"/>
              <a:t> – степени числа:</a:t>
            </a:r>
          </a:p>
          <a:p>
            <a:pPr lvl="0">
              <a:buNone/>
            </a:pPr>
            <a:r>
              <a:rPr lang="ru-RU" dirty="0" err="1" smtClean="0"/>
              <a:t>n</a:t>
            </a:r>
            <a:r>
              <a:rPr lang="ru-RU" dirty="0" smtClean="0"/>
              <a:t> &lt; 1 (ошибочное)</a:t>
            </a:r>
          </a:p>
          <a:p>
            <a:pPr lvl="0">
              <a:buNone/>
            </a:pPr>
            <a:r>
              <a:rPr lang="ru-RU" dirty="0" err="1" smtClean="0"/>
              <a:t>n</a:t>
            </a:r>
            <a:r>
              <a:rPr lang="ru-RU" dirty="0" smtClean="0"/>
              <a:t> &gt; 100 (ошибочное)</a:t>
            </a:r>
          </a:p>
          <a:p>
            <a:pPr lvl="0">
              <a:buNone/>
            </a:pPr>
            <a:r>
              <a:rPr lang="ru-RU" dirty="0" err="1" smtClean="0"/>
              <a:t>n</a:t>
            </a:r>
            <a:r>
              <a:rPr lang="ru-RU" dirty="0" smtClean="0"/>
              <a:t> - не число (ошибочное)</a:t>
            </a:r>
          </a:p>
          <a:p>
            <a:pPr lvl="0">
              <a:buNone/>
            </a:pPr>
            <a:r>
              <a:rPr lang="ru-RU" dirty="0" smtClean="0"/>
              <a:t>1 &lt;= </a:t>
            </a:r>
            <a:r>
              <a:rPr lang="ru-RU" dirty="0" err="1" smtClean="0"/>
              <a:t>n</a:t>
            </a:r>
            <a:r>
              <a:rPr lang="ru-RU" dirty="0" smtClean="0"/>
              <a:t> &lt;= 100 (корректное)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717232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/>
              <a:t>Анализ тестовых случаев</a:t>
            </a:r>
            <a:endParaRPr lang="ru-RU" sz="4800" dirty="0" smtClean="0"/>
          </a:p>
          <a:p>
            <a:pPr lvl="0">
              <a:buNone/>
            </a:pPr>
            <a:r>
              <a:rPr lang="ru-RU" dirty="0" smtClean="0"/>
              <a:t>Входные значения: (</a:t>
            </a:r>
            <a:r>
              <a:rPr lang="ru-RU" dirty="0" err="1" smtClean="0"/>
              <a:t>x</a:t>
            </a:r>
            <a:r>
              <a:rPr lang="ru-RU" dirty="0" smtClean="0"/>
              <a:t> = 2, </a:t>
            </a:r>
            <a:r>
              <a:rPr lang="ru-RU" dirty="0" err="1" smtClean="0"/>
              <a:t>n</a:t>
            </a:r>
            <a:r>
              <a:rPr lang="ru-RU" dirty="0" smtClean="0"/>
              <a:t> = 3) (покрывают классы 4, 8).</a:t>
            </a:r>
            <a:endParaRPr lang="ru-RU" sz="4800" dirty="0" smtClean="0"/>
          </a:p>
          <a:p>
            <a:pPr>
              <a:buNone/>
            </a:pPr>
            <a:r>
              <a:rPr lang="ru-RU" dirty="0" smtClean="0"/>
              <a:t>Ожидаемый результат: </a:t>
            </a:r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power</a:t>
            </a:r>
            <a:r>
              <a:rPr lang="ru-RU" dirty="0" smtClean="0"/>
              <a:t> </a:t>
            </a:r>
            <a:r>
              <a:rPr lang="ru-RU" dirty="0" err="1" smtClean="0"/>
              <a:t>n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x</a:t>
            </a:r>
            <a:r>
              <a:rPr lang="ru-RU" dirty="0" smtClean="0"/>
              <a:t> </a:t>
            </a:r>
            <a:r>
              <a:rPr lang="ru-RU" dirty="0" err="1" smtClean="0"/>
              <a:t>is</a:t>
            </a:r>
            <a:r>
              <a:rPr lang="ru-RU" dirty="0" smtClean="0"/>
              <a:t> 8.</a:t>
            </a:r>
            <a:endParaRPr lang="ru-RU" sz="4800" dirty="0" smtClean="0"/>
          </a:p>
          <a:p>
            <a:pPr lvl="0">
              <a:buNone/>
            </a:pPr>
            <a:r>
              <a:rPr lang="ru-RU" dirty="0" smtClean="0"/>
              <a:t>Входные значения: {(</a:t>
            </a:r>
            <a:r>
              <a:rPr lang="ru-RU" dirty="0" err="1" smtClean="0"/>
              <a:t>x</a:t>
            </a:r>
            <a:r>
              <a:rPr lang="ru-RU" dirty="0" smtClean="0"/>
              <a:t> = -1, </a:t>
            </a:r>
            <a:r>
              <a:rPr lang="ru-RU" dirty="0" err="1" smtClean="0"/>
              <a:t>n</a:t>
            </a:r>
            <a:r>
              <a:rPr lang="ru-RU" dirty="0" smtClean="0"/>
              <a:t> = 2),(</a:t>
            </a:r>
            <a:r>
              <a:rPr lang="ru-RU" dirty="0" err="1" smtClean="0"/>
              <a:t>x</a:t>
            </a:r>
            <a:r>
              <a:rPr lang="ru-RU" dirty="0" smtClean="0"/>
              <a:t> = 1000, </a:t>
            </a:r>
            <a:r>
              <a:rPr lang="ru-RU" dirty="0" err="1" smtClean="0"/>
              <a:t>n</a:t>
            </a:r>
            <a:r>
              <a:rPr lang="ru-RU" dirty="0" smtClean="0"/>
              <a:t> = 5)} (покрывают классы 1, 2).</a:t>
            </a:r>
            <a:endParaRPr lang="ru-RU" sz="4800" dirty="0" smtClean="0"/>
          </a:p>
          <a:p>
            <a:pPr>
              <a:buNone/>
            </a:pPr>
            <a:r>
              <a:rPr lang="ru-RU" dirty="0" smtClean="0"/>
              <a:t>Ожидаемый результат</a:t>
            </a:r>
            <a:r>
              <a:rPr lang="en-US" dirty="0" smtClean="0"/>
              <a:t>: Error : x must be in [0..999].</a:t>
            </a:r>
            <a:endParaRPr lang="ru-RU" sz="4800" dirty="0" smtClean="0"/>
          </a:p>
          <a:p>
            <a:pPr lvl="0">
              <a:buNone/>
            </a:pPr>
            <a:r>
              <a:rPr lang="ru-RU" dirty="0" smtClean="0"/>
              <a:t>Входные значения: {(</a:t>
            </a:r>
            <a:r>
              <a:rPr lang="ru-RU" dirty="0" err="1" smtClean="0"/>
              <a:t>x</a:t>
            </a:r>
            <a:r>
              <a:rPr lang="ru-RU" dirty="0" smtClean="0"/>
              <a:t> = 100, </a:t>
            </a:r>
            <a:r>
              <a:rPr lang="ru-RU" dirty="0" err="1" smtClean="0"/>
              <a:t>n</a:t>
            </a:r>
            <a:r>
              <a:rPr lang="ru-RU" dirty="0" smtClean="0"/>
              <a:t> = 0),(</a:t>
            </a:r>
            <a:r>
              <a:rPr lang="ru-RU" dirty="0" err="1" smtClean="0"/>
              <a:t>x</a:t>
            </a:r>
            <a:r>
              <a:rPr lang="ru-RU" dirty="0" smtClean="0"/>
              <a:t> = 100, </a:t>
            </a:r>
            <a:r>
              <a:rPr lang="ru-RU" dirty="0" err="1" smtClean="0"/>
              <a:t>n</a:t>
            </a:r>
            <a:r>
              <a:rPr lang="ru-RU" dirty="0" smtClean="0"/>
              <a:t> = 200)} (покрывают классы 5,6).</a:t>
            </a:r>
            <a:endParaRPr lang="ru-RU" sz="4800" dirty="0" smtClean="0"/>
          </a:p>
          <a:p>
            <a:pPr>
              <a:buNone/>
            </a:pPr>
            <a:r>
              <a:rPr lang="ru-RU" dirty="0" smtClean="0"/>
              <a:t>Ожидаемый результат</a:t>
            </a:r>
            <a:r>
              <a:rPr lang="en-US" dirty="0" smtClean="0"/>
              <a:t>: Error : n must be in [1..100].</a:t>
            </a:r>
            <a:endParaRPr lang="ru-RU" sz="4800" dirty="0" smtClean="0"/>
          </a:p>
          <a:p>
            <a:pPr lvl="0">
              <a:buNone/>
            </a:pPr>
            <a:r>
              <a:rPr lang="ru-RU" dirty="0" smtClean="0"/>
              <a:t>Входные значения: (</a:t>
            </a:r>
            <a:r>
              <a:rPr lang="ru-RU" dirty="0" err="1" smtClean="0"/>
              <a:t>x</a:t>
            </a:r>
            <a:r>
              <a:rPr lang="ru-RU" dirty="0" smtClean="0"/>
              <a:t> = </a:t>
            </a:r>
            <a:r>
              <a:rPr lang="ru-RU" i="1" dirty="0" smtClean="0"/>
              <a:t>ADS</a:t>
            </a:r>
            <a:r>
              <a:rPr lang="ru-RU" dirty="0" smtClean="0"/>
              <a:t> </a:t>
            </a:r>
            <a:r>
              <a:rPr lang="ru-RU" dirty="0" err="1" smtClean="0"/>
              <a:t>n</a:t>
            </a:r>
            <a:r>
              <a:rPr lang="ru-RU" dirty="0" smtClean="0"/>
              <a:t> = ASD) (покрывают классы эквивалентности 3, 7).</a:t>
            </a:r>
            <a:endParaRPr lang="ru-RU" sz="4800" dirty="0" smtClean="0"/>
          </a:p>
          <a:p>
            <a:pPr>
              <a:buNone/>
            </a:pPr>
            <a:r>
              <a:rPr lang="ru-RU" dirty="0" smtClean="0"/>
              <a:t>Ожидаемый результат</a:t>
            </a:r>
            <a:r>
              <a:rPr lang="en-US" dirty="0" smtClean="0"/>
              <a:t>: Error : Please enter a numeric argument.</a:t>
            </a:r>
            <a:endParaRPr lang="ru-RU" sz="4800" dirty="0" smtClean="0"/>
          </a:p>
          <a:p>
            <a:pPr lvl="0">
              <a:buNone/>
            </a:pPr>
            <a:r>
              <a:rPr lang="ru-RU" dirty="0" smtClean="0"/>
              <a:t>Проверка на граничные значения:</a:t>
            </a:r>
            <a:endParaRPr lang="ru-RU" sz="4800" dirty="0" smtClean="0"/>
          </a:p>
          <a:p>
            <a:pPr lvl="1">
              <a:buNone/>
            </a:pPr>
            <a:r>
              <a:rPr lang="ru-RU" dirty="0" smtClean="0"/>
              <a:t>Входные значения: (</a:t>
            </a:r>
            <a:r>
              <a:rPr lang="ru-RU" dirty="0" err="1" smtClean="0"/>
              <a:t>x</a:t>
            </a:r>
            <a:r>
              <a:rPr lang="ru-RU" dirty="0" smtClean="0"/>
              <a:t> = 999, </a:t>
            </a:r>
            <a:r>
              <a:rPr lang="ru-RU" dirty="0" err="1" smtClean="0"/>
              <a:t>n</a:t>
            </a:r>
            <a:r>
              <a:rPr lang="ru-RU" dirty="0" smtClean="0"/>
              <a:t> = 1).</a:t>
            </a:r>
            <a:endParaRPr lang="ru-RU" sz="4400" dirty="0" smtClean="0"/>
          </a:p>
          <a:p>
            <a:pPr>
              <a:buNone/>
            </a:pPr>
            <a:r>
              <a:rPr lang="ru-RU" dirty="0" smtClean="0"/>
              <a:t>Ожидаемый результат: </a:t>
            </a:r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power</a:t>
            </a:r>
            <a:r>
              <a:rPr lang="ru-RU" dirty="0" smtClean="0"/>
              <a:t> </a:t>
            </a:r>
            <a:r>
              <a:rPr lang="ru-RU" dirty="0" err="1" smtClean="0"/>
              <a:t>n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x</a:t>
            </a:r>
            <a:r>
              <a:rPr lang="ru-RU" dirty="0" smtClean="0"/>
              <a:t> </a:t>
            </a:r>
            <a:r>
              <a:rPr lang="ru-RU" dirty="0" err="1" smtClean="0"/>
              <a:t>is</a:t>
            </a:r>
            <a:r>
              <a:rPr lang="ru-RU" dirty="0" smtClean="0"/>
              <a:t> 999.</a:t>
            </a:r>
            <a:endParaRPr lang="ru-RU" sz="4800" dirty="0" smtClean="0"/>
          </a:p>
          <a:p>
            <a:pPr lvl="1">
              <a:buNone/>
            </a:pPr>
            <a:r>
              <a:rPr lang="ru-RU" dirty="0" smtClean="0"/>
              <a:t>Входные значения: (</a:t>
            </a:r>
            <a:r>
              <a:rPr lang="ru-RU" dirty="0" err="1" smtClean="0"/>
              <a:t>x</a:t>
            </a:r>
            <a:r>
              <a:rPr lang="ru-RU" dirty="0" smtClean="0"/>
              <a:t> = 0, </a:t>
            </a:r>
            <a:r>
              <a:rPr lang="ru-RU" dirty="0" err="1" smtClean="0"/>
              <a:t>n</a:t>
            </a:r>
            <a:r>
              <a:rPr lang="ru-RU" dirty="0" smtClean="0"/>
              <a:t> = 100).</a:t>
            </a:r>
            <a:endParaRPr lang="ru-RU" sz="4400" dirty="0" smtClean="0"/>
          </a:p>
          <a:p>
            <a:pPr>
              <a:buNone/>
            </a:pPr>
            <a:r>
              <a:rPr lang="ru-RU" dirty="0" smtClean="0"/>
              <a:t>Ожидаемый результат: </a:t>
            </a:r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power</a:t>
            </a:r>
            <a:r>
              <a:rPr lang="ru-RU" dirty="0" smtClean="0"/>
              <a:t> </a:t>
            </a:r>
            <a:r>
              <a:rPr lang="ru-RU" dirty="0" err="1" smtClean="0"/>
              <a:t>n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x</a:t>
            </a:r>
            <a:r>
              <a:rPr lang="ru-RU" dirty="0" smtClean="0"/>
              <a:t> </a:t>
            </a:r>
            <a:r>
              <a:rPr lang="ru-RU" dirty="0" err="1" smtClean="0"/>
              <a:t>is</a:t>
            </a:r>
            <a:r>
              <a:rPr lang="ru-RU" dirty="0" smtClean="0"/>
              <a:t> 0.</a:t>
            </a:r>
            <a:endParaRPr lang="ru-RU" sz="4800" dirty="0" smtClean="0"/>
          </a:p>
          <a:p>
            <a:r>
              <a:rPr lang="ru-RU" b="1" dirty="0" smtClean="0"/>
              <a:t>Выполнение тестовых случаев</a:t>
            </a:r>
            <a:endParaRPr lang="ru-RU" sz="4800" dirty="0" smtClean="0"/>
          </a:p>
          <a:p>
            <a:pPr>
              <a:buNone/>
            </a:pPr>
            <a:r>
              <a:rPr lang="ru-RU" dirty="0" smtClean="0"/>
              <a:t>Запустим программу с заданными значениями аргументов.</a:t>
            </a:r>
            <a:endParaRPr lang="ru-RU" sz="4800" dirty="0" smtClean="0"/>
          </a:p>
          <a:p>
            <a:r>
              <a:rPr lang="ru-RU" b="1" dirty="0" smtClean="0"/>
              <a:t>Оценка результатов выполнения программы на тестах</a:t>
            </a:r>
            <a:endParaRPr lang="ru-RU" sz="4800" dirty="0" smtClean="0"/>
          </a:p>
          <a:p>
            <a:pPr>
              <a:buNone/>
            </a:pPr>
            <a:r>
              <a:rPr lang="ru-RU" dirty="0" smtClean="0"/>
              <a:t>В процессе </a:t>
            </a:r>
            <a:r>
              <a:rPr lang="ru-RU" i="1" dirty="0" smtClean="0"/>
              <a:t>тестирования</a:t>
            </a:r>
            <a:r>
              <a:rPr lang="ru-RU" dirty="0" smtClean="0"/>
              <a:t> </a:t>
            </a:r>
            <a:r>
              <a:rPr lang="ru-RU" i="1" dirty="0" smtClean="0"/>
              <a:t>Оракул</a:t>
            </a:r>
            <a:r>
              <a:rPr lang="ru-RU" dirty="0" smtClean="0"/>
              <a:t> последовательно получает элементы множества (X,Y) и соответствующие им результаты вычислений YВ. В процессе </a:t>
            </a:r>
            <a:r>
              <a:rPr lang="ru-RU" i="1" dirty="0" smtClean="0"/>
              <a:t>тестирования</a:t>
            </a:r>
            <a:r>
              <a:rPr lang="ru-RU" dirty="0" smtClean="0"/>
              <a:t> производится оценка результатов выполнения путем сравнения получаемого результата с ожидаемым.</a:t>
            </a:r>
            <a:endParaRPr lang="ru-RU" sz="48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Три фазы тестирования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Реализация </a:t>
            </a:r>
            <a:r>
              <a:rPr lang="ru-RU" i="1" dirty="0" smtClean="0"/>
              <a:t>тестирования</a:t>
            </a:r>
            <a:r>
              <a:rPr lang="ru-RU" dirty="0" smtClean="0"/>
              <a:t> разделяется на три этапа:</a:t>
            </a:r>
          </a:p>
          <a:p>
            <a:pPr lvl="0"/>
            <a:r>
              <a:rPr lang="ru-RU" dirty="0" smtClean="0"/>
              <a:t>Создание </a:t>
            </a:r>
            <a:r>
              <a:rPr lang="ru-RU" i="1" dirty="0" smtClean="0"/>
              <a:t>тестового набора (</a:t>
            </a:r>
            <a:r>
              <a:rPr lang="ru-RU" i="1" dirty="0" err="1" smtClean="0"/>
              <a:t>test</a:t>
            </a:r>
            <a:r>
              <a:rPr lang="ru-RU" i="1" dirty="0" smtClean="0"/>
              <a:t> </a:t>
            </a:r>
            <a:r>
              <a:rPr lang="ru-RU" i="1" dirty="0" err="1" smtClean="0"/>
              <a:t>suite</a:t>
            </a:r>
            <a:r>
              <a:rPr lang="ru-RU" i="1" dirty="0" smtClean="0"/>
              <a:t>)</a:t>
            </a:r>
            <a:r>
              <a:rPr lang="ru-RU" dirty="0" smtClean="0"/>
              <a:t> путем ручной разработки или автоматической генерации для конкретной среды </a:t>
            </a:r>
            <a:r>
              <a:rPr lang="ru-RU" i="1" dirty="0" smtClean="0"/>
              <a:t>тестирования</a:t>
            </a:r>
            <a:r>
              <a:rPr lang="ru-RU" dirty="0" smtClean="0"/>
              <a:t> (</a:t>
            </a:r>
            <a:r>
              <a:rPr lang="ru-RU" i="1" dirty="0" err="1" smtClean="0"/>
              <a:t>testing</a:t>
            </a:r>
            <a:r>
              <a:rPr lang="ru-RU" i="1" dirty="0" smtClean="0"/>
              <a:t> </a:t>
            </a:r>
            <a:r>
              <a:rPr lang="ru-RU" i="1" dirty="0" err="1" smtClean="0"/>
              <a:t>environment</a:t>
            </a:r>
            <a:r>
              <a:rPr lang="ru-RU" dirty="0" smtClean="0"/>
              <a:t>).</a:t>
            </a:r>
          </a:p>
          <a:p>
            <a:pPr lvl="0"/>
            <a:r>
              <a:rPr lang="ru-RU" i="1" dirty="0" smtClean="0"/>
              <a:t>Прогон программы на тестах</a:t>
            </a:r>
            <a:r>
              <a:rPr lang="ru-RU" dirty="0" smtClean="0"/>
              <a:t>, управляемый тестовым монитором (</a:t>
            </a:r>
            <a:r>
              <a:rPr lang="ru-RU" i="1" dirty="0" err="1" smtClean="0"/>
              <a:t>test</a:t>
            </a:r>
            <a:r>
              <a:rPr lang="ru-RU" i="1" dirty="0" smtClean="0"/>
              <a:t> </a:t>
            </a:r>
            <a:r>
              <a:rPr lang="ru-RU" i="1" dirty="0" err="1" smtClean="0"/>
              <a:t>monitor</a:t>
            </a:r>
            <a:r>
              <a:rPr lang="ru-RU" dirty="0" smtClean="0"/>
              <a:t>, </a:t>
            </a:r>
            <a:r>
              <a:rPr lang="ru-RU" i="1" dirty="0" err="1" smtClean="0"/>
              <a:t>test</a:t>
            </a:r>
            <a:r>
              <a:rPr lang="ru-RU" i="1" dirty="0" smtClean="0"/>
              <a:t> </a:t>
            </a:r>
            <a:r>
              <a:rPr lang="ru-RU" i="1" dirty="0" err="1" smtClean="0"/>
              <a:t>driver</a:t>
            </a:r>
            <a:r>
              <a:rPr lang="ru-RU" dirty="0" smtClean="0"/>
              <a:t> [IEEE </a:t>
            </a:r>
            <a:r>
              <a:rPr lang="ru-RU" dirty="0" err="1" smtClean="0"/>
              <a:t>Std</a:t>
            </a:r>
            <a:r>
              <a:rPr lang="ru-RU" dirty="0" smtClean="0"/>
              <a:t> 829-1983]) с получением протокола результатов </a:t>
            </a:r>
            <a:r>
              <a:rPr lang="ru-RU" i="1" dirty="0" smtClean="0"/>
              <a:t>тестирования</a:t>
            </a:r>
            <a:r>
              <a:rPr lang="ru-RU" dirty="0" smtClean="0"/>
              <a:t> (</a:t>
            </a:r>
            <a:r>
              <a:rPr lang="ru-RU" i="1" dirty="0" err="1" smtClean="0"/>
              <a:t>test</a:t>
            </a:r>
            <a:r>
              <a:rPr lang="ru-RU" i="1" dirty="0" smtClean="0"/>
              <a:t> </a:t>
            </a:r>
            <a:r>
              <a:rPr lang="ru-RU" i="1" dirty="0" err="1" smtClean="0"/>
              <a:t>log</a:t>
            </a:r>
            <a:r>
              <a:rPr lang="ru-RU" dirty="0" smtClean="0"/>
              <a:t>).</a:t>
            </a:r>
          </a:p>
          <a:p>
            <a:pPr lvl="0"/>
            <a:r>
              <a:rPr lang="ru-RU" dirty="0" smtClean="0"/>
              <a:t>Оценка результатов выполнения программы на </a:t>
            </a:r>
            <a:r>
              <a:rPr lang="ru-RU" i="1" dirty="0" smtClean="0"/>
              <a:t>наборе тестов</a:t>
            </a:r>
            <a:r>
              <a:rPr lang="ru-RU" dirty="0" smtClean="0"/>
              <a:t> с целью принятия решения о продолжении или остановке </a:t>
            </a:r>
            <a:r>
              <a:rPr lang="ru-RU" i="1" dirty="0" smtClean="0"/>
              <a:t>тестирования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Основная </a:t>
            </a:r>
            <a:r>
              <a:rPr lang="ru-RU" i="1" dirty="0" smtClean="0"/>
              <a:t>проблема тестирования</a:t>
            </a:r>
            <a:r>
              <a:rPr lang="ru-RU" dirty="0" smtClean="0"/>
              <a:t> - </a:t>
            </a:r>
            <a:r>
              <a:rPr lang="ru-RU" i="1" dirty="0" smtClean="0"/>
              <a:t>определение</a:t>
            </a:r>
            <a:r>
              <a:rPr lang="ru-RU" dirty="0" smtClean="0"/>
              <a:t> достаточности </a:t>
            </a:r>
            <a:r>
              <a:rPr lang="ru-RU" i="1" dirty="0" smtClean="0"/>
              <a:t>множества</a:t>
            </a:r>
            <a:r>
              <a:rPr lang="ru-RU" dirty="0" smtClean="0"/>
              <a:t> тестов для истинности вывода о правильности реализации программы, а также нахождения </a:t>
            </a:r>
            <a:r>
              <a:rPr lang="ru-RU" i="1" dirty="0" smtClean="0"/>
              <a:t>множества</a:t>
            </a:r>
            <a:r>
              <a:rPr lang="ru-RU" dirty="0" smtClean="0"/>
              <a:t> тестов, обладающего этим свойством.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Управляющий граф программы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i="1" dirty="0" smtClean="0"/>
              <a:t>Управляющий граф программы (УГП)</a:t>
            </a:r>
            <a:r>
              <a:rPr lang="ru-RU" dirty="0" smtClean="0"/>
              <a:t> – граф G(V,A), где V(V</a:t>
            </a:r>
            <a:r>
              <a:rPr lang="ru-RU" baseline="-25000" dirty="0" smtClean="0"/>
              <a:t>1</a:t>
            </a:r>
            <a:r>
              <a:rPr lang="ru-RU" dirty="0" smtClean="0"/>
              <a:t>,… </a:t>
            </a:r>
            <a:r>
              <a:rPr lang="ru-RU" dirty="0" err="1" smtClean="0"/>
              <a:t>V</a:t>
            </a:r>
            <a:r>
              <a:rPr lang="ru-RU" baseline="-25000" dirty="0" err="1" smtClean="0"/>
              <a:t>m</a:t>
            </a:r>
            <a:r>
              <a:rPr lang="ru-RU" dirty="0" smtClean="0"/>
              <a:t>) – множество вершин (операторов), A(A</a:t>
            </a:r>
            <a:r>
              <a:rPr lang="ru-RU" baseline="-25000" dirty="0" smtClean="0"/>
              <a:t>1</a:t>
            </a:r>
            <a:r>
              <a:rPr lang="ru-RU" dirty="0" smtClean="0"/>
              <a:t>,… </a:t>
            </a:r>
            <a:r>
              <a:rPr lang="ru-RU" dirty="0" err="1" smtClean="0"/>
              <a:t>A</a:t>
            </a:r>
            <a:r>
              <a:rPr lang="ru-RU" baseline="-25000" dirty="0" err="1" smtClean="0"/>
              <a:t>n</a:t>
            </a:r>
            <a:r>
              <a:rPr lang="ru-RU" dirty="0" smtClean="0"/>
              <a:t>) – множество дуг (управлений), соединяющих операторы-вершины.</a:t>
            </a:r>
          </a:p>
          <a:p>
            <a:r>
              <a:rPr lang="ru-RU" b="1" i="1" dirty="0" smtClean="0"/>
              <a:t>Путь</a:t>
            </a:r>
            <a:r>
              <a:rPr lang="ru-RU" dirty="0" smtClean="0"/>
              <a:t> – последовательность вершин и дуг УГП, в которой любая дуга выходит из вершины </a:t>
            </a:r>
            <a:r>
              <a:rPr lang="ru-RU" dirty="0" err="1" smtClean="0"/>
              <a:t>V</a:t>
            </a:r>
            <a:r>
              <a:rPr lang="ru-RU" baseline="-25000" dirty="0" err="1" smtClean="0"/>
              <a:t>i</a:t>
            </a:r>
            <a:r>
              <a:rPr lang="ru-RU" dirty="0" smtClean="0"/>
              <a:t> и приходит в вершину </a:t>
            </a:r>
            <a:r>
              <a:rPr lang="ru-RU" dirty="0" err="1" smtClean="0"/>
              <a:t>V</a:t>
            </a:r>
            <a:r>
              <a:rPr lang="ru-RU" baseline="-25000" dirty="0" err="1" smtClean="0"/>
              <a:t>j</a:t>
            </a:r>
            <a:r>
              <a:rPr lang="ru-RU" dirty="0" smtClean="0"/>
              <a:t>, например: (3,4,7), (3,4,5,6,4,5,6), (3,4), (3,4,5,6)</a:t>
            </a:r>
          </a:p>
          <a:p>
            <a:r>
              <a:rPr lang="ru-RU" b="1" i="1" dirty="0" smtClean="0"/>
              <a:t>Ветвь</a:t>
            </a:r>
            <a:r>
              <a:rPr lang="ru-RU" dirty="0" smtClean="0"/>
              <a:t> – </a:t>
            </a:r>
            <a:r>
              <a:rPr lang="ru-RU" i="1" dirty="0" smtClean="0"/>
              <a:t>путь</a:t>
            </a:r>
            <a:r>
              <a:rPr lang="ru-RU" dirty="0" smtClean="0"/>
              <a:t> (V</a:t>
            </a:r>
            <a:r>
              <a:rPr lang="ru-RU" baseline="-25000" dirty="0" smtClean="0"/>
              <a:t>1</a:t>
            </a:r>
            <a:r>
              <a:rPr lang="ru-RU" dirty="0" smtClean="0"/>
              <a:t>, V</a:t>
            </a:r>
            <a:r>
              <a:rPr lang="ru-RU" baseline="-25000" dirty="0" smtClean="0"/>
              <a:t>2</a:t>
            </a:r>
            <a:r>
              <a:rPr lang="ru-RU" dirty="0" smtClean="0"/>
              <a:t>, … </a:t>
            </a:r>
            <a:r>
              <a:rPr lang="ru-RU" dirty="0" err="1" smtClean="0"/>
              <a:t>V</a:t>
            </a:r>
            <a:r>
              <a:rPr lang="ru-RU" baseline="-25000" dirty="0" err="1" smtClean="0"/>
              <a:t>k</a:t>
            </a:r>
            <a:r>
              <a:rPr lang="ru-RU" dirty="0" smtClean="0"/>
              <a:t>), где V</a:t>
            </a:r>
            <a:r>
              <a:rPr lang="ru-RU" baseline="-25000" dirty="0" smtClean="0"/>
              <a:t>1</a:t>
            </a:r>
            <a:r>
              <a:rPr lang="ru-RU" dirty="0" smtClean="0"/>
              <a:t> - либо первый, либо условный оператор программы, </a:t>
            </a:r>
            <a:r>
              <a:rPr lang="ru-RU" dirty="0" err="1" smtClean="0"/>
              <a:t>V</a:t>
            </a:r>
            <a:r>
              <a:rPr lang="ru-RU" baseline="-25000" dirty="0" err="1" smtClean="0"/>
              <a:t>k</a:t>
            </a:r>
            <a:r>
              <a:rPr lang="ru-RU" dirty="0" smtClean="0"/>
              <a:t> - либо условный оператор, либо оператор выхода из программы, а все остальные операторы – безусловные, например: (3,4) (4,5,6,4) (4,7). </a:t>
            </a:r>
            <a:r>
              <a:rPr lang="ru-RU" i="1" dirty="0" smtClean="0"/>
              <a:t>Пути</a:t>
            </a:r>
            <a:r>
              <a:rPr lang="ru-RU" dirty="0" smtClean="0"/>
              <a:t>, различающиеся хотя бы числом прохождений цикла – разные </a:t>
            </a:r>
            <a:r>
              <a:rPr lang="ru-RU" i="1" dirty="0" smtClean="0"/>
              <a:t>пути</a:t>
            </a:r>
            <a:r>
              <a:rPr lang="ru-RU" dirty="0" smtClean="0"/>
              <a:t>, поэтому число </a:t>
            </a:r>
            <a:r>
              <a:rPr lang="ru-RU" i="1" dirty="0" smtClean="0"/>
              <a:t>путей</a:t>
            </a:r>
            <a:r>
              <a:rPr lang="ru-RU" dirty="0" smtClean="0"/>
              <a:t> в программе может быть не ограничено. </a:t>
            </a:r>
            <a:r>
              <a:rPr lang="ru-RU" i="1" dirty="0" smtClean="0"/>
              <a:t>Ветви</a:t>
            </a:r>
            <a:r>
              <a:rPr lang="ru-RU" dirty="0" smtClean="0"/>
              <a:t> - линейные участки программы, их </a:t>
            </a:r>
            <a:r>
              <a:rPr lang="ru-RU" dirty="0" err="1" smtClean="0"/>
              <a:t>конечноe</a:t>
            </a:r>
            <a:r>
              <a:rPr lang="ru-RU" dirty="0" smtClean="0"/>
              <a:t> число.</a:t>
            </a:r>
          </a:p>
          <a:p>
            <a:r>
              <a:rPr lang="ru-RU" dirty="0" smtClean="0"/>
              <a:t>Существуют реализуемые и нереализуемые </a:t>
            </a:r>
            <a:r>
              <a:rPr lang="ru-RU" i="1" dirty="0" smtClean="0"/>
              <a:t>пути</a:t>
            </a:r>
            <a:r>
              <a:rPr lang="ru-RU" dirty="0" smtClean="0"/>
              <a:t> в программе, в нереализуемые </a:t>
            </a:r>
            <a:r>
              <a:rPr lang="ru-RU" i="1" dirty="0" smtClean="0"/>
              <a:t>пути</a:t>
            </a:r>
            <a:r>
              <a:rPr lang="ru-RU" dirty="0" smtClean="0"/>
              <a:t> в обычных условиях попасть нельзя.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Управляющий граф программы</a:t>
            </a:r>
            <a:endParaRPr lang="ru-RU" dirty="0"/>
          </a:p>
        </p:txBody>
      </p:sp>
      <p:pic>
        <p:nvPicPr>
          <p:cNvPr id="4" name="Содержимое 3" descr="Управляющий граф программы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8136904" cy="530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Требования к идеальному критерию тестирования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 smtClean="0"/>
              <a:t>Требования к </a:t>
            </a:r>
            <a:r>
              <a:rPr lang="ru-RU" i="1" dirty="0" smtClean="0"/>
              <a:t>идеальному критерию</a:t>
            </a:r>
            <a:r>
              <a:rPr lang="ru-RU" dirty="0" smtClean="0"/>
              <a:t> были выдвинуты в работе </a:t>
            </a:r>
            <a:r>
              <a:rPr lang="ru-RU" dirty="0" smtClean="0">
                <a:hlinkClick r:id="rId2"/>
              </a:rPr>
              <a:t>[ 11 ] </a:t>
            </a:r>
            <a:r>
              <a:rPr lang="ru-RU" dirty="0" smtClean="0"/>
              <a:t>:</a:t>
            </a:r>
          </a:p>
          <a:p>
            <a:pPr lvl="0"/>
            <a:r>
              <a:rPr lang="ru-RU" b="1" dirty="0" smtClean="0"/>
              <a:t>Критерий должен быть достаточным</a:t>
            </a:r>
            <a:r>
              <a:rPr lang="ru-RU" dirty="0" smtClean="0"/>
              <a:t>, т.е. показывать, когда некоторое конечное множество тестов достаточно для тестирования данной программы.</a:t>
            </a:r>
          </a:p>
          <a:p>
            <a:pPr lvl="0"/>
            <a:r>
              <a:rPr lang="ru-RU" b="1" dirty="0" smtClean="0"/>
              <a:t>Критерий должен быть полным</a:t>
            </a:r>
            <a:r>
              <a:rPr lang="ru-RU" dirty="0" smtClean="0"/>
              <a:t>, т.е. в случае ошибки должен существовать тест из множества тестов, удовлетворяющих критерию, который раскрывает ошибку.</a:t>
            </a:r>
          </a:p>
          <a:p>
            <a:pPr lvl="0"/>
            <a:r>
              <a:rPr lang="ru-RU" b="1" dirty="0" smtClean="0"/>
              <a:t>Критерий должен быть надежным</a:t>
            </a:r>
            <a:r>
              <a:rPr lang="ru-RU" dirty="0" smtClean="0"/>
              <a:t>, т.е. любые два множества тестов, удовлетворяющих ему, одновременно должны раскрывать или не раскрывать ошибки программы</a:t>
            </a:r>
          </a:p>
          <a:p>
            <a:pPr lvl="0"/>
            <a:r>
              <a:rPr lang="ru-RU" b="1" dirty="0" smtClean="0"/>
              <a:t>Критерий должен быть легко проверяемым</a:t>
            </a:r>
            <a:r>
              <a:rPr lang="ru-RU" dirty="0" smtClean="0"/>
              <a:t>, например вычисляемым на тестах</a:t>
            </a:r>
          </a:p>
          <a:p>
            <a:r>
              <a:rPr lang="ru-RU" dirty="0" smtClean="0"/>
              <a:t>Для нетривиальных классов программ в общем случае </a:t>
            </a:r>
            <a:r>
              <a:rPr lang="ru-RU" b="1" dirty="0" smtClean="0"/>
              <a:t>не существует полного и надежного критерия</a:t>
            </a:r>
            <a:r>
              <a:rPr lang="ru-RU" dirty="0" smtClean="0"/>
              <a:t>, зависящего от программ или спецификаций.</a:t>
            </a:r>
          </a:p>
          <a:p>
            <a:r>
              <a:rPr lang="ru-RU" dirty="0" smtClean="0"/>
              <a:t>Поэтому мы стремимся к идеальному общему критерию через реальные частные.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Классы критериев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u-RU" i="1" dirty="0" smtClean="0"/>
              <a:t>Структурные критерии</a:t>
            </a:r>
            <a:r>
              <a:rPr lang="ru-RU" dirty="0" smtClean="0"/>
              <a:t> используют информацию о структуре программы (критерии так называемого "белого ящика")</a:t>
            </a:r>
          </a:p>
          <a:p>
            <a:pPr lvl="0"/>
            <a:r>
              <a:rPr lang="ru-RU" i="1" dirty="0" smtClean="0"/>
              <a:t>Функциональные критерии</a:t>
            </a:r>
            <a:r>
              <a:rPr lang="ru-RU" dirty="0" smtClean="0"/>
              <a:t> формулируются в описании требований к программному изделию ( </a:t>
            </a:r>
            <a:r>
              <a:rPr lang="ru-RU" b="1" dirty="0" smtClean="0"/>
              <a:t>критерии так называемого "черного ящика"</a:t>
            </a:r>
            <a:r>
              <a:rPr lang="ru-RU" dirty="0" smtClean="0"/>
              <a:t> )</a:t>
            </a:r>
          </a:p>
          <a:p>
            <a:pPr lvl="0"/>
            <a:r>
              <a:rPr lang="ru-RU" dirty="0" smtClean="0"/>
              <a:t>Критерии </a:t>
            </a:r>
            <a:r>
              <a:rPr lang="ru-RU" i="1" dirty="0" smtClean="0"/>
              <a:t>стохастического тестирования</a:t>
            </a:r>
            <a:r>
              <a:rPr lang="ru-RU" dirty="0" smtClean="0"/>
              <a:t> формулируются в терминах проверки наличия заданных свойств у тестируемого приложения, средствами проверки некоторой статистической гипотезы.</a:t>
            </a:r>
          </a:p>
          <a:p>
            <a:r>
              <a:rPr lang="ru-RU" i="1" dirty="0" smtClean="0"/>
              <a:t>Мутационные критерии</a:t>
            </a:r>
            <a:r>
              <a:rPr lang="ru-RU" dirty="0" smtClean="0"/>
              <a:t> ориентированы на проверку свойств программного изделия на основе подхода Монте-Карло.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Структурные критерии (класс I).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i="1" dirty="0" smtClean="0"/>
              <a:t>Структурные критерии</a:t>
            </a:r>
            <a:r>
              <a:rPr lang="ru-RU" dirty="0" smtClean="0"/>
              <a:t> используют </a:t>
            </a:r>
            <a:r>
              <a:rPr lang="ru-RU" i="1" dirty="0" smtClean="0"/>
              <a:t>модель программы</a:t>
            </a:r>
            <a:r>
              <a:rPr lang="ru-RU" dirty="0" smtClean="0"/>
              <a:t> в виде "белого ящика", что предполагает </a:t>
            </a:r>
            <a:r>
              <a:rPr lang="ru-RU" i="1" dirty="0" smtClean="0"/>
              <a:t>знание</a:t>
            </a:r>
            <a:r>
              <a:rPr lang="ru-RU" dirty="0" smtClean="0"/>
              <a:t> исходного текста программы или </a:t>
            </a:r>
            <a:r>
              <a:rPr lang="ru-RU" i="1" dirty="0" smtClean="0"/>
              <a:t>спецификации программы</a:t>
            </a:r>
            <a:r>
              <a:rPr lang="ru-RU" dirty="0" smtClean="0"/>
              <a:t> в виде потокового графа управления. Структурная </a:t>
            </a:r>
            <a:r>
              <a:rPr lang="ru-RU" i="1" dirty="0" smtClean="0"/>
              <a:t>информация</a:t>
            </a:r>
            <a:r>
              <a:rPr lang="ru-RU" dirty="0" smtClean="0"/>
              <a:t> понятна и доступна разработчикам подсистем и модулей приложения, поэтому данный </a:t>
            </a:r>
            <a:r>
              <a:rPr lang="ru-RU" i="1" dirty="0" smtClean="0"/>
              <a:t>класс</a:t>
            </a:r>
            <a:r>
              <a:rPr lang="ru-RU" dirty="0" smtClean="0"/>
              <a:t> критериев часто используется на этапах модульного и </a:t>
            </a:r>
            <a:r>
              <a:rPr lang="ru-RU" i="1" dirty="0" smtClean="0"/>
              <a:t>интеграционного тестирования</a:t>
            </a:r>
            <a:r>
              <a:rPr lang="ru-RU" dirty="0" smtClean="0"/>
              <a:t> (</a:t>
            </a:r>
            <a:r>
              <a:rPr lang="ru-RU" i="1" dirty="0" err="1" smtClean="0"/>
              <a:t>Unit</a:t>
            </a:r>
            <a:r>
              <a:rPr lang="ru-RU" i="1" dirty="0" smtClean="0"/>
              <a:t> </a:t>
            </a:r>
            <a:r>
              <a:rPr lang="ru-RU" i="1" dirty="0" err="1" smtClean="0"/>
              <a:t>testing</a:t>
            </a:r>
            <a:r>
              <a:rPr lang="ru-RU" dirty="0" smtClean="0"/>
              <a:t>, </a:t>
            </a:r>
            <a:r>
              <a:rPr lang="ru-RU" i="1" dirty="0" err="1" smtClean="0"/>
              <a:t>Integration</a:t>
            </a:r>
            <a:r>
              <a:rPr lang="ru-RU" i="1" dirty="0" smtClean="0"/>
              <a:t> </a:t>
            </a:r>
            <a:r>
              <a:rPr lang="ru-RU" i="1" dirty="0" err="1" smtClean="0"/>
              <a:t>testing</a:t>
            </a:r>
            <a:r>
              <a:rPr lang="ru-RU" dirty="0" smtClean="0"/>
              <a:t>).</a:t>
            </a:r>
          </a:p>
          <a:p>
            <a:r>
              <a:rPr lang="ru-RU" i="1" dirty="0" smtClean="0"/>
              <a:t>Структурные критерии</a:t>
            </a:r>
            <a:r>
              <a:rPr lang="ru-RU" dirty="0" smtClean="0"/>
              <a:t> базируются на основных элементах УГП, операторах, ветвях и путях.</a:t>
            </a:r>
          </a:p>
          <a:p>
            <a:pPr lvl="0"/>
            <a:r>
              <a:rPr lang="ru-RU" dirty="0" smtClean="0"/>
              <a:t>Условие критерия </a:t>
            </a:r>
            <a:r>
              <a:rPr lang="ru-RU" b="1" dirty="0" smtClean="0"/>
              <a:t>тестирования команд</a:t>
            </a:r>
            <a:r>
              <a:rPr lang="ru-RU" dirty="0" smtClean="0"/>
              <a:t> (критерий С0) - набор тестов в совокупности должен обеспечить прохождение каждой команды не менее одного раза. Это слабый критерий, он, как правило, используется в больших программных системах, где другие критерии применить невозможно.</a:t>
            </a:r>
          </a:p>
          <a:p>
            <a:pPr lvl="0"/>
            <a:r>
              <a:rPr lang="ru-RU" dirty="0" smtClean="0"/>
              <a:t>Условие критерия </a:t>
            </a:r>
            <a:r>
              <a:rPr lang="ru-RU" b="1" dirty="0" smtClean="0"/>
              <a:t>тестирования ветвей</a:t>
            </a:r>
            <a:r>
              <a:rPr lang="ru-RU" dirty="0" smtClean="0"/>
              <a:t> (критерий С1) - набор тестов в совокупности должен обеспечить прохождение каждой ветви не менее одного раза. Это достаточно сильный и при этом экономичный критерий, поскольку множество ветвей в тестируемом приложении конечно и не так уж велико. Данный критерий часто используется в системах </a:t>
            </a:r>
            <a:r>
              <a:rPr lang="ru-RU" i="1" dirty="0" smtClean="0"/>
              <a:t>автоматизации тестирования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Условие критерия </a:t>
            </a:r>
            <a:r>
              <a:rPr lang="ru-RU" b="1" dirty="0" smtClean="0"/>
              <a:t>тестирования путей</a:t>
            </a:r>
            <a:r>
              <a:rPr lang="ru-RU" dirty="0" smtClean="0"/>
              <a:t> (критерий С2) - набор тестов в совокупности должен обеспечить прохождение каждого пути не менее 1 раза. Если программа содержит цикл (в особенности с неявно заданным числом итераций), то число итераций ограничивается константой (часто - 2, или </a:t>
            </a:r>
            <a:r>
              <a:rPr lang="ru-RU" i="1" dirty="0" smtClean="0"/>
              <a:t>числом классов</a:t>
            </a:r>
            <a:r>
              <a:rPr lang="ru-RU" dirty="0" smtClean="0"/>
              <a:t> выходных путей).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Функциональные критерии (класс II)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i="1" dirty="0" smtClean="0"/>
              <a:t>Функциональный критерий</a:t>
            </a:r>
            <a:r>
              <a:rPr lang="ru-RU" dirty="0" smtClean="0"/>
              <a:t> - важнейший для программной индустрии критерий тестирования. Он обеспечивает, прежде всего, </a:t>
            </a:r>
            <a:r>
              <a:rPr lang="ru-RU" i="1" dirty="0" smtClean="0"/>
              <a:t>контроль</a:t>
            </a:r>
            <a:r>
              <a:rPr lang="ru-RU" dirty="0" smtClean="0"/>
              <a:t> степени выполнения требований заказчика в программном продукте. Поскольку требования формулируются к продукту в целом, они отражают взаимодействие тестируемого приложения с окружением. При </a:t>
            </a:r>
            <a:r>
              <a:rPr lang="ru-RU" i="1" dirty="0" smtClean="0"/>
              <a:t>функциональном тестировании</a:t>
            </a:r>
            <a:r>
              <a:rPr lang="ru-RU" dirty="0" smtClean="0"/>
              <a:t> преимущественно используется модель "черного ящика". Проблема </a:t>
            </a:r>
            <a:r>
              <a:rPr lang="ru-RU" i="1" dirty="0" smtClean="0"/>
              <a:t>функционального тестирования</a:t>
            </a:r>
            <a:r>
              <a:rPr lang="ru-RU" dirty="0" smtClean="0"/>
              <a:t> - это, прежде всего, трудоемкость; дело в том, что документы, фиксирующие требования к программному изделию (</a:t>
            </a:r>
            <a:r>
              <a:rPr lang="ru-RU" i="1" dirty="0" err="1" smtClean="0"/>
              <a:t>Software</a:t>
            </a:r>
            <a:r>
              <a:rPr lang="ru-RU" dirty="0" smtClean="0"/>
              <a:t> </a:t>
            </a:r>
            <a:r>
              <a:rPr lang="ru-RU" dirty="0" err="1" smtClean="0"/>
              <a:t>requirement</a:t>
            </a:r>
            <a:r>
              <a:rPr lang="ru-RU" dirty="0" smtClean="0"/>
              <a:t> </a:t>
            </a:r>
            <a:r>
              <a:rPr lang="ru-RU" i="1" dirty="0" err="1" smtClean="0"/>
              <a:t>specification</a:t>
            </a:r>
            <a:r>
              <a:rPr lang="ru-RU" dirty="0" smtClean="0"/>
              <a:t>, </a:t>
            </a:r>
            <a:r>
              <a:rPr lang="ru-RU" i="1" dirty="0" err="1" smtClean="0"/>
              <a:t>Functional</a:t>
            </a:r>
            <a:r>
              <a:rPr lang="ru-RU" i="1" dirty="0" smtClean="0"/>
              <a:t> </a:t>
            </a:r>
            <a:r>
              <a:rPr lang="ru-RU" i="1" dirty="0" err="1" smtClean="0"/>
              <a:t>specification</a:t>
            </a:r>
            <a:r>
              <a:rPr lang="ru-RU" dirty="0" smtClean="0"/>
              <a:t> и т.п.), как правило, достаточно объемны, тем не менее, соответствующая проверка должна быть всеобъемлющей.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Функциональные критерии (класс II)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dirty="0" smtClean="0"/>
              <a:t>Ниже приведены частные виды </a:t>
            </a:r>
            <a:r>
              <a:rPr lang="ru-RU" i="1" dirty="0" smtClean="0"/>
              <a:t>функциональных критериев</a:t>
            </a:r>
            <a:r>
              <a:rPr lang="ru-RU" dirty="0" smtClean="0"/>
              <a:t>.</a:t>
            </a:r>
          </a:p>
          <a:p>
            <a:pPr lvl="0"/>
            <a:r>
              <a:rPr lang="ru-RU" b="1" dirty="0" smtClean="0"/>
              <a:t>Тестирование пунктов спецификации</a:t>
            </a:r>
            <a:r>
              <a:rPr lang="ru-RU" dirty="0" smtClean="0"/>
              <a:t> - набор тестов в совокупности должен обеспечить проверку каждого тестируемого пункта не менее одного раза.</a:t>
            </a:r>
          </a:p>
          <a:p>
            <a:r>
              <a:rPr lang="ru-RU" dirty="0" smtClean="0"/>
              <a:t>Спецификация требований может содержать сотни и тысячи пунктов требований к программному продукту и каждое из этих требований при тестировании должно быть проверено в соответствии с критерием не менее чем одним тестом</a:t>
            </a:r>
          </a:p>
          <a:p>
            <a:pPr lvl="0"/>
            <a:r>
              <a:rPr lang="ru-RU" b="1" dirty="0" smtClean="0"/>
              <a:t>Тестирование классов входных данных</a:t>
            </a:r>
            <a:r>
              <a:rPr lang="ru-RU" dirty="0" smtClean="0"/>
              <a:t> - набор тестов в совокупности должен обеспечить проверку представителя каждого класса входных данных не менее одного раза.</a:t>
            </a:r>
          </a:p>
          <a:p>
            <a:r>
              <a:rPr lang="ru-RU" dirty="0" smtClean="0"/>
              <a:t>При создании тестов классы входных данных сопоставляются с режимами использования тестируемого компонента или подсистемы приложения, что заметно сокращает варианты перебора, учитываемые при разработке тестовых наборов. Следует заметить, что перебирая в соответствии с критерием величины входных переменных (например, различные файлы - источники входных данных), мы вынуждены применять мощные тестовые наборы. Действительно, наряду с ограничениями на величины входных данных, существуют ограничения на величины входных данных во всевозможных комбинациях, в том числе проверка реакций системы на появление ошибок в значениях или структурах входных данных. Учет этого многообразия - процесс трудоемкий, что создает сложности для применения критерия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Функциональные критерии (класс II)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933256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ru-RU" b="1" dirty="0" smtClean="0"/>
              <a:t>Тестирование правил</a:t>
            </a:r>
            <a:r>
              <a:rPr lang="ru-RU" dirty="0" smtClean="0"/>
              <a:t> - набор тестов в совокупности должен обеспечить проверку каждого правила, если входные и выходные значения описываются набором правил некоторой грамматики.</a:t>
            </a:r>
          </a:p>
          <a:p>
            <a:r>
              <a:rPr lang="ru-RU" dirty="0" smtClean="0"/>
              <a:t>Следует заметить, что грамматика должна быть достаточно простой, чтобы трудоемкость разработки соответствующего набора тестов была реальной (вписывалась в сроки и штат специалистов, выделенных для реализации </a:t>
            </a:r>
            <a:r>
              <a:rPr lang="ru-RU" i="1" dirty="0" smtClean="0"/>
              <a:t>фазы тестирования</a:t>
            </a:r>
            <a:r>
              <a:rPr lang="ru-RU" dirty="0" smtClean="0"/>
              <a:t>)</a:t>
            </a:r>
          </a:p>
          <a:p>
            <a:pPr lvl="0"/>
            <a:r>
              <a:rPr lang="ru-RU" b="1" dirty="0" smtClean="0"/>
              <a:t>Тестирование классов выходных данных</a:t>
            </a:r>
            <a:r>
              <a:rPr lang="ru-RU" dirty="0" smtClean="0"/>
              <a:t> - набор тестов в совокупности должен обеспечить проверку представителя каждого выходного класса, при условии, что выходные результаты заранее расклассифицированы, причем отдельные классы результатов учитывают, в том числе, ограничения на ресурсы или на время (</a:t>
            </a:r>
            <a:r>
              <a:rPr lang="ru-RU" dirty="0" err="1" smtClean="0"/>
              <a:t>time</a:t>
            </a:r>
            <a:r>
              <a:rPr lang="ru-RU" dirty="0" smtClean="0"/>
              <a:t> </a:t>
            </a:r>
            <a:r>
              <a:rPr lang="ru-RU" dirty="0" err="1" smtClean="0"/>
              <a:t>out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При создании тестов классы выходных данных сопоставляются с режимами использования тестируемого компонента или подсистемы, что заметно сокращает варианты перебора, учитываемые при разработке тестовых наборов.</a:t>
            </a:r>
          </a:p>
          <a:p>
            <a:pPr lvl="0"/>
            <a:r>
              <a:rPr lang="ru-RU" b="1" dirty="0" smtClean="0"/>
              <a:t>Тестирование функций</a:t>
            </a:r>
            <a:r>
              <a:rPr lang="ru-RU" dirty="0" smtClean="0"/>
              <a:t> - набор тестов в совокупности должен обеспечить проверку каждого действия, реализуемого тестируемым модулем, не менее одного раза.</a:t>
            </a:r>
          </a:p>
          <a:p>
            <a:r>
              <a:rPr lang="ru-RU" dirty="0" smtClean="0"/>
              <a:t>Очень популярный на практике критерий, который, однако, не обеспечивает покрытия части функциональности тестируемого компонента, связанной со структурными и поведенческими свойствами, описание которых не сосредоточено в отдельных функциях (т.е. описание рассредоточено по компоненту).</a:t>
            </a:r>
          </a:p>
          <a:p>
            <a:r>
              <a:rPr lang="ru-RU" dirty="0" smtClean="0"/>
              <a:t>Критерий тестирования функций объединяет отчасти особенности </a:t>
            </a:r>
            <a:r>
              <a:rPr lang="ru-RU" i="1" dirty="0" smtClean="0"/>
              <a:t>структурных</a:t>
            </a:r>
            <a:r>
              <a:rPr lang="ru-RU" dirty="0" smtClean="0"/>
              <a:t> и </a:t>
            </a:r>
            <a:r>
              <a:rPr lang="ru-RU" i="1" dirty="0" smtClean="0"/>
              <a:t>функциональных критериев</a:t>
            </a:r>
            <a:r>
              <a:rPr lang="ru-RU" dirty="0" smtClean="0"/>
              <a:t>. Он базируется на модели "полупрозрачного ящика", где явно указаны не только входы и выходы тестируемого компонента, но также состав и структура используемых методов (функций, процедур) и классов.</a:t>
            </a:r>
          </a:p>
          <a:p>
            <a:pPr lvl="0"/>
            <a:r>
              <a:rPr lang="ru-RU" b="1" dirty="0" smtClean="0"/>
              <a:t>Комбинированные критерии для программ и спецификаций</a:t>
            </a:r>
            <a:r>
              <a:rPr lang="ru-RU" dirty="0" smtClean="0"/>
              <a:t> - набор тестов в совокупности должен обеспечить проверку всех комбинаций непротиворечивых условий программ и спецификаций не менее одного раза.</a:t>
            </a:r>
          </a:p>
          <a:p>
            <a:r>
              <a:rPr lang="ru-RU" dirty="0" smtClean="0"/>
              <a:t>При этом все комбинации непротиворечивых условий надо подтвердить, а условия противоречий следует обнаружить и ликвидировать.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Стохастические критерии (класс III)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i="1" dirty="0" smtClean="0"/>
              <a:t>Стохастическое тестирование</a:t>
            </a:r>
            <a:r>
              <a:rPr lang="ru-RU" dirty="0" smtClean="0"/>
              <a:t> применяется при тестировании сложных программных комплексов - когда набор детерминированных тестов (X,Y) имеет громадную </a:t>
            </a:r>
            <a:r>
              <a:rPr lang="ru-RU" i="1" dirty="0" smtClean="0"/>
              <a:t>мощность</a:t>
            </a:r>
            <a:r>
              <a:rPr lang="ru-RU" dirty="0" smtClean="0"/>
              <a:t>. В случаях, когда подобный набор невозможно разработать и исполнить на </a:t>
            </a:r>
            <a:r>
              <a:rPr lang="ru-RU" i="1" dirty="0" smtClean="0"/>
              <a:t>фазе тестирования</a:t>
            </a:r>
            <a:r>
              <a:rPr lang="ru-RU" dirty="0" smtClean="0"/>
              <a:t>, можно применить следующую методику.</a:t>
            </a:r>
            <a:endParaRPr lang="ru-RU" sz="4800" dirty="0" smtClean="0"/>
          </a:p>
          <a:p>
            <a:pPr lvl="0"/>
            <a:r>
              <a:rPr lang="ru-RU" dirty="0" smtClean="0"/>
              <a:t>Разработать программы - имитаторы случайных последовательностей входных сигналов {</a:t>
            </a:r>
            <a:r>
              <a:rPr lang="ru-RU" dirty="0" err="1" smtClean="0"/>
              <a:t>x</a:t>
            </a:r>
            <a:r>
              <a:rPr lang="ru-RU" dirty="0" smtClean="0"/>
              <a:t>}.</a:t>
            </a:r>
            <a:endParaRPr lang="ru-RU" sz="4800" dirty="0" smtClean="0"/>
          </a:p>
          <a:p>
            <a:pPr lvl="0"/>
            <a:r>
              <a:rPr lang="ru-RU" dirty="0" smtClean="0"/>
              <a:t>Вычислить независимым способом значения {</a:t>
            </a:r>
            <a:r>
              <a:rPr lang="ru-RU" dirty="0" err="1" smtClean="0"/>
              <a:t>y</a:t>
            </a:r>
            <a:r>
              <a:rPr lang="ru-RU" dirty="0" smtClean="0"/>
              <a:t>} для соответствующих входных сигналов {</a:t>
            </a:r>
            <a:r>
              <a:rPr lang="ru-RU" dirty="0" err="1" smtClean="0"/>
              <a:t>x</a:t>
            </a:r>
            <a:r>
              <a:rPr lang="ru-RU" dirty="0" smtClean="0"/>
              <a:t>} и получить тестовый набор (X,Y).</a:t>
            </a:r>
            <a:endParaRPr lang="ru-RU" sz="4800" dirty="0" smtClean="0"/>
          </a:p>
          <a:p>
            <a:pPr lvl="0"/>
            <a:r>
              <a:rPr lang="ru-RU" dirty="0" smtClean="0"/>
              <a:t>Протестировать приложение на тестовом наборе (X,Y), используя два способа контроля результатов:</a:t>
            </a:r>
            <a:endParaRPr lang="ru-RU" sz="4800" dirty="0" smtClean="0"/>
          </a:p>
          <a:p>
            <a:pPr lvl="1"/>
            <a:r>
              <a:rPr lang="ru-RU" dirty="0" smtClean="0"/>
              <a:t>Детерминированный контроль - проверка соответствия вычисленного значения   значению </a:t>
            </a:r>
            <a:r>
              <a:rPr lang="ru-RU" dirty="0" err="1" smtClean="0"/>
              <a:t>y</a:t>
            </a:r>
            <a:r>
              <a:rPr lang="ru-RU" dirty="0" smtClean="0"/>
              <a:t>, полученному в результате </a:t>
            </a:r>
            <a:r>
              <a:rPr lang="ru-RU" i="1" dirty="0" smtClean="0"/>
              <a:t>прогона теста</a:t>
            </a:r>
            <a:r>
              <a:rPr lang="ru-RU" dirty="0" smtClean="0"/>
              <a:t> на наборе {</a:t>
            </a:r>
            <a:r>
              <a:rPr lang="ru-RU" dirty="0" err="1" smtClean="0"/>
              <a:t>x</a:t>
            </a:r>
            <a:r>
              <a:rPr lang="ru-RU" dirty="0" smtClean="0"/>
              <a:t>} - случайной последовательности входных сигналов, сгенерированной имитатором.</a:t>
            </a:r>
            <a:endParaRPr lang="ru-RU" sz="4400" dirty="0" smtClean="0"/>
          </a:p>
          <a:p>
            <a:pPr lvl="1"/>
            <a:r>
              <a:rPr lang="ru-RU" dirty="0" smtClean="0"/>
              <a:t>Стохастический контроль - проверка соответствия множества значений {</a:t>
            </a:r>
            <a:r>
              <a:rPr lang="ru-RU" dirty="0" err="1" smtClean="0"/>
              <a:t>yв</a:t>
            </a:r>
            <a:r>
              <a:rPr lang="ru-RU" dirty="0" smtClean="0"/>
              <a:t>}, полученного в результате прогона тестов на наборе входных значений {</a:t>
            </a:r>
            <a:r>
              <a:rPr lang="ru-RU" dirty="0" err="1" smtClean="0"/>
              <a:t>x</a:t>
            </a:r>
            <a:r>
              <a:rPr lang="ru-RU" dirty="0" smtClean="0"/>
              <a:t>}, заранее известному распределению результатов F(Y).</a:t>
            </a:r>
            <a:endParaRPr lang="ru-RU" sz="4400" dirty="0" smtClean="0"/>
          </a:p>
          <a:p>
            <a:r>
              <a:rPr lang="ru-RU" dirty="0" smtClean="0"/>
              <a:t>В этом случае множество Y неизвестно (его вычисление невозможно), но известен закон распределения данного множества.</a:t>
            </a:r>
            <a:endParaRPr lang="ru-RU" sz="48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Стохастические критерии (класс III)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 smtClean="0"/>
              <a:t>Критерии </a:t>
            </a:r>
            <a:r>
              <a:rPr lang="ru-RU" i="1" dirty="0" smtClean="0"/>
              <a:t>стохастического тестирования</a:t>
            </a:r>
            <a:endParaRPr lang="ru-RU" dirty="0" smtClean="0"/>
          </a:p>
          <a:p>
            <a:pPr lvl="0"/>
            <a:r>
              <a:rPr lang="ru-RU" b="1" dirty="0" err="1" smtClean="0"/>
              <a:t>Cтатистические</a:t>
            </a:r>
            <a:r>
              <a:rPr lang="ru-RU" b="1" dirty="0" smtClean="0"/>
              <a:t> методы</a:t>
            </a:r>
            <a:r>
              <a:rPr lang="ru-RU" dirty="0" smtClean="0"/>
              <a:t> окончания тестирования - стохастические методы принятия решений о совпадении гипотез о распределении случайных величин. К ним принадлежат широко известные: метод Стьюдента ( </a:t>
            </a:r>
            <a:r>
              <a:rPr lang="ru-RU" dirty="0" err="1" smtClean="0"/>
              <a:t>St</a:t>
            </a:r>
            <a:r>
              <a:rPr lang="ru-RU" dirty="0" smtClean="0"/>
              <a:t> ), метод </a:t>
            </a:r>
            <a:r>
              <a:rPr lang="ru-RU" dirty="0" err="1" smtClean="0"/>
              <a:t>Хи-квадрат</a:t>
            </a:r>
            <a:r>
              <a:rPr lang="ru-RU" dirty="0" smtClean="0"/>
              <a:t> (   ) и т.п.</a:t>
            </a:r>
          </a:p>
          <a:p>
            <a:pPr lvl="0"/>
            <a:r>
              <a:rPr lang="ru-RU" dirty="0" smtClean="0"/>
              <a:t>Метод </a:t>
            </a:r>
            <a:r>
              <a:rPr lang="ru-RU" i="1" dirty="0" smtClean="0"/>
              <a:t>оценки скорости выявления ошибок</a:t>
            </a:r>
            <a:r>
              <a:rPr lang="ru-RU" dirty="0" smtClean="0"/>
              <a:t> - основан на модели скорости выявления ошибок </a:t>
            </a:r>
            <a:r>
              <a:rPr lang="ru-RU" dirty="0" smtClean="0">
                <a:hlinkClick r:id="rId2"/>
              </a:rPr>
              <a:t>[ 12 ] </a:t>
            </a:r>
            <a:r>
              <a:rPr lang="ru-RU" dirty="0" smtClean="0"/>
              <a:t>, согласно которой тестирование прекращается, если оцененный интервал времени между текущей ошибкой и следующей слишком велик для </a:t>
            </a:r>
            <a:r>
              <a:rPr lang="ru-RU" i="1" dirty="0" smtClean="0"/>
              <a:t>фазы </a:t>
            </a:r>
            <a:r>
              <a:rPr lang="ru-RU" i="1" dirty="0" err="1" smtClean="0"/>
              <a:t>тестирования</a:t>
            </a:r>
            <a:r>
              <a:rPr lang="ru-RU" dirty="0" err="1" smtClean="0"/>
              <a:t>приложения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При формализации модели скорости выявления ошибок (</a:t>
            </a:r>
            <a:r>
              <a:rPr lang="ru-RU" dirty="0" smtClean="0">
                <a:hlinkClick r:id="rId3"/>
              </a:rPr>
              <a:t> рис. 3.1</a:t>
            </a:r>
            <a:r>
              <a:rPr lang="ru-RU" dirty="0" smtClean="0"/>
              <a:t>) использовались следующие обозначения:</a:t>
            </a:r>
          </a:p>
          <a:p>
            <a:r>
              <a:rPr lang="ru-RU" dirty="0" smtClean="0"/>
              <a:t>N - исходное число ошибок в программном комплексе перед тестированием,</a:t>
            </a:r>
          </a:p>
          <a:p>
            <a:r>
              <a:rPr lang="ru-RU" dirty="0" smtClean="0"/>
              <a:t>C - константа снижения скорости выявления ошибок за счет нахождения очередной ошибки,</a:t>
            </a:r>
          </a:p>
          <a:p>
            <a:r>
              <a:rPr lang="ru-RU" dirty="0" smtClean="0"/>
              <a:t>t</a:t>
            </a:r>
            <a:r>
              <a:rPr lang="ru-RU" baseline="-25000" dirty="0" smtClean="0"/>
              <a:t>1</a:t>
            </a:r>
            <a:r>
              <a:rPr lang="ru-RU" dirty="0" smtClean="0"/>
              <a:t>, t</a:t>
            </a:r>
            <a:r>
              <a:rPr lang="ru-RU" baseline="-25000" dirty="0" smtClean="0"/>
              <a:t>2</a:t>
            </a:r>
            <a:r>
              <a:rPr lang="ru-RU" dirty="0" smtClean="0"/>
              <a:t>,… </a:t>
            </a:r>
            <a:r>
              <a:rPr lang="ru-RU" dirty="0" err="1" smtClean="0"/>
              <a:t>t</a:t>
            </a:r>
            <a:r>
              <a:rPr lang="ru-RU" baseline="-25000" dirty="0" err="1" smtClean="0"/>
              <a:t>n</a:t>
            </a:r>
            <a:r>
              <a:rPr lang="ru-RU" dirty="0" smtClean="0"/>
              <a:t> - </a:t>
            </a:r>
            <a:r>
              <a:rPr lang="ru-RU" i="1" dirty="0" smtClean="0"/>
              <a:t>кортеж</a:t>
            </a:r>
            <a:r>
              <a:rPr lang="ru-RU" dirty="0" smtClean="0"/>
              <a:t> возрастающих интервалов обнаружения последовательности из </a:t>
            </a:r>
            <a:r>
              <a:rPr lang="ru-RU" dirty="0" err="1" smtClean="0"/>
              <a:t>n</a:t>
            </a:r>
            <a:r>
              <a:rPr lang="ru-RU" dirty="0" smtClean="0"/>
              <a:t> ошибок,</a:t>
            </a:r>
          </a:p>
          <a:p>
            <a:r>
              <a:rPr lang="ru-RU" dirty="0" smtClean="0"/>
              <a:t>T - время выявления </a:t>
            </a:r>
            <a:r>
              <a:rPr lang="ru-RU" dirty="0" err="1" smtClean="0"/>
              <a:t>n</a:t>
            </a:r>
            <a:r>
              <a:rPr lang="ru-RU" dirty="0" smtClean="0"/>
              <a:t> ошибок.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Стохастические критерии (класс III)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Зависимость скорости выявления ошибок от времени  выявления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44824"/>
            <a:ext cx="8784976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Мутационный критерий (класс IV).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1212776"/>
            <a:ext cx="8229600" cy="5645224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Постулируется, что профессиональные программисты пишут сразу почти правильные программы, отличающиеся от правильных мелкими ошибками или описками типа - </a:t>
            </a:r>
            <a:r>
              <a:rPr lang="ru-RU" i="1" dirty="0" smtClean="0"/>
              <a:t>перестановка</a:t>
            </a:r>
            <a:r>
              <a:rPr lang="ru-RU" dirty="0" smtClean="0"/>
              <a:t> местами максимальных значений индексов в описании массивов, ошибки в знаках арифметических операций, занижение или завышение границы </a:t>
            </a:r>
            <a:r>
              <a:rPr lang="ru-RU" i="1" dirty="0" smtClean="0"/>
              <a:t>цикла</a:t>
            </a:r>
            <a:r>
              <a:rPr lang="ru-RU" dirty="0" smtClean="0"/>
              <a:t> на 1 и т.п. Предлагается подход, позволяющий на основе мелких ошибок оценить общее число ошибок, оставшихся в программе.</a:t>
            </a:r>
          </a:p>
          <a:p>
            <a:r>
              <a:rPr lang="ru-RU" dirty="0" smtClean="0"/>
              <a:t>Подход базируется на следующих понятиях:</a:t>
            </a:r>
          </a:p>
          <a:p>
            <a:r>
              <a:rPr lang="ru-RU" b="1" i="1" dirty="0" smtClean="0"/>
              <a:t>Мутации</a:t>
            </a:r>
            <a:r>
              <a:rPr lang="ru-RU" dirty="0" smtClean="0"/>
              <a:t> - мелкие ошибки в программе.</a:t>
            </a:r>
          </a:p>
          <a:p>
            <a:r>
              <a:rPr lang="ru-RU" b="1" i="1" dirty="0" smtClean="0"/>
              <a:t>Мутанты</a:t>
            </a:r>
            <a:r>
              <a:rPr lang="ru-RU" dirty="0" smtClean="0"/>
              <a:t> - программы, отличающиеся друг от друга </a:t>
            </a:r>
            <a:r>
              <a:rPr lang="ru-RU" i="1" dirty="0" smtClean="0"/>
              <a:t>мутациями</a:t>
            </a:r>
            <a:r>
              <a:rPr lang="ru-RU" dirty="0" smtClean="0"/>
              <a:t> .</a:t>
            </a:r>
          </a:p>
          <a:p>
            <a:r>
              <a:rPr lang="ru-RU" b="1" dirty="0" smtClean="0"/>
              <a:t>Метод мутационного тестирования</a:t>
            </a:r>
            <a:r>
              <a:rPr lang="ru-RU" dirty="0" smtClean="0"/>
              <a:t> - в разрабатываемую программу P вносят </a:t>
            </a:r>
            <a:r>
              <a:rPr lang="ru-RU" i="1" dirty="0" smtClean="0"/>
              <a:t>мутации</a:t>
            </a:r>
            <a:r>
              <a:rPr lang="ru-RU" dirty="0" smtClean="0"/>
              <a:t>, т.е. искусственно создают программы-</a:t>
            </a:r>
            <a:r>
              <a:rPr lang="ru-RU" i="1" dirty="0" smtClean="0"/>
              <a:t>мутанты</a:t>
            </a:r>
            <a:r>
              <a:rPr lang="ru-RU" dirty="0" smtClean="0"/>
              <a:t>P1, P2... Затем </a:t>
            </a:r>
            <a:r>
              <a:rPr lang="ru-RU" i="1" dirty="0" smtClean="0"/>
              <a:t>программа</a:t>
            </a:r>
            <a:r>
              <a:rPr lang="ru-RU" dirty="0" smtClean="0"/>
              <a:t> P и ее </a:t>
            </a:r>
            <a:r>
              <a:rPr lang="ru-RU" i="1" dirty="0" smtClean="0"/>
              <a:t>мутанты</a:t>
            </a:r>
            <a:r>
              <a:rPr lang="ru-RU" dirty="0" smtClean="0"/>
              <a:t> тестируются на одном и том же наборе тестов (X,Y).</a:t>
            </a:r>
          </a:p>
          <a:p>
            <a:r>
              <a:rPr lang="ru-RU" dirty="0" smtClean="0"/>
              <a:t>Если на наборе (X,Y) подтверждается </a:t>
            </a:r>
            <a:r>
              <a:rPr lang="ru-RU" i="1" dirty="0" smtClean="0"/>
              <a:t>правильность программы</a:t>
            </a:r>
            <a:r>
              <a:rPr lang="ru-RU" dirty="0" smtClean="0"/>
              <a:t> P и, кроме того, выявляются все внесенные в программы-</a:t>
            </a:r>
            <a:r>
              <a:rPr lang="ru-RU" i="1" dirty="0" smtClean="0"/>
              <a:t>мутанты</a:t>
            </a:r>
            <a:r>
              <a:rPr lang="ru-RU" dirty="0" smtClean="0"/>
              <a:t> ошибки, то </a:t>
            </a:r>
            <a:r>
              <a:rPr lang="ru-RU" b="1" dirty="0" smtClean="0"/>
              <a:t>набор тестов (X,Y) соответствует </a:t>
            </a:r>
            <a:r>
              <a:rPr lang="ru-RU" i="1" dirty="0" smtClean="0"/>
              <a:t>мутационному критерию</a:t>
            </a:r>
            <a:r>
              <a:rPr lang="ru-RU" dirty="0" smtClean="0"/>
              <a:t>, а тестируемая </a:t>
            </a:r>
            <a:r>
              <a:rPr lang="ru-RU" i="1" dirty="0" smtClean="0"/>
              <a:t>программа</a:t>
            </a:r>
            <a:r>
              <a:rPr lang="ru-RU" dirty="0" smtClean="0"/>
              <a:t> объявляется </a:t>
            </a:r>
            <a:r>
              <a:rPr lang="ru-RU" b="1" dirty="0" smtClean="0"/>
              <a:t>правильной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Если некоторые </a:t>
            </a:r>
            <a:r>
              <a:rPr lang="ru-RU" i="1" dirty="0" smtClean="0"/>
              <a:t>мутанты</a:t>
            </a:r>
            <a:r>
              <a:rPr lang="ru-RU" dirty="0" smtClean="0"/>
              <a:t> не выявили всех </a:t>
            </a:r>
            <a:r>
              <a:rPr lang="ru-RU" i="1" dirty="0" smtClean="0"/>
              <a:t>мутаций</a:t>
            </a:r>
            <a:r>
              <a:rPr lang="ru-RU" dirty="0" smtClean="0"/>
              <a:t>, то надо расширять набор тестов (X,Y) и продолжать тестирование.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Пример применения мутационного критерия</a:t>
            </a:r>
            <a:endParaRPr lang="ru-RU" sz="28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1212776"/>
            <a:ext cx="8229600" cy="564522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double </a:t>
            </a:r>
            <a:r>
              <a:rPr lang="en-US" dirty="0" err="1" smtClean="0"/>
              <a:t>PowerNonNeg</a:t>
            </a:r>
            <a:r>
              <a:rPr lang="en-US" dirty="0" smtClean="0"/>
              <a:t>(double x, 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double z=1;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if (n&gt;0)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for (</a:t>
            </a:r>
            <a:r>
              <a:rPr lang="en-US" dirty="0" err="1" smtClean="0"/>
              <a:t>i</a:t>
            </a:r>
            <a:r>
              <a:rPr lang="en-US" dirty="0" smtClean="0"/>
              <a:t>=1;n-1&gt;=</a:t>
            </a:r>
            <a:r>
              <a:rPr lang="en-US" dirty="0" err="1" smtClean="0"/>
              <a:t>i;i</a:t>
            </a:r>
            <a:r>
              <a:rPr lang="en-US" dirty="0" smtClean="0"/>
              <a:t>++)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    z = z*x;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    }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 err="1" smtClean="0"/>
              <a:t>else</a:t>
            </a:r>
            <a:r>
              <a:rPr lang="ru-RU" dirty="0" smtClean="0"/>
              <a:t> </a:t>
            </a:r>
            <a:r>
              <a:rPr lang="ru-RU" dirty="0" err="1" smtClean="0"/>
              <a:t>printf</a:t>
            </a:r>
            <a:r>
              <a:rPr lang="ru-RU" dirty="0" smtClean="0"/>
              <a:t>(</a:t>
            </a:r>
          </a:p>
          <a:p>
            <a:pPr>
              <a:buNone/>
            </a:pPr>
            <a:r>
              <a:rPr lang="ru-RU" dirty="0" smtClean="0"/>
              <a:t>      "Ошибка ! Степень числа </a:t>
            </a:r>
            <a:r>
              <a:rPr lang="ru-RU" dirty="0" err="1" smtClean="0"/>
              <a:t>n</a:t>
            </a:r>
            <a:r>
              <a:rPr lang="ru-RU" dirty="0" smtClean="0"/>
              <a:t> должна </a:t>
            </a:r>
          </a:p>
          <a:p>
            <a:pPr>
              <a:buNone/>
            </a:pPr>
            <a:r>
              <a:rPr lang="ru-RU" dirty="0" smtClean="0"/>
              <a:t>      быть больше 0.\n");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 err="1" smtClean="0"/>
              <a:t>return</a:t>
            </a:r>
            <a:r>
              <a:rPr lang="ru-RU" dirty="0" smtClean="0"/>
              <a:t> </a:t>
            </a:r>
            <a:r>
              <a:rPr lang="ru-RU" dirty="0" err="1" smtClean="0"/>
              <a:t>z</a:t>
            </a:r>
            <a:r>
              <a:rPr lang="ru-RU" dirty="0" smtClean="0"/>
              <a:t>;</a:t>
            </a:r>
          </a:p>
          <a:p>
            <a:pPr>
              <a:buNone/>
            </a:pPr>
            <a:r>
              <a:rPr lang="ru-RU" dirty="0" smtClean="0"/>
              <a:t>}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Пример применения мутационного критерия</a:t>
            </a:r>
            <a:endParaRPr lang="ru-RU" sz="28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602128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double PowerMutant1(double x, 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double z=2;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if (n&gt;0)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for (</a:t>
            </a:r>
            <a:r>
              <a:rPr lang="en-US" dirty="0" err="1" smtClean="0"/>
              <a:t>i</a:t>
            </a:r>
            <a:r>
              <a:rPr lang="en-US" dirty="0" smtClean="0"/>
              <a:t>=1;n&gt;=</a:t>
            </a:r>
            <a:r>
              <a:rPr lang="en-US" dirty="0" err="1" smtClean="0"/>
              <a:t>i;i</a:t>
            </a:r>
            <a:r>
              <a:rPr lang="en-US" dirty="0" smtClean="0"/>
              <a:t>++)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    z = z*x;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    }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 err="1" smtClean="0"/>
              <a:t>else</a:t>
            </a:r>
            <a:r>
              <a:rPr lang="ru-RU" dirty="0" smtClean="0"/>
              <a:t> </a:t>
            </a:r>
            <a:r>
              <a:rPr lang="ru-RU" dirty="0" err="1" smtClean="0"/>
              <a:t>printf</a:t>
            </a:r>
            <a:r>
              <a:rPr lang="ru-RU" dirty="0" smtClean="0"/>
              <a:t>(</a:t>
            </a:r>
          </a:p>
          <a:p>
            <a:pPr>
              <a:buNone/>
            </a:pPr>
            <a:r>
              <a:rPr lang="ru-RU" dirty="0" smtClean="0"/>
              <a:t>      "Ошибка ! Степень числа </a:t>
            </a:r>
            <a:r>
              <a:rPr lang="ru-RU" dirty="0" err="1" smtClean="0"/>
              <a:t>n</a:t>
            </a:r>
            <a:r>
              <a:rPr lang="ru-RU" dirty="0" smtClean="0"/>
              <a:t> должна </a:t>
            </a:r>
          </a:p>
          <a:p>
            <a:pPr>
              <a:buNone/>
            </a:pPr>
            <a:r>
              <a:rPr lang="ru-RU" dirty="0" smtClean="0"/>
              <a:t>       быть больше 0.\n");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 err="1" smtClean="0"/>
              <a:t>return</a:t>
            </a:r>
            <a:r>
              <a:rPr lang="ru-RU" dirty="0" smtClean="0"/>
              <a:t> </a:t>
            </a:r>
            <a:r>
              <a:rPr lang="ru-RU" dirty="0" err="1" smtClean="0"/>
              <a:t>z</a:t>
            </a:r>
            <a:r>
              <a:rPr lang="ru-RU" dirty="0" smtClean="0"/>
              <a:t>;</a:t>
            </a:r>
          </a:p>
          <a:p>
            <a:pPr>
              <a:buNone/>
            </a:pPr>
            <a:r>
              <a:rPr lang="ru-RU" dirty="0" smtClean="0"/>
              <a:t>}</a:t>
            </a: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Пример применения мутационного критерия</a:t>
            </a:r>
            <a:endParaRPr lang="ru-RU" sz="28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602128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double PowerMutant2(double x, 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double z=1;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if (n&gt;0)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for (</a:t>
            </a:r>
            <a:r>
              <a:rPr lang="en-US" dirty="0" err="1" smtClean="0"/>
              <a:t>i</a:t>
            </a:r>
            <a:r>
              <a:rPr lang="en-US" dirty="0" smtClean="0"/>
              <a:t>=0;n-1&gt;=</a:t>
            </a:r>
            <a:r>
              <a:rPr lang="en-US" dirty="0" err="1" smtClean="0"/>
              <a:t>i;i</a:t>
            </a:r>
            <a:r>
              <a:rPr lang="en-US" dirty="0" smtClean="0"/>
              <a:t>++)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    z = z*x;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    }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 err="1" smtClean="0"/>
              <a:t>else</a:t>
            </a:r>
            <a:r>
              <a:rPr lang="ru-RU" dirty="0" smtClean="0"/>
              <a:t> </a:t>
            </a:r>
            <a:r>
              <a:rPr lang="ru-RU" dirty="0" err="1" smtClean="0"/>
              <a:t>printf</a:t>
            </a:r>
            <a:r>
              <a:rPr lang="ru-RU" dirty="0" smtClean="0"/>
              <a:t>(</a:t>
            </a:r>
          </a:p>
          <a:p>
            <a:pPr>
              <a:buNone/>
            </a:pPr>
            <a:r>
              <a:rPr lang="ru-RU" dirty="0" smtClean="0"/>
              <a:t>     "Ошибка ! Степень числа </a:t>
            </a:r>
            <a:r>
              <a:rPr lang="ru-RU" dirty="0" err="1" smtClean="0"/>
              <a:t>n</a:t>
            </a:r>
            <a:r>
              <a:rPr lang="ru-RU" dirty="0" smtClean="0"/>
              <a:t> должна </a:t>
            </a:r>
          </a:p>
          <a:p>
            <a:pPr>
              <a:buNone/>
            </a:pPr>
            <a:r>
              <a:rPr lang="ru-RU" dirty="0" smtClean="0"/>
              <a:t>      быть больше 0.\n");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 err="1" smtClean="0"/>
              <a:t>return</a:t>
            </a:r>
            <a:r>
              <a:rPr lang="ru-RU" dirty="0" smtClean="0"/>
              <a:t> </a:t>
            </a:r>
            <a:r>
              <a:rPr lang="ru-RU" dirty="0" err="1" smtClean="0"/>
              <a:t>z</a:t>
            </a:r>
            <a:r>
              <a:rPr lang="ru-RU" dirty="0" smtClean="0"/>
              <a:t>;</a:t>
            </a:r>
          </a:p>
          <a:p>
            <a:pPr>
              <a:buNone/>
            </a:pPr>
            <a:r>
              <a:rPr lang="ru-RU" dirty="0" smtClean="0"/>
              <a:t>}</a:t>
            </a: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Оценка Покрытия Программы и Проекта</a:t>
            </a:r>
            <a:endParaRPr lang="ru-RU" sz="28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6021288"/>
          </a:xfrm>
        </p:spPr>
        <p:txBody>
          <a:bodyPr>
            <a:normAutofit fontScale="62500" lnSpcReduction="20000"/>
          </a:bodyPr>
          <a:lstStyle/>
          <a:p>
            <a:r>
              <a:rPr lang="ru-RU" i="1" dirty="0" smtClean="0"/>
              <a:t>Тестирование программы</a:t>
            </a:r>
            <a:r>
              <a:rPr lang="ru-RU" dirty="0" smtClean="0"/>
              <a:t> Р по некоторому критерию С означает покрытие </a:t>
            </a:r>
            <a:r>
              <a:rPr lang="ru-RU" i="1" dirty="0" smtClean="0"/>
              <a:t>множества</a:t>
            </a:r>
            <a:r>
              <a:rPr lang="ru-RU" dirty="0" smtClean="0"/>
              <a:t> компонентов программы P М = {m</a:t>
            </a:r>
            <a:r>
              <a:rPr lang="ru-RU" baseline="-25000" dirty="0" smtClean="0"/>
              <a:t>1</a:t>
            </a:r>
            <a:r>
              <a:rPr lang="ru-RU" dirty="0" smtClean="0"/>
              <a:t>...m</a:t>
            </a:r>
            <a:r>
              <a:rPr lang="ru-RU" baseline="-25000" dirty="0" smtClean="0"/>
              <a:t>k</a:t>
            </a:r>
            <a:r>
              <a:rPr lang="ru-RU" dirty="0" smtClean="0"/>
              <a:t>} по элементам или по связям</a:t>
            </a:r>
          </a:p>
          <a:p>
            <a:r>
              <a:rPr lang="ru-RU" dirty="0" smtClean="0"/>
              <a:t>T = {t</a:t>
            </a:r>
            <a:r>
              <a:rPr lang="ru-RU" baseline="-25000" dirty="0" smtClean="0"/>
              <a:t>1</a:t>
            </a:r>
            <a:r>
              <a:rPr lang="ru-RU" dirty="0" smtClean="0"/>
              <a:t>...t</a:t>
            </a:r>
            <a:r>
              <a:rPr lang="ru-RU" baseline="-25000" dirty="0" smtClean="0"/>
              <a:t>n</a:t>
            </a:r>
            <a:r>
              <a:rPr lang="ru-RU" dirty="0" smtClean="0"/>
              <a:t>} - </a:t>
            </a:r>
            <a:r>
              <a:rPr lang="ru-RU" i="1" dirty="0" smtClean="0"/>
              <a:t>кортеж</a:t>
            </a:r>
            <a:r>
              <a:rPr lang="ru-RU" dirty="0" smtClean="0"/>
              <a:t> </a:t>
            </a:r>
            <a:r>
              <a:rPr lang="ru-RU" dirty="0" err="1" smtClean="0"/>
              <a:t>неизбыточных</a:t>
            </a:r>
            <a:r>
              <a:rPr lang="ru-RU" dirty="0" smtClean="0"/>
              <a:t> тестов </a:t>
            </a:r>
            <a:r>
              <a:rPr lang="ru-RU" dirty="0" err="1" smtClean="0"/>
              <a:t>t</a:t>
            </a:r>
            <a:r>
              <a:rPr lang="ru-RU" baseline="-25000" dirty="0" err="1" smtClean="0"/>
              <a:t>i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Тест </a:t>
            </a:r>
            <a:r>
              <a:rPr lang="ru-RU" dirty="0" err="1" smtClean="0"/>
              <a:t>t</a:t>
            </a:r>
            <a:r>
              <a:rPr lang="ru-RU" baseline="-25000" dirty="0" err="1" smtClean="0"/>
              <a:t>i</a:t>
            </a:r>
            <a:r>
              <a:rPr lang="ru-RU" dirty="0" smtClean="0"/>
              <a:t> </a:t>
            </a:r>
            <a:r>
              <a:rPr lang="ru-RU" dirty="0" err="1" smtClean="0"/>
              <a:t>неизбыточен</a:t>
            </a:r>
            <a:r>
              <a:rPr lang="ru-RU" dirty="0" smtClean="0"/>
              <a:t>, если существует покрытый им </a:t>
            </a:r>
            <a:r>
              <a:rPr lang="ru-RU" i="1" dirty="0" smtClean="0"/>
              <a:t>компонент</a:t>
            </a:r>
            <a:r>
              <a:rPr lang="ru-RU" dirty="0" smtClean="0"/>
              <a:t> </a:t>
            </a:r>
            <a:r>
              <a:rPr lang="ru-RU" dirty="0" err="1" smtClean="0"/>
              <a:t>m</a:t>
            </a:r>
            <a:r>
              <a:rPr lang="ru-RU" baseline="-25000" dirty="0" err="1" smtClean="0"/>
              <a:t>i</a:t>
            </a:r>
            <a:r>
              <a:rPr lang="ru-RU" dirty="0" smtClean="0"/>
              <a:t> из M(P,C), не покрытый ни одним из предыдущих тестов t</a:t>
            </a:r>
            <a:r>
              <a:rPr lang="ru-RU" baseline="-25000" dirty="0" smtClean="0"/>
              <a:t>1</a:t>
            </a:r>
            <a:r>
              <a:rPr lang="ru-RU" dirty="0" smtClean="0"/>
              <a:t>...t</a:t>
            </a:r>
            <a:r>
              <a:rPr lang="ru-RU" baseline="-25000" dirty="0" smtClean="0"/>
              <a:t>i-1</a:t>
            </a:r>
            <a:r>
              <a:rPr lang="ru-RU" dirty="0" smtClean="0"/>
              <a:t>. Каждому </a:t>
            </a:r>
            <a:r>
              <a:rPr lang="ru-RU" dirty="0" err="1" smtClean="0"/>
              <a:t>t</a:t>
            </a:r>
            <a:r>
              <a:rPr lang="ru-RU" baseline="-25000" dirty="0" err="1" smtClean="0"/>
              <a:t>i</a:t>
            </a:r>
            <a:r>
              <a:rPr lang="ru-RU" dirty="0" smtClean="0"/>
              <a:t> соответствует </a:t>
            </a:r>
            <a:r>
              <a:rPr lang="ru-RU" dirty="0" err="1" smtClean="0"/>
              <a:t>неизбыточный</a:t>
            </a:r>
            <a:r>
              <a:rPr lang="ru-RU" dirty="0" smtClean="0"/>
              <a:t> </a:t>
            </a:r>
            <a:r>
              <a:rPr lang="ru-RU" i="1" dirty="0" smtClean="0"/>
              <a:t>путь</a:t>
            </a:r>
            <a:r>
              <a:rPr lang="ru-RU" dirty="0" smtClean="0"/>
              <a:t> </a:t>
            </a:r>
            <a:r>
              <a:rPr lang="ru-RU" dirty="0" err="1" smtClean="0"/>
              <a:t>p</a:t>
            </a:r>
            <a:r>
              <a:rPr lang="ru-RU" baseline="-25000" dirty="0" err="1" smtClean="0"/>
              <a:t>i</a:t>
            </a:r>
            <a:r>
              <a:rPr lang="ru-RU" dirty="0" smtClean="0"/>
              <a:t> - последовательность вершин от входа до выхода.</a:t>
            </a:r>
          </a:p>
          <a:p>
            <a:r>
              <a:rPr lang="ru-RU" dirty="0" smtClean="0"/>
              <a:t>V(P,C) - </a:t>
            </a:r>
            <a:r>
              <a:rPr lang="ru-RU" i="1" dirty="0" smtClean="0"/>
              <a:t>сложность тестирования</a:t>
            </a:r>
            <a:r>
              <a:rPr lang="ru-RU" dirty="0" smtClean="0"/>
              <a:t> Р по критерию С - измеряется </a:t>
            </a:r>
            <a:r>
              <a:rPr lang="ru-RU" i="1" dirty="0" err="1" smtClean="0"/>
              <a:t>max</a:t>
            </a:r>
            <a:r>
              <a:rPr lang="ru-RU" dirty="0" smtClean="0"/>
              <a:t> числом </a:t>
            </a:r>
            <a:r>
              <a:rPr lang="ru-RU" dirty="0" err="1" smtClean="0"/>
              <a:t>неизбыточных</a:t>
            </a:r>
            <a:r>
              <a:rPr lang="ru-RU" dirty="0" smtClean="0"/>
              <a:t> тестов, покрывающих все элементы </a:t>
            </a:r>
            <a:r>
              <a:rPr lang="ru-RU" i="1" dirty="0" err="1" smtClean="0"/>
              <a:t>множества</a:t>
            </a:r>
            <a:r>
              <a:rPr lang="ru-RU" dirty="0" err="1" smtClean="0"/>
              <a:t>M</a:t>
            </a:r>
            <a:r>
              <a:rPr lang="ru-RU" dirty="0" smtClean="0"/>
              <a:t>(P,C)</a:t>
            </a:r>
          </a:p>
          <a:p>
            <a:r>
              <a:rPr lang="ru-RU" i="1" dirty="0" smtClean="0"/>
              <a:t>DV</a:t>
            </a:r>
            <a:r>
              <a:rPr lang="ru-RU" dirty="0" smtClean="0"/>
              <a:t>(P,C,Т) - остаточная </a:t>
            </a:r>
            <a:r>
              <a:rPr lang="ru-RU" i="1" dirty="0" smtClean="0"/>
              <a:t>сложность тестирования</a:t>
            </a:r>
            <a:r>
              <a:rPr lang="ru-RU" dirty="0" smtClean="0"/>
              <a:t> Р по критерию С - измеряется </a:t>
            </a:r>
            <a:r>
              <a:rPr lang="ru-RU" i="1" dirty="0" err="1" smtClean="0"/>
              <a:t>max</a:t>
            </a:r>
            <a:r>
              <a:rPr lang="ru-RU" dirty="0" smtClean="0"/>
              <a:t> числом </a:t>
            </a:r>
            <a:r>
              <a:rPr lang="ru-RU" dirty="0" err="1" smtClean="0"/>
              <a:t>неизбыточных</a:t>
            </a:r>
            <a:r>
              <a:rPr lang="ru-RU" dirty="0" smtClean="0"/>
              <a:t> тестов, покрывающих элементы </a:t>
            </a:r>
            <a:r>
              <a:rPr lang="ru-RU" i="1" dirty="0" smtClean="0"/>
              <a:t>множества</a:t>
            </a:r>
            <a:r>
              <a:rPr lang="ru-RU" dirty="0" smtClean="0"/>
              <a:t> M(P,C), оставшиеся непокрытыми, после прогона набора тестов Т. Величина </a:t>
            </a:r>
            <a:r>
              <a:rPr lang="ru-RU" i="1" dirty="0" smtClean="0"/>
              <a:t>DV</a:t>
            </a:r>
            <a:r>
              <a:rPr lang="ru-RU" dirty="0" smtClean="0"/>
              <a:t> строго и монотонно убывает от V до 0.</a:t>
            </a:r>
          </a:p>
          <a:p>
            <a:r>
              <a:rPr lang="ru-RU" dirty="0" smtClean="0"/>
              <a:t>TV(P,C,Т) = (V-</a:t>
            </a:r>
            <a:r>
              <a:rPr lang="ru-RU" i="1" dirty="0" smtClean="0"/>
              <a:t>DV</a:t>
            </a:r>
            <a:r>
              <a:rPr lang="ru-RU" dirty="0" smtClean="0"/>
              <a:t>)/V - оценка </a:t>
            </a:r>
            <a:r>
              <a:rPr lang="ru-RU" i="1" dirty="0" smtClean="0"/>
              <a:t>степени </a:t>
            </a:r>
            <a:r>
              <a:rPr lang="ru-RU" i="1" dirty="0" err="1" smtClean="0"/>
              <a:t>тестированности</a:t>
            </a:r>
            <a:r>
              <a:rPr lang="ru-RU" dirty="0" smtClean="0"/>
              <a:t> Р по критерию С.</a:t>
            </a:r>
          </a:p>
          <a:p>
            <a:r>
              <a:rPr lang="ru-RU" dirty="0" smtClean="0"/>
              <a:t>Критерий окончания тестирования TV(P,C,Т) &gt;= L, где (0 &lt;= L &lt;= 1). L - уровень </a:t>
            </a:r>
            <a:r>
              <a:rPr lang="ru-RU" dirty="0" err="1" smtClean="0"/>
              <a:t>оттестированности</a:t>
            </a:r>
            <a:r>
              <a:rPr lang="ru-RU" dirty="0" smtClean="0"/>
              <a:t>, заданный в требованиях к программному продукту</a:t>
            </a: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Оценка Покрытия Программы и Проекта</a:t>
            </a:r>
            <a:endParaRPr lang="ru-RU" sz="28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151216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Для оценки </a:t>
            </a:r>
            <a:r>
              <a:rPr lang="ru-RU" i="1" dirty="0" smtClean="0"/>
              <a:t>степени </a:t>
            </a:r>
            <a:r>
              <a:rPr lang="ru-RU" i="1" dirty="0" err="1" smtClean="0"/>
              <a:t>оттестированности</a:t>
            </a:r>
            <a:r>
              <a:rPr lang="ru-RU" dirty="0" smtClean="0"/>
              <a:t> часто используется </a:t>
            </a:r>
            <a:r>
              <a:rPr lang="ru-RU" i="1" dirty="0" smtClean="0"/>
              <a:t>УГП</a:t>
            </a:r>
            <a:r>
              <a:rPr lang="ru-RU" dirty="0" smtClean="0"/>
              <a:t> - </a:t>
            </a:r>
            <a:r>
              <a:rPr lang="ru-RU" i="1" dirty="0" smtClean="0"/>
              <a:t>управляющий граф программы</a:t>
            </a:r>
            <a:r>
              <a:rPr lang="ru-RU" dirty="0" smtClean="0"/>
              <a:t>. </a:t>
            </a:r>
            <a:r>
              <a:rPr lang="ru-RU" i="1" dirty="0" smtClean="0"/>
              <a:t>УГП</a:t>
            </a:r>
            <a:r>
              <a:rPr lang="ru-RU" dirty="0" smtClean="0"/>
              <a:t> многокомпонентного объекта G (</a:t>
            </a:r>
            <a:r>
              <a:rPr lang="ru-RU" dirty="0" smtClean="0">
                <a:hlinkClick r:id="rId2"/>
              </a:rPr>
              <a:t>Рис. 4.2</a:t>
            </a:r>
            <a:r>
              <a:rPr lang="ru-RU" dirty="0" smtClean="0"/>
              <a:t>, </a:t>
            </a:r>
            <a:r>
              <a:rPr lang="ru-RU" dirty="0" smtClean="0">
                <a:hlinkClick r:id="rId3"/>
              </a:rPr>
              <a:t>Пример 4.4</a:t>
            </a:r>
            <a:r>
              <a:rPr lang="ru-RU" dirty="0" smtClean="0"/>
              <a:t>), содержит внутри себя два компонента G1 и G2, </a:t>
            </a:r>
            <a:r>
              <a:rPr lang="ru-RU" i="1" dirty="0" smtClean="0"/>
              <a:t>УГП</a:t>
            </a:r>
            <a:r>
              <a:rPr lang="ru-RU" dirty="0" smtClean="0"/>
              <a:t> которых раскрыты.</a:t>
            </a:r>
            <a:endParaRPr lang="ru-RU" dirty="0"/>
          </a:p>
        </p:txBody>
      </p:sp>
      <p:pic>
        <p:nvPicPr>
          <p:cNvPr id="5" name="Рисунок 4" descr="Плоская модель УГП компонента 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67744" y="2348880"/>
            <a:ext cx="4492992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Оценка Покрытия Программы и Проекта</a:t>
            </a:r>
            <a:endParaRPr lang="ru-RU" sz="28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616624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В результате </a:t>
            </a:r>
            <a:r>
              <a:rPr lang="ru-RU" i="1" dirty="0" smtClean="0"/>
              <a:t>УГП</a:t>
            </a:r>
            <a:r>
              <a:rPr lang="ru-RU" dirty="0" smtClean="0"/>
              <a:t> компонента G имеет такой вид, как если бы компоненты G1 и G2 в его структуре специально не выделялись, а </a:t>
            </a:r>
            <a:r>
              <a:rPr lang="ru-RU" i="1" dirty="0" err="1" smtClean="0"/>
              <a:t>УГП</a:t>
            </a:r>
            <a:r>
              <a:rPr lang="ru-RU" dirty="0" err="1" smtClean="0"/>
              <a:t>компонентов</a:t>
            </a:r>
            <a:r>
              <a:rPr lang="ru-RU" dirty="0" smtClean="0"/>
              <a:t> G1 и G2 были вставлены в </a:t>
            </a:r>
            <a:r>
              <a:rPr lang="ru-RU" i="1" dirty="0" smtClean="0"/>
              <a:t>УГП</a:t>
            </a:r>
            <a:r>
              <a:rPr lang="ru-RU" dirty="0" smtClean="0"/>
              <a:t> G. Для тестирования компонента G в соответствии с критерием путей потребуется прогнать </a:t>
            </a:r>
            <a:r>
              <a:rPr lang="ru-RU" i="1" dirty="0" smtClean="0"/>
              <a:t>тестовый набор</a:t>
            </a:r>
            <a:r>
              <a:rPr lang="ru-RU" dirty="0" smtClean="0"/>
              <a:t>, покрывающий следующий набор трасс </a:t>
            </a:r>
            <a:r>
              <a:rPr lang="ru-RU" i="1" dirty="0" smtClean="0"/>
              <a:t>графа</a:t>
            </a:r>
            <a:r>
              <a:rPr lang="ru-RU" dirty="0" smtClean="0"/>
              <a:t> G:</a:t>
            </a:r>
          </a:p>
          <a:p>
            <a:r>
              <a:rPr lang="en-US" dirty="0" smtClean="0"/>
              <a:t>P</a:t>
            </a:r>
            <a:r>
              <a:rPr lang="en-US" baseline="-25000" dirty="0" smtClean="0"/>
              <a:t>1</a:t>
            </a:r>
            <a:r>
              <a:rPr lang="en-US" dirty="0" smtClean="0"/>
              <a:t>(G) = 1-2-3-4-5-6-7-10;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(G) = 1-2-3-4-6-7-10;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(G) = 1-2-11-16-18-14-15-7-10;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4</a:t>
            </a:r>
            <a:r>
              <a:rPr lang="en-US" dirty="0" smtClean="0"/>
              <a:t>(G) = 1-2-11-16-17-14-15-7-10;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5</a:t>
            </a:r>
            <a:r>
              <a:rPr lang="en-US" dirty="0" smtClean="0"/>
              <a:t>(G) = 1-2-11-16-12-13-14-15-7-10;</a:t>
            </a:r>
            <a:endParaRPr lang="ru-RU" dirty="0" smtClean="0"/>
          </a:p>
          <a:p>
            <a:r>
              <a:rPr lang="ru-RU" dirty="0" smtClean="0"/>
              <a:t>P</a:t>
            </a:r>
            <a:r>
              <a:rPr lang="ru-RU" baseline="-25000" dirty="0" smtClean="0"/>
              <a:t>6</a:t>
            </a:r>
            <a:r>
              <a:rPr lang="ru-RU" dirty="0" smtClean="0"/>
              <a:t>(G) = 1-2-19-20-23-22-7-10;</a:t>
            </a:r>
          </a:p>
          <a:p>
            <a:r>
              <a:rPr lang="ru-RU" dirty="0" smtClean="0"/>
              <a:t>P</a:t>
            </a:r>
            <a:r>
              <a:rPr lang="ru-RU" baseline="-25000" dirty="0" smtClean="0"/>
              <a:t>7</a:t>
            </a:r>
            <a:r>
              <a:rPr lang="ru-RU" dirty="0" smtClean="0"/>
              <a:t>(G) = 1-2-19-20-21-22-7-10;</a:t>
            </a:r>
            <a:endParaRPr lang="ru-RU" dirty="0"/>
          </a:p>
        </p:txBody>
      </p:sp>
      <p:pic>
        <p:nvPicPr>
          <p:cNvPr id="6" name="Рисунок 5" descr="Иерархическая модель УГП компонента 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3140968"/>
            <a:ext cx="2843808" cy="371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Оценка Покрытия Программы и Проекта</a:t>
            </a:r>
            <a:endParaRPr lang="ru-RU" sz="28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 descr="Иерархическая модель: УГП компонент G1 и G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7776864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Оценка Покрытия Программы и Проекта</a:t>
            </a:r>
            <a:endParaRPr lang="ru-RU" sz="28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 smtClean="0"/>
              <a:t>Для исчерпывающего тестирования иерархической модели компонента G в соответствии с критерием путей требуется прогнать следующий набор трасс:</a:t>
            </a:r>
          </a:p>
          <a:p>
            <a:r>
              <a:rPr lang="ru-RU" dirty="0" smtClean="0"/>
              <a:t>P</a:t>
            </a:r>
            <a:r>
              <a:rPr lang="ru-RU" baseline="-25000" dirty="0" smtClean="0"/>
              <a:t>1</a:t>
            </a:r>
            <a:r>
              <a:rPr lang="ru-RU" dirty="0" smtClean="0"/>
              <a:t>(G) = 1-2-3-4-5-6-7-10;</a:t>
            </a:r>
          </a:p>
          <a:p>
            <a:r>
              <a:rPr lang="ru-RU" dirty="0" smtClean="0"/>
              <a:t>P</a:t>
            </a:r>
            <a:r>
              <a:rPr lang="ru-RU" baseline="-25000" dirty="0" smtClean="0"/>
              <a:t>2</a:t>
            </a:r>
            <a:r>
              <a:rPr lang="ru-RU" dirty="0" smtClean="0"/>
              <a:t>(G) = 1-2-3-4-6-7-10;</a:t>
            </a:r>
          </a:p>
          <a:p>
            <a:r>
              <a:rPr lang="ru-RU" dirty="0" smtClean="0"/>
              <a:t>P</a:t>
            </a:r>
            <a:r>
              <a:rPr lang="ru-RU" baseline="-25000" dirty="0" smtClean="0"/>
              <a:t>3</a:t>
            </a:r>
            <a:r>
              <a:rPr lang="ru-RU" dirty="0" smtClean="0"/>
              <a:t>(G) = 1-2-8-7-10;</a:t>
            </a:r>
          </a:p>
          <a:p>
            <a:r>
              <a:rPr lang="ru-RU" dirty="0" smtClean="0"/>
              <a:t>P</a:t>
            </a:r>
            <a:r>
              <a:rPr lang="ru-RU" baseline="-25000" dirty="0" smtClean="0"/>
              <a:t>4</a:t>
            </a:r>
            <a:r>
              <a:rPr lang="ru-RU" dirty="0" smtClean="0"/>
              <a:t>(G) = 1-2-9-7-10.</a:t>
            </a:r>
          </a:p>
          <a:p>
            <a:r>
              <a:rPr lang="ru-RU" dirty="0" smtClean="0"/>
              <a:t>4.2. Набор трасс, необходимых для покрытия иерархической модели УГП компонента G</a:t>
            </a:r>
          </a:p>
          <a:p>
            <a:r>
              <a:rPr lang="ru-RU" dirty="0" smtClean="0"/>
              <a:t>Приведенный набор трасс достаточен при условии, что компоненты G1 и G2 в свою </a:t>
            </a:r>
            <a:r>
              <a:rPr lang="ru-RU" i="1" dirty="0" smtClean="0"/>
              <a:t>очередь</a:t>
            </a:r>
            <a:r>
              <a:rPr lang="ru-RU" dirty="0" smtClean="0"/>
              <a:t> исчерпывающе протестированы. Чтобы обеспечить выполнение этого условия в соответствии с критерием путей, надо прогнать все трассы </a:t>
            </a:r>
          </a:p>
          <a:p>
            <a:r>
              <a:rPr lang="en-US" dirty="0" smtClean="0"/>
              <a:t>P</a:t>
            </a:r>
            <a:r>
              <a:rPr lang="en-US" baseline="-25000" dirty="0" smtClean="0"/>
              <a:t>11</a:t>
            </a:r>
            <a:r>
              <a:rPr lang="en-US" dirty="0" smtClean="0"/>
              <a:t>(G</a:t>
            </a:r>
            <a:r>
              <a:rPr lang="en-US" baseline="-25000" dirty="0" smtClean="0"/>
              <a:t>1</a:t>
            </a:r>
            <a:r>
              <a:rPr lang="en-US" dirty="0" smtClean="0"/>
              <a:t>)=11-16-12-13-14-15;	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12</a:t>
            </a:r>
            <a:r>
              <a:rPr lang="en-US" dirty="0" smtClean="0"/>
              <a:t>(G</a:t>
            </a:r>
            <a:r>
              <a:rPr lang="en-US" baseline="-25000" dirty="0" smtClean="0"/>
              <a:t>1</a:t>
            </a:r>
            <a:r>
              <a:rPr lang="en-US" dirty="0" smtClean="0"/>
              <a:t>)=11-16-17-14-15;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13</a:t>
            </a:r>
            <a:r>
              <a:rPr lang="en-US" dirty="0" smtClean="0"/>
              <a:t>(G</a:t>
            </a:r>
            <a:r>
              <a:rPr lang="en-US" baseline="-25000" dirty="0" smtClean="0"/>
              <a:t>1</a:t>
            </a:r>
            <a:r>
              <a:rPr lang="en-US" dirty="0" smtClean="0"/>
              <a:t>)=19-20-23-22;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21</a:t>
            </a:r>
            <a:r>
              <a:rPr lang="en-US" dirty="0" smtClean="0"/>
              <a:t>(G</a:t>
            </a:r>
            <a:r>
              <a:rPr lang="en-US" baseline="-25000" dirty="0" smtClean="0"/>
              <a:t>2</a:t>
            </a:r>
            <a:r>
              <a:rPr lang="en-US" dirty="0" smtClean="0"/>
              <a:t>)=19-20-21-22;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en-US" baseline="-25000" dirty="0" smtClean="0"/>
              <a:t>22</a:t>
            </a:r>
            <a:r>
              <a:rPr lang="en-US" dirty="0" smtClean="0"/>
              <a:t>(G</a:t>
            </a:r>
            <a:r>
              <a:rPr lang="en-US" baseline="-25000" dirty="0" smtClean="0"/>
              <a:t>2</a:t>
            </a:r>
            <a:r>
              <a:rPr lang="en-US" dirty="0" smtClean="0"/>
              <a:t>)=11-16-18-14-15.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Методика интегральной оценки </a:t>
            </a:r>
            <a:r>
              <a:rPr lang="ru-RU" b="1" dirty="0" err="1" smtClean="0"/>
              <a:t>тестированности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ru-RU" dirty="0" smtClean="0"/>
              <a:t>Выбор критерия С и приемочной оценки </a:t>
            </a:r>
            <a:r>
              <a:rPr lang="ru-RU" dirty="0" err="1" smtClean="0"/>
              <a:t>тестированности</a:t>
            </a:r>
            <a:r>
              <a:rPr lang="ru-RU" dirty="0" smtClean="0"/>
              <a:t> программного проекта - L</a:t>
            </a:r>
          </a:p>
          <a:p>
            <a:pPr lvl="0"/>
            <a:r>
              <a:rPr lang="ru-RU" dirty="0" smtClean="0"/>
              <a:t>Построение древа классов проекта и построение </a:t>
            </a:r>
            <a:r>
              <a:rPr lang="ru-RU" i="1" dirty="0" smtClean="0"/>
              <a:t>УГП</a:t>
            </a:r>
            <a:r>
              <a:rPr lang="ru-RU" dirty="0" smtClean="0"/>
              <a:t> для каждого модуля</a:t>
            </a:r>
          </a:p>
          <a:p>
            <a:pPr lvl="0"/>
            <a:r>
              <a:rPr lang="ru-RU" dirty="0" smtClean="0"/>
              <a:t>Модульное тестирование и оценка TV на модульном уровне</a:t>
            </a:r>
          </a:p>
          <a:p>
            <a:pPr lvl="0"/>
            <a:r>
              <a:rPr lang="ru-RU" dirty="0" smtClean="0"/>
              <a:t>Построение </a:t>
            </a:r>
            <a:r>
              <a:rPr lang="ru-RU" i="1" dirty="0" smtClean="0"/>
              <a:t>УГП</a:t>
            </a:r>
            <a:r>
              <a:rPr lang="ru-RU" dirty="0" smtClean="0"/>
              <a:t>, интегрирующего модули в единую иерархическую ( </a:t>
            </a:r>
            <a:r>
              <a:rPr lang="ru-RU" i="1" dirty="0" smtClean="0"/>
              <a:t>классовую</a:t>
            </a:r>
            <a:r>
              <a:rPr lang="ru-RU" dirty="0" smtClean="0"/>
              <a:t> ) модель проекта</a:t>
            </a:r>
          </a:p>
          <a:p>
            <a:pPr lvl="0"/>
            <a:r>
              <a:rPr lang="ru-RU" dirty="0" smtClean="0"/>
              <a:t>Выбор тестовых путей для проведения интеграционного или системного тестирования</a:t>
            </a:r>
          </a:p>
          <a:p>
            <a:pPr lvl="0"/>
            <a:r>
              <a:rPr lang="ru-RU" dirty="0" smtClean="0"/>
              <a:t>Генерация тестов, покрывающих тестовые пути шага 5</a:t>
            </a:r>
          </a:p>
          <a:p>
            <a:pPr lvl="0"/>
            <a:r>
              <a:rPr lang="ru-RU" dirty="0" smtClean="0"/>
              <a:t>Интегральная оценка </a:t>
            </a:r>
            <a:r>
              <a:rPr lang="ru-RU" dirty="0" err="1" smtClean="0"/>
              <a:t>тестированности</a:t>
            </a:r>
            <a:r>
              <a:rPr lang="ru-RU" dirty="0" smtClean="0"/>
              <a:t> проекта с учетом оценок </a:t>
            </a:r>
            <a:r>
              <a:rPr lang="ru-RU" dirty="0" err="1" smtClean="0"/>
              <a:t>тестированности</a:t>
            </a:r>
            <a:r>
              <a:rPr lang="ru-RU" dirty="0" smtClean="0"/>
              <a:t> модулей-компонентов</a:t>
            </a:r>
          </a:p>
          <a:p>
            <a:pPr lvl="0"/>
            <a:r>
              <a:rPr lang="ru-RU" dirty="0" smtClean="0"/>
              <a:t>Повторение шагов 5-7 до достижения заданного уровня </a:t>
            </a:r>
            <a:r>
              <a:rPr lang="ru-RU" dirty="0" err="1" smtClean="0"/>
              <a:t>тестированности</a:t>
            </a:r>
            <a:r>
              <a:rPr lang="ru-RU" dirty="0" smtClean="0"/>
              <a:t> L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Модульное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b="1" i="1" dirty="0" smtClean="0"/>
              <a:t>Модульное тестирование</a:t>
            </a:r>
            <a:r>
              <a:rPr lang="ru-RU" dirty="0" smtClean="0"/>
              <a:t> - это тестирование программы на уровне отдельно взятых модулей, функций или классов. Цель </a:t>
            </a:r>
            <a:r>
              <a:rPr lang="ru-RU" i="1" dirty="0" smtClean="0"/>
              <a:t>модульного тестирования</a:t>
            </a:r>
            <a:r>
              <a:rPr lang="ru-RU" dirty="0" smtClean="0"/>
              <a:t> состоит в выявлении локализованных в модуле ошибок в реализации алгоритмов, а также в определении степени готовности системы к переходу на следующий уровень разработки и тестирования. </a:t>
            </a:r>
            <a:r>
              <a:rPr lang="ru-RU" i="1" dirty="0" smtClean="0"/>
              <a:t>Модульное тестирование</a:t>
            </a:r>
            <a:r>
              <a:rPr lang="ru-RU" dirty="0" smtClean="0"/>
              <a:t> проводится по принципу "белого ящика", то есть основывается на знании внутренней структуры программы, и часто включает те или иные методы анализа покрытия кода.</a:t>
            </a:r>
          </a:p>
          <a:p>
            <a:r>
              <a:rPr lang="ru-RU" i="1" dirty="0" smtClean="0"/>
              <a:t>Модульное тестирование</a:t>
            </a:r>
            <a:r>
              <a:rPr lang="ru-RU" dirty="0" smtClean="0"/>
              <a:t> обычно подразумевает создание вокруг каждого модуля определенной среды, включающей </a:t>
            </a:r>
            <a:r>
              <a:rPr lang="ru-RU" i="1" dirty="0" smtClean="0"/>
              <a:t>заглушки</a:t>
            </a:r>
            <a:r>
              <a:rPr lang="ru-RU" dirty="0" smtClean="0"/>
              <a:t> для всех интерфейсов тестируемого модуля. Некоторые из них могут использоваться для подачи входных значений, другие для анализа результатов, присутствие третьих может быть продиктовано требованиями, накладываемыми компилятором и сборщиком.</a:t>
            </a:r>
          </a:p>
          <a:p>
            <a:r>
              <a:rPr lang="ru-RU" dirty="0" smtClean="0"/>
              <a:t>На уровне </a:t>
            </a:r>
            <a:r>
              <a:rPr lang="ru-RU" i="1" dirty="0" smtClean="0"/>
              <a:t>модульного тестирования</a:t>
            </a:r>
            <a:r>
              <a:rPr lang="ru-RU" dirty="0" smtClean="0"/>
              <a:t> проще всего обнаружить дефекты, связанные с алгоритмическими ошибками и ошибками кодирования алгоритмов, типа работы с условиями и счетчиками циклов, а также с использованием локальных переменных и ресурсов. Ошибки, связанные с неверной трактовкой данных, некорректной реализацией интерфейсов, совместимостью, производительностью и т.п. обычно пропускаются на уровне </a:t>
            </a:r>
            <a:r>
              <a:rPr lang="ru-RU" i="1" dirty="0" smtClean="0"/>
              <a:t>модульного тестирования</a:t>
            </a:r>
            <a:r>
              <a:rPr lang="ru-RU" dirty="0" smtClean="0"/>
              <a:t> и выявляются на более поздних стадиях тестирования.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Модульное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Являясь по способу исполнения структурным тестированием или тестированием "белого ящика", </a:t>
            </a:r>
            <a:r>
              <a:rPr lang="ru-RU" i="1" dirty="0" smtClean="0"/>
              <a:t>модульное тестирование</a:t>
            </a:r>
            <a:r>
              <a:rPr lang="ru-RU" dirty="0" smtClean="0"/>
              <a:t> характеризуется степенью, в которой тесты выполняют или покрывают логику программы (исходный текст). Тесты, связанные со структурным тестированием, строятся по следующим принципам:</a:t>
            </a:r>
          </a:p>
          <a:p>
            <a:pPr lvl="0"/>
            <a:r>
              <a:rPr lang="ru-RU" dirty="0" smtClean="0"/>
              <a:t>На основе анализа </a:t>
            </a:r>
            <a:r>
              <a:rPr lang="ru-RU" i="1" dirty="0" smtClean="0"/>
              <a:t>потока управления</a:t>
            </a:r>
            <a:r>
              <a:rPr lang="ru-RU" dirty="0" smtClean="0"/>
              <a:t>. В этом случае элементы, которые должны быть покрыты при прохождении тестов, определяются на основе </a:t>
            </a:r>
            <a:r>
              <a:rPr lang="ru-RU" i="1" dirty="0" smtClean="0"/>
              <a:t>структурных критериев</a:t>
            </a:r>
            <a:r>
              <a:rPr lang="ru-RU" dirty="0" smtClean="0"/>
              <a:t> тестирования С0, С1,С2. К ним относятся вершины, дуги, пути </a:t>
            </a:r>
            <a:r>
              <a:rPr lang="ru-RU" i="1" dirty="0" smtClean="0"/>
              <a:t>управляющего графа</a:t>
            </a:r>
            <a:r>
              <a:rPr lang="ru-RU" dirty="0" smtClean="0"/>
              <a:t> программы (УГП), условия, комбинации условий и т. п.</a:t>
            </a:r>
          </a:p>
          <a:p>
            <a:pPr lvl="0"/>
            <a:r>
              <a:rPr lang="ru-RU" dirty="0" smtClean="0"/>
              <a:t>На основе анализа </a:t>
            </a:r>
            <a:r>
              <a:rPr lang="ru-RU" i="1" dirty="0" smtClean="0"/>
              <a:t>потока данных</a:t>
            </a:r>
            <a:r>
              <a:rPr lang="ru-RU" dirty="0" smtClean="0"/>
              <a:t>, когда элементы, которые должны быть покрыты, определяются при помощи </a:t>
            </a:r>
            <a:r>
              <a:rPr lang="ru-RU" i="1" dirty="0" smtClean="0"/>
              <a:t>потока данных</a:t>
            </a:r>
            <a:r>
              <a:rPr lang="ru-RU" dirty="0" smtClean="0"/>
              <a:t>, т. е.</a:t>
            </a:r>
            <a:r>
              <a:rPr lang="ru-RU" i="1" dirty="0" smtClean="0"/>
              <a:t>информационного графа</a:t>
            </a:r>
            <a:r>
              <a:rPr lang="ru-RU" dirty="0" smtClean="0"/>
              <a:t> программы.</a:t>
            </a:r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Модульное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smtClean="0"/>
              <a:t>Тестирование на основе потока управления</a:t>
            </a:r>
            <a:r>
              <a:rPr lang="ru-RU" dirty="0" smtClean="0"/>
              <a:t>. Особенности использования </a:t>
            </a:r>
            <a:r>
              <a:rPr lang="ru-RU" i="1" dirty="0" smtClean="0"/>
              <a:t>структурных критериев</a:t>
            </a:r>
            <a:r>
              <a:rPr lang="ru-RU" dirty="0" smtClean="0"/>
              <a:t> тестирования С0,С1,С2 были рассмотрены в лекции 3. К ним следует добавить критерий покрытия условий, заключающийся в покрытии всех логических (булевских) условий в программе. Критерии покрытия решений (ветвей - С1) и условий не заменяют друг друга, поэтому на практике используется комбинированный критерий покрытия условий/решений, совмещающий требования по покрытию и решений, и условий.</a:t>
            </a:r>
          </a:p>
          <a:p>
            <a:r>
              <a:rPr lang="ru-RU" dirty="0" smtClean="0"/>
              <a:t>К популярным критериям относятся критерий покрытия функций программы, согласно которому каждая </a:t>
            </a:r>
            <a:r>
              <a:rPr lang="ru-RU" i="1" dirty="0" smtClean="0"/>
              <a:t>функция</a:t>
            </a:r>
            <a:r>
              <a:rPr lang="ru-RU" dirty="0" smtClean="0"/>
              <a:t> программы должна быть вызвана хотя бы один раз, и критерий покрытия вызовов, согласно которому каждый вызов каждой функции в программе должен быть осуществлен хотя бы один раз. Критерий покрытия вызовов известен также как критерий покрытия пар вызовов (</a:t>
            </a:r>
            <a:r>
              <a:rPr lang="ru-RU" i="1" dirty="0" err="1" smtClean="0"/>
              <a:t>call</a:t>
            </a:r>
            <a:r>
              <a:rPr lang="ru-RU" dirty="0" smtClean="0"/>
              <a:t> </a:t>
            </a:r>
            <a:r>
              <a:rPr lang="ru-RU" i="1" dirty="0" err="1" smtClean="0"/>
              <a:t>pair</a:t>
            </a:r>
            <a:r>
              <a:rPr lang="ru-RU" dirty="0" smtClean="0"/>
              <a:t> </a:t>
            </a:r>
            <a:r>
              <a:rPr lang="ru-RU" i="1" dirty="0" err="1" smtClean="0"/>
              <a:t>coverage</a:t>
            </a:r>
            <a:r>
              <a:rPr lang="ru-RU" dirty="0" smtClean="0"/>
              <a:t>).</a:t>
            </a: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Модульное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/>
              <a:t>Тестирование на основе потока данных</a:t>
            </a:r>
            <a:r>
              <a:rPr lang="ru-RU" dirty="0" smtClean="0"/>
              <a:t>. Этот вид тестирования направлен на выявление ссылок на неинициализированные переменные и избыточные присваивания (аномалий </a:t>
            </a:r>
            <a:r>
              <a:rPr lang="ru-RU" i="1" dirty="0" smtClean="0"/>
              <a:t>потока данных</a:t>
            </a:r>
            <a:r>
              <a:rPr lang="ru-RU" dirty="0" smtClean="0"/>
              <a:t> ). Как основа для стратегии тестирования </a:t>
            </a:r>
            <a:r>
              <a:rPr lang="ru-RU" i="1" dirty="0" smtClean="0"/>
              <a:t>поток данных</a:t>
            </a:r>
            <a:r>
              <a:rPr lang="ru-RU" dirty="0" smtClean="0"/>
              <a:t> впервые был описан в </a:t>
            </a:r>
            <a:r>
              <a:rPr lang="ru-RU" dirty="0" smtClean="0">
                <a:hlinkClick r:id="rId2"/>
              </a:rPr>
              <a:t>[ 14 ] </a:t>
            </a:r>
            <a:r>
              <a:rPr lang="ru-RU" dirty="0" smtClean="0"/>
              <a:t>. Предложенная там стратегия требовала тестирования всех взаимосвязей, включающих в себя ссылку (использование) и </a:t>
            </a:r>
            <a:r>
              <a:rPr lang="ru-RU" i="1" dirty="0" err="1" smtClean="0"/>
              <a:t>определение</a:t>
            </a:r>
            <a:r>
              <a:rPr lang="ru-RU" dirty="0" err="1" smtClean="0"/>
              <a:t>переменной</a:t>
            </a:r>
            <a:r>
              <a:rPr lang="ru-RU" dirty="0" smtClean="0"/>
              <a:t>, на которую указывает </a:t>
            </a:r>
            <a:r>
              <a:rPr lang="ru-RU" i="1" dirty="0" smtClean="0"/>
              <a:t>ссылка</a:t>
            </a:r>
            <a:r>
              <a:rPr lang="ru-RU" dirty="0" smtClean="0"/>
              <a:t> (т. е. требуется покрытие дуг </a:t>
            </a:r>
            <a:r>
              <a:rPr lang="ru-RU" i="1" dirty="0" smtClean="0"/>
              <a:t>информационного графа</a:t>
            </a:r>
            <a:r>
              <a:rPr lang="ru-RU" dirty="0" smtClean="0"/>
              <a:t> программы). Недостаток стратегии в том, что она не включает критерий С1, и не гарантирует покрытия решений.</a:t>
            </a:r>
          </a:p>
          <a:p>
            <a:r>
              <a:rPr lang="ru-RU" dirty="0" smtClean="0"/>
              <a:t>Стратегия требуемых пар </a:t>
            </a:r>
            <a:r>
              <a:rPr lang="ru-RU" dirty="0" smtClean="0">
                <a:hlinkClick r:id="rId2"/>
              </a:rPr>
              <a:t>[ 15 ] </a:t>
            </a:r>
            <a:r>
              <a:rPr lang="ru-RU" dirty="0" smtClean="0"/>
              <a:t>также тестирует упомянутые взаимосвязи. Использование переменной в предикате дублируется в соответствии с числом выходов решения, и каждая из таких требуемых взаимосвязей должна быть протестирована. К популярным критериям принадлежит критерий СР, заключающийся в покрытии всех таких пар дуг </a:t>
            </a:r>
            <a:r>
              <a:rPr lang="ru-RU" dirty="0" err="1" smtClean="0"/>
              <a:t>v</a:t>
            </a:r>
            <a:r>
              <a:rPr lang="ru-RU" dirty="0" smtClean="0"/>
              <a:t> и </a:t>
            </a:r>
            <a:r>
              <a:rPr lang="ru-RU" dirty="0" err="1" smtClean="0"/>
              <a:t>w</a:t>
            </a:r>
            <a:r>
              <a:rPr lang="ru-RU" dirty="0" smtClean="0"/>
              <a:t>, что из дуги </a:t>
            </a:r>
            <a:r>
              <a:rPr lang="ru-RU" dirty="0" err="1" smtClean="0"/>
              <a:t>v</a:t>
            </a:r>
            <a:r>
              <a:rPr lang="ru-RU" dirty="0" smtClean="0"/>
              <a:t> достижима </a:t>
            </a:r>
            <a:r>
              <a:rPr lang="ru-RU" i="1" dirty="0" smtClean="0"/>
              <a:t>дуга</a:t>
            </a:r>
            <a:r>
              <a:rPr lang="ru-RU" dirty="0" smtClean="0"/>
              <a:t> </a:t>
            </a:r>
            <a:r>
              <a:rPr lang="ru-RU" dirty="0" err="1" smtClean="0"/>
              <a:t>w</a:t>
            </a:r>
            <a:r>
              <a:rPr lang="ru-RU" dirty="0" smtClean="0"/>
              <a:t>, поскольку именно на дуге может произойти потеря значения переменной, которая в дальнейшем уже не должна использоваться. Для "покрытия" еще одного популярного критерия </a:t>
            </a:r>
            <a:r>
              <a:rPr lang="ru-RU" dirty="0" err="1" smtClean="0"/>
              <a:t>Cdu</a:t>
            </a:r>
            <a:r>
              <a:rPr lang="ru-RU" dirty="0" smtClean="0"/>
              <a:t> достаточно тестировать пары (</a:t>
            </a:r>
            <a:r>
              <a:rPr lang="ru-RU" i="1" dirty="0" smtClean="0"/>
              <a:t>вершина</a:t>
            </a:r>
            <a:r>
              <a:rPr lang="ru-RU" dirty="0" smtClean="0"/>
              <a:t>, </a:t>
            </a:r>
            <a:r>
              <a:rPr lang="ru-RU" i="1" dirty="0" smtClean="0"/>
              <a:t>дуга</a:t>
            </a:r>
            <a:r>
              <a:rPr lang="ru-RU" dirty="0" smtClean="0"/>
              <a:t>), поскольку </a:t>
            </a:r>
            <a:r>
              <a:rPr lang="ru-RU" i="1" dirty="0" smtClean="0"/>
              <a:t>определение</a:t>
            </a:r>
            <a:r>
              <a:rPr lang="ru-RU" dirty="0" smtClean="0"/>
              <a:t> переменной происходит в вершине УГП, а ее использование - на дугах, исходящих из решений, или в вычислительных вершинах.</a:t>
            </a: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Модульное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40000" lnSpcReduction="20000"/>
          </a:bodyPr>
          <a:lstStyle/>
          <a:p>
            <a:r>
              <a:rPr lang="ru-RU" b="1" dirty="0" smtClean="0"/>
              <a:t>Методы проектирования тестовых путей для достижения заданной степени </a:t>
            </a:r>
            <a:r>
              <a:rPr lang="ru-RU" b="1" dirty="0" err="1" smtClean="0"/>
              <a:t>тестированности</a:t>
            </a:r>
            <a:r>
              <a:rPr lang="ru-RU" b="1" dirty="0" smtClean="0"/>
              <a:t> в структурном тестировании</a:t>
            </a:r>
            <a:r>
              <a:rPr lang="ru-RU" dirty="0" smtClean="0"/>
              <a:t>. Процесс построения набора тестов при структурном тестировании принято делить на три фазы:</a:t>
            </a:r>
          </a:p>
          <a:p>
            <a:pPr lvl="0"/>
            <a:r>
              <a:rPr lang="ru-RU" dirty="0" smtClean="0"/>
              <a:t>Конструирование УГП.</a:t>
            </a:r>
          </a:p>
          <a:p>
            <a:pPr lvl="0"/>
            <a:r>
              <a:rPr lang="ru-RU" dirty="0" smtClean="0"/>
              <a:t>Выбор тестовых путей.</a:t>
            </a:r>
          </a:p>
          <a:p>
            <a:pPr lvl="0"/>
            <a:r>
              <a:rPr lang="ru-RU" dirty="0" smtClean="0"/>
              <a:t>Генерация тестов, соответствующих тестовым путям.</a:t>
            </a:r>
          </a:p>
          <a:p>
            <a:r>
              <a:rPr lang="ru-RU" dirty="0" smtClean="0"/>
              <a:t>Первая фаза соответствует статическому анализу программы, задача которого состоит в получении графа программы и зависящего от него и от критерия тестирования </a:t>
            </a:r>
            <a:r>
              <a:rPr lang="ru-RU" i="1" dirty="0" smtClean="0"/>
              <a:t>множества</a:t>
            </a:r>
            <a:r>
              <a:rPr lang="ru-RU" dirty="0" smtClean="0"/>
              <a:t> элементов, которые необходимо покрыть тестами.</a:t>
            </a:r>
          </a:p>
          <a:p>
            <a:r>
              <a:rPr lang="ru-RU" dirty="0" smtClean="0"/>
              <a:t>На третьей фазе по известным путям тестирования осуществляется </a:t>
            </a:r>
            <a:r>
              <a:rPr lang="ru-RU" i="1" dirty="0" smtClean="0"/>
              <a:t>поиск</a:t>
            </a:r>
            <a:r>
              <a:rPr lang="ru-RU" dirty="0" smtClean="0"/>
              <a:t> подходящих тестов, реализующих прохождение этих путей.</a:t>
            </a:r>
          </a:p>
          <a:p>
            <a:r>
              <a:rPr lang="ru-RU" dirty="0" smtClean="0"/>
              <a:t>Вторая фаза обеспечивает выбор тестовых путей. Выделяют три подхода к построению тестовых путей:</a:t>
            </a:r>
          </a:p>
          <a:p>
            <a:pPr lvl="0"/>
            <a:r>
              <a:rPr lang="ru-RU" i="1" dirty="0" smtClean="0"/>
              <a:t>Статические методы</a:t>
            </a:r>
            <a:r>
              <a:rPr lang="ru-RU" dirty="0" smtClean="0"/>
              <a:t>.</a:t>
            </a:r>
          </a:p>
          <a:p>
            <a:pPr lvl="0"/>
            <a:r>
              <a:rPr lang="ru-RU" i="1" dirty="0" smtClean="0"/>
              <a:t>Динамические методы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Методы реализуемых путей.</a:t>
            </a:r>
          </a:p>
          <a:p>
            <a:r>
              <a:rPr lang="ru-RU" b="1" dirty="0" smtClean="0"/>
              <a:t>Статические методы</a:t>
            </a:r>
            <a:r>
              <a:rPr lang="ru-RU" dirty="0" smtClean="0"/>
              <a:t>. Самое простое и легко реализуемое решение - построение каждого пути посредством постепенного его удлинения за счет добавления дуг, пока не будет достигнута выходная </a:t>
            </a:r>
            <a:r>
              <a:rPr lang="ru-RU" i="1" dirty="0" smtClean="0"/>
              <a:t>вершина</a:t>
            </a:r>
            <a:r>
              <a:rPr lang="ru-RU" dirty="0" smtClean="0"/>
              <a:t> </a:t>
            </a:r>
            <a:r>
              <a:rPr lang="ru-RU" i="1" dirty="0" smtClean="0"/>
              <a:t>управляющего графа</a:t>
            </a:r>
            <a:r>
              <a:rPr lang="ru-RU" dirty="0" smtClean="0"/>
              <a:t> программы. Эта идея может быть усилена в так называемых адаптивных методах, которые каждый раз добавляют только один тестовый </a:t>
            </a:r>
            <a:r>
              <a:rPr lang="ru-RU" i="1" dirty="0" smtClean="0"/>
              <a:t>путь</a:t>
            </a:r>
            <a:r>
              <a:rPr lang="ru-RU" dirty="0" smtClean="0"/>
              <a:t> (</a:t>
            </a:r>
            <a:r>
              <a:rPr lang="ru-RU" i="1" dirty="0" smtClean="0"/>
              <a:t>входной</a:t>
            </a:r>
            <a:r>
              <a:rPr lang="ru-RU" dirty="0" smtClean="0"/>
              <a:t> тест), используя предыдущие пути (тесты) как руководство для выбора последующих путей в соответствии с некоторой стратегией. Чаще всего адаптивные стратегии применяются по отношению к критерию С1. Основной недостаток </a:t>
            </a:r>
            <a:r>
              <a:rPr lang="ru-RU" i="1" dirty="0" smtClean="0"/>
              <a:t>статических методов</a:t>
            </a:r>
            <a:r>
              <a:rPr lang="ru-RU" dirty="0" smtClean="0"/>
              <a:t> заключается в том, что не учитывается возможная </a:t>
            </a:r>
            <a:r>
              <a:rPr lang="ru-RU" dirty="0" err="1" smtClean="0"/>
              <a:t>нереализуемость</a:t>
            </a:r>
            <a:r>
              <a:rPr lang="ru-RU" dirty="0" smtClean="0"/>
              <a:t> </a:t>
            </a:r>
            <a:r>
              <a:rPr lang="ru-RU" i="1" dirty="0" smtClean="0"/>
              <a:t>построенных путей</a:t>
            </a:r>
            <a:r>
              <a:rPr lang="ru-RU" dirty="0" smtClean="0"/>
              <a:t> тестирования.</a:t>
            </a:r>
          </a:p>
          <a:p>
            <a:r>
              <a:rPr lang="ru-RU" b="1" dirty="0" smtClean="0"/>
              <a:t>Динамические методы</a:t>
            </a:r>
            <a:r>
              <a:rPr lang="ru-RU" dirty="0" smtClean="0"/>
              <a:t>. Такие методы предполагают построение полной системы тестов, удовлетворяющих заданному критерию, путем одновременного решения задачи построения покрывающего множества путей и тестовых данных. При этом можно автоматически учитывать реализуемость или </a:t>
            </a:r>
            <a:r>
              <a:rPr lang="ru-RU" dirty="0" err="1" smtClean="0"/>
              <a:t>нереализуемость</a:t>
            </a:r>
            <a:r>
              <a:rPr lang="ru-RU" dirty="0" smtClean="0"/>
              <a:t> ранее рассмотренных путей или их частей. Основной идеей </a:t>
            </a:r>
            <a:r>
              <a:rPr lang="ru-RU" i="1" dirty="0" smtClean="0"/>
              <a:t>динамических методов</a:t>
            </a:r>
            <a:r>
              <a:rPr lang="ru-RU" dirty="0" smtClean="0"/>
              <a:t> является подсоединение к начальным реализуемым отрезкам путей дальнейших их частей так, чтобы: 1) не терять при этом реализуемости вновь полученных путей; 2) покрыть требуемые элементы структуры программы.</a:t>
            </a:r>
          </a:p>
          <a:p>
            <a:r>
              <a:rPr lang="ru-RU" b="1" dirty="0" smtClean="0"/>
              <a:t>Методы реализуемых путей</a:t>
            </a:r>
            <a:r>
              <a:rPr lang="ru-RU" dirty="0" smtClean="0"/>
              <a:t>. Данная методика </a:t>
            </a:r>
            <a:r>
              <a:rPr lang="ru-RU" dirty="0" smtClean="0">
                <a:hlinkClick r:id="rId2"/>
              </a:rPr>
              <a:t>[ 16 ] </a:t>
            </a:r>
            <a:r>
              <a:rPr lang="ru-RU" dirty="0" smtClean="0"/>
              <a:t>заключается в выделении из </a:t>
            </a:r>
            <a:r>
              <a:rPr lang="ru-RU" i="1" dirty="0" smtClean="0"/>
              <a:t>множества</a:t>
            </a:r>
            <a:r>
              <a:rPr lang="ru-RU" dirty="0" smtClean="0"/>
              <a:t> путей подмножества всех реализуемых путей. После чего покрывающее множество путей строится из полученного подмножества реализуемых путей.</a:t>
            </a:r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Интеграционное 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62500" lnSpcReduction="20000"/>
          </a:bodyPr>
          <a:lstStyle/>
          <a:p>
            <a:r>
              <a:rPr lang="ru-RU" b="1" i="1" dirty="0" smtClean="0"/>
              <a:t>Интеграционное тестирование</a:t>
            </a:r>
            <a:r>
              <a:rPr lang="ru-RU" dirty="0" smtClean="0"/>
              <a:t> - это тестирование части системы, состоящей из двух и более модулей. Основная задача </a:t>
            </a:r>
            <a:r>
              <a:rPr lang="ru-RU" i="1" dirty="0" smtClean="0"/>
              <a:t>интеграционного тестирования</a:t>
            </a:r>
            <a:r>
              <a:rPr lang="ru-RU" dirty="0" smtClean="0"/>
              <a:t> - поиск дефектов, связанных с ошибками в реализации и интерпретации интерфейсного взаимодействия между модулями.</a:t>
            </a:r>
          </a:p>
          <a:p>
            <a:r>
              <a:rPr lang="ru-RU" dirty="0" smtClean="0"/>
              <a:t>С технологической точки зрения </a:t>
            </a:r>
            <a:r>
              <a:rPr lang="ru-RU" i="1" dirty="0" smtClean="0"/>
              <a:t>интеграционное тестирование</a:t>
            </a:r>
            <a:r>
              <a:rPr lang="ru-RU" dirty="0" smtClean="0"/>
              <a:t> является количественным развитием </a:t>
            </a:r>
            <a:r>
              <a:rPr lang="ru-RU" i="1" dirty="0" smtClean="0"/>
              <a:t>модульного</a:t>
            </a:r>
            <a:r>
              <a:rPr lang="ru-RU" dirty="0" smtClean="0"/>
              <a:t>, поскольку так же, как и </a:t>
            </a:r>
            <a:r>
              <a:rPr lang="ru-RU" i="1" dirty="0" smtClean="0"/>
              <a:t>модульное тестирование</a:t>
            </a:r>
            <a:r>
              <a:rPr lang="ru-RU" dirty="0" smtClean="0"/>
              <a:t>, оперирует интерфейсами модулей и подсистем и требует создания тестового окружения, включая </a:t>
            </a:r>
            <a:r>
              <a:rPr lang="ru-RU" i="1" dirty="0" smtClean="0"/>
              <a:t>заглушки</a:t>
            </a:r>
            <a:r>
              <a:rPr lang="ru-RU" dirty="0" smtClean="0"/>
              <a:t> ( </a:t>
            </a:r>
            <a:r>
              <a:rPr lang="ru-RU" b="1" dirty="0" err="1" smtClean="0"/>
              <a:t>Stub</a:t>
            </a:r>
            <a:r>
              <a:rPr lang="ru-RU" dirty="0" smtClean="0"/>
              <a:t> ) на месте отсутствующих модулей. Основная разница между </a:t>
            </a:r>
            <a:r>
              <a:rPr lang="ru-RU" i="1" dirty="0" smtClean="0"/>
              <a:t>модульным</a:t>
            </a:r>
            <a:r>
              <a:rPr lang="ru-RU" dirty="0" smtClean="0"/>
              <a:t> и </a:t>
            </a:r>
            <a:r>
              <a:rPr lang="ru-RU" i="1" dirty="0" smtClean="0"/>
              <a:t>интеграционным тестированием</a:t>
            </a:r>
            <a:r>
              <a:rPr lang="ru-RU" dirty="0" smtClean="0"/>
              <a:t> состоит в целях, то есть в типах обнаруживаемых дефектов, которые, в свою </a:t>
            </a:r>
            <a:r>
              <a:rPr lang="ru-RU" i="1" dirty="0" smtClean="0"/>
              <a:t>очередь</a:t>
            </a:r>
            <a:r>
              <a:rPr lang="ru-RU" dirty="0" smtClean="0"/>
              <a:t>, определяют стратегию выбора входных данных и методов анализа. В частности, на уровне </a:t>
            </a:r>
            <a:r>
              <a:rPr lang="ru-RU" i="1" dirty="0" smtClean="0"/>
              <a:t>интеграционного тестирования</a:t>
            </a:r>
            <a:r>
              <a:rPr lang="ru-RU" dirty="0" smtClean="0"/>
              <a:t> часто применяются методы, связанные с покрытием интерфейсов, например, вызовов функций или методов, или </a:t>
            </a:r>
            <a:r>
              <a:rPr lang="ru-RU" i="1" dirty="0" smtClean="0"/>
              <a:t>анализ</a:t>
            </a:r>
            <a:r>
              <a:rPr lang="ru-RU" dirty="0" smtClean="0"/>
              <a:t> использования интерфейсных объектов, таких как глобальные ресурсы, средства коммуникаций, предоставляемых операционной системой.</a:t>
            </a: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Интеграционное 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47500" lnSpcReduction="20000"/>
          </a:bodyPr>
          <a:lstStyle/>
          <a:p>
            <a:r>
              <a:rPr lang="ru-RU" i="1" dirty="0" smtClean="0"/>
              <a:t>Интеграционное тестирование</a:t>
            </a:r>
            <a:r>
              <a:rPr lang="ru-RU" dirty="0" smtClean="0"/>
              <a:t> применяется на этапе сборки модульно оттестированных модулей в единый комплекс. Известны два метода </a:t>
            </a:r>
            <a:r>
              <a:rPr lang="ru-RU" i="1" dirty="0" smtClean="0"/>
              <a:t>сборки модулей</a:t>
            </a:r>
            <a:r>
              <a:rPr lang="ru-RU" dirty="0" smtClean="0"/>
              <a:t>:</a:t>
            </a:r>
            <a:endParaRPr lang="ru-RU" sz="4800" dirty="0" smtClean="0"/>
          </a:p>
          <a:p>
            <a:pPr lvl="0"/>
            <a:r>
              <a:rPr lang="ru-RU" b="1" dirty="0" smtClean="0"/>
              <a:t>Монолитный</a:t>
            </a:r>
            <a:r>
              <a:rPr lang="ru-RU" dirty="0" smtClean="0"/>
              <a:t>, характеризующийся одновременным объединением всех модулей в тестируемый комплекс</a:t>
            </a:r>
            <a:endParaRPr lang="ru-RU" sz="4800" dirty="0" smtClean="0"/>
          </a:p>
          <a:p>
            <a:pPr lvl="0"/>
            <a:r>
              <a:rPr lang="ru-RU" b="1" dirty="0" smtClean="0"/>
              <a:t>Инкрементальный</a:t>
            </a:r>
            <a:r>
              <a:rPr lang="ru-RU" dirty="0" smtClean="0"/>
              <a:t>, характеризующийся пошаговым (</a:t>
            </a:r>
            <a:r>
              <a:rPr lang="ru-RU" dirty="0" err="1" smtClean="0"/>
              <a:t>помодульным</a:t>
            </a:r>
            <a:r>
              <a:rPr lang="ru-RU" dirty="0" smtClean="0"/>
              <a:t>) наращиванием комплекса программ с </a:t>
            </a:r>
            <a:r>
              <a:rPr lang="ru-RU" b="1" dirty="0" smtClean="0"/>
              <a:t>пошаговым </a:t>
            </a:r>
            <a:r>
              <a:rPr lang="ru-RU" b="1" dirty="0" err="1" smtClean="0"/>
              <a:t>тестированием</a:t>
            </a:r>
            <a:r>
              <a:rPr lang="ru-RU" dirty="0" err="1" smtClean="0"/>
              <a:t>собираемого</a:t>
            </a:r>
            <a:r>
              <a:rPr lang="ru-RU" dirty="0" smtClean="0"/>
              <a:t> комплекса. В инкрементальном методе выделяют две стратегии добавления модулей:</a:t>
            </a:r>
            <a:endParaRPr lang="ru-RU" sz="4800" dirty="0" smtClean="0"/>
          </a:p>
          <a:p>
            <a:pPr lvl="1"/>
            <a:r>
              <a:rPr lang="ru-RU" dirty="0" smtClean="0"/>
              <a:t>"Сверху вниз" и соответствующее ему </a:t>
            </a:r>
            <a:r>
              <a:rPr lang="ru-RU" i="1" dirty="0" smtClean="0"/>
              <a:t>нисходящее тестирование</a:t>
            </a:r>
            <a:r>
              <a:rPr lang="ru-RU" dirty="0" smtClean="0"/>
              <a:t>.</a:t>
            </a:r>
            <a:endParaRPr lang="ru-RU" sz="4400" dirty="0" smtClean="0"/>
          </a:p>
          <a:p>
            <a:pPr lvl="1"/>
            <a:r>
              <a:rPr lang="ru-RU" dirty="0" smtClean="0"/>
              <a:t>"Снизу вверх" и соответственно </a:t>
            </a:r>
            <a:r>
              <a:rPr lang="ru-RU" i="1" dirty="0" smtClean="0"/>
              <a:t>восходящее тестирование</a:t>
            </a:r>
            <a:r>
              <a:rPr lang="ru-RU" dirty="0" smtClean="0"/>
              <a:t>.</a:t>
            </a:r>
            <a:endParaRPr lang="ru-RU" sz="4400" dirty="0" smtClean="0"/>
          </a:p>
          <a:p>
            <a:r>
              <a:rPr lang="ru-RU" b="1" dirty="0" smtClean="0"/>
              <a:t>Особенности монолитного тестирования</a:t>
            </a:r>
            <a:r>
              <a:rPr lang="ru-RU" dirty="0" smtClean="0"/>
              <a:t> заключаются в следующем: для замены неразработанных к моменту тестирования модулей, кроме самого верхнего ( К на </a:t>
            </a:r>
            <a:r>
              <a:rPr lang="ru-RU" dirty="0" smtClean="0">
                <a:hlinkClick r:id="rId2"/>
              </a:rPr>
              <a:t>Рис. 5.1</a:t>
            </a:r>
            <a:r>
              <a:rPr lang="ru-RU" dirty="0" smtClean="0"/>
              <a:t>), необходимо дополнительно разрабатывать </a:t>
            </a:r>
            <a:r>
              <a:rPr lang="ru-RU" b="1" dirty="0" smtClean="0"/>
              <a:t>драйверы</a:t>
            </a:r>
            <a:r>
              <a:rPr lang="ru-RU" dirty="0" smtClean="0"/>
              <a:t> ( </a:t>
            </a:r>
            <a:r>
              <a:rPr lang="ru-RU" b="1" dirty="0" err="1" smtClean="0"/>
              <a:t>test</a:t>
            </a:r>
            <a:r>
              <a:rPr lang="ru-RU" b="1" dirty="0" smtClean="0"/>
              <a:t> </a:t>
            </a:r>
            <a:r>
              <a:rPr lang="ru-RU" b="1" dirty="0" err="1" smtClean="0"/>
              <a:t>driver</a:t>
            </a:r>
            <a:r>
              <a:rPr lang="ru-RU" dirty="0" smtClean="0"/>
              <a:t> ) и/или </a:t>
            </a:r>
            <a:r>
              <a:rPr lang="ru-RU" b="1" dirty="0" smtClean="0"/>
              <a:t>заглушки</a:t>
            </a:r>
            <a:r>
              <a:rPr lang="ru-RU" dirty="0" smtClean="0"/>
              <a:t> ( </a:t>
            </a:r>
            <a:r>
              <a:rPr lang="ru-RU" b="1" dirty="0" err="1" smtClean="0"/>
              <a:t>stub</a:t>
            </a:r>
            <a:r>
              <a:rPr lang="ru-RU" dirty="0" smtClean="0"/>
              <a:t> ) </a:t>
            </a:r>
            <a:r>
              <a:rPr lang="ru-RU" dirty="0" smtClean="0">
                <a:hlinkClick r:id="rId3"/>
              </a:rPr>
              <a:t>[ 9 ] </a:t>
            </a:r>
            <a:r>
              <a:rPr lang="ru-RU" dirty="0" smtClean="0"/>
              <a:t>, замещающие отсутствующие на момент сеанса тестирования модули нижних уровней.</a:t>
            </a:r>
            <a:endParaRPr lang="ru-RU" sz="4800" dirty="0" smtClean="0"/>
          </a:p>
          <a:p>
            <a:r>
              <a:rPr lang="ru-RU" dirty="0" smtClean="0"/>
              <a:t>Сравнение </a:t>
            </a:r>
            <a:r>
              <a:rPr lang="ru-RU" i="1" dirty="0" smtClean="0"/>
              <a:t>монолитного</a:t>
            </a:r>
            <a:r>
              <a:rPr lang="ru-RU" dirty="0" smtClean="0"/>
              <a:t> и инкрементального подхода дает следующее:</a:t>
            </a:r>
            <a:endParaRPr lang="ru-RU" sz="4800" dirty="0" smtClean="0"/>
          </a:p>
          <a:p>
            <a:pPr lvl="0"/>
            <a:r>
              <a:rPr lang="ru-RU" i="1" dirty="0" smtClean="0"/>
              <a:t>Монолитное тестирование</a:t>
            </a:r>
            <a:r>
              <a:rPr lang="ru-RU" dirty="0" smtClean="0"/>
              <a:t> требует больших трудозатрат, связанных с дополнительной разработкой драйверов и заглушек и со сложностью идентификации ошибок, проявляющихся в пространстве собранного кода.</a:t>
            </a:r>
            <a:endParaRPr lang="ru-RU" sz="4800" dirty="0" smtClean="0"/>
          </a:p>
          <a:p>
            <a:pPr lvl="0"/>
            <a:r>
              <a:rPr lang="ru-RU" dirty="0" smtClean="0"/>
              <a:t>Пошаговое тестирование связано с меньшей трудоемкостью идентификации ошибок за счет постепенного наращивания объема тестируемого кода и соответственно локализации добавленной области тестируемого кода.</a:t>
            </a:r>
            <a:endParaRPr lang="ru-RU" sz="4800" dirty="0" smtClean="0"/>
          </a:p>
          <a:p>
            <a:pPr lvl="0"/>
            <a:r>
              <a:rPr lang="ru-RU" i="1" dirty="0" smtClean="0"/>
              <a:t>Монолитное тестирование</a:t>
            </a:r>
            <a:r>
              <a:rPr lang="ru-RU" dirty="0" smtClean="0"/>
              <a:t> предоставляет большие возможности распараллеливания работ особенно на начальной </a:t>
            </a:r>
            <a:r>
              <a:rPr lang="ru-RU" i="1" dirty="0" smtClean="0"/>
              <a:t>фазе тестирования</a:t>
            </a:r>
            <a:r>
              <a:rPr lang="ru-RU" dirty="0" smtClean="0"/>
              <a:t>.</a:t>
            </a:r>
            <a:endParaRPr lang="ru-RU" sz="4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Системное 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40000" lnSpcReduction="20000"/>
          </a:bodyPr>
          <a:lstStyle/>
          <a:p>
            <a:r>
              <a:rPr lang="ru-RU" i="1" dirty="0" smtClean="0"/>
              <a:t>Системное тестирование</a:t>
            </a:r>
            <a:r>
              <a:rPr lang="ru-RU" dirty="0" smtClean="0"/>
              <a:t> качественно отличается от интеграционного и модульного уровней. </a:t>
            </a:r>
            <a:r>
              <a:rPr lang="ru-RU" i="1" dirty="0" smtClean="0"/>
              <a:t>Системное тестирование</a:t>
            </a:r>
            <a:r>
              <a:rPr lang="ru-RU" dirty="0" smtClean="0"/>
              <a:t> рассматривает тестируемую систему в целом и оперирует на уровне пользовательских интерфейсов, в отличие от последних фаз </a:t>
            </a:r>
            <a:r>
              <a:rPr lang="ru-RU" i="1" dirty="0" smtClean="0"/>
              <a:t>интеграционного тестирования</a:t>
            </a:r>
            <a:r>
              <a:rPr lang="ru-RU" dirty="0" smtClean="0"/>
              <a:t>, которое оперирует на уровне интерфейсов модулей. Различны и цели этих уровней тестирования. На уровне системы часто сложно и малоэффективно анализировать прохождение тестовых траекторий внутри программы или отслеживать правильность работы конкретных функций. Основная </a:t>
            </a:r>
            <a:r>
              <a:rPr lang="ru-RU" i="1" dirty="0" smtClean="0"/>
              <a:t>задача системного тестирования</a:t>
            </a:r>
            <a:r>
              <a:rPr lang="ru-RU" dirty="0" smtClean="0"/>
              <a:t> - в выявлении дефектов, связанных с работой системы в целом, таких как неверное использование ресурсов системы, непредусмотренные комбинации данных пользовательского уровня, несовместимость с окружением, непредусмотренные сценарии использования, отсутствующая или неверная функциональность, неудобство в применении и тому подобное.</a:t>
            </a:r>
          </a:p>
          <a:p>
            <a:r>
              <a:rPr lang="ru-RU" i="1" dirty="0" smtClean="0"/>
              <a:t>Системное тестирование</a:t>
            </a:r>
            <a:r>
              <a:rPr lang="ru-RU" dirty="0" smtClean="0"/>
              <a:t> производится над проектом в целом с помощью метода "черного ящика". Структура программы не имеет никакого значения, для проверки доступны только входы и выходы, видимые пользователю. Тестированию подлежат коды и пользовательская документация.</a:t>
            </a:r>
          </a:p>
          <a:p>
            <a:r>
              <a:rPr lang="ru-RU" i="1" dirty="0" smtClean="0"/>
              <a:t>Категории тестов</a:t>
            </a:r>
            <a:r>
              <a:rPr lang="ru-RU" dirty="0" smtClean="0"/>
              <a:t> </a:t>
            </a:r>
            <a:r>
              <a:rPr lang="ru-RU" i="1" dirty="0" smtClean="0"/>
              <a:t>системного тестирования</a:t>
            </a:r>
            <a:r>
              <a:rPr lang="ru-RU" dirty="0" smtClean="0"/>
              <a:t>:</a:t>
            </a:r>
          </a:p>
          <a:p>
            <a:pPr lvl="0"/>
            <a:r>
              <a:rPr lang="ru-RU" dirty="0" smtClean="0"/>
              <a:t>Полнота решения функциональных задач.</a:t>
            </a:r>
          </a:p>
          <a:p>
            <a:pPr lvl="0"/>
            <a:r>
              <a:rPr lang="ru-RU" i="1" dirty="0" smtClean="0"/>
              <a:t>Стрессовое тестирование</a:t>
            </a:r>
            <a:r>
              <a:rPr lang="ru-RU" dirty="0" smtClean="0"/>
              <a:t> - на предельных объемах нагрузки входного потока.</a:t>
            </a:r>
          </a:p>
          <a:p>
            <a:pPr lvl="0"/>
            <a:r>
              <a:rPr lang="ru-RU" dirty="0" smtClean="0"/>
              <a:t>Корректность использования ресурсов (утечка памяти, возврат ресурсов).</a:t>
            </a:r>
          </a:p>
          <a:p>
            <a:pPr lvl="0"/>
            <a:r>
              <a:rPr lang="ru-RU" dirty="0" smtClean="0"/>
              <a:t>Оценка производительности.</a:t>
            </a:r>
          </a:p>
          <a:p>
            <a:pPr lvl="0"/>
            <a:r>
              <a:rPr lang="ru-RU" dirty="0" smtClean="0"/>
              <a:t>Эффективность защиты от искажения данных и некорректных действий.</a:t>
            </a:r>
          </a:p>
          <a:p>
            <a:pPr lvl="0"/>
            <a:r>
              <a:rPr lang="ru-RU" dirty="0" smtClean="0"/>
              <a:t>Проверка инсталляции и конфигурации на разных платформах.</a:t>
            </a:r>
          </a:p>
          <a:p>
            <a:pPr lvl="0"/>
            <a:r>
              <a:rPr lang="ru-RU" dirty="0" smtClean="0"/>
              <a:t>Корректность документации</a:t>
            </a:r>
          </a:p>
          <a:p>
            <a:r>
              <a:rPr lang="ru-RU" dirty="0" smtClean="0"/>
              <a:t>Поскольку </a:t>
            </a:r>
            <a:r>
              <a:rPr lang="ru-RU" i="1" dirty="0" smtClean="0"/>
              <a:t>системное тестирование</a:t>
            </a:r>
            <a:r>
              <a:rPr lang="ru-RU" dirty="0" smtClean="0"/>
              <a:t> проводится на пользовательских интерфейсах, создается иллюзия того, что построение специальной системы </a:t>
            </a:r>
            <a:r>
              <a:rPr lang="ru-RU" i="1" dirty="0" smtClean="0"/>
              <a:t>автоматизации тестирования</a:t>
            </a:r>
            <a:r>
              <a:rPr lang="ru-RU" dirty="0" smtClean="0"/>
              <a:t> не всегда необходимо. Однако объемы данных на этом уровне таковы, что обычно более эффективным подходом является полная или частичная </a:t>
            </a:r>
            <a:r>
              <a:rPr lang="ru-RU" i="1" dirty="0" smtClean="0"/>
              <a:t>автоматизация тестирования</a:t>
            </a:r>
            <a:r>
              <a:rPr lang="ru-RU" dirty="0" smtClean="0"/>
              <a:t>, что приводит к созданию тестовой системы гораздо более сложной, чем </a:t>
            </a:r>
            <a:r>
              <a:rPr lang="ru-RU" i="1" dirty="0" smtClean="0"/>
              <a:t>система тестирования</a:t>
            </a:r>
            <a:r>
              <a:rPr lang="ru-RU" dirty="0" smtClean="0"/>
              <a:t>, применяемая на уровне тестирования модулей или их комбинаций.</a:t>
            </a: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Регрессионное тестирование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77500" lnSpcReduction="20000"/>
          </a:bodyPr>
          <a:lstStyle/>
          <a:p>
            <a:r>
              <a:rPr lang="ru-RU" i="1" dirty="0" smtClean="0"/>
              <a:t>Регрессионное тестирование</a:t>
            </a:r>
            <a:r>
              <a:rPr lang="ru-RU" dirty="0" smtClean="0"/>
              <a:t> - цикл тестирования, который производится при внесении изменений на фазе </a:t>
            </a:r>
            <a:r>
              <a:rPr lang="ru-RU" i="1" dirty="0" smtClean="0"/>
              <a:t>системного тестирования</a:t>
            </a:r>
            <a:r>
              <a:rPr lang="ru-RU" dirty="0" smtClean="0"/>
              <a:t> или сопровождения продукта. Главная проблема </a:t>
            </a:r>
            <a:r>
              <a:rPr lang="ru-RU" i="1" dirty="0" smtClean="0"/>
              <a:t>регрессионного тестирования</a:t>
            </a:r>
            <a:r>
              <a:rPr lang="ru-RU" dirty="0" smtClean="0"/>
              <a:t> - выбор между полным и частичным </a:t>
            </a:r>
            <a:r>
              <a:rPr lang="ru-RU" i="1" dirty="0" err="1" smtClean="0"/>
              <a:t>перетестированием</a:t>
            </a:r>
            <a:r>
              <a:rPr lang="ru-RU" dirty="0" smtClean="0"/>
              <a:t> и пополнением тестовых наборов. При частичном </a:t>
            </a:r>
            <a:r>
              <a:rPr lang="ru-RU" i="1" dirty="0" err="1" smtClean="0"/>
              <a:t>перетестировании</a:t>
            </a:r>
            <a:r>
              <a:rPr lang="ru-RU" dirty="0" smtClean="0"/>
              <a:t> контролируются только те части проекта, которые связаны с измененными компонентами. На ГМП это пути, содержащие измененные узлы, и, как правило, это методы и классы, лежащие выше модифицированных по уровню, но содержащие их в своем контексте</a:t>
            </a:r>
          </a:p>
          <a:p>
            <a:r>
              <a:rPr lang="ru-RU" dirty="0" smtClean="0"/>
              <a:t>Пропуск огромного объема тестов, характерного для этапа </a:t>
            </a:r>
            <a:r>
              <a:rPr lang="ru-RU" i="1" dirty="0" smtClean="0"/>
              <a:t>системного тестирования</a:t>
            </a:r>
            <a:r>
              <a:rPr lang="ru-RU" dirty="0" smtClean="0"/>
              <a:t>, удается осуществить без потери качественных показателей продукта только с помощью регрессионного подхода.</a:t>
            </a:r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Издержки тестирования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733256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Интенсивность обнаружения ошибок на единицу затрат и </a:t>
            </a:r>
            <a:r>
              <a:rPr lang="ru-RU" i="1" dirty="0" smtClean="0"/>
              <a:t>надежность</a:t>
            </a:r>
            <a:r>
              <a:rPr lang="ru-RU" dirty="0" smtClean="0"/>
              <a:t> тесно связаны со временем тестирования и, соответственно, с гарантией качества продукта. Чем больше трудозатрат вкладывается в процесс тестирования, тем меньше ошибок в продукте остается незамеченными. Однако совершенство в индустриальном программировании имеет пределы, которые прежде всего связаны с затратами на получение программного продукта, а также с избытком качества, которое не востребовано заказчиком приложения. Нахождение оптимума – очень ответственная задача </a:t>
            </a:r>
            <a:r>
              <a:rPr lang="ru-RU" dirty="0" err="1" smtClean="0"/>
              <a:t>тестировщика</a:t>
            </a:r>
            <a:r>
              <a:rPr lang="ru-RU" dirty="0" smtClean="0"/>
              <a:t> и менеджера проекта.</a:t>
            </a:r>
          </a:p>
          <a:p>
            <a:r>
              <a:rPr lang="ru-RU" dirty="0" smtClean="0"/>
              <a:t>Движение к уменьшению числа оставшихся ошибок или к качеству продукта приводит к применению различных методов отладки и тестирования в процессе создания продукта. Приведен затратный </a:t>
            </a:r>
            <a:r>
              <a:rPr lang="ru-RU" i="1" dirty="0" smtClean="0"/>
              <a:t>компонент</a:t>
            </a:r>
            <a:r>
              <a:rPr lang="ru-RU" dirty="0" smtClean="0"/>
              <a:t> тестирования в зависимости от совершенствования применяемого инструментария и методов тестирования. На практике популярны следующие методы тестирования и отладки, упорядоченные по связанным с их применением затратам:</a:t>
            </a:r>
          </a:p>
          <a:p>
            <a:pPr lvl="0"/>
            <a:r>
              <a:rPr lang="ru-RU" dirty="0" smtClean="0"/>
              <a:t>Статические методы тестирования</a:t>
            </a:r>
          </a:p>
          <a:p>
            <a:pPr lvl="0"/>
            <a:r>
              <a:rPr lang="ru-RU" dirty="0" smtClean="0"/>
              <a:t>Модульное тестирование</a:t>
            </a:r>
          </a:p>
          <a:p>
            <a:pPr lvl="0"/>
            <a:r>
              <a:rPr lang="ru-RU" dirty="0" smtClean="0"/>
              <a:t>Интеграционное тестирование</a:t>
            </a:r>
          </a:p>
          <a:p>
            <a:pPr lvl="0"/>
            <a:r>
              <a:rPr lang="ru-RU" dirty="0" smtClean="0"/>
              <a:t>Системное тестирование</a:t>
            </a:r>
          </a:p>
          <a:p>
            <a:pPr lvl="0"/>
            <a:r>
              <a:rPr lang="ru-RU" dirty="0" smtClean="0"/>
              <a:t>Тестирование реального окружения и реального времени.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Издержки тестирования</a:t>
            </a:r>
            <a:endParaRPr lang="ru-RU" dirty="0"/>
          </a:p>
        </p:txBody>
      </p:sp>
      <p:pic>
        <p:nvPicPr>
          <p:cNvPr id="4" name="Содержимое 3" descr="Издержки тестирования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7416824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Процесс тестирования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Как отмечалось, в тестировании выделяются три основных уровня, или три фазы:</a:t>
            </a:r>
          </a:p>
          <a:p>
            <a:pPr lvl="0"/>
            <a:r>
              <a:rPr lang="ru-RU" i="1" dirty="0" smtClean="0"/>
              <a:t>Модульное тестирование</a:t>
            </a:r>
            <a:r>
              <a:rPr lang="ru-RU" dirty="0" smtClean="0"/>
              <a:t>.</a:t>
            </a:r>
          </a:p>
          <a:p>
            <a:pPr lvl="0"/>
            <a:r>
              <a:rPr lang="ru-RU" i="1" dirty="0" smtClean="0"/>
              <a:t>Интеграционное тестирование</a:t>
            </a:r>
            <a:r>
              <a:rPr lang="ru-RU" dirty="0" smtClean="0"/>
              <a:t>.</a:t>
            </a:r>
          </a:p>
          <a:p>
            <a:pPr lvl="0"/>
            <a:r>
              <a:rPr lang="ru-RU" i="1" dirty="0" smtClean="0"/>
              <a:t>Системное тестирование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Задача планирования активности тестирования состоит в оптимальном распределении ресурсов между всеми типами тестирования. В дальнейшем изложении мы сконцентрируемся на системной </a:t>
            </a:r>
            <a:r>
              <a:rPr lang="ru-RU" i="1" dirty="0" smtClean="0"/>
              <a:t>фазе тестирования</a:t>
            </a:r>
            <a:r>
              <a:rPr lang="ru-RU" dirty="0" smtClean="0"/>
              <a:t>, как на наиболее важной и критичной активности для разработки качественного программного продукта.</a:t>
            </a:r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Фазы процесса тестирования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В процессе тестирования выделяют следующие фазы:</a:t>
            </a:r>
          </a:p>
          <a:p>
            <a:pPr lvl="0"/>
            <a:r>
              <a:rPr lang="ru-RU" b="1" dirty="0" smtClean="0"/>
              <a:t>Определение целей</a:t>
            </a:r>
            <a:r>
              <a:rPr lang="ru-RU" dirty="0" smtClean="0"/>
              <a:t> (требований к тестированию), включающее следующую конкретизацию: какие части системы будут тестироваться, какие аспекты их работы будут выбраны для проверки, каково желаемое качество и т.п.</a:t>
            </a:r>
          </a:p>
          <a:p>
            <a:pPr lvl="0"/>
            <a:r>
              <a:rPr lang="ru-RU" b="1" dirty="0" smtClean="0"/>
              <a:t>Планирование</a:t>
            </a:r>
            <a:r>
              <a:rPr lang="ru-RU" dirty="0" smtClean="0"/>
              <a:t>: создание графика (расписания) разработки тестов для каждой тестируемой подсистемы; оценка необходимых человеческих, программных и аппаратных ресурсов; разработка расписания </a:t>
            </a:r>
            <a:r>
              <a:rPr lang="ru-RU" i="1" dirty="0" smtClean="0"/>
              <a:t>тестовых циклов</a:t>
            </a:r>
            <a:r>
              <a:rPr lang="ru-RU" dirty="0" smtClean="0"/>
              <a:t>. Важно отметить, что расписание тестирования обязательно должно быть согласовано с расписанием разработки создаваемой системы, поскольку наличие исполняемой версии разрабатываемой системы ( </a:t>
            </a:r>
            <a:r>
              <a:rPr lang="ru-RU" b="1" dirty="0" err="1" smtClean="0"/>
              <a:t>Implementation</a:t>
            </a:r>
            <a:r>
              <a:rPr lang="ru-RU" b="1" dirty="0" smtClean="0"/>
              <a:t> </a:t>
            </a:r>
            <a:r>
              <a:rPr lang="ru-RU" b="1" dirty="0" err="1" smtClean="0"/>
              <a:t>Under</a:t>
            </a:r>
            <a:r>
              <a:rPr lang="ru-RU" b="1" dirty="0" smtClean="0"/>
              <a:t> </a:t>
            </a:r>
            <a:r>
              <a:rPr lang="ru-RU" b="1" dirty="0" err="1" smtClean="0"/>
              <a:t>Testing</a:t>
            </a:r>
            <a:r>
              <a:rPr lang="ru-RU" b="1" dirty="0" smtClean="0"/>
              <a:t> (IUT)</a:t>
            </a:r>
            <a:r>
              <a:rPr lang="ru-RU" dirty="0" smtClean="0"/>
              <a:t> или </a:t>
            </a:r>
            <a:r>
              <a:rPr lang="ru-RU" b="1" dirty="0" err="1" smtClean="0"/>
              <a:t>Application</a:t>
            </a:r>
            <a:r>
              <a:rPr lang="ru-RU" b="1" dirty="0" smtClean="0"/>
              <a:t> </a:t>
            </a:r>
            <a:r>
              <a:rPr lang="ru-RU" b="1" dirty="0" err="1" smtClean="0"/>
              <a:t>Under</a:t>
            </a:r>
            <a:r>
              <a:rPr lang="ru-RU" b="1" dirty="0" smtClean="0"/>
              <a:t> </a:t>
            </a:r>
            <a:r>
              <a:rPr lang="ru-RU" b="1" dirty="0" err="1" smtClean="0"/>
              <a:t>Testing</a:t>
            </a:r>
            <a:r>
              <a:rPr lang="ru-RU" b="1" dirty="0" smtClean="0"/>
              <a:t> (AUT)</a:t>
            </a:r>
            <a:r>
              <a:rPr lang="ru-RU" dirty="0" smtClean="0"/>
              <a:t> – часто употребляемые обозначения для тестируемой системы) является одним из необходимых условий тестирования, что создает взаимозависимость в работе команд </a:t>
            </a:r>
            <a:r>
              <a:rPr lang="ru-RU" dirty="0" err="1" smtClean="0"/>
              <a:t>тестировщиков</a:t>
            </a:r>
            <a:r>
              <a:rPr lang="ru-RU" dirty="0" smtClean="0"/>
              <a:t> и разработчиков.</a:t>
            </a:r>
          </a:p>
          <a:p>
            <a:pPr lvl="0"/>
            <a:r>
              <a:rPr lang="ru-RU" b="1" dirty="0" smtClean="0"/>
              <a:t>Разработка тестов,</a:t>
            </a:r>
            <a:r>
              <a:rPr lang="ru-RU" dirty="0" smtClean="0"/>
              <a:t> то есть тестового кода для тестируемой системы, если необходимо - кода системы </a:t>
            </a:r>
            <a:r>
              <a:rPr lang="ru-RU" i="1" dirty="0" smtClean="0"/>
              <a:t>автоматизации тестирования</a:t>
            </a:r>
            <a:r>
              <a:rPr lang="ru-RU" dirty="0" smtClean="0"/>
              <a:t> и </a:t>
            </a:r>
            <a:r>
              <a:rPr lang="ru-RU" i="1" dirty="0" smtClean="0"/>
              <a:t>тестовых процедур</a:t>
            </a:r>
            <a:r>
              <a:rPr lang="ru-RU" dirty="0" smtClean="0"/>
              <a:t> (выполняемых вручную).</a:t>
            </a:r>
          </a:p>
          <a:p>
            <a:pPr lvl="0"/>
            <a:r>
              <a:rPr lang="ru-RU" b="1" dirty="0" smtClean="0"/>
              <a:t>Выполнение тестов</a:t>
            </a:r>
            <a:r>
              <a:rPr lang="ru-RU" dirty="0" smtClean="0"/>
              <a:t>: реализация </a:t>
            </a:r>
            <a:r>
              <a:rPr lang="ru-RU" i="1" dirty="0" smtClean="0"/>
              <a:t>тестовых циклов</a:t>
            </a:r>
            <a:r>
              <a:rPr lang="ru-RU" dirty="0" smtClean="0"/>
              <a:t>.</a:t>
            </a:r>
          </a:p>
          <a:p>
            <a:pPr lvl="0"/>
            <a:r>
              <a:rPr lang="ru-RU" b="1" dirty="0" smtClean="0"/>
              <a:t>Анализ результатов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После анализа результатов возможно повторение процесса тестирования, начиная с пунктов 3, 2 или даже 1.</a:t>
            </a:r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Тестовый цикл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6264696"/>
          </a:xfrm>
        </p:spPr>
        <p:txBody>
          <a:bodyPr>
            <a:normAutofit fontScale="47500" lnSpcReduction="20000"/>
          </a:bodyPr>
          <a:lstStyle/>
          <a:p>
            <a:r>
              <a:rPr lang="ru-RU" b="1" i="1" dirty="0" smtClean="0"/>
              <a:t>Тестовый цикл</a:t>
            </a:r>
            <a:r>
              <a:rPr lang="ru-RU" dirty="0" smtClean="0"/>
              <a:t> – это цикл исполнения тестов, включающий фазы 4 и 5 тестового процесса. </a:t>
            </a:r>
            <a:r>
              <a:rPr lang="ru-RU" i="1" dirty="0" smtClean="0"/>
              <a:t>Тестовый цикл</a:t>
            </a:r>
            <a:r>
              <a:rPr lang="ru-RU" dirty="0" smtClean="0"/>
              <a:t> заключается в прогоне разработанных тестов на некотором однозначно определяемом срезе системы (состоянии кода разрабатываемой системы). Обычно такой срез системы называют </a:t>
            </a:r>
            <a:r>
              <a:rPr lang="ru-RU" b="1" dirty="0" err="1" smtClean="0"/>
              <a:t>build</a:t>
            </a:r>
            <a:r>
              <a:rPr lang="ru-RU" dirty="0" smtClean="0"/>
              <a:t>. </a:t>
            </a:r>
            <a:r>
              <a:rPr lang="ru-RU" i="1" dirty="0" smtClean="0"/>
              <a:t>Тестовый цикл</a:t>
            </a:r>
            <a:r>
              <a:rPr lang="ru-RU" dirty="0" smtClean="0"/>
              <a:t> включает следующую последовательность действий:</a:t>
            </a:r>
            <a:endParaRPr lang="ru-RU" sz="4800" dirty="0" smtClean="0"/>
          </a:p>
          <a:p>
            <a:pPr lvl="0"/>
            <a:r>
              <a:rPr lang="ru-RU" dirty="0" smtClean="0"/>
              <a:t>Проверка готовности системы и тестов к проведению </a:t>
            </a:r>
            <a:r>
              <a:rPr lang="ru-RU" i="1" dirty="0" smtClean="0"/>
              <a:t>тестового цикла</a:t>
            </a:r>
            <a:r>
              <a:rPr lang="ru-RU" dirty="0" smtClean="0"/>
              <a:t> включающая:</a:t>
            </a:r>
            <a:endParaRPr lang="ru-RU" sz="4800" dirty="0" smtClean="0"/>
          </a:p>
          <a:p>
            <a:pPr lvl="1"/>
            <a:r>
              <a:rPr lang="ru-RU" dirty="0" smtClean="0"/>
              <a:t>Проверку того, что все тесты, запланированные для исполнения на данном цикле, разработаны и помещены в систему </a:t>
            </a:r>
            <a:r>
              <a:rPr lang="ru-RU" dirty="0" err="1" smtClean="0"/>
              <a:t>версионного</a:t>
            </a:r>
            <a:r>
              <a:rPr lang="ru-RU" dirty="0" smtClean="0"/>
              <a:t> контроля.</a:t>
            </a:r>
            <a:endParaRPr lang="ru-RU" sz="4400" dirty="0" smtClean="0"/>
          </a:p>
          <a:p>
            <a:pPr lvl="1"/>
            <a:r>
              <a:rPr lang="ru-RU" dirty="0" smtClean="0"/>
              <a:t>Проверку того, что все подсистемы, запланированные для тестирования на данном цикле, разработаны и помещены в систему </a:t>
            </a:r>
            <a:r>
              <a:rPr lang="ru-RU" dirty="0" err="1" smtClean="0"/>
              <a:t>версионного</a:t>
            </a:r>
            <a:r>
              <a:rPr lang="ru-RU" dirty="0" smtClean="0"/>
              <a:t> контроля.</a:t>
            </a:r>
            <a:endParaRPr lang="ru-RU" sz="4400" dirty="0" smtClean="0"/>
          </a:p>
          <a:p>
            <a:pPr lvl="1"/>
            <a:r>
              <a:rPr lang="ru-RU" dirty="0" smtClean="0"/>
              <a:t>Проверку того, что разработана и </a:t>
            </a:r>
            <a:r>
              <a:rPr lang="ru-RU" dirty="0" err="1" smtClean="0"/>
              <a:t>задокументирована</a:t>
            </a:r>
            <a:r>
              <a:rPr lang="ru-RU" dirty="0" smtClean="0"/>
              <a:t> процедура определения и создания среза системы, или </a:t>
            </a:r>
            <a:r>
              <a:rPr lang="ru-RU" dirty="0" err="1" smtClean="0"/>
              <a:t>build</a:t>
            </a:r>
            <a:r>
              <a:rPr lang="ru-RU" dirty="0" smtClean="0"/>
              <a:t>.</a:t>
            </a:r>
            <a:endParaRPr lang="ru-RU" sz="4400" dirty="0" smtClean="0"/>
          </a:p>
          <a:p>
            <a:pPr lvl="1"/>
            <a:r>
              <a:rPr lang="ru-RU" dirty="0" smtClean="0"/>
              <a:t>Проверки некоторых дополнительных критериев.</a:t>
            </a:r>
            <a:endParaRPr lang="ru-RU" sz="4400" dirty="0" smtClean="0"/>
          </a:p>
          <a:p>
            <a:pPr lvl="0"/>
            <a:r>
              <a:rPr lang="ru-RU" b="1" dirty="0" smtClean="0"/>
              <a:t>Подготовка тестовой машины</a:t>
            </a:r>
            <a:r>
              <a:rPr lang="ru-RU" dirty="0" smtClean="0"/>
              <a:t> в соответствии с требованиями, определенными на этапе планирования (например, полная очистка и переустановка системного программного обеспечения). Конфигурация тестовой машины, так же, как и срез системы, должны быть однозначно воспроизводимыми.</a:t>
            </a:r>
            <a:endParaRPr lang="ru-RU" sz="4800" dirty="0" smtClean="0"/>
          </a:p>
          <a:p>
            <a:pPr lvl="0"/>
            <a:r>
              <a:rPr lang="ru-RU" b="1" dirty="0" smtClean="0"/>
              <a:t>Воспроизведение среза системы</a:t>
            </a:r>
            <a:r>
              <a:rPr lang="ru-RU" dirty="0" smtClean="0"/>
              <a:t>.</a:t>
            </a:r>
            <a:endParaRPr lang="ru-RU" sz="4800" dirty="0" smtClean="0"/>
          </a:p>
          <a:p>
            <a:pPr lvl="0"/>
            <a:r>
              <a:rPr lang="ru-RU" b="1" dirty="0" smtClean="0"/>
              <a:t>Прогон тестов</a:t>
            </a:r>
            <a:r>
              <a:rPr lang="ru-RU" dirty="0" smtClean="0"/>
              <a:t> в соответствии с </a:t>
            </a:r>
            <a:r>
              <a:rPr lang="ru-RU" dirty="0" err="1" smtClean="0"/>
              <a:t>задокументированными</a:t>
            </a:r>
            <a:r>
              <a:rPr lang="ru-RU" dirty="0" smtClean="0"/>
              <a:t> процедурами.</a:t>
            </a:r>
            <a:endParaRPr lang="ru-RU" sz="4800" dirty="0" smtClean="0"/>
          </a:p>
          <a:p>
            <a:pPr lvl="0"/>
            <a:r>
              <a:rPr lang="ru-RU" b="1" dirty="0" smtClean="0"/>
              <a:t>Сохранение тестовых протоколов (</a:t>
            </a:r>
            <a:r>
              <a:rPr lang="ru-RU" b="1" dirty="0" err="1" smtClean="0"/>
              <a:t>test</a:t>
            </a:r>
            <a:r>
              <a:rPr lang="ru-RU" b="1" dirty="0" smtClean="0"/>
              <a:t> </a:t>
            </a:r>
            <a:r>
              <a:rPr lang="ru-RU" b="1" dirty="0" err="1" smtClean="0"/>
              <a:t>log</a:t>
            </a:r>
            <a:r>
              <a:rPr lang="ru-RU" b="1" dirty="0" smtClean="0"/>
              <a:t>)</a:t>
            </a:r>
            <a:r>
              <a:rPr lang="ru-RU" dirty="0" smtClean="0"/>
              <a:t>. </a:t>
            </a:r>
            <a:r>
              <a:rPr lang="ru-RU" i="1" dirty="0" err="1" smtClean="0"/>
              <a:t>Test</a:t>
            </a:r>
            <a:r>
              <a:rPr lang="ru-RU" i="1" dirty="0" smtClean="0"/>
              <a:t> </a:t>
            </a:r>
            <a:r>
              <a:rPr lang="ru-RU" i="1" dirty="0" err="1" smtClean="0"/>
              <a:t>log</a:t>
            </a:r>
            <a:r>
              <a:rPr lang="ru-RU" dirty="0" smtClean="0"/>
              <a:t> может содержать вывод системы в STDOUT, список результатов сравнения полученных при исполнении данных с эталонными или любые другие выходные данные тестов, с помощью которых можно проверить правильность работы системы.</a:t>
            </a:r>
            <a:endParaRPr lang="ru-RU" sz="4800" dirty="0" smtClean="0"/>
          </a:p>
          <a:p>
            <a:pPr lvl="0"/>
            <a:r>
              <a:rPr lang="ru-RU" b="1" dirty="0" smtClean="0"/>
              <a:t>Анализ протоколов тестирования</a:t>
            </a:r>
            <a:r>
              <a:rPr lang="ru-RU" dirty="0" smtClean="0"/>
              <a:t> и принятие решения о том прошел или не прошел каждый из тестов ( </a:t>
            </a:r>
            <a:r>
              <a:rPr lang="ru-RU" b="1" dirty="0" err="1" smtClean="0"/>
              <a:t>Pass</a:t>
            </a:r>
            <a:r>
              <a:rPr lang="ru-RU" b="1" dirty="0" smtClean="0"/>
              <a:t>/</a:t>
            </a:r>
            <a:r>
              <a:rPr lang="ru-RU" b="1" dirty="0" err="1" smtClean="0"/>
              <a:t>Fail</a:t>
            </a:r>
            <a:r>
              <a:rPr lang="ru-RU" dirty="0" smtClean="0"/>
              <a:t> ).</a:t>
            </a:r>
            <a:endParaRPr lang="ru-RU" sz="4800" dirty="0" smtClean="0"/>
          </a:p>
          <a:p>
            <a:pPr lvl="0"/>
            <a:r>
              <a:rPr lang="ru-RU" b="1" dirty="0" smtClean="0"/>
              <a:t>Анализ и документирование</a:t>
            </a:r>
            <a:r>
              <a:rPr lang="ru-RU" dirty="0" smtClean="0"/>
              <a:t> результатов цикла.</a:t>
            </a:r>
            <a:endParaRPr lang="ru-RU" sz="4800" dirty="0" smtClean="0"/>
          </a:p>
          <a:p>
            <a:r>
              <a:rPr lang="ru-RU" dirty="0" smtClean="0"/>
              <a:t>Последний перед выпуском продукта </a:t>
            </a:r>
            <a:r>
              <a:rPr lang="ru-RU" i="1" dirty="0" smtClean="0"/>
              <a:t>тестовый цикл</a:t>
            </a:r>
            <a:r>
              <a:rPr lang="ru-RU" dirty="0" smtClean="0"/>
              <a:t> не должен включать изменений кода </a:t>
            </a:r>
            <a:r>
              <a:rPr lang="ru-RU" dirty="0" err="1" smtClean="0"/>
              <a:t>build</a:t>
            </a:r>
            <a:r>
              <a:rPr lang="ru-RU" dirty="0" smtClean="0"/>
              <a:t> или кода продукта тестируемой системы. Этот цикл называется " финальным </a:t>
            </a:r>
            <a:r>
              <a:rPr lang="ru-RU" smtClean="0"/>
              <a:t>". 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616</Words>
  <Application>Microsoft Office PowerPoint</Application>
  <PresentationFormat>Экран (4:3)</PresentationFormat>
  <Paragraphs>350</Paragraphs>
  <Slides>44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5" baseType="lpstr">
      <vt:lpstr>Тема Office</vt:lpstr>
      <vt:lpstr>Слайд 1</vt:lpstr>
      <vt:lpstr>Концепция тестирования</vt:lpstr>
      <vt:lpstr>Пример поиска и исправления ошибки</vt:lpstr>
      <vt:lpstr>Пример поиска и исправления ошибки</vt:lpstr>
      <vt:lpstr>Организация тестирования</vt:lpstr>
      <vt:lpstr>Пример выполнения программы с заказанными контрольными точками и анализом трасс и дампов</vt:lpstr>
      <vt:lpstr>Тестирование</vt:lpstr>
      <vt:lpstr>Тестирование</vt:lpstr>
      <vt:lpstr>Три фазы тестирования</vt:lpstr>
      <vt:lpstr>Управляющий граф программы</vt:lpstr>
      <vt:lpstr>Управляющий граф программы</vt:lpstr>
      <vt:lpstr>Требования к идеальному критерию тестирования</vt:lpstr>
      <vt:lpstr>Классы критериев</vt:lpstr>
      <vt:lpstr>Структурные критерии (класс I).</vt:lpstr>
      <vt:lpstr>Функциональные критерии (класс II)</vt:lpstr>
      <vt:lpstr>Функциональные критерии (класс II)</vt:lpstr>
      <vt:lpstr>Функциональные критерии (класс II)</vt:lpstr>
      <vt:lpstr>Стохастические критерии (класс III)</vt:lpstr>
      <vt:lpstr>Стохастические критерии (класс III)</vt:lpstr>
      <vt:lpstr>Стохастические критерии (класс III)</vt:lpstr>
      <vt:lpstr>Мутационный критерий (класс IV).</vt:lpstr>
      <vt:lpstr>Пример применения мутационного критерия</vt:lpstr>
      <vt:lpstr>Пример применения мутационного критерия</vt:lpstr>
      <vt:lpstr>Пример применения мутационного критерия</vt:lpstr>
      <vt:lpstr>Оценка Покрытия Программы и Проекта</vt:lpstr>
      <vt:lpstr>Оценка Покрытия Программы и Проекта</vt:lpstr>
      <vt:lpstr>Оценка Покрытия Программы и Проекта</vt:lpstr>
      <vt:lpstr>Оценка Покрытия Программы и Проекта</vt:lpstr>
      <vt:lpstr>Оценка Покрытия Программы и Проекта</vt:lpstr>
      <vt:lpstr>Методика интегральной оценки тестированности</vt:lpstr>
      <vt:lpstr>Модульное</vt:lpstr>
      <vt:lpstr>Модульное</vt:lpstr>
      <vt:lpstr>Модульное</vt:lpstr>
      <vt:lpstr>Модульное</vt:lpstr>
      <vt:lpstr>Модульное</vt:lpstr>
      <vt:lpstr>Интеграционное тестирование</vt:lpstr>
      <vt:lpstr>Интеграционное тестирование</vt:lpstr>
      <vt:lpstr>Системное тестирование</vt:lpstr>
      <vt:lpstr>Регрессионное тестирование</vt:lpstr>
      <vt:lpstr>Издержки тестирования</vt:lpstr>
      <vt:lpstr>Издержки тестирования</vt:lpstr>
      <vt:lpstr>Процесс тестирования</vt:lpstr>
      <vt:lpstr>Фазы процесса тестирования</vt:lpstr>
      <vt:lpstr>Тестовый цикл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Александра Титова</dc:creator>
  <cp:lastModifiedBy>Александра Титова</cp:lastModifiedBy>
  <cp:revision>5</cp:revision>
  <dcterms:created xsi:type="dcterms:W3CDTF">2023-12-22T13:20:33Z</dcterms:created>
  <dcterms:modified xsi:type="dcterms:W3CDTF">2023-12-24T12:09:59Z</dcterms:modified>
</cp:coreProperties>
</file>