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8" r:id="rId53"/>
    <p:sldId id="309" r:id="rId54"/>
    <p:sldId id="310" r:id="rId5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84" y="-72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20.10.2023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habrahabr.ru/post/133287/"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life-prog.ru/2_31166_printsip-edinstvennogo-vibora.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cpp-reference.ru/patterns/creational-patterns/factory-metho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n.wikipedia.org/wiki/Publish%E2%80%93subscribe_patter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ibm.com/developerworks/ru/library/os-apache_5/"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ru.wikipedia.org/wiki/%D0%97%D0%B0%D0%BA%D0%BE%D0%BD_%D0%94%D0%B5%D0%BC%D0%B5%D1%82%D1%80%D1%8B"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ru.wikipedia.org/wiki/%D0%A8%D0%B0%D0%B1%D0%BB%D0%BE%D0%BD_%D0%B4%D0%B5%D0%BB%D0%B5%D0%B3%D0%B8%D1%80%D0%BE%D0%B2%D0%B0%D0%BD%D0%B8%D1%8F" TargetMode="External"/><Relationship Id="rId2" Type="http://schemas.openxmlformats.org/officeDocument/2006/relationships/hyperlink" Target="http://programming-lang.com/ru/comp_programming/satter/0/j84.html" TargetMode="External"/><Relationship Id="rId1" Type="http://schemas.openxmlformats.org/officeDocument/2006/relationships/slideLayout" Target="../slideLayouts/slideLayout2.xml"/><Relationship Id="rId5" Type="http://schemas.openxmlformats.org/officeDocument/2006/relationships/hyperlink" Target="http://live13.livejournal.com/473028.html" TargetMode="External"/><Relationship Id="rId4" Type="http://schemas.openxmlformats.org/officeDocument/2006/relationships/hyperlink" Target="http://gameprogrammingpatterns.com/component.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lstStyle/>
          <a:p>
            <a:r>
              <a:rPr lang="ru-RU" i="1" dirty="0" smtClean="0"/>
              <a:t>Хорошая архитектура</a:t>
            </a:r>
            <a:r>
              <a:rPr lang="ru-RU" dirty="0" smtClean="0"/>
              <a:t> это прежде всего </a:t>
            </a:r>
            <a:r>
              <a:rPr lang="ru-RU" i="1" dirty="0" smtClean="0"/>
              <a:t>выгодная</a:t>
            </a:r>
            <a:r>
              <a:rPr lang="ru-RU" dirty="0" smtClean="0"/>
              <a:t> архитектура, делающая процесс разработки и сопровождения программы более простым и эффективным. Программу с хорошей архитектурой легче расширять и изменять, а также тестировать, отлаживать и понимать.</a:t>
            </a: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lstStyle/>
          <a:p>
            <a:r>
              <a:rPr lang="ru-RU" b="1" dirty="0" smtClean="0"/>
              <a:t>Эффективность системы</a:t>
            </a:r>
            <a:r>
              <a:rPr lang="ru-RU" dirty="0" smtClean="0"/>
              <a:t>. В первую очередь программа, конечно же, должна решать поставленные задачи и хорошо выполнять свои функции, причем в различных условиях. Сюда можно отнести такие характеристики, как надежность, безопасность, производительность, способность справляться с увеличением нагрузки (</a:t>
            </a:r>
            <a:r>
              <a:rPr lang="ru-RU" dirty="0" err="1" smtClean="0"/>
              <a:t>масштабируемость</a:t>
            </a:r>
            <a:r>
              <a:rPr lang="ru-RU" dirty="0" smtClean="0"/>
              <a:t>) и т.п.</a:t>
            </a: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fontScale="70000" lnSpcReduction="20000"/>
          </a:bodyPr>
          <a:lstStyle/>
          <a:p>
            <a:r>
              <a:rPr lang="ru-RU" b="1" dirty="0" smtClean="0"/>
              <a:t>Гибкость системы.</a:t>
            </a:r>
            <a:r>
              <a:rPr lang="ru-RU" dirty="0" smtClean="0"/>
              <a:t> Любое приложение приходится менять со временем — изменяются требования, добавляются новые. Чем быстрее и удобнее можно внести изменения в существующий функционал, чем меньше проблем и ошибок это вызовет — тем </a:t>
            </a:r>
            <a:r>
              <a:rPr lang="ru-RU" i="1" dirty="0" smtClean="0"/>
              <a:t>гибче</a:t>
            </a:r>
            <a:r>
              <a:rPr lang="ru-RU" dirty="0" smtClean="0"/>
              <a:t> и конкурентоспособнее система. Поэтому в процессе разработки старайтесь оценивать то, что получается, на предмет того, как вам это потом, возможно, придется менять. Спросите у себя: «А что будет, если текущее архитектурное решение окажется неверным?», «Какое количество кода подвергнется при этом изменениям?». Изменение одного фрагмента системы не должно влиять на ее другие фрагменты. По возможности, архитектурные решения не должны «вырубаться в камне», и последствия архитектурных ошибок должны быть в разумной степени ограничены. "</a:t>
            </a:r>
            <a:r>
              <a:rPr lang="ru-RU" i="1" dirty="0" smtClean="0"/>
              <a:t>Хорошая архитектура позволяет ОТКЛАДЫВАТЬ принятие ключевых решений</a:t>
            </a:r>
            <a:r>
              <a:rPr lang="ru-RU" dirty="0" smtClean="0"/>
              <a:t>" (Боб Мартин) и минимизирует «цену» ошибок.</a:t>
            </a: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fontScale="85000" lnSpcReduction="10000"/>
          </a:bodyPr>
          <a:lstStyle/>
          <a:p>
            <a:r>
              <a:rPr lang="ru-RU" b="1" dirty="0" smtClean="0"/>
              <a:t>Расширяемость системы</a:t>
            </a:r>
            <a:r>
              <a:rPr lang="ru-RU" dirty="0" smtClean="0"/>
              <a:t>. Возможность добавлять в систему новые сущности и функции, не нарушая ее основной структуры. На начальном этапе в систему имеет смысл закладывать лишь основной и самый необходимый функционал (принцип YAGNI — </a:t>
            </a:r>
            <a:r>
              <a:rPr lang="ru-RU" dirty="0" err="1" smtClean="0"/>
              <a:t>you</a:t>
            </a:r>
            <a:r>
              <a:rPr lang="ru-RU" dirty="0" smtClean="0"/>
              <a:t> </a:t>
            </a:r>
            <a:r>
              <a:rPr lang="ru-RU" dirty="0" err="1" smtClean="0"/>
              <a:t>ain’t</a:t>
            </a:r>
            <a:r>
              <a:rPr lang="ru-RU" dirty="0" smtClean="0"/>
              <a:t> </a:t>
            </a:r>
            <a:r>
              <a:rPr lang="ru-RU" dirty="0" err="1" smtClean="0"/>
              <a:t>gonna</a:t>
            </a:r>
            <a:r>
              <a:rPr lang="ru-RU" dirty="0" smtClean="0"/>
              <a:t> </a:t>
            </a:r>
            <a:r>
              <a:rPr lang="ru-RU" dirty="0" err="1" smtClean="0"/>
              <a:t>need</a:t>
            </a:r>
            <a:r>
              <a:rPr lang="ru-RU" dirty="0" smtClean="0"/>
              <a:t> </a:t>
            </a:r>
            <a:r>
              <a:rPr lang="ru-RU" dirty="0" err="1" smtClean="0"/>
              <a:t>it</a:t>
            </a:r>
            <a:r>
              <a:rPr lang="ru-RU" dirty="0" smtClean="0"/>
              <a:t>, «Вам это не понадобится») Но при этом архитектура должна позволять легко наращивать дополнительный функционал по мере необходимости. Причем так, чтобы внесение </a:t>
            </a:r>
            <a:r>
              <a:rPr lang="ru-RU" i="1" dirty="0" smtClean="0"/>
              <a:t>наиболее вероятных</a:t>
            </a:r>
            <a:r>
              <a:rPr lang="ru-RU" dirty="0" smtClean="0"/>
              <a:t> изменений требовало </a:t>
            </a:r>
            <a:r>
              <a:rPr lang="ru-RU" i="1" dirty="0" smtClean="0"/>
              <a:t>наименьших усилии</a:t>
            </a:r>
            <a:r>
              <a:rPr lang="ru-RU" dirty="0" smtClean="0"/>
              <a:t>.</a:t>
            </a:r>
            <a:endParaRPr lang="ru-R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fontScale="92500" lnSpcReduction="10000"/>
          </a:bodyPr>
          <a:lstStyle/>
          <a:p>
            <a:r>
              <a:rPr lang="ru-RU" dirty="0" smtClean="0"/>
              <a:t>«</a:t>
            </a:r>
            <a:r>
              <a:rPr lang="ru-RU" b="1" dirty="0" smtClean="0"/>
              <a:t>Принцип </a:t>
            </a:r>
            <a:r>
              <a:rPr lang="ru-RU" b="1" dirty="0" smtClean="0"/>
              <a:t>открытости/закрытости</a:t>
            </a:r>
            <a:r>
              <a:rPr lang="ru-RU" dirty="0" smtClean="0"/>
              <a:t>» (</a:t>
            </a:r>
            <a:r>
              <a:rPr lang="ru-RU" b="1" dirty="0" err="1" smtClean="0"/>
              <a:t>Open-Closed</a:t>
            </a:r>
            <a:r>
              <a:rPr lang="ru-RU" b="1" dirty="0" smtClean="0"/>
              <a:t> </a:t>
            </a:r>
            <a:r>
              <a:rPr lang="ru-RU" b="1" dirty="0" err="1" smtClean="0"/>
              <a:t>Principle</a:t>
            </a:r>
            <a:r>
              <a:rPr lang="ru-RU" dirty="0" smtClean="0"/>
              <a:t> — второй из пяти принципов SOLID): </a:t>
            </a:r>
            <a:r>
              <a:rPr lang="ru-RU" i="1" dirty="0" smtClean="0"/>
              <a:t>Программные сущности (классы, модули, функции и т.п.) должны быть открытыми для расширения, но закрытыми для модификации</a:t>
            </a:r>
            <a:r>
              <a:rPr lang="ru-RU" i="1" dirty="0" smtClean="0"/>
              <a:t>.</a:t>
            </a:r>
          </a:p>
          <a:p>
            <a:r>
              <a:rPr lang="ru-RU" dirty="0" smtClean="0"/>
              <a:t>Иными словами: </a:t>
            </a:r>
            <a:r>
              <a:rPr lang="ru-RU" i="1" dirty="0" smtClean="0"/>
              <a:t>Должна быть возможность расширить/изменить поведение системы без изменения/переписывания уже существующих частей системы.</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a:bodyPr>
          <a:lstStyle/>
          <a:p>
            <a:r>
              <a:rPr lang="ru-RU" b="1" dirty="0" err="1" smtClean="0"/>
              <a:t>Масштабируемость</a:t>
            </a:r>
            <a:r>
              <a:rPr lang="ru-RU" b="1" dirty="0" smtClean="0"/>
              <a:t> процесса разработки</a:t>
            </a:r>
            <a:r>
              <a:rPr lang="ru-RU" dirty="0" smtClean="0"/>
              <a:t>. Возможность сократить срок разработки за счёт добавления к проекту новых людей. Архитектура должна позволять распараллелить процесс разработки, так чтобы множество людей могли работать над программой одновременно.</a:t>
            </a:r>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fontScale="77500" lnSpcReduction="20000"/>
          </a:bodyPr>
          <a:lstStyle/>
          <a:p>
            <a:r>
              <a:rPr lang="ru-RU" b="1" dirty="0" smtClean="0"/>
              <a:t>Тестируемость</a:t>
            </a:r>
            <a:r>
              <a:rPr lang="ru-RU" dirty="0" smtClean="0"/>
              <a:t>. Код, который легче тестировать, будет содержать меньше ошибок и надежнее работать. Но тесты не только улучшают качество кода. Многие разработчики приходят к выводу, что требование «хорошей тестируемости» является также направляющей силой, автоматически ведущей к хорошему дизайну, и одновременно одним из важнейших критериев, позволяющих оценить его качество: "</a:t>
            </a:r>
            <a:r>
              <a:rPr lang="ru-RU" i="1" dirty="0" smtClean="0"/>
              <a:t>Используйте принцип «тестируемости» класса в качестве «лакмусовой бумажки» хорошего дизайна класса. Даже если вы не напишите ни строчки тестового кода, ответ на этот вопрос в 90% случаев поможет понять, насколько все «хорошо» или «плохо» с его дизайном</a:t>
            </a:r>
            <a:r>
              <a:rPr lang="ru-RU" dirty="0" smtClean="0"/>
              <a:t>" (</a:t>
            </a:r>
            <a:r>
              <a:rPr lang="ru-RU" dirty="0" smtClean="0">
                <a:hlinkClick r:id="rId2"/>
              </a:rPr>
              <a:t>Идеальная архитектура</a:t>
            </a:r>
            <a:r>
              <a:rPr lang="ru-RU" dirty="0" smtClean="0"/>
              <a:t>).</a:t>
            </a:r>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Критерии хорошей </a:t>
            </a:r>
            <a:r>
              <a:rPr lang="ru-RU" dirty="0" smtClean="0"/>
              <a:t>архитектуры</a:t>
            </a:r>
            <a:endParaRPr lang="ru-RU" dirty="0"/>
          </a:p>
        </p:txBody>
      </p:sp>
      <p:sp>
        <p:nvSpPr>
          <p:cNvPr id="3" name="Содержимое 2"/>
          <p:cNvSpPr>
            <a:spLocks noGrp="1"/>
          </p:cNvSpPr>
          <p:nvPr>
            <p:ph idx="1"/>
          </p:nvPr>
        </p:nvSpPr>
        <p:spPr/>
        <p:txBody>
          <a:bodyPr>
            <a:normAutofit fontScale="55000" lnSpcReduction="20000"/>
          </a:bodyPr>
          <a:lstStyle/>
          <a:p>
            <a:r>
              <a:rPr lang="ru-RU" b="1" dirty="0" smtClean="0"/>
              <a:t>Возможность повторного использования</a:t>
            </a:r>
            <a:r>
              <a:rPr lang="ru-RU" dirty="0" smtClean="0"/>
              <a:t>. Систему желательно проектировать так, чтобы ее фрагменты можно было повторно использовать в других системах.</a:t>
            </a:r>
            <a:br>
              <a:rPr lang="ru-RU" dirty="0" smtClean="0"/>
            </a:br>
            <a:endParaRPr lang="ru-RU" dirty="0" smtClean="0"/>
          </a:p>
          <a:p>
            <a:r>
              <a:rPr lang="ru-RU" b="1" dirty="0" smtClean="0"/>
              <a:t>Хорошо </a:t>
            </a:r>
            <a:r>
              <a:rPr lang="ru-RU" b="1" dirty="0" smtClean="0"/>
              <a:t>структурированный, читаемый и понятный код. </a:t>
            </a:r>
            <a:r>
              <a:rPr lang="ru-RU" b="1" dirty="0" err="1" smtClean="0"/>
              <a:t>Сопровождаемость</a:t>
            </a:r>
            <a:r>
              <a:rPr lang="ru-RU" dirty="0" smtClean="0"/>
              <a:t>. Над программой, как правило, работает множество людей — одни уходят, приходят новые. После написания сопровождать программу тоже, как правило, приходится людям, не участвовавшем в ее разработке. Поэтому хорошая архитектура должна давать возможность относительно легко и быстро разобраться в системе новым людям. Проект должен быть хорошо структурирован, не содержать дублирования, иметь хорошо оформленный код и желательно документацию. И по возможности в системе лучше применять стандартные, общепринятые решения привычные для программистов. Чем экзотичнее система, тем сложнее ее понять другим (</a:t>
            </a:r>
            <a:r>
              <a:rPr lang="ru-RU" i="1" dirty="0" smtClean="0"/>
              <a:t>Принцип наименьшего удивления — </a:t>
            </a:r>
            <a:r>
              <a:rPr lang="ru-RU" i="1" dirty="0" err="1" smtClean="0"/>
              <a:t>Principle</a:t>
            </a:r>
            <a:r>
              <a:rPr lang="ru-RU" i="1" dirty="0" smtClean="0"/>
              <a:t> </a:t>
            </a:r>
            <a:r>
              <a:rPr lang="ru-RU" i="1" dirty="0" err="1" smtClean="0"/>
              <a:t>of</a:t>
            </a:r>
            <a:r>
              <a:rPr lang="ru-RU" i="1" dirty="0" smtClean="0"/>
              <a:t> </a:t>
            </a:r>
            <a:r>
              <a:rPr lang="ru-RU" i="1" dirty="0" err="1" smtClean="0"/>
              <a:t>least</a:t>
            </a:r>
            <a:r>
              <a:rPr lang="ru-RU" i="1" dirty="0" smtClean="0"/>
              <a:t> </a:t>
            </a:r>
            <a:r>
              <a:rPr lang="ru-RU" i="1" dirty="0" err="1" smtClean="0"/>
              <a:t>astonishment</a:t>
            </a:r>
            <a:r>
              <a:rPr lang="ru-RU" dirty="0" smtClean="0"/>
              <a:t>. Обычно, он используется в отношении пользовательского интерфейса, но применим и к написанию кода).</a:t>
            </a:r>
            <a:endParaRPr lang="ru-R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Модульная архитектура. Декомпозиция как основа</a:t>
            </a:r>
            <a:endParaRPr lang="ru-RU" dirty="0"/>
          </a:p>
        </p:txBody>
      </p:sp>
      <p:sp>
        <p:nvSpPr>
          <p:cNvPr id="3" name="Содержимое 2"/>
          <p:cNvSpPr>
            <a:spLocks noGrp="1"/>
          </p:cNvSpPr>
          <p:nvPr>
            <p:ph idx="1"/>
          </p:nvPr>
        </p:nvSpPr>
        <p:spPr/>
        <p:txBody>
          <a:bodyPr>
            <a:normAutofit/>
          </a:bodyPr>
          <a:lstStyle/>
          <a:p>
            <a:endParaRPr lang="ru-RU" dirty="0"/>
          </a:p>
        </p:txBody>
      </p:sp>
      <p:pic>
        <p:nvPicPr>
          <p:cNvPr id="4" name="Рисунок 3" descr="software architecture"/>
          <p:cNvPicPr/>
          <p:nvPr/>
        </p:nvPicPr>
        <p:blipFill>
          <a:blip r:embed="rId2" cstate="print"/>
          <a:srcRect/>
          <a:stretch>
            <a:fillRect/>
          </a:stretch>
        </p:blipFill>
        <p:spPr bwMode="auto">
          <a:xfrm>
            <a:off x="395536" y="1556792"/>
            <a:ext cx="8496944" cy="338437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Модульная архитектура. Декомпозиция как основа</a:t>
            </a:r>
            <a:endParaRPr lang="ru-RU" dirty="0"/>
          </a:p>
        </p:txBody>
      </p:sp>
      <p:sp>
        <p:nvSpPr>
          <p:cNvPr id="3" name="Содержимое 2"/>
          <p:cNvSpPr>
            <a:spLocks noGrp="1"/>
          </p:cNvSpPr>
          <p:nvPr>
            <p:ph idx="1"/>
          </p:nvPr>
        </p:nvSpPr>
        <p:spPr>
          <a:xfrm>
            <a:off x="457200" y="1600200"/>
            <a:ext cx="8229600" cy="5257800"/>
          </a:xfrm>
        </p:spPr>
        <p:txBody>
          <a:bodyPr>
            <a:normAutofit fontScale="55000" lnSpcReduction="20000"/>
          </a:bodyPr>
          <a:lstStyle/>
          <a:p>
            <a:r>
              <a:rPr lang="ru-RU" dirty="0" smtClean="0"/>
              <a:t>В </a:t>
            </a:r>
            <a:r>
              <a:rPr lang="ru-RU" dirty="0" smtClean="0"/>
              <a:t>разбиении сложной проблемы на простые фрагменты и заключается цель всех методик проектирования. А термином «архитектура», в большинстве случаев, просто обозначают результат такого деления, плюс "</a:t>
            </a:r>
            <a:r>
              <a:rPr lang="ru-RU" i="1" dirty="0" smtClean="0"/>
              <a:t>некие конструктивные решения, которые после их принятия с трудом поддаются изменению</a:t>
            </a:r>
            <a:r>
              <a:rPr lang="ru-RU" dirty="0" smtClean="0"/>
              <a:t>" (Мартин </a:t>
            </a:r>
            <a:r>
              <a:rPr lang="ru-RU" dirty="0" err="1" smtClean="0"/>
              <a:t>Фаулер</a:t>
            </a:r>
            <a:r>
              <a:rPr lang="ru-RU" dirty="0" smtClean="0"/>
              <a:t> «Архитектура корпоративных программных приложений»). Поэтому большинство определений в той или иной форме сводятся к следующему:</a:t>
            </a:r>
            <a:br>
              <a:rPr lang="ru-RU" dirty="0" smtClean="0"/>
            </a:br>
            <a:endParaRPr lang="ru-RU" dirty="0" smtClean="0"/>
          </a:p>
          <a:p>
            <a:r>
              <a:rPr lang="ru-RU" dirty="0" smtClean="0"/>
              <a:t>"</a:t>
            </a:r>
            <a:r>
              <a:rPr lang="ru-RU" i="1" dirty="0" smtClean="0"/>
              <a:t>Архитектура идентифицирует главные компоненты системы и способы их взаимодействия. Также это выбор таких решений, которые интерпретируются как основополагающие и не подлежащие изменению в будущем.</a:t>
            </a:r>
            <a:r>
              <a:rPr lang="ru-RU" dirty="0" smtClean="0"/>
              <a:t>"</a:t>
            </a:r>
            <a:br>
              <a:rPr lang="ru-RU" dirty="0" smtClean="0"/>
            </a:br>
            <a:endParaRPr lang="ru-RU" dirty="0" smtClean="0"/>
          </a:p>
          <a:p>
            <a:r>
              <a:rPr lang="ru-RU" dirty="0" smtClean="0"/>
              <a:t>"</a:t>
            </a:r>
            <a:r>
              <a:rPr lang="ru-RU" i="1" dirty="0" smtClean="0"/>
              <a:t>Архитектура — это </a:t>
            </a:r>
            <a:r>
              <a:rPr lang="ru-RU" b="1" i="1" dirty="0" smtClean="0"/>
              <a:t>организация системы</a:t>
            </a:r>
            <a:r>
              <a:rPr lang="ru-RU" i="1" dirty="0" smtClean="0"/>
              <a:t>, воплощенная в ее </a:t>
            </a:r>
            <a:r>
              <a:rPr lang="ru-RU" b="1" i="1" dirty="0" smtClean="0"/>
              <a:t>компонентах</a:t>
            </a:r>
            <a:r>
              <a:rPr lang="ru-RU" i="1" dirty="0" smtClean="0"/>
              <a:t>, их </a:t>
            </a:r>
            <a:r>
              <a:rPr lang="ru-RU" b="1" i="1" dirty="0" err="1" smtClean="0"/>
              <a:t>отношениях</a:t>
            </a:r>
            <a:r>
              <a:rPr lang="ru-RU" i="1" dirty="0" err="1" smtClean="0"/>
              <a:t>между</a:t>
            </a:r>
            <a:r>
              <a:rPr lang="ru-RU" i="1" dirty="0" smtClean="0"/>
              <a:t> собой и с </a:t>
            </a:r>
            <a:r>
              <a:rPr lang="ru-RU" b="1" i="1" dirty="0" smtClean="0"/>
              <a:t>окружением</a:t>
            </a:r>
            <a:r>
              <a:rPr lang="ru-RU" i="1" dirty="0" smtClean="0"/>
              <a:t>.</a:t>
            </a:r>
            <a:r>
              <a:rPr lang="ru-RU" dirty="0" smtClean="0"/>
              <a:t/>
            </a:r>
            <a:br>
              <a:rPr lang="ru-RU" dirty="0" smtClean="0"/>
            </a:br>
            <a:r>
              <a:rPr lang="ru-RU" b="1" i="1" dirty="0" smtClean="0"/>
              <a:t>Система</a:t>
            </a:r>
            <a:r>
              <a:rPr lang="ru-RU" i="1" dirty="0" smtClean="0"/>
              <a:t> — это набор компонентов, объединенных для выполнения определенной функции.</a:t>
            </a:r>
            <a:r>
              <a:rPr lang="ru-RU" dirty="0" smtClean="0"/>
              <a:t>"</a:t>
            </a:r>
            <a:br>
              <a:rPr lang="ru-RU" dirty="0" smtClean="0"/>
            </a:br>
            <a:endParaRPr lang="ru-RU" dirty="0" smtClean="0"/>
          </a:p>
          <a:p>
            <a:r>
              <a:rPr lang="ru-RU" dirty="0" smtClean="0"/>
              <a:t>Таким </a:t>
            </a:r>
            <a:r>
              <a:rPr lang="ru-RU" dirty="0" smtClean="0"/>
              <a:t>образом, хорошая архитектура это, прежде всего, </a:t>
            </a:r>
            <a:r>
              <a:rPr lang="ru-RU" b="1" dirty="0" smtClean="0"/>
              <a:t>модульная</a:t>
            </a:r>
            <a:r>
              <a:rPr lang="ru-RU" dirty="0" smtClean="0"/>
              <a:t>/</a:t>
            </a:r>
            <a:r>
              <a:rPr lang="ru-RU" b="1" dirty="0" smtClean="0"/>
              <a:t>блочная архитектура</a:t>
            </a:r>
            <a:r>
              <a:rPr lang="ru-RU" dirty="0" smtClean="0"/>
              <a:t>. Чтобы получить хорошую архитектуру надо знать, как правильно делать декомпозицию системы.</a:t>
            </a:r>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smtClean="0"/>
              <a:t>Иерархическая</a:t>
            </a:r>
            <a:endParaRPr lang="ru-RU" dirty="0"/>
          </a:p>
        </p:txBody>
      </p:sp>
      <p:pic>
        <p:nvPicPr>
          <p:cNvPr id="4" name="Содержимое 3" descr="software decomposition"/>
          <p:cNvPicPr>
            <a:picLocks noGrp="1"/>
          </p:cNvPicPr>
          <p:nvPr>
            <p:ph idx="1"/>
          </p:nvPr>
        </p:nvPicPr>
        <p:blipFill>
          <a:blip r:embed="rId2" cstate="print"/>
          <a:srcRect/>
          <a:stretch>
            <a:fillRect/>
          </a:stretch>
        </p:blipFill>
        <p:spPr bwMode="auto">
          <a:xfrm>
            <a:off x="395537" y="1700808"/>
            <a:ext cx="8352928" cy="496855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smtClean="0"/>
              <a:t>Иерархическая</a:t>
            </a:r>
            <a:endParaRPr lang="ru-RU"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r>
              <a:rPr lang="ru-RU" dirty="0" smtClean="0"/>
              <a:t>Например</a:t>
            </a:r>
            <a:r>
              <a:rPr lang="ru-RU" dirty="0" smtClean="0"/>
              <a:t>, в чем заключается суть такого распространенного «архитектурного шаблона» как Модель-Вид-Контроллер (MVC)? Всего </a:t>
            </a:r>
            <a:r>
              <a:rPr lang="ru-RU" dirty="0" err="1" smtClean="0"/>
              <a:t>навсего</a:t>
            </a:r>
            <a:r>
              <a:rPr lang="ru-RU" dirty="0" smtClean="0"/>
              <a:t> в отделении </a:t>
            </a:r>
            <a:r>
              <a:rPr lang="ru-RU" b="1" dirty="0" smtClean="0"/>
              <a:t>представления</a:t>
            </a:r>
            <a:r>
              <a:rPr lang="ru-RU" dirty="0" smtClean="0"/>
              <a:t> от </a:t>
            </a:r>
            <a:r>
              <a:rPr lang="ru-RU" b="1" dirty="0" err="1" smtClean="0"/>
              <a:t>бизнес-логики</a:t>
            </a:r>
            <a:r>
              <a:rPr lang="ru-RU" dirty="0" smtClean="0"/>
              <a:t>, то есть в том, что любое пользовательское приложение вначале делится на два модуля — один из которых отвечает за реализацию собственно самой бизнес логики (Модель), а второй — за взаимодействие с пользователем (Пользовательский Интерфейс или Представление). Затем, для того чтобы эти модули могли разрабатываться независимо, связь между ними ослабляется с помощью паттерна «Наблюдатель» (подробно о способах ослабления связей будет рассказано дальше) и мы фактически получаем один из самых мощных и востребованных «шаблонов», которые используются в настоящее время</a:t>
            </a:r>
            <a:r>
              <a:rPr lang="ru-RU" dirty="0" smtClean="0"/>
              <a:t>.</a:t>
            </a:r>
          </a:p>
          <a:p>
            <a:r>
              <a:rPr lang="ru-RU" dirty="0" smtClean="0"/>
              <a:t>Для обозримости на каждом иерархическом уровне рекомендуют выделять от 2 до 7 модулей.</a:t>
            </a:r>
            <a:br>
              <a:rPr lang="ru-RU" dirty="0" smtClean="0"/>
            </a:br>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smtClean="0"/>
              <a:t>Функциональная</a:t>
            </a:r>
            <a:endParaRPr lang="ru-RU"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r>
              <a:rPr lang="ru-RU" i="1" dirty="0" smtClean="0"/>
              <a:t>Модуль</a:t>
            </a:r>
            <a:r>
              <a:rPr lang="ru-RU" dirty="0" smtClean="0"/>
              <a:t> = </a:t>
            </a:r>
            <a:r>
              <a:rPr lang="ru-RU" i="1" dirty="0" smtClean="0"/>
              <a:t>Функция</a:t>
            </a:r>
            <a:r>
              <a:rPr lang="ru-RU" dirty="0" smtClean="0"/>
              <a:t> + </a:t>
            </a:r>
            <a:r>
              <a:rPr lang="ru-RU" i="1" dirty="0" smtClean="0"/>
              <a:t>Данные</a:t>
            </a:r>
            <a:r>
              <a:rPr lang="ru-RU" dirty="0" smtClean="0"/>
              <a:t>, необходимые для ее выполнения.</a:t>
            </a:r>
            <a:br>
              <a:rPr lang="ru-RU" dirty="0" smtClean="0"/>
            </a:br>
            <a:endParaRPr lang="ru-RU" dirty="0" smtClean="0"/>
          </a:p>
          <a:p>
            <a:r>
              <a:rPr lang="ru-RU" dirty="0" smtClean="0"/>
              <a:t>Причем </a:t>
            </a:r>
            <a:r>
              <a:rPr lang="ru-RU" dirty="0" smtClean="0"/>
              <a:t>желательно, чтобы свою функцию модуль мог выполнить самостоятельно, без помощи остальных модулей, лишь на основе своих входящих данных.</a:t>
            </a:r>
            <a:br>
              <a:rPr lang="ru-RU" dirty="0" smtClean="0"/>
            </a:br>
            <a:endParaRPr lang="ru-RU" dirty="0" smtClean="0"/>
          </a:p>
          <a:p>
            <a:r>
              <a:rPr lang="ru-RU" i="1" dirty="0" smtClean="0"/>
              <a:t>Модуль </a:t>
            </a:r>
            <a:r>
              <a:rPr lang="ru-RU" i="1" dirty="0" smtClean="0"/>
              <a:t>— это не произвольный кусок кода, а отдельная функционально осмысленная и законченная программная единица</a:t>
            </a:r>
            <a:r>
              <a:rPr lang="ru-RU" dirty="0" smtClean="0"/>
              <a:t> (</a:t>
            </a:r>
            <a:r>
              <a:rPr lang="ru-RU" i="1" dirty="0" smtClean="0"/>
              <a:t>подпрограмма), которая обеспечивает решение некоторой задачи и в идеале может работать самостоятельно или в другом окружении и быть </a:t>
            </a:r>
            <a:r>
              <a:rPr lang="ru-RU" i="1" dirty="0" err="1" smtClean="0"/>
              <a:t>переиспользуемой</a:t>
            </a:r>
            <a:r>
              <a:rPr lang="ru-RU" i="1" dirty="0" smtClean="0"/>
              <a:t>. Модуль должен быть некой "целостностью, способной к относительной самостоятельности в поведении и развитии" (Кристофер </a:t>
            </a:r>
            <a:r>
              <a:rPr lang="ru-RU" i="1" dirty="0" err="1" smtClean="0"/>
              <a:t>Александер</a:t>
            </a:r>
            <a:r>
              <a:rPr lang="ru-RU" i="1" dirty="0" smtClean="0"/>
              <a:t>).</a:t>
            </a:r>
            <a:r>
              <a:rPr lang="ru-RU" dirty="0" smtClean="0"/>
              <a:t/>
            </a:r>
            <a:br>
              <a:rPr lang="ru-RU" dirty="0" smtClean="0"/>
            </a:b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err="1" smtClean="0"/>
              <a:t>High</a:t>
            </a:r>
            <a:r>
              <a:rPr lang="ru-RU" b="1" dirty="0" smtClean="0"/>
              <a:t> </a:t>
            </a:r>
            <a:r>
              <a:rPr lang="ru-RU" b="1" dirty="0" err="1" smtClean="0"/>
              <a:t>Cohesion</a:t>
            </a:r>
            <a:r>
              <a:rPr lang="ru-RU" b="1" dirty="0" smtClean="0"/>
              <a:t> + </a:t>
            </a:r>
            <a:r>
              <a:rPr lang="ru-RU" b="1" dirty="0" err="1" smtClean="0"/>
              <a:t>Low</a:t>
            </a:r>
            <a:r>
              <a:rPr lang="ru-RU" b="1" dirty="0" smtClean="0"/>
              <a:t> </a:t>
            </a:r>
            <a:r>
              <a:rPr lang="ru-RU" b="1" dirty="0" err="1" smtClean="0"/>
              <a:t>Coupling</a:t>
            </a:r>
            <a:endParaRPr lang="ru-RU" dirty="0"/>
          </a:p>
        </p:txBody>
      </p:sp>
      <p:sp>
        <p:nvSpPr>
          <p:cNvPr id="5" name="Содержимое 4"/>
          <p:cNvSpPr>
            <a:spLocks noGrp="1"/>
          </p:cNvSpPr>
          <p:nvPr>
            <p:ph idx="1"/>
          </p:nvPr>
        </p:nvSpPr>
        <p:spPr>
          <a:xfrm>
            <a:off x="457200" y="1600200"/>
            <a:ext cx="8229600" cy="5257800"/>
          </a:xfrm>
        </p:spPr>
        <p:txBody>
          <a:bodyPr>
            <a:normAutofit/>
          </a:bodyPr>
          <a:lstStyle/>
          <a:p>
            <a:r>
              <a:rPr lang="ru-RU" dirty="0" smtClean="0"/>
              <a:t>"</a:t>
            </a:r>
            <a:r>
              <a:rPr lang="ru-RU" i="1" dirty="0" smtClean="0"/>
              <a:t>Модули, полученные в результате декомпозиции, должны быть максимально </a:t>
            </a:r>
            <a:r>
              <a:rPr lang="ru-RU" i="1" dirty="0" err="1" smtClean="0"/>
              <a:t>сопряженны</a:t>
            </a:r>
            <a:r>
              <a:rPr lang="ru-RU" i="1" dirty="0" smtClean="0"/>
              <a:t> внутри (</a:t>
            </a:r>
            <a:r>
              <a:rPr lang="ru-RU" i="1" dirty="0" err="1" smtClean="0"/>
              <a:t>high</a:t>
            </a:r>
            <a:r>
              <a:rPr lang="ru-RU" i="1" dirty="0" smtClean="0"/>
              <a:t> </a:t>
            </a:r>
            <a:r>
              <a:rPr lang="ru-RU" i="1" dirty="0" err="1" smtClean="0"/>
              <a:t>internal</a:t>
            </a:r>
            <a:r>
              <a:rPr lang="ru-RU" i="1" dirty="0" smtClean="0"/>
              <a:t> </a:t>
            </a:r>
            <a:r>
              <a:rPr lang="ru-RU" i="1" dirty="0" err="1" smtClean="0"/>
              <a:t>cohesion</a:t>
            </a:r>
            <a:r>
              <a:rPr lang="ru-RU" i="1" dirty="0" smtClean="0"/>
              <a:t>) и минимально связанны друг с другом (</a:t>
            </a:r>
            <a:r>
              <a:rPr lang="ru-RU" i="1" dirty="0" err="1" smtClean="0"/>
              <a:t>low</a:t>
            </a:r>
            <a:r>
              <a:rPr lang="ru-RU" i="1" dirty="0" smtClean="0"/>
              <a:t> </a:t>
            </a:r>
            <a:r>
              <a:rPr lang="ru-RU" i="1" dirty="0" err="1" smtClean="0"/>
              <a:t>external</a:t>
            </a:r>
            <a:r>
              <a:rPr lang="ru-RU" i="1" dirty="0" smtClean="0"/>
              <a:t> </a:t>
            </a:r>
            <a:r>
              <a:rPr lang="ru-RU" i="1" dirty="0" err="1" smtClean="0"/>
              <a:t>coupling</a:t>
            </a:r>
            <a:r>
              <a:rPr lang="ru-RU" i="1" dirty="0" smtClean="0"/>
              <a:t>).</a:t>
            </a:r>
            <a:r>
              <a:rPr lang="ru-RU" dirty="0" smtClean="0"/>
              <a:t>"</a:t>
            </a:r>
            <a:br>
              <a:rPr lang="ru-RU" dirty="0" smtClean="0"/>
            </a:br>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err="1" smtClean="0"/>
              <a:t>High</a:t>
            </a:r>
            <a:r>
              <a:rPr lang="ru-RU" b="1" dirty="0" smtClean="0"/>
              <a:t> </a:t>
            </a:r>
            <a:r>
              <a:rPr lang="ru-RU" b="1" dirty="0" err="1" smtClean="0"/>
              <a:t>Cohesion</a:t>
            </a:r>
            <a:r>
              <a:rPr lang="ru-RU" b="1" dirty="0" smtClean="0"/>
              <a:t> + </a:t>
            </a:r>
            <a:r>
              <a:rPr lang="ru-RU" b="1" dirty="0" err="1" smtClean="0"/>
              <a:t>Low</a:t>
            </a:r>
            <a:r>
              <a:rPr lang="ru-RU" b="1" dirty="0" smtClean="0"/>
              <a:t> </a:t>
            </a:r>
            <a:r>
              <a:rPr lang="ru-RU" b="1" dirty="0" err="1" smtClean="0"/>
              <a:t>Coupling</a:t>
            </a:r>
            <a:endParaRPr lang="ru-RU" dirty="0"/>
          </a:p>
        </p:txBody>
      </p:sp>
      <p:sp>
        <p:nvSpPr>
          <p:cNvPr id="5" name="Содержимое 4"/>
          <p:cNvSpPr>
            <a:spLocks noGrp="1"/>
          </p:cNvSpPr>
          <p:nvPr>
            <p:ph idx="1"/>
          </p:nvPr>
        </p:nvSpPr>
        <p:spPr>
          <a:xfrm>
            <a:off x="457200" y="1600200"/>
            <a:ext cx="8229600" cy="5257800"/>
          </a:xfrm>
        </p:spPr>
        <p:txBody>
          <a:bodyPr>
            <a:normAutofit fontScale="77500" lnSpcReduction="20000"/>
          </a:bodyPr>
          <a:lstStyle/>
          <a:p>
            <a:r>
              <a:rPr lang="ru-RU" b="1" dirty="0" err="1" smtClean="0"/>
              <a:t>High</a:t>
            </a:r>
            <a:r>
              <a:rPr lang="ru-RU" b="1" dirty="0" smtClean="0"/>
              <a:t> </a:t>
            </a:r>
            <a:r>
              <a:rPr lang="ru-RU" b="1" dirty="0" err="1" smtClean="0"/>
              <a:t>Cohesion</a:t>
            </a:r>
            <a:r>
              <a:rPr lang="ru-RU" dirty="0" smtClean="0"/>
              <a:t>, высокая сопряженность или «сплоченность» внутри модуля, говорит о том, модуль сфокусирован на решении одной узкой проблемы, а не занимается выполнением разнородных функций или несвязанных между собой обязанностей. (</a:t>
            </a:r>
            <a:r>
              <a:rPr lang="ru-RU" i="1" dirty="0" smtClean="0"/>
              <a:t>Сопряженность</a:t>
            </a:r>
            <a:r>
              <a:rPr lang="ru-RU" dirty="0" smtClean="0"/>
              <a:t> — </a:t>
            </a:r>
            <a:r>
              <a:rPr lang="ru-RU" i="1" dirty="0" err="1" smtClean="0"/>
              <a:t>cohesion</a:t>
            </a:r>
            <a:r>
              <a:rPr lang="ru-RU" dirty="0" smtClean="0"/>
              <a:t>, характеризует степень, в которой задачи, выполняемые модулем, связаны друг с другом )</a:t>
            </a:r>
            <a:br>
              <a:rPr lang="ru-RU" dirty="0" smtClean="0"/>
            </a:br>
            <a:r>
              <a:rPr lang="ru-RU" dirty="0" smtClean="0"/>
              <a:t/>
            </a:r>
            <a:br>
              <a:rPr lang="ru-RU" dirty="0" smtClean="0"/>
            </a:br>
            <a:r>
              <a:rPr lang="ru-RU" dirty="0" smtClean="0"/>
              <a:t>Следствием </a:t>
            </a:r>
            <a:r>
              <a:rPr lang="ru-RU" dirty="0" err="1" smtClean="0"/>
              <a:t>High</a:t>
            </a:r>
            <a:r>
              <a:rPr lang="ru-RU" dirty="0" smtClean="0"/>
              <a:t> </a:t>
            </a:r>
            <a:r>
              <a:rPr lang="ru-RU" dirty="0" err="1" smtClean="0"/>
              <a:t>Cohesion</a:t>
            </a:r>
            <a:r>
              <a:rPr lang="ru-RU" dirty="0" smtClean="0"/>
              <a:t> является </a:t>
            </a:r>
            <a:r>
              <a:rPr lang="ru-RU" b="1" dirty="0" smtClean="0"/>
              <a:t>принцип единственной ответственности</a:t>
            </a:r>
            <a:r>
              <a:rPr lang="ru-RU" dirty="0" smtClean="0"/>
              <a:t> (</a:t>
            </a:r>
            <a:r>
              <a:rPr lang="ru-RU" b="1" dirty="0" err="1" smtClean="0"/>
              <a:t>Single</a:t>
            </a:r>
            <a:r>
              <a:rPr lang="ru-RU" b="1" dirty="0" smtClean="0"/>
              <a:t> </a:t>
            </a:r>
            <a:r>
              <a:rPr lang="ru-RU" b="1" dirty="0" err="1" smtClean="0"/>
              <a:t>Responsibility</a:t>
            </a:r>
            <a:r>
              <a:rPr lang="ru-RU" b="1" dirty="0" smtClean="0"/>
              <a:t> </a:t>
            </a:r>
            <a:r>
              <a:rPr lang="ru-RU" b="1" dirty="0" err="1" smtClean="0"/>
              <a:t>Principle</a:t>
            </a:r>
            <a:r>
              <a:rPr lang="ru-RU" dirty="0" smtClean="0"/>
              <a:t> — первый из пяти принципов SOLID), согласно которому любой объект/модуль должен иметь лишь одну обязанность и соответственно не должно быть больше одной причины для его изменения.</a:t>
            </a:r>
            <a:br>
              <a:rPr lang="ru-RU" dirty="0" smtClean="0"/>
            </a:b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err="1" smtClean="0"/>
              <a:t>High</a:t>
            </a:r>
            <a:r>
              <a:rPr lang="ru-RU" b="1" dirty="0" smtClean="0"/>
              <a:t> </a:t>
            </a:r>
            <a:r>
              <a:rPr lang="ru-RU" b="1" dirty="0" err="1" smtClean="0"/>
              <a:t>Cohesion</a:t>
            </a:r>
            <a:r>
              <a:rPr lang="ru-RU" b="1" dirty="0" smtClean="0"/>
              <a:t> + </a:t>
            </a:r>
            <a:r>
              <a:rPr lang="ru-RU" b="1" dirty="0" err="1" smtClean="0"/>
              <a:t>Low</a:t>
            </a:r>
            <a:r>
              <a:rPr lang="ru-RU" b="1" dirty="0" smtClean="0"/>
              <a:t> </a:t>
            </a:r>
            <a:r>
              <a:rPr lang="ru-RU" b="1" dirty="0" err="1" smtClean="0"/>
              <a:t>Coupling</a:t>
            </a:r>
            <a:endParaRPr lang="ru-RU" dirty="0"/>
          </a:p>
        </p:txBody>
      </p:sp>
      <p:sp>
        <p:nvSpPr>
          <p:cNvPr id="5" name="Содержимое 4"/>
          <p:cNvSpPr>
            <a:spLocks noGrp="1"/>
          </p:cNvSpPr>
          <p:nvPr>
            <p:ph idx="1"/>
          </p:nvPr>
        </p:nvSpPr>
        <p:spPr>
          <a:xfrm>
            <a:off x="457200" y="1600200"/>
            <a:ext cx="8229600" cy="5257800"/>
          </a:xfrm>
        </p:spPr>
        <p:txBody>
          <a:bodyPr>
            <a:normAutofit fontScale="85000" lnSpcReduction="20000"/>
          </a:bodyPr>
          <a:lstStyle/>
          <a:p>
            <a:r>
              <a:rPr lang="ru-RU" b="1" dirty="0" err="1" smtClean="0"/>
              <a:t>Low</a:t>
            </a:r>
            <a:r>
              <a:rPr lang="ru-RU" b="1" dirty="0" smtClean="0"/>
              <a:t> </a:t>
            </a:r>
            <a:r>
              <a:rPr lang="ru-RU" b="1" dirty="0" err="1" smtClean="0"/>
              <a:t>Coupling</a:t>
            </a:r>
            <a:r>
              <a:rPr lang="ru-RU" dirty="0" smtClean="0"/>
              <a:t>, слабая связанность, означает что модули, на которые разбивается система, должны быть, по возможности, независимы или </a:t>
            </a:r>
            <a:r>
              <a:rPr lang="ru-RU" i="1" dirty="0" smtClean="0"/>
              <a:t>слабо связанны</a:t>
            </a:r>
            <a:r>
              <a:rPr lang="ru-RU" dirty="0" smtClean="0"/>
              <a:t> друг с другом. Они должны иметь возможность взаимодействовать, но при этом </a:t>
            </a:r>
            <a:r>
              <a:rPr lang="ru-RU" i="1" dirty="0" smtClean="0"/>
              <a:t>как можно меньше знать друг о друге</a:t>
            </a:r>
            <a:r>
              <a:rPr lang="ru-RU" dirty="0" smtClean="0"/>
              <a:t> (</a:t>
            </a:r>
            <a:r>
              <a:rPr lang="ru-RU" b="1" dirty="0" smtClean="0"/>
              <a:t>принцип минимального знания</a:t>
            </a:r>
            <a:r>
              <a:rPr lang="ru-RU" dirty="0" smtClean="0"/>
              <a:t>).</a:t>
            </a:r>
            <a:br>
              <a:rPr lang="ru-RU" dirty="0" smtClean="0"/>
            </a:br>
            <a:r>
              <a:rPr lang="ru-RU" dirty="0" smtClean="0"/>
              <a:t/>
            </a:r>
            <a:br>
              <a:rPr lang="ru-RU" dirty="0" smtClean="0"/>
            </a:br>
            <a:r>
              <a:rPr lang="ru-RU" dirty="0" smtClean="0"/>
              <a:t>Это значит, что при правильном проектировании, при изменении одного модуля, не придется править другие или эти изменения будут минимальными. Чем слабее связанность, тем легче писать/понимать/расширять/чинить программу.</a:t>
            </a:r>
            <a:r>
              <a:rPr lang="ru-RU" dirty="0" smtClean="0"/>
              <a:t>.</a:t>
            </a:r>
            <a:r>
              <a:rPr lang="ru-RU" dirty="0" smtClean="0"/>
              <a:t/>
            </a:r>
            <a:br>
              <a:rPr lang="ru-RU" dirty="0" smtClean="0"/>
            </a:br>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err="1" smtClean="0"/>
              <a:t>High</a:t>
            </a:r>
            <a:r>
              <a:rPr lang="ru-RU" b="1" dirty="0" smtClean="0"/>
              <a:t> </a:t>
            </a:r>
            <a:r>
              <a:rPr lang="ru-RU" b="1" dirty="0" err="1" smtClean="0"/>
              <a:t>Cohesion</a:t>
            </a:r>
            <a:r>
              <a:rPr lang="ru-RU" b="1" dirty="0" smtClean="0"/>
              <a:t> + </a:t>
            </a:r>
            <a:r>
              <a:rPr lang="ru-RU" b="1" dirty="0" err="1" smtClean="0"/>
              <a:t>Low</a:t>
            </a:r>
            <a:r>
              <a:rPr lang="ru-RU" b="1" dirty="0" smtClean="0"/>
              <a:t> </a:t>
            </a:r>
            <a:r>
              <a:rPr lang="ru-RU" b="1" dirty="0" err="1" smtClean="0"/>
              <a:t>Coupling</a:t>
            </a:r>
            <a:endParaRPr lang="ru-RU"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pPr lvl="0"/>
            <a:r>
              <a:rPr lang="ru-RU" b="1" dirty="0" smtClean="0"/>
              <a:t>функциональная целостность и завершенность</a:t>
            </a:r>
            <a:r>
              <a:rPr lang="ru-RU" dirty="0" smtClean="0"/>
              <a:t> — каждый модуль реализует одну функцию, но реализует хорошо и полностью; модуль самостоятельно (без помощи дополнительных средств) выполняет полный набор операций для реализации своей функции.</a:t>
            </a:r>
          </a:p>
          <a:p>
            <a:pPr lvl="0"/>
            <a:r>
              <a:rPr lang="ru-RU" b="1" dirty="0" smtClean="0"/>
              <a:t>один вход и один выход</a:t>
            </a:r>
            <a:r>
              <a:rPr lang="ru-RU" dirty="0" smtClean="0"/>
              <a:t> — на входе программный модуль получает определенный набор исходных данных, выполняет содержательную обработку и возвращает один набор результатных данных, т.е. реализуется стандартный принцип IPO — </a:t>
            </a:r>
            <a:r>
              <a:rPr lang="ru-RU" i="1" dirty="0" smtClean="0"/>
              <a:t>вход–процесс–выход</a:t>
            </a:r>
            <a:r>
              <a:rPr lang="ru-RU" dirty="0" smtClean="0"/>
              <a:t>;</a:t>
            </a:r>
          </a:p>
          <a:p>
            <a:pPr lvl="0"/>
            <a:r>
              <a:rPr lang="ru-RU" b="1" dirty="0" smtClean="0"/>
              <a:t>логическая независимость</a:t>
            </a:r>
            <a:r>
              <a:rPr lang="ru-RU" dirty="0" smtClean="0"/>
              <a:t> — результат работы программного модуля зависит только от исходных данных, но не зависит от работы других модулей;</a:t>
            </a:r>
          </a:p>
          <a:p>
            <a:pPr lvl="0"/>
            <a:r>
              <a:rPr lang="ru-RU" b="1" dirty="0" smtClean="0"/>
              <a:t>слабые информационные связи с другими модулями</a:t>
            </a:r>
            <a:r>
              <a:rPr lang="ru-RU" dirty="0" smtClean="0"/>
              <a:t> — обмен информацией между модулями должен быть по возможности минимизирован.</a:t>
            </a:r>
          </a:p>
          <a:p>
            <a:pPr>
              <a:buNone/>
            </a:pPr>
            <a:r>
              <a:rPr lang="ru-RU" dirty="0" smtClean="0"/>
              <a:t/>
            </a:r>
            <a:br>
              <a:rPr lang="ru-RU" dirty="0" smtClean="0"/>
            </a:b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«Правильная» </a:t>
            </a:r>
            <a:r>
              <a:rPr lang="ru-RU" dirty="0" smtClean="0"/>
              <a:t>декомпозиция.      </a:t>
            </a:r>
            <a:r>
              <a:rPr lang="ru-RU" b="1" dirty="0" err="1" smtClean="0"/>
              <a:t>High</a:t>
            </a:r>
            <a:r>
              <a:rPr lang="ru-RU" b="1" dirty="0" smtClean="0"/>
              <a:t> </a:t>
            </a:r>
            <a:r>
              <a:rPr lang="ru-RU" b="1" dirty="0" err="1" smtClean="0"/>
              <a:t>Cohesion</a:t>
            </a:r>
            <a:r>
              <a:rPr lang="ru-RU" b="1" dirty="0" smtClean="0"/>
              <a:t> + </a:t>
            </a:r>
            <a:r>
              <a:rPr lang="ru-RU" b="1" dirty="0" err="1" smtClean="0"/>
              <a:t>Low</a:t>
            </a:r>
            <a:r>
              <a:rPr lang="ru-RU" b="1" dirty="0" smtClean="0"/>
              <a:t> </a:t>
            </a:r>
            <a:r>
              <a:rPr lang="ru-RU" b="1" dirty="0" err="1" smtClean="0"/>
              <a:t>Coupling</a:t>
            </a:r>
            <a:endParaRPr lang="ru-RU" dirty="0"/>
          </a:p>
        </p:txBody>
      </p:sp>
      <p:sp>
        <p:nvSpPr>
          <p:cNvPr id="5" name="Содержимое 4"/>
          <p:cNvSpPr>
            <a:spLocks noGrp="1"/>
          </p:cNvSpPr>
          <p:nvPr>
            <p:ph idx="1"/>
          </p:nvPr>
        </p:nvSpPr>
        <p:spPr>
          <a:xfrm>
            <a:off x="457200" y="1600200"/>
            <a:ext cx="8229600" cy="5257800"/>
          </a:xfrm>
        </p:spPr>
        <p:txBody>
          <a:bodyPr>
            <a:normAutofit/>
          </a:bodyPr>
          <a:lstStyle/>
          <a:p>
            <a:pPr lvl="0"/>
            <a:r>
              <a:rPr lang="ru-RU" dirty="0" smtClean="0"/>
              <a:t>Делая декомпозицию системы желательно проверять ее качество задавая себе вопросы: "</a:t>
            </a:r>
            <a:r>
              <a:rPr lang="ru-RU" i="1" dirty="0" smtClean="0"/>
              <a:t>Какую функцию выполняет каждый модуль?</a:t>
            </a:r>
            <a:r>
              <a:rPr lang="ru-RU" dirty="0" smtClean="0"/>
              <a:t>", “</a:t>
            </a:r>
            <a:r>
              <a:rPr lang="ru-RU" i="1" dirty="0" smtClean="0"/>
              <a:t>Насколько модули легко тестировать?</a:t>
            </a:r>
            <a:r>
              <a:rPr lang="ru-RU" dirty="0" smtClean="0"/>
              <a:t>”, “</a:t>
            </a:r>
            <a:r>
              <a:rPr lang="ru-RU" i="1" dirty="0" smtClean="0"/>
              <a:t>Возможно ли использовать модули самостоятельно или в другом окружении?</a:t>
            </a:r>
            <a:r>
              <a:rPr lang="ru-RU" dirty="0" smtClean="0"/>
              <a:t>”, “</a:t>
            </a:r>
            <a:r>
              <a:rPr lang="ru-RU" i="1" dirty="0" smtClean="0"/>
              <a:t>Как сильно изменения в одном модуле отразятся на остальных?</a:t>
            </a:r>
            <a:r>
              <a:rPr lang="ru-RU" dirty="0" smtClean="0"/>
              <a:t>”</a:t>
            </a:r>
            <a:br>
              <a:rPr lang="ru-RU" dirty="0" smtClean="0"/>
            </a:b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Как ослаблять связанность между модулями</a:t>
            </a:r>
            <a:endParaRPr lang="ru-RU" dirty="0"/>
          </a:p>
        </p:txBody>
      </p:sp>
      <p:sp>
        <p:nvSpPr>
          <p:cNvPr id="5" name="Содержимое 4"/>
          <p:cNvSpPr>
            <a:spLocks noGrp="1"/>
          </p:cNvSpPr>
          <p:nvPr>
            <p:ph idx="1"/>
          </p:nvPr>
        </p:nvSpPr>
        <p:spPr>
          <a:xfrm>
            <a:off x="457200" y="1600200"/>
            <a:ext cx="8229600" cy="5257800"/>
          </a:xfrm>
        </p:spPr>
        <p:txBody>
          <a:bodyPr>
            <a:normAutofit/>
          </a:bodyPr>
          <a:lstStyle/>
          <a:p>
            <a:pPr lvl="0">
              <a:buNone/>
            </a:pPr>
            <a:r>
              <a:rPr lang="ru-RU" dirty="0" smtClean="0"/>
              <a:t/>
            </a:r>
            <a:br>
              <a:rPr lang="ru-RU" dirty="0" smtClean="0"/>
            </a:br>
            <a:endParaRPr lang="ru-RU" dirty="0"/>
          </a:p>
        </p:txBody>
      </p:sp>
      <p:pic>
        <p:nvPicPr>
          <p:cNvPr id="4" name="Рисунок 3" descr="Decoupling architecture"/>
          <p:cNvPicPr/>
          <p:nvPr/>
        </p:nvPicPr>
        <p:blipFill>
          <a:blip r:embed="rId2" cstate="print"/>
          <a:srcRect/>
          <a:stretch>
            <a:fillRect/>
          </a:stretch>
        </p:blipFill>
        <p:spPr bwMode="auto">
          <a:xfrm>
            <a:off x="1331640" y="1484784"/>
            <a:ext cx="6336704" cy="511256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Интерфейсы. Фасад</a:t>
            </a:r>
            <a:endParaRPr lang="ru-RU" dirty="0"/>
          </a:p>
        </p:txBody>
      </p:sp>
      <p:sp>
        <p:nvSpPr>
          <p:cNvPr id="5" name="Содержимое 4"/>
          <p:cNvSpPr>
            <a:spLocks noGrp="1"/>
          </p:cNvSpPr>
          <p:nvPr>
            <p:ph idx="1"/>
          </p:nvPr>
        </p:nvSpPr>
        <p:spPr>
          <a:xfrm>
            <a:off x="457200" y="1600200"/>
            <a:ext cx="8229600" cy="5257800"/>
          </a:xfrm>
        </p:spPr>
        <p:txBody>
          <a:bodyPr>
            <a:normAutofit fontScale="85000" lnSpcReduction="10000"/>
          </a:bodyPr>
          <a:lstStyle/>
          <a:p>
            <a:pPr lvl="0"/>
            <a:r>
              <a:rPr lang="ru-RU" dirty="0" smtClean="0"/>
              <a:t>Модули </a:t>
            </a:r>
            <a:r>
              <a:rPr lang="ru-RU" dirty="0" smtClean="0"/>
              <a:t>должны быть друг для друга "черными ящиками" (</a:t>
            </a:r>
            <a:r>
              <a:rPr lang="ru-RU" i="1" dirty="0" smtClean="0"/>
              <a:t>инкапсуляция</a:t>
            </a:r>
            <a:r>
              <a:rPr lang="ru-RU" dirty="0" smtClean="0"/>
              <a:t>). Это означает, что один модуль не должен «лезть» внутрь другого модуля и что либо знать о его внутренней структуре. Объекты одной подсистемы не должны обращаться напрямую к объектам другой подсистемы</a:t>
            </a:r>
          </a:p>
          <a:p>
            <a:r>
              <a:rPr lang="ru-RU" dirty="0" smtClean="0"/>
              <a:t>Модули/подсистемы должны взаимодействовать друг с другом лишь посредством </a:t>
            </a:r>
            <a:r>
              <a:rPr lang="ru-RU" i="1" dirty="0" smtClean="0"/>
              <a:t>интерфейсов</a:t>
            </a:r>
            <a:r>
              <a:rPr lang="ru-RU" dirty="0" smtClean="0"/>
              <a:t> (то есть, </a:t>
            </a:r>
            <a:r>
              <a:rPr lang="ru-RU" i="1" dirty="0" smtClean="0"/>
              <a:t>абстракций</a:t>
            </a:r>
            <a:r>
              <a:rPr lang="ru-RU" dirty="0" smtClean="0"/>
              <a:t>, не зависящих от деталей реализации) Соответственно каждый модуль должен иметь четко определенный интерфейс или интерфейсы для взаимодействия с другими модулями.</a:t>
            </a:r>
            <a:endParaRPr lang="ru-R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Интерфейсы. Фасад</a:t>
            </a:r>
            <a:endParaRPr lang="ru-RU"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pPr lvl="0"/>
            <a:r>
              <a:rPr lang="ru-RU" dirty="0" smtClean="0"/>
              <a:t>Благодаря интерфейсам и полиморфизму, как раз и достигается возможность модифицировать и расширять код, без изменения того, что уже написано (</a:t>
            </a:r>
            <a:r>
              <a:rPr lang="ru-RU" dirty="0" err="1" smtClean="0"/>
              <a:t>Open-Closed</a:t>
            </a:r>
            <a:r>
              <a:rPr lang="ru-RU" dirty="0" smtClean="0"/>
              <a:t> </a:t>
            </a:r>
            <a:r>
              <a:rPr lang="ru-RU" dirty="0" err="1" smtClean="0"/>
              <a:t>Principle</a:t>
            </a:r>
            <a:r>
              <a:rPr lang="ru-RU" dirty="0" smtClean="0"/>
              <a:t>). До тех пор, пока взаимодействие модулей описано исключительно в виде интерфейсов, и не завязано на конкретные реализации, мы имеем возможность абсолютно «безболезненно» для системы заменить один модуль на любой другой, реализующий тот же самый интерфейс, а также добавить новый и тем самым расширить функциональность. Это как в конструкторе или «</a:t>
            </a:r>
            <a:r>
              <a:rPr lang="ru-RU" dirty="0" err="1" smtClean="0"/>
              <a:t>плагинной</a:t>
            </a:r>
            <a:r>
              <a:rPr lang="ru-RU" dirty="0" smtClean="0"/>
              <a:t> архитектуре» (</a:t>
            </a:r>
            <a:r>
              <a:rPr lang="ru-RU" dirty="0" err="1" smtClean="0"/>
              <a:t>plugin</a:t>
            </a:r>
            <a:r>
              <a:rPr lang="ru-RU" dirty="0" smtClean="0"/>
              <a:t> </a:t>
            </a:r>
            <a:r>
              <a:rPr lang="ru-RU" dirty="0" err="1" smtClean="0"/>
              <a:t>architecture</a:t>
            </a:r>
            <a:r>
              <a:rPr lang="ru-RU" dirty="0" smtClean="0"/>
              <a:t>) — интерфейс служит своего рода </a:t>
            </a:r>
            <a:r>
              <a:rPr lang="ru-RU" dirty="0" err="1" smtClean="0"/>
              <a:t>коннектором</a:t>
            </a:r>
            <a:r>
              <a:rPr lang="ru-RU" dirty="0" smtClean="0"/>
              <a:t>, куда может быть подключен любой модуль с подходящим разъемом. Гибкость конструктора обеспечивается тем, что мы можем просто заменить одни модули/«детали» на другие, с такими же разъемами (с тем же интерфейсом), а также добавить сколько угодно новых деталей (при этом уже существующие детали никак не изменяются и не переделываются). </a:t>
            </a:r>
            <a:endParaRPr lang="ru-R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Интерфейсы. Фасад</a:t>
            </a:r>
            <a:endParaRPr lang="ru-RU" dirty="0"/>
          </a:p>
        </p:txBody>
      </p:sp>
      <p:sp>
        <p:nvSpPr>
          <p:cNvPr id="5" name="Содержимое 4"/>
          <p:cNvSpPr>
            <a:spLocks noGrp="1"/>
          </p:cNvSpPr>
          <p:nvPr>
            <p:ph idx="1"/>
          </p:nvPr>
        </p:nvSpPr>
        <p:spPr>
          <a:xfrm>
            <a:off x="457200" y="1600200"/>
            <a:ext cx="8229600" cy="5257800"/>
          </a:xfrm>
        </p:spPr>
        <p:txBody>
          <a:bodyPr>
            <a:normAutofit fontScale="62500" lnSpcReduction="20000"/>
          </a:bodyPr>
          <a:lstStyle/>
          <a:p>
            <a:pPr lvl="0"/>
            <a:r>
              <a:rPr lang="ru-RU" dirty="0" smtClean="0"/>
              <a:t>Интерфейсы позволяют строить систему более высокого уровня, рассматривая каждую подсистему как единое целое и игнорируя ее внутреннее устройство. Они дают возможность модулям взаимодействовать и при этом ничего не знать о внутренней структуре друг друга, тем самым в полной мере реализуя </a:t>
            </a:r>
            <a:r>
              <a:rPr lang="ru-RU" i="1" dirty="0" smtClean="0"/>
              <a:t>принцип минимального знания</a:t>
            </a:r>
            <a:r>
              <a:rPr lang="ru-RU" dirty="0" smtClean="0"/>
              <a:t>, являющейся основой </a:t>
            </a:r>
            <a:r>
              <a:rPr lang="ru-RU" i="1" dirty="0" smtClean="0"/>
              <a:t>слабой связанности.</a:t>
            </a:r>
            <a:r>
              <a:rPr lang="ru-RU" dirty="0" smtClean="0"/>
              <a:t> Причем, чем в более общей/абстрактной форме определены интерфейсы и чем меньше ограничений они накладывают на взаимодействие, тем гибче система. Отсюда фактически следует еще один из принципов SOLID — </a:t>
            </a:r>
            <a:r>
              <a:rPr lang="ru-RU" b="1" dirty="0" smtClean="0"/>
              <a:t>Принцип разделения интерфейса (</a:t>
            </a:r>
            <a:r>
              <a:rPr lang="ru-RU" b="1" dirty="0" err="1" smtClean="0"/>
              <a:t>Interface</a:t>
            </a:r>
            <a:r>
              <a:rPr lang="ru-RU" b="1" dirty="0" smtClean="0"/>
              <a:t> </a:t>
            </a:r>
            <a:r>
              <a:rPr lang="ru-RU" b="1" dirty="0" err="1" smtClean="0"/>
              <a:t>Segregation</a:t>
            </a:r>
            <a:r>
              <a:rPr lang="ru-RU" b="1" dirty="0" smtClean="0"/>
              <a:t> </a:t>
            </a:r>
            <a:r>
              <a:rPr lang="ru-RU" b="1" dirty="0" err="1" smtClean="0"/>
              <a:t>Principle</a:t>
            </a:r>
            <a:r>
              <a:rPr lang="ru-RU" b="1" dirty="0" smtClean="0"/>
              <a:t>)</a:t>
            </a:r>
            <a:r>
              <a:rPr lang="ru-RU" dirty="0" smtClean="0"/>
              <a:t>, который выступает против «толстых интерфейсов» и говорит, что большие, объемные интерфейсы надо разбивать на более маленькие и специфические, чтобы клиенты маленьких интерфейсов (зависящие модули) знали только о методах, которые необходимы им в работе. Формулируется он следующим образом: "</a:t>
            </a:r>
            <a:r>
              <a:rPr lang="ru-RU" i="1" dirty="0" smtClean="0"/>
              <a:t>Клиенты не должны зависеть от методов (знать о методах), которые они не используют</a:t>
            </a:r>
            <a:r>
              <a:rPr lang="ru-RU" dirty="0" smtClean="0"/>
              <a:t>" или “</a:t>
            </a:r>
            <a:r>
              <a:rPr lang="ru-RU" i="1" dirty="0" smtClean="0"/>
              <a:t>Много специализированных интерфейсов лучше, чем один универсальный”.</a:t>
            </a:r>
            <a:endParaRPr lang="ru-R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Интерфейсы. Фасад</a:t>
            </a:r>
            <a:endParaRPr lang="ru-RU" dirty="0"/>
          </a:p>
        </p:txBody>
      </p:sp>
      <p:sp>
        <p:nvSpPr>
          <p:cNvPr id="5" name="Содержимое 4"/>
          <p:cNvSpPr>
            <a:spLocks noGrp="1"/>
          </p:cNvSpPr>
          <p:nvPr>
            <p:ph idx="1"/>
          </p:nvPr>
        </p:nvSpPr>
        <p:spPr>
          <a:xfrm>
            <a:off x="457200" y="1600200"/>
            <a:ext cx="8229600" cy="5257800"/>
          </a:xfrm>
        </p:spPr>
        <p:txBody>
          <a:bodyPr>
            <a:normAutofit lnSpcReduction="10000"/>
          </a:bodyPr>
          <a:lstStyle/>
          <a:p>
            <a:pPr lvl="0"/>
            <a:r>
              <a:rPr lang="ru-RU" i="1" dirty="0" smtClean="0"/>
              <a:t>Фасад — это объект-интерфейс, аккумулирующий в себе высокоуровневый набор операций для работы с некоторой подсистемой, скрывающий за собой ее внутреннюю структуру и истинную сложность. Обеспечивает защиту от изменений в реализации подсистемы. Служит единой точкой входа — "вы пинаете фасад, а он знает, кого там надо пнуть в этой подсистеме, чтобы получить нужное"</a:t>
            </a:r>
            <a:r>
              <a:rPr lang="ru-RU" dirty="0" smtClean="0"/>
              <a:t>.</a:t>
            </a:r>
            <a:endParaRPr lang="ru-R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Интерфейсы. Фасад</a:t>
            </a:r>
            <a:endParaRPr lang="ru-RU" dirty="0"/>
          </a:p>
        </p:txBody>
      </p:sp>
      <p:pic>
        <p:nvPicPr>
          <p:cNvPr id="4" name="Содержимое 3" descr="Facade Decoupling architecture"/>
          <p:cNvPicPr>
            <a:picLocks noGrp="1"/>
          </p:cNvPicPr>
          <p:nvPr>
            <p:ph idx="1"/>
          </p:nvPr>
        </p:nvPicPr>
        <p:blipFill>
          <a:blip r:embed="rId2" cstate="print"/>
          <a:srcRect/>
          <a:stretch>
            <a:fillRect/>
          </a:stretch>
        </p:blipFill>
        <p:spPr bwMode="auto">
          <a:xfrm>
            <a:off x="539552" y="1700808"/>
            <a:ext cx="8229600" cy="243909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err="1" smtClean="0"/>
              <a:t>Dependency</a:t>
            </a:r>
            <a:r>
              <a:rPr lang="ru-RU" dirty="0" smtClean="0"/>
              <a:t> </a:t>
            </a:r>
            <a:r>
              <a:rPr lang="ru-RU" dirty="0" err="1" smtClean="0"/>
              <a:t>Inversion</a:t>
            </a:r>
            <a:endParaRPr lang="ru-RU" dirty="0"/>
          </a:p>
        </p:txBody>
      </p:sp>
      <p:sp>
        <p:nvSpPr>
          <p:cNvPr id="5" name="Содержимое 4"/>
          <p:cNvSpPr>
            <a:spLocks noGrp="1"/>
          </p:cNvSpPr>
          <p:nvPr>
            <p:ph idx="1"/>
          </p:nvPr>
        </p:nvSpPr>
        <p:spPr/>
        <p:txBody>
          <a:bodyPr>
            <a:normAutofit fontScale="77500" lnSpcReduction="20000"/>
          </a:bodyPr>
          <a:lstStyle/>
          <a:p>
            <a:r>
              <a:rPr lang="ru-RU" dirty="0" smtClean="0"/>
              <a:t>Формально, требование, чтобы модули не содержали ссылок на конкретные реализации, а все зависимости и взаимодействие между ними строились исключительно на основе абстракций, то есть интерфейсов, выражается принципом </a:t>
            </a:r>
            <a:r>
              <a:rPr lang="ru-RU" b="1" dirty="0" smtClean="0"/>
              <a:t>Инвертирования зависимостей</a:t>
            </a:r>
            <a:r>
              <a:rPr lang="ru-RU" dirty="0" smtClean="0"/>
              <a:t> (</a:t>
            </a:r>
            <a:r>
              <a:rPr lang="ru-RU" b="1" dirty="0" err="1" smtClean="0"/>
              <a:t>Dependency</a:t>
            </a:r>
            <a:r>
              <a:rPr lang="ru-RU" b="1" dirty="0" smtClean="0"/>
              <a:t> </a:t>
            </a:r>
            <a:r>
              <a:rPr lang="ru-RU" b="1" dirty="0" err="1" smtClean="0"/>
              <a:t>Inversion</a:t>
            </a:r>
            <a:r>
              <a:rPr lang="ru-RU" dirty="0" smtClean="0"/>
              <a:t> — последний из пяти принципов SOLID):</a:t>
            </a:r>
          </a:p>
          <a:p>
            <a:pPr lvl="0"/>
            <a:r>
              <a:rPr lang="ru-RU" dirty="0" smtClean="0"/>
              <a:t>Модули верхнего уровня не должны зависеть от модулей нижнего уровня. И те, и другие должны зависеть от абстракций.</a:t>
            </a:r>
          </a:p>
          <a:p>
            <a:r>
              <a:rPr lang="ru-RU" dirty="0" smtClean="0"/>
              <a:t>Абстракции не должны зависеть от деталей. Реализация должна зависеть от абстракции.</a:t>
            </a:r>
            <a:endParaRPr lang="ru-R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err="1" smtClean="0"/>
              <a:t>Dependency</a:t>
            </a:r>
            <a:r>
              <a:rPr lang="ru-RU" dirty="0" smtClean="0"/>
              <a:t> </a:t>
            </a:r>
            <a:r>
              <a:rPr lang="ru-RU" dirty="0" err="1" smtClean="0"/>
              <a:t>Inversion</a:t>
            </a:r>
            <a:endParaRPr lang="ru-RU" dirty="0"/>
          </a:p>
        </p:txBody>
      </p:sp>
      <p:sp>
        <p:nvSpPr>
          <p:cNvPr id="5" name="Содержимое 4"/>
          <p:cNvSpPr>
            <a:spLocks noGrp="1"/>
          </p:cNvSpPr>
          <p:nvPr>
            <p:ph idx="1"/>
          </p:nvPr>
        </p:nvSpPr>
        <p:spPr/>
        <p:txBody>
          <a:bodyPr>
            <a:normAutofit fontScale="77500" lnSpcReduction="20000"/>
          </a:bodyPr>
          <a:lstStyle/>
          <a:p>
            <a:r>
              <a:rPr lang="ru-RU" dirty="0" smtClean="0"/>
              <a:t>В каком-то смысле такое решение следует </a:t>
            </a:r>
            <a:r>
              <a:rPr lang="ru-RU" dirty="0" smtClean="0">
                <a:hlinkClick r:id="rId2"/>
              </a:rPr>
              <a:t>Принципу единственного выбора</a:t>
            </a:r>
            <a:r>
              <a:rPr lang="ru-RU" dirty="0" smtClean="0"/>
              <a:t> (</a:t>
            </a:r>
            <a:r>
              <a:rPr lang="ru-RU" dirty="0" err="1" smtClean="0"/>
              <a:t>Single</a:t>
            </a:r>
            <a:r>
              <a:rPr lang="ru-RU" dirty="0" smtClean="0"/>
              <a:t> </a:t>
            </a:r>
            <a:r>
              <a:rPr lang="ru-RU" dirty="0" err="1" smtClean="0"/>
              <a:t>Choice</a:t>
            </a:r>
            <a:r>
              <a:rPr lang="ru-RU" dirty="0" smtClean="0"/>
              <a:t> </a:t>
            </a:r>
            <a:r>
              <a:rPr lang="ru-RU" dirty="0" err="1" smtClean="0"/>
              <a:t>Principle</a:t>
            </a:r>
            <a:r>
              <a:rPr lang="ru-RU" dirty="0" smtClean="0"/>
              <a:t>), который говорит: "</a:t>
            </a:r>
            <a:r>
              <a:rPr lang="ru-RU" i="1" dirty="0" smtClean="0"/>
              <a:t>всякий раз, когда система программного обеспечения должна поддерживать множество альтернатив, их полный список должен быть известен только одному модулю системы</a:t>
            </a:r>
            <a:r>
              <a:rPr lang="ru-RU" dirty="0" smtClean="0"/>
              <a:t>". В этом случае, если в будущем придется добавить новые варианты (или новые реализации, как в рассматриваемом нами случае создания новых объектов), то достаточно будет произвести обновление только того модуля, в котором содержится эта информация, а все остальные модули останутся незатронутыми и смогут продолжать свою работу как обычно.</a:t>
            </a:r>
            <a:endParaRPr lang="ru-R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err="1" smtClean="0"/>
              <a:t>Dependency</a:t>
            </a:r>
            <a:r>
              <a:rPr lang="ru-RU" dirty="0" smtClean="0"/>
              <a:t> </a:t>
            </a:r>
            <a:r>
              <a:rPr lang="ru-RU" dirty="0" err="1" smtClean="0"/>
              <a:t>Inversion</a:t>
            </a:r>
            <a:r>
              <a:rPr lang="ru-RU" dirty="0" smtClean="0"/>
              <a:t/>
            </a:r>
            <a:br>
              <a:rPr lang="ru-RU" dirty="0" smtClean="0"/>
            </a:br>
            <a:r>
              <a:rPr lang="ru-RU" sz="2200" i="1" dirty="0" smtClean="0"/>
              <a:t>Модуль сам создает объекты необходимые ему для работы</a:t>
            </a:r>
            <a:r>
              <a:rPr lang="ru-RU" sz="2200" dirty="0" smtClean="0"/>
              <a:t>.</a:t>
            </a:r>
            <a:endParaRPr lang="ru-RU" sz="2200" dirty="0"/>
          </a:p>
        </p:txBody>
      </p:sp>
      <p:sp>
        <p:nvSpPr>
          <p:cNvPr id="5" name="Содержимое 4"/>
          <p:cNvSpPr>
            <a:spLocks noGrp="1"/>
          </p:cNvSpPr>
          <p:nvPr>
            <p:ph idx="1"/>
          </p:nvPr>
        </p:nvSpPr>
        <p:spPr>
          <a:xfrm>
            <a:off x="457200" y="1600200"/>
            <a:ext cx="8229600" cy="5257800"/>
          </a:xfrm>
        </p:spPr>
        <p:txBody>
          <a:bodyPr>
            <a:normAutofit fontScale="77500" lnSpcReduction="20000"/>
          </a:bodyPr>
          <a:lstStyle/>
          <a:p>
            <a:r>
              <a:rPr lang="ru-RU" dirty="0" smtClean="0"/>
              <a:t>Но, как и было сказано, модуль не может это сделать напрямую — для создания необходимо вызвать конструктор конкретного типа, и в результате модуль будет зависеть не от интерфейса, а от конкретной реализации. Решить проблему в данном случае позволяет шаблон </a:t>
            </a:r>
            <a:r>
              <a:rPr lang="ru-RU" dirty="0" smtClean="0">
                <a:hlinkClick r:id="rId2"/>
              </a:rPr>
              <a:t>Фабричный Метод</a:t>
            </a:r>
            <a:r>
              <a:rPr lang="ru-RU" dirty="0" smtClean="0"/>
              <a:t> (</a:t>
            </a:r>
            <a:r>
              <a:rPr lang="ru-RU" b="1" dirty="0" err="1" smtClean="0"/>
              <a:t>Factory</a:t>
            </a:r>
            <a:r>
              <a:rPr lang="ru-RU" b="1" dirty="0" smtClean="0"/>
              <a:t> </a:t>
            </a:r>
            <a:r>
              <a:rPr lang="ru-RU" b="1" dirty="0" err="1" smtClean="0"/>
              <a:t>Method</a:t>
            </a:r>
            <a:r>
              <a:rPr lang="ru-RU" dirty="0" smtClean="0"/>
              <a:t>).</a:t>
            </a:r>
            <a:br>
              <a:rPr lang="ru-RU" dirty="0" smtClean="0"/>
            </a:br>
            <a:r>
              <a:rPr lang="ru-RU" dirty="0" smtClean="0"/>
              <a:t/>
            </a:r>
            <a:br>
              <a:rPr lang="ru-RU" dirty="0" smtClean="0"/>
            </a:br>
            <a:r>
              <a:rPr lang="ru-RU" dirty="0" smtClean="0"/>
              <a:t>"Суть заключается в том, что вместо непосредственного </a:t>
            </a:r>
            <a:r>
              <a:rPr lang="ru-RU" dirty="0" err="1" smtClean="0"/>
              <a:t>инстанцирования</a:t>
            </a:r>
            <a:r>
              <a:rPr lang="ru-RU" dirty="0" smtClean="0"/>
              <a:t> объекта через </a:t>
            </a:r>
            <a:r>
              <a:rPr lang="ru-RU" dirty="0" err="1" smtClean="0"/>
              <a:t>new</a:t>
            </a:r>
            <a:r>
              <a:rPr lang="ru-RU" dirty="0" smtClean="0"/>
              <a:t>, мы предоставляем классу-клиенту некоторый интерфейс для создания объектов. Поскольку такой интерфейс при правильном дизайне всегда может быть переопределён, мы получаем определённую гибкость при использовании низкоуровневых модулей в модулях высокого уровня".</a:t>
            </a:r>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err="1" smtClean="0"/>
              <a:t>Dependency</a:t>
            </a:r>
            <a:r>
              <a:rPr lang="ru-RU" dirty="0" smtClean="0"/>
              <a:t> </a:t>
            </a:r>
            <a:r>
              <a:rPr lang="ru-RU" dirty="0" err="1" smtClean="0"/>
              <a:t>Inversion</a:t>
            </a:r>
            <a:r>
              <a:rPr lang="ru-RU" dirty="0" smtClean="0"/>
              <a:t/>
            </a:r>
            <a:br>
              <a:rPr lang="ru-RU" dirty="0" smtClean="0"/>
            </a:br>
            <a:r>
              <a:rPr lang="ru-RU" sz="2000" i="1" dirty="0" smtClean="0"/>
              <a:t>Модуль берет необходимые объекты у того, у кого они уже есть</a:t>
            </a:r>
            <a:endParaRPr lang="ru-RU" sz="2200"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r>
              <a:rPr lang="ru-RU" dirty="0" smtClean="0"/>
              <a:t>Этот подход реализуется шаблоном </a:t>
            </a:r>
            <a:r>
              <a:rPr lang="ru-RU" b="1" dirty="0" smtClean="0"/>
              <a:t>Локатор Сервисов</a:t>
            </a:r>
            <a:r>
              <a:rPr lang="ru-RU" dirty="0" smtClean="0"/>
              <a:t> (</a:t>
            </a:r>
            <a:r>
              <a:rPr lang="ru-RU" b="1" dirty="0" err="1" smtClean="0"/>
              <a:t>Service</a:t>
            </a:r>
            <a:r>
              <a:rPr lang="ru-RU" b="1" dirty="0" smtClean="0"/>
              <a:t> </a:t>
            </a:r>
            <a:r>
              <a:rPr lang="ru-RU" b="1" dirty="0" err="1" smtClean="0"/>
              <a:t>Locator</a:t>
            </a:r>
            <a:r>
              <a:rPr lang="ru-RU" dirty="0" smtClean="0"/>
              <a:t>), основная идея которого заключается в том, что в программе имеется объект, знающий, как получить все зависимости (сервисы), которые могут потребоваться.</a:t>
            </a:r>
            <a:br>
              <a:rPr lang="ru-RU" dirty="0" smtClean="0"/>
            </a:br>
            <a:r>
              <a:rPr lang="ru-RU" dirty="0" smtClean="0"/>
              <a:t/>
            </a:r>
            <a:br>
              <a:rPr lang="ru-RU" dirty="0" smtClean="0"/>
            </a:br>
            <a:r>
              <a:rPr lang="ru-RU" dirty="0" smtClean="0"/>
              <a:t>Главное отличие от фабрик в том, что </a:t>
            </a:r>
            <a:r>
              <a:rPr lang="ru-RU" dirty="0" err="1" smtClean="0"/>
              <a:t>Service</a:t>
            </a:r>
            <a:r>
              <a:rPr lang="ru-RU" dirty="0" smtClean="0"/>
              <a:t> </a:t>
            </a:r>
            <a:r>
              <a:rPr lang="ru-RU" dirty="0" err="1" smtClean="0"/>
              <a:t>Locator</a:t>
            </a:r>
            <a:r>
              <a:rPr lang="ru-RU" dirty="0" smtClean="0"/>
              <a:t> не создаёт объекты, а фактически уже содержит в себе </a:t>
            </a:r>
            <a:r>
              <a:rPr lang="ru-RU" dirty="0" err="1" smtClean="0"/>
              <a:t>инстанцированные</a:t>
            </a:r>
            <a:r>
              <a:rPr lang="ru-RU" dirty="0" smtClean="0"/>
              <a:t> объекты (или знает где/как их получить, а если и создает, то только один раз при первом обращении). Фабрика при каждом обращении создает новый объект, который вы получаете в полную собственность и можете делать с ним что хотите. Локатор же сервисов выдает ссылки на одни и те же, уже существующие объекты. Поэтому с объектами, выданными </a:t>
            </a:r>
            <a:r>
              <a:rPr lang="ru-RU" dirty="0" err="1" smtClean="0"/>
              <a:t>Service</a:t>
            </a:r>
            <a:r>
              <a:rPr lang="ru-RU" dirty="0" smtClean="0"/>
              <a:t> </a:t>
            </a:r>
            <a:r>
              <a:rPr lang="ru-RU" dirty="0" err="1" smtClean="0"/>
              <a:t>Locator</a:t>
            </a:r>
            <a:r>
              <a:rPr lang="ru-RU" dirty="0" smtClean="0"/>
              <a:t>, нужно быть очень осторожным, так как одновременно с вами ими может пользоваться кто-то еще</a:t>
            </a:r>
            <a:r>
              <a:rPr lang="ru-RU" dirty="0" smtClean="0"/>
              <a:t>.</a:t>
            </a:r>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err="1" smtClean="0"/>
              <a:t>Dependency</a:t>
            </a:r>
            <a:r>
              <a:rPr lang="ru-RU" dirty="0" smtClean="0"/>
              <a:t> </a:t>
            </a:r>
            <a:r>
              <a:rPr lang="ru-RU" dirty="0" err="1" smtClean="0"/>
              <a:t>Inversion</a:t>
            </a:r>
            <a:r>
              <a:rPr lang="ru-RU" dirty="0" smtClean="0"/>
              <a:t/>
            </a:r>
            <a:br>
              <a:rPr lang="ru-RU" dirty="0" smtClean="0"/>
            </a:br>
            <a:r>
              <a:rPr lang="ru-RU" sz="1800" i="1" dirty="0" smtClean="0"/>
              <a:t>Модуль вообще не заботиться о «добывании» зависимостей</a:t>
            </a:r>
            <a:endParaRPr lang="ru-RU" sz="2200" dirty="0"/>
          </a:p>
        </p:txBody>
      </p:sp>
      <p:sp>
        <p:nvSpPr>
          <p:cNvPr id="5" name="Содержимое 4"/>
          <p:cNvSpPr>
            <a:spLocks noGrp="1"/>
          </p:cNvSpPr>
          <p:nvPr>
            <p:ph idx="1"/>
          </p:nvPr>
        </p:nvSpPr>
        <p:spPr>
          <a:xfrm>
            <a:off x="457200" y="1600200"/>
            <a:ext cx="8229600" cy="5257800"/>
          </a:xfrm>
        </p:spPr>
        <p:txBody>
          <a:bodyPr>
            <a:normAutofit fontScale="85000" lnSpcReduction="20000"/>
          </a:bodyPr>
          <a:lstStyle/>
          <a:p>
            <a:r>
              <a:rPr lang="ru-RU" dirty="0" smtClean="0"/>
              <a:t>Это так и называется — </a:t>
            </a:r>
            <a:r>
              <a:rPr lang="ru-RU" b="1" dirty="0" smtClean="0"/>
              <a:t>Внедрение Зависимостей</a:t>
            </a:r>
            <a:r>
              <a:rPr lang="ru-RU" dirty="0" smtClean="0"/>
              <a:t> (</a:t>
            </a:r>
            <a:r>
              <a:rPr lang="ru-RU" b="1" dirty="0" err="1" smtClean="0"/>
              <a:t>Dependency</a:t>
            </a:r>
            <a:r>
              <a:rPr lang="ru-RU" b="1" dirty="0" smtClean="0"/>
              <a:t> </a:t>
            </a:r>
            <a:r>
              <a:rPr lang="ru-RU" b="1" dirty="0" err="1" smtClean="0"/>
              <a:t>Injection</a:t>
            </a:r>
            <a:r>
              <a:rPr lang="ru-RU" dirty="0" smtClean="0"/>
              <a:t>). Обычно требуемые зависимости передаются либо в качестве параметров конструктора (</a:t>
            </a:r>
            <a:r>
              <a:rPr lang="ru-RU" i="1" dirty="0" err="1" smtClean="0"/>
              <a:t>Constructor</a:t>
            </a:r>
            <a:r>
              <a:rPr lang="ru-RU" i="1" dirty="0" smtClean="0"/>
              <a:t> </a:t>
            </a:r>
            <a:r>
              <a:rPr lang="ru-RU" i="1" dirty="0" err="1" smtClean="0"/>
              <a:t>Injection</a:t>
            </a:r>
            <a:r>
              <a:rPr lang="ru-RU" dirty="0" smtClean="0"/>
              <a:t>), либо через методы класса (</a:t>
            </a:r>
            <a:r>
              <a:rPr lang="ru-RU" i="1" dirty="0" err="1" smtClean="0"/>
              <a:t>Setter</a:t>
            </a:r>
            <a:r>
              <a:rPr lang="ru-RU" i="1" dirty="0" smtClean="0"/>
              <a:t> </a:t>
            </a:r>
            <a:r>
              <a:rPr lang="ru-RU" i="1" dirty="0" err="1" smtClean="0"/>
              <a:t>injection</a:t>
            </a:r>
            <a:r>
              <a:rPr lang="ru-RU" dirty="0" smtClean="0"/>
              <a:t>).</a:t>
            </a:r>
            <a:br>
              <a:rPr lang="ru-RU" dirty="0" smtClean="0"/>
            </a:br>
            <a:r>
              <a:rPr lang="ru-RU" dirty="0" smtClean="0"/>
              <a:t/>
            </a:r>
            <a:br>
              <a:rPr lang="ru-RU" dirty="0" smtClean="0"/>
            </a:br>
            <a:r>
              <a:rPr lang="ru-RU" dirty="0" smtClean="0"/>
              <a:t>Такой подход </a:t>
            </a:r>
            <a:r>
              <a:rPr lang="ru-RU" i="1" dirty="0" smtClean="0"/>
              <a:t>инвертирует процесс создания зависимости</a:t>
            </a:r>
            <a:r>
              <a:rPr lang="ru-RU" dirty="0" smtClean="0"/>
              <a:t> — вместо самого модуля создание зависимостей контролирует кто-то извне. Модуль из активного элемента, становится пассивным — не он делает, а для него делают. Такое изменение направления действия называется </a:t>
            </a:r>
            <a:r>
              <a:rPr lang="ru-RU" b="1" dirty="0" smtClean="0"/>
              <a:t>Инверсия Контроля</a:t>
            </a:r>
            <a:r>
              <a:rPr lang="ru-RU" dirty="0" smtClean="0"/>
              <a:t> (</a:t>
            </a:r>
            <a:r>
              <a:rPr lang="ru-RU" b="1" dirty="0" err="1" smtClean="0"/>
              <a:t>Inversion</a:t>
            </a:r>
            <a:r>
              <a:rPr lang="ru-RU" b="1" dirty="0" smtClean="0"/>
              <a:t> </a:t>
            </a:r>
            <a:r>
              <a:rPr lang="ru-RU" b="1" dirty="0" err="1" smtClean="0"/>
              <a:t>of</a:t>
            </a:r>
            <a:r>
              <a:rPr lang="ru-RU" b="1" dirty="0" smtClean="0"/>
              <a:t> </a:t>
            </a:r>
            <a:r>
              <a:rPr lang="ru-RU" b="1" dirty="0" err="1" smtClean="0"/>
              <a:t>Control</a:t>
            </a:r>
            <a:r>
              <a:rPr lang="ru-RU" dirty="0" smtClean="0"/>
              <a:t>)</a:t>
            </a:r>
            <a:endParaRPr lang="ru-R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Замена прямых зависимостей на обмен сообщениями</a:t>
            </a:r>
            <a:endParaRPr lang="ru-RU" sz="2200" dirty="0"/>
          </a:p>
        </p:txBody>
      </p:sp>
      <p:sp>
        <p:nvSpPr>
          <p:cNvPr id="5" name="Содержимое 4"/>
          <p:cNvSpPr>
            <a:spLocks noGrp="1"/>
          </p:cNvSpPr>
          <p:nvPr>
            <p:ph idx="1"/>
          </p:nvPr>
        </p:nvSpPr>
        <p:spPr>
          <a:xfrm>
            <a:off x="457200" y="1600200"/>
            <a:ext cx="8229600" cy="5257800"/>
          </a:xfrm>
        </p:spPr>
        <p:txBody>
          <a:bodyPr>
            <a:normAutofit fontScale="70000" lnSpcReduction="20000"/>
          </a:bodyPr>
          <a:lstStyle/>
          <a:p>
            <a:r>
              <a:rPr lang="ru-RU" b="1" dirty="0" smtClean="0"/>
              <a:t>Наблюдатель (</a:t>
            </a:r>
            <a:r>
              <a:rPr lang="ru-RU" b="1" dirty="0" err="1" smtClean="0"/>
              <a:t>Observer</a:t>
            </a:r>
            <a:r>
              <a:rPr lang="ru-RU" b="1" dirty="0" smtClean="0"/>
              <a:t>).</a:t>
            </a:r>
            <a:r>
              <a:rPr lang="ru-RU" dirty="0" smtClean="0"/>
              <a:t> Применяется в случае зависимости «</a:t>
            </a:r>
            <a:r>
              <a:rPr lang="ru-RU" i="1" dirty="0" err="1" smtClean="0"/>
              <a:t>один-ко-многим</a:t>
            </a:r>
            <a:r>
              <a:rPr lang="ru-RU" dirty="0" smtClean="0"/>
              <a:t>», когда множество модулей зависят от состояния одного — основного. Использует механизм </a:t>
            </a:r>
            <a:r>
              <a:rPr lang="ru-RU" dirty="0" smtClean="0">
                <a:hlinkClick r:id="rId2"/>
              </a:rPr>
              <a:t>рассылки</a:t>
            </a:r>
            <a:r>
              <a:rPr lang="ru-RU" dirty="0" smtClean="0"/>
              <a:t>, который заключается в том, что основной модуль просто осуществляет рассылку одинаковых сообщений всем своим подписчикам, а модули, заинтересованные в этой информации, реализуют интерфейс «подписчика» и подписываются на рассылку. Находит широкое применение в системах с пользовательским интерфейсом, позволяя ядру приложения (модели) оставаться независимым и при этом информировать связанные с ним интерфейсы о том что произошли какие-то изменения и нужно обновиться.</a:t>
            </a:r>
            <a:br>
              <a:rPr lang="ru-RU" dirty="0" smtClean="0"/>
            </a:br>
            <a:r>
              <a:rPr lang="ru-RU" dirty="0" smtClean="0"/>
              <a:t/>
            </a:r>
            <a:br>
              <a:rPr lang="ru-RU" dirty="0" smtClean="0"/>
            </a:br>
            <a:r>
              <a:rPr lang="ru-RU" dirty="0" smtClean="0"/>
              <a:t>Организация взаимодействия посредством рассылки сообщений имеет дополнительный «бонус» — необязательность существования «подписчиков» на «опубликованные» (т.е. рассылаемые) сообщения. Качественно спроектированная подобная система допускает добавление/удаление модулей в любое время.</a:t>
            </a:r>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Замена прямых зависимостей на обмен сообщениями</a:t>
            </a:r>
            <a:endParaRPr lang="ru-RU" sz="2200" dirty="0"/>
          </a:p>
        </p:txBody>
      </p:sp>
      <p:sp>
        <p:nvSpPr>
          <p:cNvPr id="5" name="Содержимое 4"/>
          <p:cNvSpPr>
            <a:spLocks noGrp="1"/>
          </p:cNvSpPr>
          <p:nvPr>
            <p:ph idx="1"/>
          </p:nvPr>
        </p:nvSpPr>
        <p:spPr>
          <a:xfrm>
            <a:off x="457200" y="1600200"/>
            <a:ext cx="8229600" cy="3052936"/>
          </a:xfrm>
        </p:spPr>
        <p:txBody>
          <a:bodyPr>
            <a:normAutofit fontScale="70000" lnSpcReduction="20000"/>
          </a:bodyPr>
          <a:lstStyle/>
          <a:p>
            <a:r>
              <a:rPr lang="ru-RU" b="1" dirty="0" smtClean="0"/>
              <a:t>Посредник (</a:t>
            </a:r>
            <a:r>
              <a:rPr lang="ru-RU" b="1" dirty="0" err="1" smtClean="0"/>
              <a:t>Mediator</a:t>
            </a:r>
            <a:r>
              <a:rPr lang="ru-RU" b="1" dirty="0" smtClean="0"/>
              <a:t>).</a:t>
            </a:r>
            <a:r>
              <a:rPr lang="ru-RU" dirty="0" smtClean="0"/>
              <a:t> Применяется, когда между модулями имеется зависимость «</a:t>
            </a:r>
            <a:r>
              <a:rPr lang="ru-RU" i="1" dirty="0" smtClean="0"/>
              <a:t>многие ко многим</a:t>
            </a:r>
            <a:r>
              <a:rPr lang="ru-RU" dirty="0" smtClean="0"/>
              <a:t>. Медиатор выступает в качестве посредника в общении между модулями</a:t>
            </a:r>
            <a:r>
              <a:rPr lang="ru-RU" b="1" dirty="0" smtClean="0"/>
              <a:t>,</a:t>
            </a:r>
            <a:r>
              <a:rPr lang="ru-RU" dirty="0" smtClean="0"/>
              <a:t> действуя как центр связи и избавляет модули от необходимости явно ссылаться друг на друга. В результате взаимодействие модулей друг с другом («все со всеми») заменяется взаимодействием модулей лишь с посредником («один со всеми»). Говорят, что посредник </a:t>
            </a:r>
            <a:r>
              <a:rPr lang="ru-RU" i="1" dirty="0" smtClean="0"/>
              <a:t>инкапсулирует </a:t>
            </a:r>
            <a:r>
              <a:rPr lang="ru-RU" i="1" dirty="0" err="1" smtClean="0"/>
              <a:t>взаимодействие</a:t>
            </a:r>
            <a:r>
              <a:rPr lang="ru-RU" dirty="0" err="1" smtClean="0"/>
              <a:t>между</a:t>
            </a:r>
            <a:r>
              <a:rPr lang="ru-RU" dirty="0" smtClean="0"/>
              <a:t> множеством модулей.</a:t>
            </a:r>
            <a:endParaRPr lang="ru-RU" dirty="0"/>
          </a:p>
        </p:txBody>
      </p:sp>
      <p:pic>
        <p:nvPicPr>
          <p:cNvPr id="4" name="Рисунок 3" descr="Mediator Посредник"/>
          <p:cNvPicPr/>
          <p:nvPr/>
        </p:nvPicPr>
        <p:blipFill>
          <a:blip r:embed="rId2" cstate="print"/>
          <a:srcRect/>
          <a:stretch>
            <a:fillRect/>
          </a:stretch>
        </p:blipFill>
        <p:spPr bwMode="auto">
          <a:xfrm>
            <a:off x="611560" y="4221088"/>
            <a:ext cx="7776864" cy="2232248"/>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Замена прямых зависимостей на обмен сообщениями</a:t>
            </a:r>
            <a:endParaRPr lang="ru-RU" sz="2200" dirty="0"/>
          </a:p>
        </p:txBody>
      </p:sp>
      <p:sp>
        <p:nvSpPr>
          <p:cNvPr id="5" name="Содержимое 4"/>
          <p:cNvSpPr>
            <a:spLocks noGrp="1"/>
          </p:cNvSpPr>
          <p:nvPr>
            <p:ph idx="1"/>
          </p:nvPr>
        </p:nvSpPr>
        <p:spPr>
          <a:xfrm>
            <a:off x="457200" y="1600200"/>
            <a:ext cx="8229600" cy="4565104"/>
          </a:xfrm>
        </p:spPr>
        <p:txBody>
          <a:bodyPr>
            <a:normAutofit fontScale="85000" lnSpcReduction="20000"/>
          </a:bodyPr>
          <a:lstStyle/>
          <a:p>
            <a:r>
              <a:rPr lang="ru-RU" i="1" dirty="0" smtClean="0"/>
              <a:t>Модули могут пересылать друг другу не только «простые сообщения, но и объекты-команды. Такое взаимодействие описывается шаблоном</a:t>
            </a:r>
            <a:r>
              <a:rPr lang="ru-RU" dirty="0" smtClean="0"/>
              <a:t> </a:t>
            </a:r>
            <a:r>
              <a:rPr lang="ru-RU" b="1" dirty="0" smtClean="0"/>
              <a:t>Команда</a:t>
            </a:r>
            <a:r>
              <a:rPr lang="ru-RU" dirty="0" smtClean="0"/>
              <a:t> (</a:t>
            </a:r>
            <a:r>
              <a:rPr lang="ru-RU" b="1" dirty="0" err="1" smtClean="0"/>
              <a:t>Command</a:t>
            </a:r>
            <a:r>
              <a:rPr lang="ru-RU" dirty="0" smtClean="0"/>
              <a:t>). </a:t>
            </a:r>
            <a:r>
              <a:rPr lang="ru-RU" i="1" dirty="0" smtClean="0"/>
              <a:t>Суть заключается в </a:t>
            </a:r>
            <a:r>
              <a:rPr lang="ru-RU" i="1" dirty="0" err="1" smtClean="0"/>
              <a:t>инкапсулировании</a:t>
            </a:r>
            <a:r>
              <a:rPr lang="ru-RU" i="1" dirty="0" smtClean="0"/>
              <a:t> запроса на выполнение определенного действия в виде отдельного объекта (фактически этот объект содержит один единственный метод </a:t>
            </a:r>
            <a:r>
              <a:rPr lang="ru-RU" i="1" dirty="0" err="1" smtClean="0"/>
              <a:t>execute</a:t>
            </a:r>
            <a:r>
              <a:rPr lang="ru-RU" i="1" dirty="0" smtClean="0"/>
              <a:t>()), что позволяет затем передавать это действие другим модулям на выполнение в качестве параметра, и вообще производить с объектом-командой любые операции, какие могут быть произведены над обычными объектами</a:t>
            </a:r>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Замена прямых зависимостей на синхронизацию через общее ядро</a:t>
            </a:r>
            <a:endParaRPr lang="ru-RU" sz="2200" dirty="0"/>
          </a:p>
        </p:txBody>
      </p:sp>
      <p:sp>
        <p:nvSpPr>
          <p:cNvPr id="5" name="Содержимое 4"/>
          <p:cNvSpPr>
            <a:spLocks noGrp="1"/>
          </p:cNvSpPr>
          <p:nvPr>
            <p:ph idx="1"/>
          </p:nvPr>
        </p:nvSpPr>
        <p:spPr>
          <a:xfrm>
            <a:off x="457200" y="1844824"/>
            <a:ext cx="8229600" cy="4320480"/>
          </a:xfrm>
        </p:spPr>
        <p:txBody>
          <a:bodyPr>
            <a:normAutofit fontScale="77500" lnSpcReduction="20000"/>
          </a:bodyPr>
          <a:lstStyle/>
          <a:p>
            <a:r>
              <a:rPr lang="ru-RU" dirty="0" smtClean="0"/>
              <a:t>Ядро-посредник может как знать о модулях-клиентах и управлять ими (пример — </a:t>
            </a:r>
            <a:r>
              <a:rPr lang="ru-RU" dirty="0" smtClean="0">
                <a:hlinkClick r:id="rId2"/>
              </a:rPr>
              <a:t>архитектура </a:t>
            </a:r>
            <a:r>
              <a:rPr lang="ru-RU" dirty="0" err="1" smtClean="0">
                <a:hlinkClick r:id="rId2"/>
              </a:rPr>
              <a:t>apache</a:t>
            </a:r>
            <a:r>
              <a:rPr lang="ru-RU" dirty="0" smtClean="0"/>
              <a:t> ), так и может быть полностью, или почти полностью, независимым и ничего о клиентах не знать. В сущности именно этот подход реализован в «шаблоне» Модель-Вид-Контроллер (MVC), где с одной Моделью (являющейся ядром приложение и общим хранилищем данных) могут взаимодействовать множество Пользовательских Интерфейсов, которые работают синхронно и при этом не знают друг о друге, а Модель не знает о них. Ничто не мешает подключить к общей модели и синхронизировать таким образом не только интерфейсы, но и другие вспомогательные модули</a:t>
            </a:r>
            <a:endParaRPr lang="ru-R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Закон Деметры</a:t>
            </a:r>
            <a:r>
              <a:rPr lang="en-US" dirty="0" smtClean="0"/>
              <a:t> (law of Demeter)</a:t>
            </a:r>
            <a:endParaRPr lang="ru-RU" sz="2200" dirty="0"/>
          </a:p>
        </p:txBody>
      </p:sp>
      <p:sp>
        <p:nvSpPr>
          <p:cNvPr id="5" name="Содержимое 4"/>
          <p:cNvSpPr>
            <a:spLocks noGrp="1"/>
          </p:cNvSpPr>
          <p:nvPr>
            <p:ph idx="1"/>
          </p:nvPr>
        </p:nvSpPr>
        <p:spPr>
          <a:xfrm>
            <a:off x="457200" y="1844824"/>
            <a:ext cx="8229600" cy="4320480"/>
          </a:xfrm>
        </p:spPr>
        <p:txBody>
          <a:bodyPr>
            <a:normAutofit fontScale="70000" lnSpcReduction="20000"/>
          </a:bodyPr>
          <a:lstStyle/>
          <a:p>
            <a:r>
              <a:rPr lang="ru-RU" dirty="0" smtClean="0">
                <a:hlinkClick r:id="rId2"/>
              </a:rPr>
              <a:t>Закон Деметры</a:t>
            </a:r>
            <a:r>
              <a:rPr lang="ru-RU" dirty="0" smtClean="0"/>
              <a:t> запрещает использование неявных зависимостей: "</a:t>
            </a:r>
            <a:r>
              <a:rPr lang="ru-RU" i="1" dirty="0" smtClean="0"/>
              <a:t>Объект A не должен иметь возможность получить непосредственный доступ к объекту C, если у объекта A есть доступ к объекту B и у объекта B есть доступ к объекту C</a:t>
            </a:r>
            <a:r>
              <a:rPr lang="ru-RU" dirty="0" smtClean="0"/>
              <a:t>".</a:t>
            </a:r>
          </a:p>
          <a:p>
            <a:r>
              <a:rPr lang="ru-RU" dirty="0" smtClean="0"/>
              <a:t>Это означает, что все зависимости в коде должны быть «явными» — классы/модули могут использовать в работе только «свои зависимости» и не должны лезть через них к другим. Кратко этот принцип формулируют еще таким образом: "</a:t>
            </a:r>
            <a:r>
              <a:rPr lang="ru-RU" i="1" dirty="0" smtClean="0"/>
              <a:t>Взаимодействуй только с непосредственными друзьями, а не с друзьями друзей</a:t>
            </a:r>
            <a:r>
              <a:rPr lang="ru-RU" dirty="0" smtClean="0"/>
              <a:t>". Тем самым достигается меньшая связанность кода, а также большая наглядность и прозрачность его дизайна.</a:t>
            </a:r>
            <a:endParaRPr lang="ru-RU"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smtClean="0"/>
              <a:t>Как ослаблять связанность между </a:t>
            </a:r>
            <a:r>
              <a:rPr lang="ru-RU" sz="3600" dirty="0" smtClean="0"/>
              <a:t>модулями. </a:t>
            </a:r>
            <a:r>
              <a:rPr lang="ru-RU" dirty="0" smtClean="0"/>
              <a:t>Композиция вместо наследования</a:t>
            </a:r>
            <a:endParaRPr lang="ru-RU" sz="2200" dirty="0"/>
          </a:p>
        </p:txBody>
      </p:sp>
      <p:sp>
        <p:nvSpPr>
          <p:cNvPr id="5" name="Содержимое 4"/>
          <p:cNvSpPr>
            <a:spLocks noGrp="1"/>
          </p:cNvSpPr>
          <p:nvPr>
            <p:ph idx="1"/>
          </p:nvPr>
        </p:nvSpPr>
        <p:spPr>
          <a:xfrm>
            <a:off x="457200" y="1844824"/>
            <a:ext cx="8229600" cy="4320480"/>
          </a:xfrm>
        </p:spPr>
        <p:txBody>
          <a:bodyPr>
            <a:normAutofit fontScale="77500" lnSpcReduction="20000"/>
          </a:bodyPr>
          <a:lstStyle/>
          <a:p>
            <a:r>
              <a:rPr lang="ru-RU" dirty="0" smtClean="0"/>
              <a:t>Одну из самых сильных связей между объектами дает наследование, поэтому, по возможности, его следует избегать и заменять композицией. Эта тема хорошо раскрыта в статье Герба </a:t>
            </a:r>
            <a:r>
              <a:rPr lang="ru-RU" dirty="0" err="1" smtClean="0"/>
              <a:t>Саттера</a:t>
            </a:r>
            <a:r>
              <a:rPr lang="ru-RU" dirty="0" smtClean="0"/>
              <a:t> — «</a:t>
            </a:r>
            <a:r>
              <a:rPr lang="ru-RU" dirty="0" smtClean="0">
                <a:hlinkClick r:id="rId2"/>
              </a:rPr>
              <a:t>Предпочитайте композицию наследованию</a:t>
            </a:r>
            <a:r>
              <a:rPr lang="ru-RU" dirty="0" smtClean="0"/>
              <a:t>».</a:t>
            </a:r>
            <a:br>
              <a:rPr lang="ru-RU" dirty="0" smtClean="0"/>
            </a:br>
            <a:r>
              <a:rPr lang="ru-RU" dirty="0" smtClean="0"/>
              <a:t/>
            </a:r>
            <a:br>
              <a:rPr lang="ru-RU" dirty="0" smtClean="0"/>
            </a:br>
            <a:r>
              <a:rPr lang="ru-RU" dirty="0" smtClean="0"/>
              <a:t>Могу только посоветовать в данном контексте обратить внимание на шаблон </a:t>
            </a:r>
            <a:r>
              <a:rPr lang="ru-RU" dirty="0" smtClean="0">
                <a:hlinkClick r:id="rId3"/>
              </a:rPr>
              <a:t>Делегат</a:t>
            </a:r>
            <a:r>
              <a:rPr lang="ru-RU" dirty="0" smtClean="0"/>
              <a:t>(</a:t>
            </a:r>
            <a:r>
              <a:rPr lang="ru-RU" b="1" dirty="0" err="1" smtClean="0"/>
              <a:t>Delegation</a:t>
            </a:r>
            <a:r>
              <a:rPr lang="ru-RU" b="1" dirty="0" smtClean="0"/>
              <a:t>/</a:t>
            </a:r>
            <a:r>
              <a:rPr lang="ru-RU" b="1" dirty="0" err="1" smtClean="0"/>
              <a:t>Delegate</a:t>
            </a:r>
            <a:r>
              <a:rPr lang="ru-RU" dirty="0" smtClean="0"/>
              <a:t>) и пришедший из игр шаблон </a:t>
            </a:r>
            <a:r>
              <a:rPr lang="ru-RU" b="1" dirty="0" err="1" smtClean="0"/>
              <a:t>Компонет</a:t>
            </a:r>
            <a:r>
              <a:rPr lang="ru-RU" dirty="0" smtClean="0"/>
              <a:t> (</a:t>
            </a:r>
            <a:r>
              <a:rPr lang="ru-RU" b="1" dirty="0" err="1" smtClean="0"/>
              <a:t>Component</a:t>
            </a:r>
            <a:r>
              <a:rPr lang="ru-RU" dirty="0" smtClean="0"/>
              <a:t>), который подробно описан в книге «</a:t>
            </a:r>
            <a:r>
              <a:rPr lang="ru-RU" dirty="0" err="1" smtClean="0"/>
              <a:t>Game</a:t>
            </a:r>
            <a:r>
              <a:rPr lang="ru-RU" dirty="0" smtClean="0"/>
              <a:t> </a:t>
            </a:r>
            <a:r>
              <a:rPr lang="ru-RU" dirty="0" err="1" smtClean="0"/>
              <a:t>Programming</a:t>
            </a:r>
            <a:r>
              <a:rPr lang="ru-RU" dirty="0" smtClean="0"/>
              <a:t> </a:t>
            </a:r>
            <a:r>
              <a:rPr lang="ru-RU" dirty="0" err="1" smtClean="0"/>
              <a:t>Patterns</a:t>
            </a:r>
            <a:r>
              <a:rPr lang="ru-RU" dirty="0" smtClean="0"/>
              <a:t>» (соответствующая глава из этой книги на </a:t>
            </a:r>
            <a:r>
              <a:rPr lang="ru-RU" dirty="0" smtClean="0">
                <a:hlinkClick r:id="rId4"/>
              </a:rPr>
              <a:t>английском</a:t>
            </a:r>
            <a:r>
              <a:rPr lang="ru-RU" dirty="0" smtClean="0"/>
              <a:t> и ее </a:t>
            </a:r>
            <a:r>
              <a:rPr lang="ru-RU" dirty="0" smtClean="0">
                <a:hlinkClick r:id="rId5"/>
              </a:rPr>
              <a:t>перевод</a:t>
            </a:r>
            <a:r>
              <a:rPr lang="ru-RU" dirty="0" smtClean="0"/>
              <a:t>).</a:t>
            </a:r>
            <a:br>
              <a:rPr lang="ru-RU" dirty="0" smtClean="0"/>
            </a:br>
            <a:endParaRPr lang="ru-RU"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Single</a:t>
            </a:r>
            <a:r>
              <a:rPr lang="ru-RU" sz="3200" b="1" dirty="0" smtClean="0"/>
              <a:t> </a:t>
            </a:r>
            <a:r>
              <a:rPr lang="ru-RU" sz="3200" b="1" dirty="0" err="1" smtClean="0"/>
              <a:t>Responsibility</a:t>
            </a:r>
            <a:r>
              <a:rPr lang="ru-RU" sz="3200" b="1" dirty="0" smtClean="0"/>
              <a:t> </a:t>
            </a:r>
            <a:r>
              <a:rPr lang="ru-RU" sz="3200" b="1" dirty="0" err="1" smtClean="0"/>
              <a:t>Principle</a:t>
            </a:r>
            <a:r>
              <a:rPr lang="ru-RU" sz="3200" b="1" dirty="0" smtClean="0"/>
              <a:t> (принцип единственной обязанности)</a:t>
            </a:r>
            <a:endParaRPr lang="ru-RU" sz="2200" dirty="0"/>
          </a:p>
        </p:txBody>
      </p:sp>
      <p:sp>
        <p:nvSpPr>
          <p:cNvPr id="5" name="Содержимое 4"/>
          <p:cNvSpPr>
            <a:spLocks noGrp="1"/>
          </p:cNvSpPr>
          <p:nvPr>
            <p:ph idx="1"/>
          </p:nvPr>
        </p:nvSpPr>
        <p:spPr>
          <a:xfrm>
            <a:off x="457200" y="1844824"/>
            <a:ext cx="8229600" cy="4320480"/>
          </a:xfrm>
        </p:spPr>
        <p:txBody>
          <a:bodyPr>
            <a:normAutofit/>
          </a:bodyPr>
          <a:lstStyle/>
          <a:p>
            <a:r>
              <a:rPr lang="ru-RU" i="1" dirty="0" smtClean="0"/>
              <a:t>Не должно существовать более одного мотива для изменения данного класса</a:t>
            </a:r>
            <a:r>
              <a:rPr lang="ru-RU" i="1" dirty="0" smtClean="0"/>
              <a:t>.</a:t>
            </a:r>
            <a:endParaRPr lang="ru-RU"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Single</a:t>
            </a:r>
            <a:r>
              <a:rPr lang="ru-RU" sz="3200" b="1" dirty="0" smtClean="0"/>
              <a:t> </a:t>
            </a:r>
            <a:r>
              <a:rPr lang="ru-RU" sz="3200" b="1" dirty="0" err="1" smtClean="0"/>
              <a:t>Responsibility</a:t>
            </a:r>
            <a:r>
              <a:rPr lang="ru-RU" sz="3200" b="1" dirty="0" smtClean="0"/>
              <a:t> </a:t>
            </a:r>
            <a:r>
              <a:rPr lang="ru-RU" sz="3200" b="1" dirty="0" err="1" smtClean="0"/>
              <a:t>Principle</a:t>
            </a:r>
            <a:r>
              <a:rPr lang="ru-RU" sz="3200" b="1" dirty="0" smtClean="0"/>
              <a:t> (принцип единственной обязанности)</a:t>
            </a:r>
            <a:endParaRPr lang="ru-RU" sz="2200" dirty="0"/>
          </a:p>
        </p:txBody>
      </p:sp>
      <p:sp>
        <p:nvSpPr>
          <p:cNvPr id="5" name="Содержимое 4"/>
          <p:cNvSpPr>
            <a:spLocks noGrp="1"/>
          </p:cNvSpPr>
          <p:nvPr>
            <p:ph idx="1"/>
          </p:nvPr>
        </p:nvSpPr>
        <p:spPr>
          <a:xfrm>
            <a:off x="457200" y="1844824"/>
            <a:ext cx="8229600" cy="4320480"/>
          </a:xfrm>
        </p:spPr>
        <p:txBody>
          <a:bodyPr>
            <a:normAutofit fontScale="77500" lnSpcReduction="20000"/>
          </a:bodyPr>
          <a:lstStyle/>
          <a:p>
            <a:pPr>
              <a:buNone/>
            </a:pPr>
            <a:r>
              <a:rPr lang="en-US" dirty="0" smtClean="0"/>
              <a:t>class Account : </a:t>
            </a:r>
            <a:r>
              <a:rPr lang="en-US" dirty="0" err="1" smtClean="0"/>
              <a:t>ActiveRecord</a:t>
            </a:r>
            <a:endParaRPr lang="ru-RU" dirty="0" smtClean="0"/>
          </a:p>
          <a:p>
            <a:pPr>
              <a:buNone/>
            </a:pPr>
            <a:r>
              <a:rPr lang="en-US" dirty="0" smtClean="0"/>
              <a:t>{</a:t>
            </a:r>
            <a:endParaRPr lang="ru-RU" dirty="0" smtClean="0"/>
          </a:p>
          <a:p>
            <a:pPr>
              <a:buNone/>
            </a:pPr>
            <a:r>
              <a:rPr lang="en-US" dirty="0" smtClean="0"/>
              <a:t>    public </a:t>
            </a:r>
            <a:r>
              <a:rPr lang="en-US" dirty="0" err="1" smtClean="0"/>
              <a:t>Guid</a:t>
            </a:r>
            <a:r>
              <a:rPr lang="en-US" dirty="0" smtClean="0"/>
              <a:t> Id{ get{ ... } }</a:t>
            </a:r>
            <a:endParaRPr lang="ru-RU" dirty="0" smtClean="0"/>
          </a:p>
          <a:p>
            <a:pPr>
              <a:buNone/>
            </a:pPr>
            <a:r>
              <a:rPr lang="en-US" dirty="0" smtClean="0"/>
              <a:t>    public string Number { get{ ... } }</a:t>
            </a:r>
            <a:endParaRPr lang="ru-RU" dirty="0" smtClean="0"/>
          </a:p>
          <a:p>
            <a:pPr>
              <a:buNone/>
            </a:pPr>
            <a:r>
              <a:rPr lang="en-US" dirty="0" smtClean="0"/>
              <a:t>    public decimal </a:t>
            </a:r>
            <a:r>
              <a:rPr lang="en-US" dirty="0" err="1" smtClean="0"/>
              <a:t>CurrentBallance</a:t>
            </a:r>
            <a:r>
              <a:rPr lang="en-US" dirty="0" smtClean="0"/>
              <a:t> { get { ... } }</a:t>
            </a:r>
            <a:endParaRPr lang="ru-RU" dirty="0" smtClean="0"/>
          </a:p>
          <a:p>
            <a:pPr>
              <a:buNone/>
            </a:pPr>
            <a:r>
              <a:rPr lang="en-US" dirty="0" smtClean="0"/>
              <a:t>    public void Deposit(decimal amount){ ... }</a:t>
            </a:r>
            <a:endParaRPr lang="ru-RU" dirty="0" smtClean="0"/>
          </a:p>
          <a:p>
            <a:pPr>
              <a:buNone/>
            </a:pPr>
            <a:r>
              <a:rPr lang="en-US" dirty="0" smtClean="0"/>
              <a:t>    public void Withdraw(decimal amount){ ... }   </a:t>
            </a:r>
            <a:endParaRPr lang="ru-RU" dirty="0" smtClean="0"/>
          </a:p>
          <a:p>
            <a:pPr>
              <a:buNone/>
            </a:pPr>
            <a:r>
              <a:rPr lang="en-US" dirty="0" smtClean="0"/>
              <a:t>    public void Transfer(decimal amount, Account recipient){ ... }</a:t>
            </a:r>
            <a:endParaRPr lang="ru-RU" dirty="0" smtClean="0"/>
          </a:p>
          <a:p>
            <a:pPr>
              <a:buNone/>
            </a:pPr>
            <a:r>
              <a:rPr lang="en-US" dirty="0" smtClean="0"/>
              <a:t>    public </a:t>
            </a:r>
            <a:r>
              <a:rPr lang="en-US" dirty="0" err="1" smtClean="0"/>
              <a:t>TaxTable</a:t>
            </a:r>
            <a:r>
              <a:rPr lang="en-US" dirty="0" smtClean="0"/>
              <a:t> </a:t>
            </a:r>
            <a:r>
              <a:rPr lang="en-US" dirty="0" err="1" smtClean="0"/>
              <a:t>CalculateTaxes</a:t>
            </a:r>
            <a:r>
              <a:rPr lang="en-US" dirty="0" smtClean="0"/>
              <a:t>(</a:t>
            </a:r>
            <a:r>
              <a:rPr lang="en-US" dirty="0" err="1" smtClean="0"/>
              <a:t>int</a:t>
            </a:r>
            <a:r>
              <a:rPr lang="en-US" dirty="0" smtClean="0"/>
              <a:t> year){ ... }</a:t>
            </a:r>
            <a:endParaRPr lang="ru-RU" dirty="0" smtClean="0"/>
          </a:p>
          <a:p>
            <a:pPr>
              <a:buNone/>
            </a:pPr>
            <a:r>
              <a:rPr lang="ru-RU" dirty="0" smtClean="0"/>
              <a:t>}</a:t>
            </a:r>
            <a:r>
              <a:rPr lang="ru-RU" i="1" dirty="0" smtClean="0"/>
              <a:t>.</a:t>
            </a:r>
            <a:endParaRPr lang="ru-RU"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Single</a:t>
            </a:r>
            <a:r>
              <a:rPr lang="ru-RU" sz="3200" b="1" dirty="0" smtClean="0"/>
              <a:t> </a:t>
            </a:r>
            <a:r>
              <a:rPr lang="ru-RU" sz="3200" b="1" dirty="0" err="1" smtClean="0"/>
              <a:t>Responsibility</a:t>
            </a:r>
            <a:r>
              <a:rPr lang="ru-RU" sz="3200" b="1" dirty="0" smtClean="0"/>
              <a:t> </a:t>
            </a:r>
            <a:r>
              <a:rPr lang="ru-RU" sz="3200" b="1" dirty="0" err="1" smtClean="0"/>
              <a:t>Principle</a:t>
            </a:r>
            <a:r>
              <a:rPr lang="ru-RU" sz="3200" b="1" dirty="0" smtClean="0"/>
              <a:t> (принцип единственной обязанности)</a:t>
            </a:r>
            <a:endParaRPr lang="ru-RU" sz="2200" dirty="0"/>
          </a:p>
        </p:txBody>
      </p:sp>
      <p:sp>
        <p:nvSpPr>
          <p:cNvPr id="5" name="Содержимое 4"/>
          <p:cNvSpPr>
            <a:spLocks noGrp="1"/>
          </p:cNvSpPr>
          <p:nvPr>
            <p:ph idx="1"/>
          </p:nvPr>
        </p:nvSpPr>
        <p:spPr>
          <a:xfrm>
            <a:off x="457200" y="1556792"/>
            <a:ext cx="8229600" cy="5301208"/>
          </a:xfrm>
        </p:spPr>
        <p:txBody>
          <a:bodyPr>
            <a:normAutofit fontScale="55000" lnSpcReduction="20000"/>
          </a:bodyPr>
          <a:lstStyle/>
          <a:p>
            <a:pPr>
              <a:buNone/>
            </a:pPr>
            <a:r>
              <a:rPr lang="ru-RU" dirty="0" err="1" smtClean="0"/>
              <a:t>class</a:t>
            </a:r>
            <a:r>
              <a:rPr lang="ru-RU" dirty="0" smtClean="0"/>
              <a:t> </a:t>
            </a:r>
            <a:r>
              <a:rPr lang="ru-RU" dirty="0" err="1" smtClean="0"/>
              <a:t>Account</a:t>
            </a:r>
            <a:endParaRPr lang="ru-RU" dirty="0" smtClean="0"/>
          </a:p>
          <a:p>
            <a:pPr>
              <a:buNone/>
            </a:pPr>
            <a:r>
              <a:rPr lang="ru-RU" dirty="0" smtClean="0"/>
              <a:t>{</a:t>
            </a:r>
          </a:p>
          <a:p>
            <a:pPr>
              <a:buNone/>
            </a:pPr>
            <a:r>
              <a:rPr lang="ru-RU" dirty="0" smtClean="0"/>
              <a:t>    </a:t>
            </a:r>
            <a:r>
              <a:rPr lang="ru-RU" dirty="0" err="1" smtClean="0"/>
              <a:t>public</a:t>
            </a:r>
            <a:r>
              <a:rPr lang="ru-RU" dirty="0" smtClean="0"/>
              <a:t> </a:t>
            </a:r>
            <a:r>
              <a:rPr lang="ru-RU" dirty="0" err="1" smtClean="0"/>
              <a:t>string</a:t>
            </a:r>
            <a:r>
              <a:rPr lang="ru-RU" dirty="0" smtClean="0"/>
              <a:t> </a:t>
            </a:r>
            <a:r>
              <a:rPr lang="ru-RU" dirty="0" err="1" smtClean="0"/>
              <a:t>Number</a:t>
            </a:r>
            <a:r>
              <a:rPr lang="ru-RU" dirty="0" smtClean="0"/>
              <a:t> { </a:t>
            </a:r>
            <a:r>
              <a:rPr lang="ru-RU" dirty="0" err="1" smtClean="0"/>
              <a:t>get</a:t>
            </a:r>
            <a:r>
              <a:rPr lang="ru-RU" dirty="0" smtClean="0"/>
              <a:t>{ ... } </a:t>
            </a:r>
            <a:r>
              <a:rPr lang="en-US" dirty="0" smtClean="0"/>
              <a:t>}</a:t>
            </a:r>
            <a:endParaRPr lang="ru-RU" dirty="0" smtClean="0"/>
          </a:p>
          <a:p>
            <a:pPr>
              <a:buNone/>
            </a:pPr>
            <a:r>
              <a:rPr lang="en-US" dirty="0" smtClean="0"/>
              <a:t>    public decimal </a:t>
            </a:r>
            <a:r>
              <a:rPr lang="en-US" dirty="0" err="1" smtClean="0"/>
              <a:t>CurrentBallance</a:t>
            </a:r>
            <a:r>
              <a:rPr lang="en-US" dirty="0" smtClean="0"/>
              <a:t> { get { ... } }</a:t>
            </a:r>
            <a:endParaRPr lang="ru-RU" dirty="0" smtClean="0"/>
          </a:p>
          <a:p>
            <a:pPr>
              <a:buNone/>
            </a:pPr>
            <a:r>
              <a:rPr lang="en-US" dirty="0" smtClean="0"/>
              <a:t>    public void Deposit(decimal amount){ ... }</a:t>
            </a:r>
            <a:endParaRPr lang="ru-RU" dirty="0" smtClean="0"/>
          </a:p>
          <a:p>
            <a:pPr>
              <a:buNone/>
            </a:pPr>
            <a:r>
              <a:rPr lang="en-US" dirty="0" smtClean="0"/>
              <a:t>    public void Withdraw(decimal amount){ ... }</a:t>
            </a:r>
            <a:endParaRPr lang="ru-RU" dirty="0" smtClean="0"/>
          </a:p>
          <a:p>
            <a:pPr>
              <a:buNone/>
            </a:pPr>
            <a:r>
              <a:rPr lang="en-US" dirty="0" smtClean="0"/>
              <a:t>    public void Transfer(decimal amount, Account recipient){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AccountRepository</a:t>
            </a:r>
            <a:endParaRPr lang="ru-RU" dirty="0" smtClean="0"/>
          </a:p>
          <a:p>
            <a:pPr>
              <a:buNone/>
            </a:pPr>
            <a:r>
              <a:rPr lang="en-US" dirty="0" smtClean="0"/>
              <a:t>{</a:t>
            </a:r>
            <a:endParaRPr lang="ru-RU" dirty="0" smtClean="0"/>
          </a:p>
          <a:p>
            <a:pPr>
              <a:buNone/>
            </a:pPr>
            <a:r>
              <a:rPr lang="en-US" dirty="0" smtClean="0"/>
              <a:t>    public Account </a:t>
            </a:r>
            <a:r>
              <a:rPr lang="en-US" dirty="0" err="1" smtClean="0"/>
              <a:t>GetByNumber</a:t>
            </a:r>
            <a:r>
              <a:rPr lang="en-US" dirty="0" smtClean="0"/>
              <a:t>(string number){ ... }</a:t>
            </a:r>
            <a:endParaRPr lang="ru-RU" dirty="0" smtClean="0"/>
          </a:p>
          <a:p>
            <a:pPr>
              <a:buNone/>
            </a:pPr>
            <a:r>
              <a:rPr lang="en-US" dirty="0" smtClean="0"/>
              <a:t>    public void Save(Account acc){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TaxCalculator</a:t>
            </a:r>
            <a:endParaRPr lang="ru-RU" dirty="0" smtClean="0"/>
          </a:p>
          <a:p>
            <a:pPr>
              <a:buNone/>
            </a:pPr>
            <a:r>
              <a:rPr lang="en-US" dirty="0" smtClean="0"/>
              <a:t>{</a:t>
            </a:r>
            <a:endParaRPr lang="ru-RU" dirty="0" smtClean="0"/>
          </a:p>
          <a:p>
            <a:pPr>
              <a:buNone/>
            </a:pPr>
            <a:r>
              <a:rPr lang="en-US" dirty="0" smtClean="0"/>
              <a:t>    public </a:t>
            </a:r>
            <a:r>
              <a:rPr lang="en-US" dirty="0" err="1" smtClean="0"/>
              <a:t>TaxTable</a:t>
            </a:r>
            <a:r>
              <a:rPr lang="en-US" dirty="0" smtClean="0"/>
              <a:t> </a:t>
            </a:r>
            <a:r>
              <a:rPr lang="en-US" dirty="0" err="1" smtClean="0"/>
              <a:t>CalculateTaxes</a:t>
            </a:r>
            <a:r>
              <a:rPr lang="en-US" dirty="0" smtClean="0"/>
              <a:t>(Account acc, </a:t>
            </a:r>
            <a:r>
              <a:rPr lang="en-US" dirty="0" err="1" smtClean="0"/>
              <a:t>int</a:t>
            </a:r>
            <a:r>
              <a:rPr lang="en-US" dirty="0" smtClean="0"/>
              <a:t> year){ ... }</a:t>
            </a:r>
            <a:endParaRPr lang="ru-RU" dirty="0" smtClean="0"/>
          </a:p>
          <a:p>
            <a:pPr>
              <a:buNone/>
            </a:pPr>
            <a:r>
              <a:rPr lang="ru-RU" dirty="0" smtClean="0"/>
              <a:t>}</a:t>
            </a:r>
            <a:endParaRPr lang="ru-RU"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Single</a:t>
            </a:r>
            <a:r>
              <a:rPr lang="ru-RU" sz="3200" b="1" dirty="0" smtClean="0"/>
              <a:t> </a:t>
            </a:r>
            <a:r>
              <a:rPr lang="ru-RU" sz="3200" b="1" dirty="0" err="1" smtClean="0"/>
              <a:t>Responsibility</a:t>
            </a:r>
            <a:r>
              <a:rPr lang="ru-RU" sz="3200" b="1" dirty="0" smtClean="0"/>
              <a:t> </a:t>
            </a:r>
            <a:r>
              <a:rPr lang="ru-RU" sz="3200" b="1" dirty="0" err="1" smtClean="0"/>
              <a:t>Principle</a:t>
            </a:r>
            <a:r>
              <a:rPr lang="ru-RU" sz="3200" b="1" dirty="0" smtClean="0"/>
              <a:t> (принцип единственной обязанности)</a:t>
            </a:r>
            <a:endParaRPr lang="ru-RU" sz="2200" dirty="0"/>
          </a:p>
        </p:txBody>
      </p:sp>
      <p:sp>
        <p:nvSpPr>
          <p:cNvPr id="5" name="Содержимое 4"/>
          <p:cNvSpPr>
            <a:spLocks noGrp="1"/>
          </p:cNvSpPr>
          <p:nvPr>
            <p:ph idx="1"/>
          </p:nvPr>
        </p:nvSpPr>
        <p:spPr>
          <a:xfrm>
            <a:off x="457200" y="1556792"/>
            <a:ext cx="8229600" cy="5301208"/>
          </a:xfrm>
        </p:spPr>
        <p:txBody>
          <a:bodyPr>
            <a:normAutofit/>
          </a:bodyPr>
          <a:lstStyle/>
          <a:p>
            <a:r>
              <a:rPr lang="ru-RU" dirty="0" smtClean="0"/>
              <a:t>А сложность в применении данного принципа заключается в том, что прежде всего нужно научиться правильно чувствовать границы его использования. Ведь даже в приведенном примере мы превратили паттерн </a:t>
            </a:r>
            <a:r>
              <a:rPr lang="ru-RU" dirty="0" err="1" smtClean="0"/>
              <a:t>Active</a:t>
            </a:r>
            <a:r>
              <a:rPr lang="ru-RU" dirty="0" smtClean="0"/>
              <a:t> </a:t>
            </a:r>
            <a:r>
              <a:rPr lang="ru-RU" dirty="0" err="1" smtClean="0"/>
              <a:t>Record</a:t>
            </a:r>
            <a:r>
              <a:rPr lang="ru-RU" dirty="0" smtClean="0"/>
              <a:t> в </a:t>
            </a:r>
            <a:r>
              <a:rPr lang="ru-RU" dirty="0" err="1" smtClean="0"/>
              <a:t>антипаттерн</a:t>
            </a:r>
            <a:r>
              <a:rPr lang="ru-RU" dirty="0" smtClean="0"/>
              <a:t>, разом перечеркнув все примеры его успешного применения.</a:t>
            </a:r>
            <a:endParaRPr lang="ru-RU"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Open</a:t>
            </a:r>
            <a:r>
              <a:rPr lang="ru-RU" sz="3200" b="1" dirty="0" smtClean="0"/>
              <a:t>/</a:t>
            </a:r>
            <a:r>
              <a:rPr lang="ru-RU" sz="3200" b="1" dirty="0" err="1" smtClean="0"/>
              <a:t>Closed</a:t>
            </a:r>
            <a:r>
              <a:rPr lang="ru-RU" sz="3200" b="1" dirty="0" smtClean="0"/>
              <a:t> </a:t>
            </a:r>
            <a:r>
              <a:rPr lang="ru-RU" sz="3200" b="1" dirty="0" err="1" smtClean="0"/>
              <a:t>Principle</a:t>
            </a:r>
            <a:r>
              <a:rPr lang="ru-RU" sz="3200" b="1" dirty="0" smtClean="0"/>
              <a:t> (принцип открытия/закрытия)</a:t>
            </a:r>
            <a:endParaRPr lang="ru-RU" sz="2200" dirty="0"/>
          </a:p>
        </p:txBody>
      </p:sp>
      <p:sp>
        <p:nvSpPr>
          <p:cNvPr id="5" name="Содержимое 4"/>
          <p:cNvSpPr>
            <a:spLocks noGrp="1"/>
          </p:cNvSpPr>
          <p:nvPr>
            <p:ph idx="1"/>
          </p:nvPr>
        </p:nvSpPr>
        <p:spPr>
          <a:xfrm>
            <a:off x="457200" y="1556792"/>
            <a:ext cx="8229600" cy="5301208"/>
          </a:xfrm>
        </p:spPr>
        <p:txBody>
          <a:bodyPr>
            <a:normAutofit lnSpcReduction="10000"/>
          </a:bodyPr>
          <a:lstStyle/>
          <a:p>
            <a:r>
              <a:rPr lang="ru-RU" i="1" dirty="0" smtClean="0"/>
              <a:t>Объекты проектирования (классы, функции, модули и т.д.) должны быть открыты для расширения, но закрыты для модификации</a:t>
            </a:r>
            <a:r>
              <a:rPr lang="ru-RU" i="1" dirty="0" smtClean="0"/>
              <a:t>.</a:t>
            </a:r>
          </a:p>
          <a:p>
            <a:endParaRPr lang="ru-RU" i="1" dirty="0" smtClean="0"/>
          </a:p>
          <a:p>
            <a:r>
              <a:rPr lang="ru-RU" dirty="0" smtClean="0"/>
              <a:t>Другими словами, нужно избегать случаев, когда появление новых требований к функциональности влечет за собой модификацию существующей логики, стараясь реализовать возможность ее расширения.</a:t>
            </a:r>
          </a:p>
          <a:p>
            <a:endParaRPr lang="ru-RU"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Open</a:t>
            </a:r>
            <a:r>
              <a:rPr lang="ru-RU" sz="3200" b="1" dirty="0" smtClean="0"/>
              <a:t>/</a:t>
            </a:r>
            <a:r>
              <a:rPr lang="ru-RU" sz="3200" b="1" dirty="0" err="1" smtClean="0"/>
              <a:t>Closed</a:t>
            </a:r>
            <a:r>
              <a:rPr lang="ru-RU" sz="3200" b="1" dirty="0" smtClean="0"/>
              <a:t> </a:t>
            </a:r>
            <a:r>
              <a:rPr lang="ru-RU" sz="3200" b="1" dirty="0" err="1" smtClean="0"/>
              <a:t>Principle</a:t>
            </a:r>
            <a:r>
              <a:rPr lang="ru-RU" sz="3200" b="1" dirty="0" smtClean="0"/>
              <a:t> (принцип открытия/закрытия)</a:t>
            </a:r>
            <a:endParaRPr lang="ru-RU" sz="2200" dirty="0"/>
          </a:p>
        </p:txBody>
      </p:sp>
      <p:sp>
        <p:nvSpPr>
          <p:cNvPr id="5" name="Содержимое 4"/>
          <p:cNvSpPr>
            <a:spLocks noGrp="1"/>
          </p:cNvSpPr>
          <p:nvPr>
            <p:ph idx="1"/>
          </p:nvPr>
        </p:nvSpPr>
        <p:spPr>
          <a:xfrm>
            <a:off x="457200" y="1556792"/>
            <a:ext cx="8229600" cy="5301208"/>
          </a:xfrm>
        </p:spPr>
        <p:txBody>
          <a:bodyPr>
            <a:normAutofit fontScale="70000" lnSpcReduction="20000"/>
          </a:bodyPr>
          <a:lstStyle/>
          <a:p>
            <a:pPr>
              <a:buNone/>
            </a:pPr>
            <a:r>
              <a:rPr lang="en-US" dirty="0" smtClean="0"/>
              <a:t>class </a:t>
            </a:r>
            <a:r>
              <a:rPr lang="en-US" dirty="0" err="1" smtClean="0"/>
              <a:t>LogViewer</a:t>
            </a:r>
            <a:endParaRPr lang="ru-RU" dirty="0" smtClean="0"/>
          </a:p>
          <a:p>
            <a:pPr>
              <a:buNone/>
            </a:pPr>
            <a:r>
              <a:rPr lang="en-US" dirty="0" smtClean="0"/>
              <a:t>{</a:t>
            </a:r>
            <a:endParaRPr lang="ru-RU" dirty="0" smtClean="0"/>
          </a:p>
          <a:p>
            <a:pPr>
              <a:buNone/>
            </a:pPr>
            <a:r>
              <a:rPr lang="en-US" dirty="0" smtClean="0"/>
              <a:t>    public </a:t>
            </a:r>
            <a:r>
              <a:rPr lang="en-US" dirty="0" err="1" smtClean="0"/>
              <a:t>IEnumerable</a:t>
            </a:r>
            <a:r>
              <a:rPr lang="en-US" dirty="0" smtClean="0"/>
              <a:t>&lt;Transaction&gt; </a:t>
            </a:r>
            <a:r>
              <a:rPr lang="en-US" dirty="0" err="1" smtClean="0"/>
              <a:t>GetByDate</a:t>
            </a:r>
            <a:r>
              <a:rPr lang="en-US" dirty="0" smtClean="0"/>
              <a:t>(</a:t>
            </a:r>
            <a:r>
              <a:rPr lang="en-US" dirty="0" err="1" smtClean="0"/>
              <a:t>DateTime</a:t>
            </a:r>
            <a:r>
              <a:rPr lang="en-US" dirty="0" smtClean="0"/>
              <a:t> </a:t>
            </a:r>
            <a:r>
              <a:rPr lang="en-US" dirty="0" err="1" smtClean="0"/>
              <a:t>dateTime</a:t>
            </a:r>
            <a:r>
              <a:rPr lang="en-US" dirty="0" smtClean="0"/>
              <a:t>){ ... }</a:t>
            </a:r>
            <a:endParaRPr lang="ru-RU" dirty="0" smtClean="0"/>
          </a:p>
          <a:p>
            <a:pPr>
              <a:buNone/>
            </a:pPr>
            <a:r>
              <a:rPr lang="ru-RU" dirty="0" smtClean="0"/>
              <a:t>}</a:t>
            </a:r>
          </a:p>
          <a:p>
            <a:pPr>
              <a:buNone/>
            </a:pPr>
            <a:endParaRPr lang="ru-RU" dirty="0" smtClean="0"/>
          </a:p>
          <a:p>
            <a:pPr>
              <a:buNone/>
            </a:pPr>
            <a:endParaRPr lang="ru-RU" dirty="0" smtClean="0"/>
          </a:p>
          <a:p>
            <a:pPr>
              <a:buNone/>
            </a:pPr>
            <a:endParaRPr lang="ru-RU" dirty="0" smtClean="0"/>
          </a:p>
          <a:p>
            <a:pPr>
              <a:buNone/>
            </a:pPr>
            <a:r>
              <a:rPr lang="ru-RU" dirty="0" err="1" smtClean="0"/>
              <a:t>class</a:t>
            </a:r>
            <a:r>
              <a:rPr lang="ru-RU" dirty="0" smtClean="0"/>
              <a:t> </a:t>
            </a:r>
            <a:r>
              <a:rPr lang="ru-RU" dirty="0" err="1" smtClean="0"/>
              <a:t>LogViewer</a:t>
            </a:r>
            <a:endParaRPr lang="ru-RU" dirty="0" smtClean="0"/>
          </a:p>
          <a:p>
            <a:pPr>
              <a:buNone/>
            </a:pPr>
            <a:r>
              <a:rPr lang="ru-RU" dirty="0" smtClean="0"/>
              <a:t>{</a:t>
            </a:r>
          </a:p>
          <a:p>
            <a:pPr>
              <a:buNone/>
            </a:pPr>
            <a:r>
              <a:rPr lang="ru-RU" dirty="0" smtClean="0"/>
              <a:t>    </a:t>
            </a:r>
            <a:r>
              <a:rPr lang="en-US" dirty="0" smtClean="0"/>
              <a:t>public </a:t>
            </a:r>
            <a:r>
              <a:rPr lang="en-US" dirty="0" err="1" smtClean="0"/>
              <a:t>IEnumerable</a:t>
            </a:r>
            <a:r>
              <a:rPr lang="en-US" dirty="0" smtClean="0"/>
              <a:t>&lt;Transaction&gt; </a:t>
            </a:r>
            <a:r>
              <a:rPr lang="en-US" dirty="0" err="1" smtClean="0"/>
              <a:t>GetByDate</a:t>
            </a:r>
            <a:r>
              <a:rPr lang="en-US" dirty="0" smtClean="0"/>
              <a:t>(</a:t>
            </a:r>
            <a:r>
              <a:rPr lang="en-US" dirty="0" err="1" smtClean="0"/>
              <a:t>DateTime</a:t>
            </a:r>
            <a:r>
              <a:rPr lang="en-US" dirty="0" smtClean="0"/>
              <a:t> </a:t>
            </a:r>
            <a:r>
              <a:rPr lang="en-US" dirty="0" err="1" smtClean="0"/>
              <a:t>dateTime</a:t>
            </a:r>
            <a:r>
              <a:rPr lang="en-US" dirty="0" smtClean="0"/>
              <a:t>){ ... }</a:t>
            </a:r>
            <a:endParaRPr lang="ru-RU" dirty="0" smtClean="0"/>
          </a:p>
          <a:p>
            <a:pPr>
              <a:buNone/>
            </a:pPr>
            <a:r>
              <a:rPr lang="en-US" dirty="0" smtClean="0"/>
              <a:t>    public </a:t>
            </a:r>
            <a:r>
              <a:rPr lang="en-US" dirty="0" err="1" smtClean="0"/>
              <a:t>IEnumerable</a:t>
            </a:r>
            <a:r>
              <a:rPr lang="en-US" dirty="0" smtClean="0"/>
              <a:t>&lt;Transaction&gt; </a:t>
            </a:r>
            <a:r>
              <a:rPr lang="en-US" dirty="0" err="1" smtClean="0"/>
              <a:t>GetByUser</a:t>
            </a:r>
            <a:r>
              <a:rPr lang="en-US" dirty="0" smtClean="0"/>
              <a:t>(string name){ ... }</a:t>
            </a:r>
            <a:endParaRPr lang="ru-RU" dirty="0" smtClean="0"/>
          </a:p>
          <a:p>
            <a:pPr>
              <a:buNone/>
            </a:pPr>
            <a:r>
              <a:rPr lang="en-US" dirty="0" smtClean="0"/>
              <a:t>    public </a:t>
            </a:r>
            <a:r>
              <a:rPr lang="en-US" dirty="0" err="1" smtClean="0"/>
              <a:t>IEnumerable</a:t>
            </a:r>
            <a:r>
              <a:rPr lang="en-US" dirty="0" smtClean="0"/>
              <a:t>&lt;Transaction&gt; </a:t>
            </a:r>
            <a:r>
              <a:rPr lang="en-US" dirty="0" err="1" smtClean="0"/>
              <a:t>GetByDateAndUser</a:t>
            </a:r>
            <a:r>
              <a:rPr lang="en-US" dirty="0" smtClean="0"/>
              <a:t>(</a:t>
            </a:r>
            <a:r>
              <a:rPr lang="en-US" dirty="0" err="1" smtClean="0"/>
              <a:t>DateTime</a:t>
            </a:r>
            <a:r>
              <a:rPr lang="en-US" dirty="0" smtClean="0"/>
              <a:t> </a:t>
            </a:r>
            <a:r>
              <a:rPr lang="en-US" dirty="0" err="1" smtClean="0"/>
              <a:t>dateTime</a:t>
            </a:r>
            <a:r>
              <a:rPr lang="en-US" dirty="0" smtClean="0"/>
              <a:t>, string name){ ... }</a:t>
            </a:r>
            <a:endParaRPr lang="ru-RU" dirty="0" smtClean="0"/>
          </a:p>
          <a:p>
            <a:pPr>
              <a:buNone/>
            </a:pPr>
            <a:r>
              <a:rPr lang="ru-RU" dirty="0" smtClean="0"/>
              <a:t>}</a:t>
            </a:r>
          </a:p>
          <a:p>
            <a:pPr>
              <a:buNone/>
            </a:pPr>
            <a:endParaRPr lang="ru-RU" dirty="0"/>
          </a:p>
        </p:txBody>
      </p:sp>
      <p:sp>
        <p:nvSpPr>
          <p:cNvPr id="4" name="Стрелка вниз 3"/>
          <p:cNvSpPr/>
          <p:nvPr/>
        </p:nvSpPr>
        <p:spPr>
          <a:xfrm>
            <a:off x="4211960" y="2708920"/>
            <a:ext cx="792088" cy="12961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Open</a:t>
            </a:r>
            <a:r>
              <a:rPr lang="ru-RU" sz="3200" b="1" dirty="0" smtClean="0"/>
              <a:t>/</a:t>
            </a:r>
            <a:r>
              <a:rPr lang="ru-RU" sz="3200" b="1" dirty="0" err="1" smtClean="0"/>
              <a:t>Closed</a:t>
            </a:r>
            <a:r>
              <a:rPr lang="ru-RU" sz="3200" b="1" dirty="0" smtClean="0"/>
              <a:t> </a:t>
            </a:r>
            <a:r>
              <a:rPr lang="ru-RU" sz="3200" b="1" dirty="0" err="1" smtClean="0"/>
              <a:t>Principle</a:t>
            </a:r>
            <a:r>
              <a:rPr lang="ru-RU" sz="3200" b="1" dirty="0" smtClean="0"/>
              <a:t> (принцип открытия/закрытия)</a:t>
            </a:r>
            <a:endParaRPr lang="ru-RU" sz="2200" dirty="0"/>
          </a:p>
        </p:txBody>
      </p:sp>
      <p:sp>
        <p:nvSpPr>
          <p:cNvPr id="5" name="Содержимое 4"/>
          <p:cNvSpPr>
            <a:spLocks noGrp="1"/>
          </p:cNvSpPr>
          <p:nvPr>
            <p:ph idx="1"/>
          </p:nvPr>
        </p:nvSpPr>
        <p:spPr>
          <a:xfrm>
            <a:off x="457200" y="1556792"/>
            <a:ext cx="8229600" cy="5301208"/>
          </a:xfrm>
        </p:spPr>
        <p:txBody>
          <a:bodyPr numCol="2">
            <a:normAutofit fontScale="47500" lnSpcReduction="20000"/>
          </a:bodyPr>
          <a:lstStyle/>
          <a:p>
            <a:pPr>
              <a:buNone/>
            </a:pPr>
            <a:r>
              <a:rPr lang="en-US" dirty="0" smtClean="0"/>
              <a:t>class </a:t>
            </a:r>
            <a:r>
              <a:rPr lang="en-US" dirty="0" err="1" smtClean="0"/>
              <a:t>LogViewer</a:t>
            </a:r>
            <a:endParaRPr lang="ru-RU" dirty="0" smtClean="0"/>
          </a:p>
          <a:p>
            <a:pPr>
              <a:buNone/>
            </a:pPr>
            <a:r>
              <a:rPr lang="en-US" dirty="0" smtClean="0"/>
              <a:t>{</a:t>
            </a:r>
            <a:endParaRPr lang="ru-RU" dirty="0" smtClean="0"/>
          </a:p>
          <a:p>
            <a:pPr>
              <a:buNone/>
            </a:pPr>
            <a:r>
              <a:rPr lang="en-US" dirty="0" smtClean="0"/>
              <a:t>    public </a:t>
            </a:r>
            <a:r>
              <a:rPr lang="en-US" dirty="0" err="1" smtClean="0"/>
              <a:t>IEnumerable</a:t>
            </a:r>
            <a:r>
              <a:rPr lang="en-US" dirty="0" smtClean="0"/>
              <a:t>&lt;Transaction&gt; </a:t>
            </a:r>
            <a:r>
              <a:rPr lang="en-US" dirty="0" err="1" smtClean="0"/>
              <a:t>GetTransaction</a:t>
            </a:r>
            <a:r>
              <a:rPr lang="en-US" dirty="0" smtClean="0"/>
              <a:t>(</a:t>
            </a:r>
            <a:r>
              <a:rPr lang="en-US" dirty="0" err="1" smtClean="0"/>
              <a:t>GetSpecification</a:t>
            </a:r>
            <a:r>
              <a:rPr lang="en-US" dirty="0" smtClean="0"/>
              <a:t> spec){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abstract class </a:t>
            </a:r>
            <a:r>
              <a:rPr lang="en-US" dirty="0" err="1" smtClean="0"/>
              <a:t>GetSpecification</a:t>
            </a:r>
            <a:endParaRPr lang="ru-RU" dirty="0" smtClean="0"/>
          </a:p>
          <a:p>
            <a:pPr>
              <a:buNone/>
            </a:pPr>
            <a:r>
              <a:rPr lang="en-US" dirty="0" smtClean="0"/>
              <a:t>{</a:t>
            </a:r>
            <a:endParaRPr lang="ru-RU" dirty="0" smtClean="0"/>
          </a:p>
          <a:p>
            <a:pPr>
              <a:buNone/>
            </a:pPr>
            <a:r>
              <a:rPr lang="en-US" dirty="0" smtClean="0"/>
              <a:t>    public </a:t>
            </a:r>
            <a:r>
              <a:rPr lang="en-US" dirty="0" err="1" smtClean="0"/>
              <a:t>GetSpecification</a:t>
            </a:r>
            <a:r>
              <a:rPr lang="en-US" dirty="0" smtClean="0"/>
              <a:t> </a:t>
            </a:r>
            <a:r>
              <a:rPr lang="en-US" dirty="0" err="1" smtClean="0"/>
              <a:t>CombineWith</a:t>
            </a:r>
            <a:r>
              <a:rPr lang="en-US" dirty="0" smtClean="0"/>
              <a:t>(</a:t>
            </a:r>
            <a:r>
              <a:rPr lang="en-US" dirty="0" err="1" smtClean="0"/>
              <a:t>GetSpecification</a:t>
            </a:r>
            <a:r>
              <a:rPr lang="en-US" dirty="0" smtClean="0"/>
              <a:t> </a:t>
            </a:r>
            <a:r>
              <a:rPr lang="en-US" dirty="0" err="1" smtClean="0"/>
              <a:t>nextSpec</a:t>
            </a:r>
            <a:r>
              <a:rPr lang="en-US" dirty="0" smtClean="0"/>
              <a:t>){ ... }</a:t>
            </a:r>
            <a:endParaRPr lang="ru-RU" dirty="0" smtClean="0"/>
          </a:p>
          <a:p>
            <a:pPr>
              <a:buNone/>
            </a:pPr>
            <a:r>
              <a:rPr lang="en-US" dirty="0" smtClean="0"/>
              <a: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GetByDateSpecification</a:t>
            </a:r>
            <a:r>
              <a:rPr lang="en-US" dirty="0" smtClean="0"/>
              <a:t> : </a:t>
            </a:r>
            <a:r>
              <a:rPr lang="en-US" dirty="0" err="1" smtClean="0"/>
              <a:t>GetSpecification</a:t>
            </a:r>
            <a:endParaRPr lang="ru-RU" dirty="0" smtClean="0"/>
          </a:p>
          <a:p>
            <a:pPr>
              <a:buNone/>
            </a:pPr>
            <a:r>
              <a:rPr lang="en-US" dirty="0" smtClean="0"/>
              <a:t>{</a:t>
            </a:r>
            <a:endParaRPr lang="ru-RU" dirty="0" smtClean="0"/>
          </a:p>
          <a:p>
            <a:pPr>
              <a:buNone/>
            </a:pPr>
            <a:r>
              <a:rPr lang="en-US" dirty="0" smtClean="0"/>
              <a: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GetByUserSpecification</a:t>
            </a:r>
            <a:r>
              <a:rPr lang="en-US" dirty="0" smtClean="0"/>
              <a:t> : </a:t>
            </a:r>
            <a:r>
              <a:rPr lang="en-US" dirty="0" err="1" smtClean="0"/>
              <a:t>GetSpecification</a:t>
            </a:r>
            <a:endParaRPr lang="ru-RU" dirty="0" smtClean="0"/>
          </a:p>
          <a:p>
            <a:pPr>
              <a:buNone/>
            </a:pPr>
            <a:r>
              <a:rPr lang="en-US" dirty="0" smtClean="0"/>
              <a:t>{</a:t>
            </a:r>
            <a:endParaRPr lang="ru-RU" dirty="0" smtClean="0"/>
          </a:p>
          <a:p>
            <a:pPr>
              <a:buNone/>
            </a:pPr>
            <a:r>
              <a:rPr lang="en-US" dirty="0" smtClean="0"/>
              <a: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 </a:t>
            </a:r>
            <a:r>
              <a:rPr lang="ru-RU" dirty="0" smtClean="0"/>
              <a:t>Пример использования</a:t>
            </a:r>
          </a:p>
          <a:p>
            <a:pPr>
              <a:buNone/>
            </a:pPr>
            <a:r>
              <a:rPr lang="en-US" dirty="0" smtClean="0"/>
              <a:t>class Client</a:t>
            </a:r>
            <a:endParaRPr lang="ru-RU" dirty="0" smtClean="0"/>
          </a:p>
          <a:p>
            <a:pPr>
              <a:buNone/>
            </a:pPr>
            <a:r>
              <a:rPr lang="en-US" dirty="0" smtClean="0"/>
              <a:t>{</a:t>
            </a:r>
            <a:endParaRPr lang="ru-RU" dirty="0" smtClean="0"/>
          </a:p>
          <a:p>
            <a:pPr>
              <a:buNone/>
            </a:pPr>
            <a:r>
              <a:rPr lang="en-US" dirty="0" smtClean="0"/>
              <a:t>    public void </a:t>
            </a:r>
            <a:r>
              <a:rPr lang="en-US" dirty="0" err="1" smtClean="0"/>
              <a:t>ShowLog</a:t>
            </a:r>
            <a:r>
              <a:rPr lang="en-US" dirty="0" smtClean="0"/>
              <a:t>()</a:t>
            </a:r>
            <a:endParaRPr lang="ru-RU" dirty="0" smtClean="0"/>
          </a:p>
          <a:p>
            <a:pPr>
              <a:buNone/>
            </a:pPr>
            <a:r>
              <a:rPr lang="en-US" dirty="0" smtClean="0"/>
              <a:t>    {</a:t>
            </a:r>
            <a:endParaRPr lang="ru-RU" dirty="0" smtClean="0"/>
          </a:p>
          <a:p>
            <a:pPr>
              <a:buNone/>
            </a:pPr>
            <a:r>
              <a:rPr lang="en-US" dirty="0" smtClean="0"/>
              <a:t>        </a:t>
            </a:r>
            <a:r>
              <a:rPr lang="en-US" dirty="0" err="1" smtClean="0"/>
              <a:t>var</a:t>
            </a:r>
            <a:r>
              <a:rPr lang="en-US" dirty="0" smtClean="0"/>
              <a:t> viewer = new </a:t>
            </a:r>
            <a:r>
              <a:rPr lang="en-US" dirty="0" err="1" smtClean="0"/>
              <a:t>LogViewer</a:t>
            </a:r>
            <a:r>
              <a:rPr lang="en-US" dirty="0" smtClean="0"/>
              <a:t>();</a:t>
            </a:r>
            <a:endParaRPr lang="ru-RU" dirty="0" smtClean="0"/>
          </a:p>
          <a:p>
            <a:pPr>
              <a:buNone/>
            </a:pPr>
            <a:r>
              <a:rPr lang="en-US" dirty="0" smtClean="0"/>
              <a:t>        </a:t>
            </a:r>
            <a:r>
              <a:rPr lang="en-US" dirty="0" err="1" smtClean="0"/>
              <a:t>var</a:t>
            </a:r>
            <a:r>
              <a:rPr lang="en-US" dirty="0" smtClean="0"/>
              <a:t> transactions = </a:t>
            </a:r>
            <a:r>
              <a:rPr lang="en-US" dirty="0" err="1" smtClean="0"/>
              <a:t>viewer.GetTransaction</a:t>
            </a:r>
            <a:r>
              <a:rPr lang="en-US" dirty="0" smtClean="0"/>
              <a:t>(</a:t>
            </a:r>
            <a:endParaRPr lang="ru-RU" dirty="0" smtClean="0"/>
          </a:p>
          <a:p>
            <a:pPr>
              <a:buNone/>
            </a:pPr>
            <a:r>
              <a:rPr lang="en-US" dirty="0" smtClean="0"/>
              <a:t>            new </a:t>
            </a:r>
            <a:r>
              <a:rPr lang="en-US" dirty="0" err="1" smtClean="0"/>
              <a:t>GetByDateSpecification</a:t>
            </a:r>
            <a:r>
              <a:rPr lang="en-US" dirty="0" smtClean="0"/>
              <a:t>()</a:t>
            </a:r>
            <a:endParaRPr lang="ru-RU" dirty="0" smtClean="0"/>
          </a:p>
          <a:p>
            <a:pPr>
              <a:buNone/>
            </a:pPr>
            <a:r>
              <a:rPr lang="en-US" dirty="0" smtClean="0"/>
              <a:t>            .</a:t>
            </a:r>
            <a:r>
              <a:rPr lang="en-US" dirty="0" err="1" smtClean="0"/>
              <a:t>CombineWith</a:t>
            </a:r>
            <a:r>
              <a:rPr lang="en-US" dirty="0" smtClean="0"/>
              <a:t>(new </a:t>
            </a:r>
            <a:r>
              <a:rPr lang="en-US" dirty="0" err="1" smtClean="0"/>
              <a:t>GetByUserSpecification</a:t>
            </a:r>
            <a:r>
              <a:rPr lang="en-US" dirty="0" smtClean="0"/>
              <a:t>()));</a:t>
            </a:r>
            <a:endParaRPr lang="ru-RU" dirty="0" smtClean="0"/>
          </a:p>
          <a:p>
            <a:pPr>
              <a:buNone/>
            </a:pPr>
            <a:r>
              <a:rPr lang="en-US" dirty="0" smtClean="0"/>
              <a:t>    </a:t>
            </a:r>
            <a:r>
              <a:rPr lang="ru-RU" dirty="0" smtClean="0"/>
              <a:t>}</a:t>
            </a:r>
          </a:p>
          <a:p>
            <a:pPr>
              <a:buNone/>
            </a:pPr>
            <a:r>
              <a:rPr lang="ru-RU" dirty="0" smtClean="0"/>
              <a:t>}</a:t>
            </a:r>
          </a:p>
          <a:p>
            <a:pPr>
              <a:buNone/>
            </a:pPr>
            <a:endParaRPr lang="ru-RU"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t>Open</a:t>
            </a:r>
            <a:r>
              <a:rPr lang="ru-RU" sz="3200" b="1" dirty="0" smtClean="0"/>
              <a:t>/</a:t>
            </a:r>
            <a:r>
              <a:rPr lang="ru-RU" sz="3200" b="1" dirty="0" err="1" smtClean="0"/>
              <a:t>Closed</a:t>
            </a:r>
            <a:r>
              <a:rPr lang="ru-RU" sz="3200" b="1" dirty="0" smtClean="0"/>
              <a:t> </a:t>
            </a:r>
            <a:r>
              <a:rPr lang="ru-RU" sz="3200" b="1" dirty="0" err="1" smtClean="0"/>
              <a:t>Principle</a:t>
            </a:r>
            <a:r>
              <a:rPr lang="ru-RU" sz="3200" b="1" dirty="0" smtClean="0"/>
              <a:t> (принцип открытия/закрытия)</a:t>
            </a:r>
            <a:endParaRPr lang="ru-RU" sz="2200" dirty="0"/>
          </a:p>
        </p:txBody>
      </p:sp>
      <p:sp>
        <p:nvSpPr>
          <p:cNvPr id="5" name="Содержимое 4"/>
          <p:cNvSpPr>
            <a:spLocks noGrp="1"/>
          </p:cNvSpPr>
          <p:nvPr>
            <p:ph idx="1"/>
          </p:nvPr>
        </p:nvSpPr>
        <p:spPr>
          <a:xfrm>
            <a:off x="457200" y="1556792"/>
            <a:ext cx="8229600" cy="5301208"/>
          </a:xfrm>
        </p:spPr>
        <p:txBody>
          <a:bodyPr>
            <a:normAutofit lnSpcReduction="10000"/>
          </a:bodyPr>
          <a:lstStyle/>
          <a:p>
            <a:r>
              <a:rPr lang="ru-RU" dirty="0" smtClean="0"/>
              <a:t>Объект</a:t>
            </a:r>
            <a:r>
              <a:rPr lang="ru-RU" dirty="0" smtClean="0"/>
              <a:t>, спроектированный по принципу открытия/закрытия обладает следующими атрибутами:</a:t>
            </a:r>
          </a:p>
          <a:p>
            <a:pPr lvl="0"/>
            <a:r>
              <a:rPr lang="ru-RU" dirty="0" smtClean="0"/>
              <a:t>"Открыт для расширения": поведение может быть расширено путем добавления новых объектов, реализующих новые аспекты поведения;</a:t>
            </a:r>
          </a:p>
          <a:p>
            <a:r>
              <a:rPr lang="ru-RU" dirty="0" smtClean="0"/>
              <a:t>"Закрыт для модификации": в результате расширения поведения исходный или двоичный код объекта не может быть изменен.</a:t>
            </a:r>
            <a:endParaRPr lang="ru-RU"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err="1" smtClean="0"/>
              <a:t>Liskov</a:t>
            </a:r>
            <a:r>
              <a:rPr lang="en-US" sz="3200" b="1" dirty="0" smtClean="0"/>
              <a:t> Substitution Principle (</a:t>
            </a:r>
            <a:r>
              <a:rPr lang="ru-RU" sz="3200" b="1" dirty="0" smtClean="0"/>
              <a:t>принцип замещения Лисков</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a:normAutofit fontScale="85000" lnSpcReduction="20000"/>
          </a:bodyPr>
          <a:lstStyle/>
          <a:p>
            <a:r>
              <a:rPr lang="ru-RU" i="1" dirty="0" smtClean="0"/>
              <a:t>Функции, которые используют ссылки на базовые классы, должны иметь возможность использовать объекты производных классов, не зная об этом</a:t>
            </a:r>
            <a:r>
              <a:rPr lang="ru-RU" i="1" dirty="0" smtClean="0"/>
              <a:t>.</a:t>
            </a:r>
          </a:p>
          <a:p>
            <a:endParaRPr lang="ru-RU" i="1" dirty="0" smtClean="0"/>
          </a:p>
          <a:p>
            <a:r>
              <a:rPr lang="ru-RU" dirty="0" smtClean="0"/>
              <a:t>Этот принцип является </a:t>
            </a:r>
            <a:r>
              <a:rPr lang="ru-RU" i="1" dirty="0" smtClean="0"/>
              <a:t>важнейшим</a:t>
            </a:r>
            <a:r>
              <a:rPr lang="ru-RU" dirty="0" smtClean="0"/>
              <a:t> критерием для оценки качества принимаемых решений при построении иерархий наследования. Сформулировать его можно в виде простого правила: тип S будет подтипом Т </a:t>
            </a:r>
            <a:r>
              <a:rPr lang="ru-RU" i="1" dirty="0" smtClean="0"/>
              <a:t>тогда и только тогда</a:t>
            </a:r>
            <a:r>
              <a:rPr lang="ru-RU" dirty="0" smtClean="0"/>
              <a:t>, когда каждому объекту </a:t>
            </a:r>
            <a:r>
              <a:rPr lang="ru-RU" dirty="0" err="1" smtClean="0"/>
              <a:t>oS</a:t>
            </a:r>
            <a:r>
              <a:rPr lang="ru-RU" dirty="0" smtClean="0"/>
              <a:t> типа S соответствует некий объект </a:t>
            </a:r>
            <a:r>
              <a:rPr lang="ru-RU" dirty="0" err="1" smtClean="0"/>
              <a:t>oT</a:t>
            </a:r>
            <a:r>
              <a:rPr lang="ru-RU" dirty="0" smtClean="0"/>
              <a:t> типа T таким образом, что для всех программ P, реализованных в терминах T, поведение P не будет меняться, если </a:t>
            </a:r>
            <a:r>
              <a:rPr lang="ru-RU" dirty="0" err="1" smtClean="0"/>
              <a:t>oT</a:t>
            </a:r>
            <a:r>
              <a:rPr lang="ru-RU" dirty="0" smtClean="0"/>
              <a:t> заменить на </a:t>
            </a:r>
            <a:r>
              <a:rPr lang="ru-RU" dirty="0" err="1" smtClean="0"/>
              <a:t>oS</a:t>
            </a:r>
            <a:r>
              <a:rPr lang="ru-RU" dirty="0" smtClean="0"/>
              <a:t>.</a:t>
            </a:r>
            <a:endParaRPr lang="ru-RU"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err="1" smtClean="0"/>
              <a:t>Liskov</a:t>
            </a:r>
            <a:r>
              <a:rPr lang="en-US" sz="3200" b="1" dirty="0" smtClean="0"/>
              <a:t> Substitution Principle (</a:t>
            </a:r>
            <a:r>
              <a:rPr lang="ru-RU" sz="3200" b="1" dirty="0" smtClean="0"/>
              <a:t>принцип замещения Лисков</a:t>
            </a:r>
            <a:r>
              <a:rPr lang="en-US" sz="3200" b="1" dirty="0" smtClean="0"/>
              <a:t>)</a:t>
            </a:r>
            <a:endParaRPr lang="ru-RU" sz="2200" dirty="0"/>
          </a:p>
        </p:txBody>
      </p:sp>
      <p:sp>
        <p:nvSpPr>
          <p:cNvPr id="5" name="Содержимое 4"/>
          <p:cNvSpPr>
            <a:spLocks noGrp="1"/>
          </p:cNvSpPr>
          <p:nvPr>
            <p:ph idx="1"/>
          </p:nvPr>
        </p:nvSpPr>
        <p:spPr>
          <a:xfrm>
            <a:off x="457200" y="1412776"/>
            <a:ext cx="8229600" cy="5445224"/>
          </a:xfrm>
        </p:spPr>
        <p:txBody>
          <a:bodyPr numCol="2">
            <a:normAutofit fontScale="40000" lnSpcReduction="20000"/>
          </a:bodyPr>
          <a:lstStyle/>
          <a:p>
            <a:pPr>
              <a:buNone/>
            </a:pPr>
            <a:r>
              <a:rPr lang="en-US" dirty="0" smtClean="0"/>
              <a:t>class Rectangle</a:t>
            </a:r>
            <a:endParaRPr lang="ru-RU" dirty="0" smtClean="0"/>
          </a:p>
          <a:p>
            <a:pPr>
              <a:buNone/>
            </a:pPr>
            <a:r>
              <a:rPr lang="en-US" dirty="0" smtClean="0"/>
              <a:t>{</a:t>
            </a:r>
            <a:endParaRPr lang="ru-RU" dirty="0" smtClean="0"/>
          </a:p>
          <a:p>
            <a:pPr>
              <a:buNone/>
            </a:pPr>
            <a:r>
              <a:rPr lang="en-US" dirty="0" smtClean="0"/>
              <a:t>    public virtual </a:t>
            </a:r>
            <a:r>
              <a:rPr lang="en-US" dirty="0" err="1" smtClean="0"/>
              <a:t>int</a:t>
            </a:r>
            <a:r>
              <a:rPr lang="en-US" dirty="0" smtClean="0"/>
              <a:t> Width { get; set; }</a:t>
            </a:r>
            <a:endParaRPr lang="ru-RU" dirty="0" smtClean="0"/>
          </a:p>
          <a:p>
            <a:pPr>
              <a:buNone/>
            </a:pPr>
            <a:r>
              <a:rPr lang="en-US" dirty="0" smtClean="0"/>
              <a:t>    public virtual </a:t>
            </a:r>
            <a:r>
              <a:rPr lang="en-US" dirty="0" err="1" smtClean="0"/>
              <a:t>int</a:t>
            </a:r>
            <a:r>
              <a:rPr lang="en-US" dirty="0" smtClean="0"/>
              <a:t> Height { get; set; }</a:t>
            </a:r>
            <a:endParaRPr lang="ru-RU" dirty="0" smtClean="0"/>
          </a:p>
          <a:p>
            <a:pPr>
              <a:buNone/>
            </a:pPr>
            <a:r>
              <a:rPr lang="en-US" dirty="0" smtClean="0"/>
              <a:t> </a:t>
            </a:r>
            <a:endParaRPr lang="ru-RU" dirty="0" smtClean="0"/>
          </a:p>
          <a:p>
            <a:pPr>
              <a:buNone/>
            </a:pPr>
            <a:r>
              <a:rPr lang="en-US" dirty="0" smtClean="0"/>
              <a:t>    public </a:t>
            </a:r>
            <a:r>
              <a:rPr lang="en-US" dirty="0" err="1" smtClean="0"/>
              <a:t>int</a:t>
            </a:r>
            <a:r>
              <a:rPr lang="en-US" dirty="0" smtClean="0"/>
              <a:t> </a:t>
            </a:r>
            <a:r>
              <a:rPr lang="en-US" dirty="0" err="1" smtClean="0"/>
              <a:t>CalculateRectangleArea</a:t>
            </a:r>
            <a:r>
              <a:rPr lang="en-US" dirty="0" smtClean="0"/>
              <a:t>()</a:t>
            </a:r>
            <a:endParaRPr lang="ru-RU" dirty="0" smtClean="0"/>
          </a:p>
          <a:p>
            <a:pPr>
              <a:buNone/>
            </a:pPr>
            <a:r>
              <a:rPr lang="en-US" dirty="0" smtClean="0"/>
              <a:t>    {</a:t>
            </a:r>
            <a:endParaRPr lang="ru-RU" dirty="0" smtClean="0"/>
          </a:p>
          <a:p>
            <a:pPr>
              <a:buNone/>
            </a:pPr>
            <a:r>
              <a:rPr lang="en-US" dirty="0" smtClean="0"/>
              <a:t>        return Width*Height;</a:t>
            </a:r>
            <a:endParaRPr lang="ru-RU" dirty="0" smtClean="0"/>
          </a:p>
          <a:p>
            <a:pPr>
              <a:buNone/>
            </a:pPr>
            <a:r>
              <a:rPr lang="en-US" dirty="0" smtClean="0"/>
              <a:t>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Square : Rectangle</a:t>
            </a:r>
            <a:endParaRPr lang="ru-RU" dirty="0" smtClean="0"/>
          </a:p>
          <a:p>
            <a:pPr>
              <a:buNone/>
            </a:pPr>
            <a:r>
              <a:rPr lang="en-US" dirty="0" smtClean="0"/>
              <a:t>{</a:t>
            </a:r>
            <a:endParaRPr lang="ru-RU" dirty="0" smtClean="0"/>
          </a:p>
          <a:p>
            <a:pPr>
              <a:buNone/>
            </a:pPr>
            <a:r>
              <a:rPr lang="en-US" dirty="0" smtClean="0"/>
              <a:t>    public override </a:t>
            </a:r>
            <a:r>
              <a:rPr lang="en-US" dirty="0" err="1" smtClean="0"/>
              <a:t>int</a:t>
            </a:r>
            <a:r>
              <a:rPr lang="en-US" dirty="0" smtClean="0"/>
              <a:t> Height</a:t>
            </a:r>
            <a:endParaRPr lang="ru-RU" dirty="0" smtClean="0"/>
          </a:p>
          <a:p>
            <a:pPr>
              <a:buNone/>
            </a:pPr>
            <a:r>
              <a:rPr lang="en-US" dirty="0" smtClean="0"/>
              <a:t>    {</a:t>
            </a:r>
            <a:endParaRPr lang="ru-RU" dirty="0" smtClean="0"/>
          </a:p>
          <a:p>
            <a:pPr>
              <a:buNone/>
            </a:pPr>
            <a:r>
              <a:rPr lang="en-US" dirty="0" smtClean="0"/>
              <a:t>        get{ return </a:t>
            </a:r>
            <a:r>
              <a:rPr lang="en-US" dirty="0" err="1" smtClean="0"/>
              <a:t>base.Height</a:t>
            </a:r>
            <a:r>
              <a:rPr lang="en-US" dirty="0" smtClean="0"/>
              <a:t>; }</a:t>
            </a:r>
            <a:endParaRPr lang="ru-RU" dirty="0" smtClean="0"/>
          </a:p>
          <a:p>
            <a:pPr>
              <a:buNone/>
            </a:pPr>
            <a:r>
              <a:rPr lang="en-US" dirty="0" smtClean="0"/>
              <a:t>        set</a:t>
            </a:r>
            <a:endParaRPr lang="ru-RU" dirty="0" smtClean="0"/>
          </a:p>
          <a:p>
            <a:pPr>
              <a:buNone/>
            </a:pPr>
            <a:r>
              <a:rPr lang="en-US" dirty="0" smtClean="0"/>
              <a:t>        {</a:t>
            </a:r>
            <a:endParaRPr lang="ru-RU" dirty="0" smtClean="0"/>
          </a:p>
          <a:p>
            <a:pPr>
              <a:buNone/>
            </a:pPr>
            <a:r>
              <a:rPr lang="en-US" dirty="0" smtClean="0"/>
              <a:t>            </a:t>
            </a:r>
            <a:r>
              <a:rPr lang="en-US" dirty="0" err="1" smtClean="0"/>
              <a:t>base.Height</a:t>
            </a:r>
            <a:r>
              <a:rPr lang="en-US" dirty="0" smtClean="0"/>
              <a:t> = value;</a:t>
            </a:r>
            <a:endParaRPr lang="ru-RU" dirty="0" smtClean="0"/>
          </a:p>
          <a:p>
            <a:pPr>
              <a:buNone/>
            </a:pPr>
            <a:r>
              <a:rPr lang="en-US" dirty="0" smtClean="0"/>
              <a:t>            </a:t>
            </a:r>
            <a:r>
              <a:rPr lang="en-US" dirty="0" err="1" smtClean="0"/>
              <a:t>base.Width</a:t>
            </a:r>
            <a:r>
              <a:rPr lang="en-US" dirty="0" smtClean="0"/>
              <a:t> = value;</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a:t>
            </a:r>
            <a:endParaRPr lang="ru-RU" dirty="0" smtClean="0"/>
          </a:p>
          <a:p>
            <a:pPr>
              <a:buNone/>
            </a:pPr>
            <a:endParaRPr lang="ru-RU" dirty="0" smtClean="0"/>
          </a:p>
          <a:p>
            <a:pPr>
              <a:buNone/>
            </a:pPr>
            <a:endParaRPr lang="ru-RU" dirty="0" smtClean="0"/>
          </a:p>
          <a:p>
            <a:pPr>
              <a:buNone/>
            </a:pPr>
            <a:endParaRPr lang="ru-RU" dirty="0" smtClean="0"/>
          </a:p>
          <a:p>
            <a:pPr>
              <a:buNone/>
            </a:pPr>
            <a:endParaRPr lang="ru-RU" dirty="0" smtClean="0"/>
          </a:p>
          <a:p>
            <a:pPr>
              <a:buNone/>
            </a:pPr>
            <a:r>
              <a:rPr lang="en-US" dirty="0" smtClean="0"/>
              <a:t>    public override </a:t>
            </a:r>
            <a:r>
              <a:rPr lang="en-US" dirty="0" err="1" smtClean="0"/>
              <a:t>int</a:t>
            </a:r>
            <a:r>
              <a:rPr lang="en-US" dirty="0" smtClean="0"/>
              <a:t> Width</a:t>
            </a:r>
            <a:endParaRPr lang="ru-RU" dirty="0" smtClean="0"/>
          </a:p>
          <a:p>
            <a:pPr>
              <a:buNone/>
            </a:pPr>
            <a:r>
              <a:rPr lang="en-US" dirty="0" smtClean="0"/>
              <a:t>    {</a:t>
            </a:r>
            <a:endParaRPr lang="ru-RU" dirty="0" smtClean="0"/>
          </a:p>
          <a:p>
            <a:pPr>
              <a:buNone/>
            </a:pPr>
            <a:r>
              <a:rPr lang="en-US" dirty="0" smtClean="0"/>
              <a:t>        get{ return </a:t>
            </a:r>
            <a:r>
              <a:rPr lang="en-US" dirty="0" err="1" smtClean="0"/>
              <a:t>base.Width</a:t>
            </a:r>
            <a:r>
              <a:rPr lang="en-US" dirty="0" smtClean="0"/>
              <a:t>; }</a:t>
            </a:r>
            <a:endParaRPr lang="ru-RU" dirty="0" smtClean="0"/>
          </a:p>
          <a:p>
            <a:pPr>
              <a:buNone/>
            </a:pPr>
            <a:r>
              <a:rPr lang="en-US" dirty="0" smtClean="0"/>
              <a:t>        set</a:t>
            </a:r>
            <a:endParaRPr lang="ru-RU" dirty="0" smtClean="0"/>
          </a:p>
          <a:p>
            <a:pPr>
              <a:buNone/>
            </a:pPr>
            <a:r>
              <a:rPr lang="en-US" dirty="0" smtClean="0"/>
              <a:t>        {</a:t>
            </a:r>
            <a:endParaRPr lang="ru-RU" dirty="0" smtClean="0"/>
          </a:p>
          <a:p>
            <a:pPr>
              <a:buNone/>
            </a:pPr>
            <a:r>
              <a:rPr lang="en-US" dirty="0" smtClean="0"/>
              <a:t>            </a:t>
            </a:r>
            <a:r>
              <a:rPr lang="en-US" dirty="0" err="1" smtClean="0"/>
              <a:t>base.Width</a:t>
            </a:r>
            <a:r>
              <a:rPr lang="en-US" dirty="0" smtClean="0"/>
              <a:t> = value;</a:t>
            </a:r>
            <a:endParaRPr lang="ru-RU" dirty="0" smtClean="0"/>
          </a:p>
          <a:p>
            <a:pPr>
              <a:buNone/>
            </a:pPr>
            <a:r>
              <a:rPr lang="en-US" dirty="0" smtClean="0"/>
              <a:t>            </a:t>
            </a:r>
            <a:r>
              <a:rPr lang="en-US" dirty="0" err="1" smtClean="0"/>
              <a:t>base.Height</a:t>
            </a:r>
            <a:r>
              <a:rPr lang="en-US" dirty="0" smtClean="0"/>
              <a:t> = value;</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Program</a:t>
            </a:r>
            <a:endParaRPr lang="ru-RU" dirty="0" smtClean="0"/>
          </a:p>
          <a:p>
            <a:pPr>
              <a:buNone/>
            </a:pPr>
            <a:r>
              <a:rPr lang="en-US" dirty="0" smtClean="0"/>
              <a:t>{</a:t>
            </a:r>
            <a:endParaRPr lang="ru-RU" dirty="0" smtClean="0"/>
          </a:p>
          <a:p>
            <a:pPr>
              <a:buNone/>
            </a:pPr>
            <a:r>
              <a:rPr lang="en-US" dirty="0" smtClean="0"/>
              <a:t>    private static Rectangle </a:t>
            </a:r>
            <a:r>
              <a:rPr lang="en-US" dirty="0" err="1" smtClean="0"/>
              <a:t>CreateRecatgle</a:t>
            </a:r>
            <a:r>
              <a:rPr lang="en-US" dirty="0" smtClean="0"/>
              <a:t>()</a:t>
            </a:r>
            <a:endParaRPr lang="ru-RU" dirty="0" smtClean="0"/>
          </a:p>
          <a:p>
            <a:pPr>
              <a:buNone/>
            </a:pPr>
            <a:r>
              <a:rPr lang="en-US" dirty="0" smtClean="0"/>
              <a:t>    {</a:t>
            </a:r>
            <a:endParaRPr lang="ru-RU" dirty="0" smtClean="0"/>
          </a:p>
          <a:p>
            <a:pPr>
              <a:buNone/>
            </a:pPr>
            <a:r>
              <a:rPr lang="en-US" dirty="0" smtClean="0"/>
              <a:t>        return new Square();</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static void Main()</a:t>
            </a:r>
            <a:endParaRPr lang="ru-RU" dirty="0" smtClean="0"/>
          </a:p>
          <a:p>
            <a:pPr>
              <a:buNone/>
            </a:pPr>
            <a:r>
              <a:rPr lang="en-US" dirty="0" smtClean="0"/>
              <a:t>    {</a:t>
            </a:r>
            <a:endParaRPr lang="ru-RU" dirty="0" smtClean="0"/>
          </a:p>
          <a:p>
            <a:pPr>
              <a:buNone/>
            </a:pPr>
            <a:r>
              <a:rPr lang="en-US" dirty="0" smtClean="0"/>
              <a:t>        Rectangle r = </a:t>
            </a:r>
            <a:r>
              <a:rPr lang="en-US" dirty="0" err="1" smtClean="0"/>
              <a:t>CreateRecatgle</a:t>
            </a:r>
            <a:r>
              <a:rPr lang="en-US" dirty="0" smtClean="0"/>
              <a:t>();</a:t>
            </a:r>
            <a:endParaRPr lang="ru-RU" dirty="0" smtClean="0"/>
          </a:p>
          <a:p>
            <a:pPr>
              <a:buNone/>
            </a:pPr>
            <a:r>
              <a:rPr lang="en-US" dirty="0" smtClean="0"/>
              <a:t>        </a:t>
            </a:r>
            <a:r>
              <a:rPr lang="en-US" dirty="0" err="1" smtClean="0"/>
              <a:t>r.Width</a:t>
            </a:r>
            <a:r>
              <a:rPr lang="en-US" dirty="0" smtClean="0"/>
              <a:t> = 3;</a:t>
            </a:r>
            <a:endParaRPr lang="ru-RU" dirty="0" smtClean="0"/>
          </a:p>
          <a:p>
            <a:pPr>
              <a:buNone/>
            </a:pPr>
            <a:r>
              <a:rPr lang="en-US" dirty="0" smtClean="0"/>
              <a:t>        </a:t>
            </a:r>
            <a:r>
              <a:rPr lang="en-US" dirty="0" err="1" smtClean="0"/>
              <a:t>r.Height</a:t>
            </a:r>
            <a:r>
              <a:rPr lang="en-US" dirty="0" smtClean="0"/>
              <a:t> = 2;</a:t>
            </a:r>
            <a:endParaRPr lang="ru-RU" dirty="0" smtClean="0"/>
          </a:p>
          <a:p>
            <a:pPr>
              <a:buNone/>
            </a:pPr>
            <a:r>
              <a:rPr lang="en-US" dirty="0" smtClean="0"/>
              <a:t> </a:t>
            </a:r>
            <a:endParaRPr lang="ru-RU" dirty="0" smtClean="0"/>
          </a:p>
          <a:p>
            <a:pPr>
              <a:buNone/>
            </a:pPr>
            <a:r>
              <a:rPr lang="en-US" dirty="0" smtClean="0"/>
              <a:t>        </a:t>
            </a:r>
            <a:r>
              <a:rPr lang="en-US" dirty="0" err="1" smtClean="0"/>
              <a:t>Assert.AreEqual</a:t>
            </a:r>
            <a:r>
              <a:rPr lang="en-US" dirty="0" smtClean="0"/>
              <a:t>(6, </a:t>
            </a:r>
            <a:r>
              <a:rPr lang="en-US" dirty="0" err="1" smtClean="0"/>
              <a:t>r.CalculateRectangleArea</a:t>
            </a:r>
            <a:r>
              <a:rPr lang="en-US" dirty="0" smtClean="0"/>
              <a:t>());</a:t>
            </a:r>
            <a:endParaRPr lang="ru-RU" dirty="0" smtClean="0"/>
          </a:p>
          <a:p>
            <a:pPr>
              <a:buNone/>
            </a:pPr>
            <a:r>
              <a:rPr lang="en-US" dirty="0" smtClean="0"/>
              <a:t>    </a:t>
            </a:r>
            <a:r>
              <a:rPr lang="ru-RU" dirty="0" smtClean="0"/>
              <a:t>}</a:t>
            </a:r>
          </a:p>
          <a:p>
            <a:pPr>
              <a:buNone/>
            </a:pPr>
            <a:r>
              <a:rPr lang="ru-RU" dirty="0" smtClean="0"/>
              <a:t>}</a:t>
            </a:r>
            <a:endParaRPr lang="ru-RU"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err="1" smtClean="0"/>
              <a:t>Liskov</a:t>
            </a:r>
            <a:r>
              <a:rPr lang="en-US" sz="3200" b="1" dirty="0" smtClean="0"/>
              <a:t> Substitution Principle (</a:t>
            </a:r>
            <a:r>
              <a:rPr lang="ru-RU" sz="3200" b="1" dirty="0" smtClean="0"/>
              <a:t>принцип замещения Лисков</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a:normAutofit fontScale="85000" lnSpcReduction="10000"/>
          </a:bodyPr>
          <a:lstStyle/>
          <a:p>
            <a:r>
              <a:rPr lang="ru-RU" dirty="0" smtClean="0"/>
              <a:t>Этот пример заставляет задуматься о том, что такое "декларация типа" в терминах объектно-ориентированного языка программирования, который мы используем. Достаточно ли нам описать интерфейс объекта с помощью обычного абстрактного класса со списком методов, типами параметров и возвращаемого значения? Каким образом мы можем декларировать требования к значениям параметров метода и свойства, которыми будет обладать возвращаемое значение? Как нам описать исключения, которые может сгенерировать метод во время выполнения? Как нам описать изменение состояния объекта на разных этапах его жизненного цикла?</a:t>
            </a:r>
            <a:endParaRPr lang="ru-RU"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Interface Segregation Principle (</a:t>
            </a:r>
            <a:r>
              <a:rPr lang="ru-RU" sz="3200" b="1" dirty="0" smtClean="0"/>
              <a:t>принцип изоляции интерфейса</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a:normAutofit/>
          </a:bodyPr>
          <a:lstStyle/>
          <a:p>
            <a:r>
              <a:rPr lang="ru-RU" i="1" dirty="0" smtClean="0"/>
              <a:t>Клиент не должен вынужденно зависеть от элементов интерфейса, которые он не использует.</a:t>
            </a:r>
            <a:endParaRPr lang="ru-RU" dirty="0" smtClean="0"/>
          </a:p>
          <a:p>
            <a:r>
              <a:rPr lang="ru-RU" dirty="0" smtClean="0"/>
              <a:t>Другими словами этот принцип можно сформулировать так: зависимость между классами должна быть ограничена как можно более узким интерфейсом.</a:t>
            </a:r>
            <a:endParaRPr lang="ru-RU"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Interface Segregation Principle (</a:t>
            </a:r>
            <a:r>
              <a:rPr lang="ru-RU" sz="3200" b="1" dirty="0" smtClean="0"/>
              <a:t>принцип изоляции интерфейса</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numCol="2">
            <a:normAutofit fontScale="47500" lnSpcReduction="20000"/>
          </a:bodyPr>
          <a:lstStyle/>
          <a:p>
            <a:pPr>
              <a:buNone/>
            </a:pPr>
            <a:r>
              <a:rPr lang="ru-RU" dirty="0" err="1" smtClean="0"/>
              <a:t>abstract</a:t>
            </a:r>
            <a:r>
              <a:rPr lang="ru-RU" dirty="0" smtClean="0"/>
              <a:t> </a:t>
            </a:r>
            <a:r>
              <a:rPr lang="ru-RU" dirty="0" err="1" smtClean="0"/>
              <a:t>class</a:t>
            </a:r>
            <a:r>
              <a:rPr lang="ru-RU" dirty="0" smtClean="0"/>
              <a:t> </a:t>
            </a:r>
            <a:r>
              <a:rPr lang="ru-RU" dirty="0" err="1" smtClean="0"/>
              <a:t>ServiceClient</a:t>
            </a:r>
            <a:endParaRPr lang="ru-RU" dirty="0" smtClean="0"/>
          </a:p>
          <a:p>
            <a:pPr>
              <a:buNone/>
            </a:pPr>
            <a:r>
              <a:rPr lang="en-US" dirty="0" smtClean="0"/>
              <a:t>{</a:t>
            </a:r>
            <a:endParaRPr lang="ru-RU" dirty="0" smtClean="0"/>
          </a:p>
          <a:p>
            <a:pPr>
              <a:buNone/>
            </a:pPr>
            <a:r>
              <a:rPr lang="en-US" dirty="0" smtClean="0"/>
              <a:t>    public string </a:t>
            </a:r>
            <a:r>
              <a:rPr lang="en-US" dirty="0" err="1" smtClean="0"/>
              <a:t>ServiceUri</a:t>
            </a:r>
            <a:r>
              <a:rPr lang="en-US" dirty="0" smtClean="0"/>
              <a:t>{ get; set; }</a:t>
            </a:r>
            <a:endParaRPr lang="ru-RU" dirty="0" smtClean="0"/>
          </a:p>
          <a:p>
            <a:pPr>
              <a:buNone/>
            </a:pPr>
            <a:r>
              <a:rPr lang="en-US" dirty="0" smtClean="0"/>
              <a:t>    public abstract void </a:t>
            </a:r>
            <a:r>
              <a:rPr lang="en-US" dirty="0" err="1" smtClean="0"/>
              <a:t>SendData</a:t>
            </a:r>
            <a:r>
              <a:rPr lang="en-US" dirty="0" smtClean="0"/>
              <a:t>(object data);</a:t>
            </a:r>
            <a:endParaRPr lang="ru-RU" dirty="0" smtClean="0"/>
          </a:p>
          <a:p>
            <a:pPr>
              <a:buNone/>
            </a:pPr>
            <a:r>
              <a:rPr lang="en-US" dirty="0" smtClean="0"/>
              <a:t>    public abstract void Flush();</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HttpServiceClient</a:t>
            </a:r>
            <a:r>
              <a:rPr lang="en-US" dirty="0" smtClean="0"/>
              <a:t> : </a:t>
            </a:r>
            <a:r>
              <a:rPr lang="en-US" dirty="0" err="1" smtClean="0"/>
              <a:t>ServiceClient</a:t>
            </a:r>
            <a:endParaRPr lang="ru-RU" dirty="0" smtClean="0"/>
          </a:p>
          <a:p>
            <a:pPr>
              <a:buNone/>
            </a:pPr>
            <a:r>
              <a:rPr lang="en-US" dirty="0" smtClean="0"/>
              <a:t>{</a:t>
            </a:r>
            <a:endParaRPr lang="ru-RU" dirty="0" smtClean="0"/>
          </a:p>
          <a:p>
            <a:pPr>
              <a:buNone/>
            </a:pPr>
            <a:r>
              <a:rPr lang="en-US" dirty="0" smtClean="0"/>
              <a:t>    public override void </a:t>
            </a:r>
            <a:r>
              <a:rPr lang="en-US" dirty="0" err="1" smtClean="0"/>
              <a:t>SendData</a:t>
            </a:r>
            <a:r>
              <a:rPr lang="en-US" dirty="0" smtClean="0"/>
              <a:t>(object data)</a:t>
            </a:r>
            <a:endParaRPr lang="ru-RU" dirty="0" smtClean="0"/>
          </a:p>
          <a:p>
            <a:pPr>
              <a:buNone/>
            </a:pPr>
            <a:r>
              <a:rPr lang="en-US" dirty="0" smtClean="0"/>
              <a:t>    {</a:t>
            </a:r>
            <a:endParaRPr lang="ru-RU" dirty="0" smtClean="0"/>
          </a:p>
          <a:p>
            <a:pPr>
              <a:buNone/>
            </a:pPr>
            <a:r>
              <a:rPr lang="en-US" dirty="0" smtClean="0"/>
              <a:t>        </a:t>
            </a:r>
            <a:r>
              <a:rPr lang="en-US" dirty="0" err="1" smtClean="0"/>
              <a:t>var</a:t>
            </a:r>
            <a:r>
              <a:rPr lang="en-US" dirty="0" smtClean="0"/>
              <a:t> channel = </a:t>
            </a:r>
            <a:r>
              <a:rPr lang="en-US" dirty="0" err="1" smtClean="0"/>
              <a:t>OpenChannel</a:t>
            </a:r>
            <a:r>
              <a:rPr lang="en-US" dirty="0" smtClean="0"/>
              <a:t>(</a:t>
            </a:r>
            <a:r>
              <a:rPr lang="en-US" dirty="0" err="1" smtClean="0"/>
              <a:t>ServiceUri</a:t>
            </a:r>
            <a:r>
              <a:rPr lang="en-US" dirty="0" smtClean="0"/>
              <a:t>);</a:t>
            </a:r>
            <a:endParaRPr lang="ru-RU" dirty="0" smtClean="0"/>
          </a:p>
          <a:p>
            <a:pPr>
              <a:buNone/>
            </a:pPr>
            <a:r>
              <a:rPr lang="en-US" dirty="0" smtClean="0"/>
              <a:t>        </a:t>
            </a:r>
            <a:r>
              <a:rPr lang="en-US" dirty="0" err="1" smtClean="0"/>
              <a:t>channel.Send</a:t>
            </a:r>
            <a:r>
              <a:rPr lang="en-US" dirty="0" smtClean="0"/>
              <a:t>(data);</a:t>
            </a:r>
            <a:endParaRPr lang="ru-RU" dirty="0" smtClean="0"/>
          </a:p>
          <a:p>
            <a:pPr>
              <a:buNone/>
            </a:pPr>
            <a:r>
              <a:rPr lang="en-US" dirty="0" smtClean="0"/>
              <a:t>    </a:t>
            </a:r>
            <a:r>
              <a:rPr lang="ru-RU" dirty="0" smtClean="0"/>
              <a:t>}</a:t>
            </a:r>
          </a:p>
          <a:p>
            <a:pPr>
              <a:buNone/>
            </a:pPr>
            <a:r>
              <a:rPr lang="ru-RU" dirty="0" smtClean="0"/>
              <a:t> </a:t>
            </a:r>
          </a:p>
          <a:p>
            <a:pPr>
              <a:buNone/>
            </a:pPr>
            <a:r>
              <a:rPr lang="ru-RU" dirty="0" smtClean="0"/>
              <a:t>    </a:t>
            </a:r>
            <a:r>
              <a:rPr lang="ru-RU" dirty="0" err="1" smtClean="0"/>
              <a:t>public</a:t>
            </a:r>
            <a:r>
              <a:rPr lang="ru-RU" dirty="0" smtClean="0"/>
              <a:t> </a:t>
            </a:r>
            <a:r>
              <a:rPr lang="ru-RU" dirty="0" err="1" smtClean="0"/>
              <a:t>override</a:t>
            </a:r>
            <a:r>
              <a:rPr lang="ru-RU" dirty="0" smtClean="0"/>
              <a:t> </a:t>
            </a:r>
            <a:r>
              <a:rPr lang="ru-RU" dirty="0" err="1" smtClean="0"/>
              <a:t>void</a:t>
            </a:r>
            <a:r>
              <a:rPr lang="ru-RU" dirty="0" smtClean="0"/>
              <a:t> </a:t>
            </a:r>
            <a:r>
              <a:rPr lang="ru-RU" dirty="0" err="1" smtClean="0"/>
              <a:t>Flush</a:t>
            </a:r>
            <a:r>
              <a:rPr lang="ru-RU" dirty="0" smtClean="0"/>
              <a:t>()</a:t>
            </a:r>
          </a:p>
          <a:p>
            <a:pPr>
              <a:buNone/>
            </a:pPr>
            <a:r>
              <a:rPr lang="ru-RU" dirty="0" smtClean="0"/>
              <a:t>    {</a:t>
            </a:r>
          </a:p>
          <a:p>
            <a:pPr>
              <a:buNone/>
            </a:pPr>
            <a:r>
              <a:rPr lang="ru-RU" dirty="0" smtClean="0"/>
              <a:t>        // Метод ничего не делает, но присутствует в классе</a:t>
            </a:r>
          </a:p>
          <a:p>
            <a:pPr>
              <a:buNone/>
            </a:pPr>
            <a:r>
              <a:rPr lang="ru-RU" dirty="0" smtClean="0"/>
              <a:t>    </a:t>
            </a:r>
            <a:r>
              <a:rPr lang="en-US" dirty="0" smtClean="0"/>
              <a:t>}</a:t>
            </a:r>
            <a:endParaRPr lang="ru-RU" dirty="0" smtClean="0"/>
          </a:p>
          <a:p>
            <a:pPr>
              <a:buNone/>
            </a:pPr>
            <a:r>
              <a:rPr lang="en-US" dirty="0" smtClean="0"/>
              <a:t>}</a:t>
            </a:r>
            <a:endParaRPr lang="ru-RU" dirty="0" smtClean="0"/>
          </a:p>
          <a:p>
            <a:pPr>
              <a:buNone/>
            </a:pPr>
            <a:r>
              <a:rPr lang="en-US" dirty="0" smtClean="0"/>
              <a:t> </a:t>
            </a:r>
            <a:endParaRPr lang="ru-RU" dirty="0" smtClean="0"/>
          </a:p>
          <a:p>
            <a:pPr>
              <a:buNone/>
            </a:pPr>
            <a:endParaRPr lang="ru-RU" dirty="0" smtClean="0"/>
          </a:p>
          <a:p>
            <a:pPr>
              <a:buNone/>
            </a:pPr>
            <a:r>
              <a:rPr lang="en-US" dirty="0" smtClean="0"/>
              <a:t>class </a:t>
            </a:r>
            <a:r>
              <a:rPr lang="en-US" dirty="0" err="1" smtClean="0"/>
              <a:t>BufferingHttpServiceClient</a:t>
            </a:r>
            <a:r>
              <a:rPr lang="en-US" dirty="0" smtClean="0"/>
              <a:t> : </a:t>
            </a:r>
            <a:r>
              <a:rPr lang="en-US" dirty="0" err="1" smtClean="0"/>
              <a:t>ServiceClient</a:t>
            </a:r>
            <a:endParaRPr lang="ru-RU" dirty="0" smtClean="0"/>
          </a:p>
          <a:p>
            <a:pPr>
              <a:buNone/>
            </a:pPr>
            <a:r>
              <a:rPr lang="en-US" dirty="0" smtClean="0"/>
              <a:t>{</a:t>
            </a:r>
            <a:endParaRPr lang="ru-RU" dirty="0" smtClean="0"/>
          </a:p>
          <a:p>
            <a:pPr>
              <a:buNone/>
            </a:pPr>
            <a:r>
              <a:rPr lang="en-US" dirty="0" smtClean="0"/>
              <a:t>    public override void </a:t>
            </a:r>
            <a:r>
              <a:rPr lang="en-US" dirty="0" err="1" smtClean="0"/>
              <a:t>SendData</a:t>
            </a:r>
            <a:r>
              <a:rPr lang="en-US" dirty="0" smtClean="0"/>
              <a:t>(object data)</a:t>
            </a:r>
            <a:endParaRPr lang="ru-RU" dirty="0" smtClean="0"/>
          </a:p>
          <a:p>
            <a:pPr>
              <a:buNone/>
            </a:pPr>
            <a:r>
              <a:rPr lang="en-US" dirty="0" smtClean="0"/>
              <a:t>    {</a:t>
            </a:r>
            <a:endParaRPr lang="ru-RU" dirty="0" smtClean="0"/>
          </a:p>
          <a:p>
            <a:pPr>
              <a:buNone/>
            </a:pPr>
            <a:r>
              <a:rPr lang="en-US" dirty="0" smtClean="0"/>
              <a:t>        </a:t>
            </a:r>
            <a:r>
              <a:rPr lang="en-US" dirty="0" err="1" smtClean="0"/>
              <a:t>Buffer.Write</a:t>
            </a:r>
            <a:r>
              <a:rPr lang="en-US" dirty="0" smtClean="0"/>
              <a:t>(data);</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public override void Flush()</a:t>
            </a:r>
            <a:endParaRPr lang="ru-RU" dirty="0" smtClean="0"/>
          </a:p>
          <a:p>
            <a:pPr>
              <a:buNone/>
            </a:pPr>
            <a:r>
              <a:rPr lang="en-US" dirty="0" smtClean="0"/>
              <a:t>    {</a:t>
            </a:r>
            <a:endParaRPr lang="ru-RU" dirty="0" smtClean="0"/>
          </a:p>
          <a:p>
            <a:pPr>
              <a:buNone/>
            </a:pPr>
            <a:r>
              <a:rPr lang="en-US" dirty="0" smtClean="0"/>
              <a:t>        </a:t>
            </a:r>
            <a:r>
              <a:rPr lang="en-US" dirty="0" err="1" smtClean="0"/>
              <a:t>var</a:t>
            </a:r>
            <a:r>
              <a:rPr lang="en-US" dirty="0" smtClean="0"/>
              <a:t> channel = </a:t>
            </a:r>
            <a:r>
              <a:rPr lang="en-US" dirty="0" err="1" smtClean="0"/>
              <a:t>OpenChannel</a:t>
            </a:r>
            <a:r>
              <a:rPr lang="en-US" dirty="0" smtClean="0"/>
              <a:t>(</a:t>
            </a:r>
            <a:r>
              <a:rPr lang="en-US" dirty="0" err="1" smtClean="0"/>
              <a:t>ServiceUri</a:t>
            </a:r>
            <a:r>
              <a:rPr lang="en-US" dirty="0" smtClean="0"/>
              <a:t>);</a:t>
            </a:r>
            <a:endParaRPr lang="ru-RU" dirty="0" smtClean="0"/>
          </a:p>
          <a:p>
            <a:pPr>
              <a:buNone/>
            </a:pPr>
            <a:r>
              <a:rPr lang="en-US" dirty="0" smtClean="0"/>
              <a:t>        </a:t>
            </a:r>
            <a:r>
              <a:rPr lang="en-US" dirty="0" err="1" smtClean="0"/>
              <a:t>channel.Send</a:t>
            </a:r>
            <a:r>
              <a:rPr lang="en-US" dirty="0" smtClean="0"/>
              <a:t>(</a:t>
            </a:r>
            <a:r>
              <a:rPr lang="en-US" dirty="0" err="1" smtClean="0"/>
              <a:t>Buffer.GetAll</a:t>
            </a:r>
            <a:r>
              <a:rPr lang="en-US" dirty="0" smtClean="0"/>
              <a:t>());</a:t>
            </a:r>
            <a:endParaRPr lang="ru-RU" dirty="0" smtClean="0"/>
          </a:p>
          <a:p>
            <a:pPr>
              <a:buNone/>
            </a:pPr>
            <a:r>
              <a:rPr lang="en-US" dirty="0" smtClean="0"/>
              <a:t>    </a:t>
            </a:r>
            <a:r>
              <a:rPr lang="ru-RU" dirty="0" smtClean="0"/>
              <a:t>}</a:t>
            </a:r>
          </a:p>
          <a:p>
            <a:pPr>
              <a:buNone/>
            </a:pPr>
            <a:r>
              <a:rPr lang="ru-RU" dirty="0" smtClean="0"/>
              <a:t>}</a:t>
            </a:r>
          </a:p>
          <a:p>
            <a:endParaRPr lang="ru-RU"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Interface Segregation Principle (</a:t>
            </a:r>
            <a:r>
              <a:rPr lang="ru-RU" sz="3200" b="1" dirty="0" smtClean="0"/>
              <a:t>принцип изоляции интерфейса</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numCol="2">
            <a:normAutofit fontScale="70000" lnSpcReduction="20000"/>
          </a:bodyPr>
          <a:lstStyle/>
          <a:p>
            <a:pPr>
              <a:buNone/>
            </a:pPr>
            <a:r>
              <a:rPr lang="en-US" dirty="0" smtClean="0"/>
              <a:t>abstract class </a:t>
            </a:r>
            <a:r>
              <a:rPr lang="en-US" dirty="0" err="1" smtClean="0"/>
              <a:t>ServiceClient</a:t>
            </a:r>
            <a:endParaRPr lang="ru-RU" dirty="0" smtClean="0"/>
          </a:p>
          <a:p>
            <a:pPr>
              <a:buNone/>
            </a:pPr>
            <a:r>
              <a:rPr lang="en-US" dirty="0" smtClean="0"/>
              <a:t>{</a:t>
            </a:r>
            <a:endParaRPr lang="ru-RU" dirty="0" smtClean="0"/>
          </a:p>
          <a:p>
            <a:pPr>
              <a:buNone/>
            </a:pPr>
            <a:r>
              <a:rPr lang="en-US" dirty="0" smtClean="0"/>
              <a:t>    public string </a:t>
            </a:r>
            <a:r>
              <a:rPr lang="en-US" dirty="0" err="1" smtClean="0"/>
              <a:t>ServiceUri</a:t>
            </a:r>
            <a:r>
              <a:rPr lang="en-US" dirty="0" smtClean="0"/>
              <a:t>{ get; set; }</a:t>
            </a:r>
            <a:endParaRPr lang="ru-RU" dirty="0" smtClean="0"/>
          </a:p>
          <a:p>
            <a:pPr>
              <a:buNone/>
            </a:pPr>
            <a:r>
              <a:rPr lang="en-US" dirty="0" smtClean="0"/>
              <a:t>    public abstract void </a:t>
            </a:r>
            <a:r>
              <a:rPr lang="en-US" dirty="0" err="1" smtClean="0"/>
              <a:t>SendData</a:t>
            </a:r>
            <a:r>
              <a:rPr lang="en-US" dirty="0" smtClean="0"/>
              <a:t>(object data);</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abstract class </a:t>
            </a:r>
            <a:r>
              <a:rPr lang="en-US" dirty="0" err="1" smtClean="0"/>
              <a:t>BufferingServiceClient</a:t>
            </a:r>
            <a:r>
              <a:rPr lang="en-US" dirty="0" smtClean="0"/>
              <a:t> : </a:t>
            </a:r>
            <a:r>
              <a:rPr lang="en-US" dirty="0" err="1" smtClean="0"/>
              <a:t>ServiceClient</a:t>
            </a:r>
            <a:endParaRPr lang="ru-RU" dirty="0" smtClean="0"/>
          </a:p>
          <a:p>
            <a:pPr>
              <a:buNone/>
            </a:pPr>
            <a:r>
              <a:rPr lang="en-US" dirty="0" smtClean="0"/>
              <a:t>{</a:t>
            </a:r>
            <a:endParaRPr lang="ru-RU" dirty="0" smtClean="0"/>
          </a:p>
          <a:p>
            <a:pPr>
              <a:buNone/>
            </a:pPr>
            <a:r>
              <a:rPr lang="en-US" dirty="0" smtClean="0"/>
              <a:t>    public abstract void Flush();</a:t>
            </a:r>
            <a:endParaRPr lang="ru-RU" dirty="0" smtClean="0"/>
          </a:p>
          <a:p>
            <a:pPr>
              <a:buNone/>
            </a:pPr>
            <a:r>
              <a:rPr lang="en-US" dirty="0" smtClean="0"/>
              <a:t>}</a:t>
            </a:r>
            <a:endParaRPr lang="ru-RU" dirty="0" smtClean="0"/>
          </a:p>
          <a:p>
            <a:pPr>
              <a:buNone/>
            </a:pPr>
            <a:r>
              <a:rPr lang="en-US" dirty="0" smtClean="0"/>
              <a:t> </a:t>
            </a:r>
            <a:endParaRPr lang="ru-RU" dirty="0" smtClean="0"/>
          </a:p>
          <a:p>
            <a:pPr>
              <a:buNone/>
            </a:pPr>
            <a:endParaRPr lang="ru-RU" dirty="0" smtClean="0"/>
          </a:p>
          <a:p>
            <a:pPr>
              <a:buNone/>
            </a:pPr>
            <a:r>
              <a:rPr lang="en-US" dirty="0" smtClean="0"/>
              <a:t>class </a:t>
            </a:r>
            <a:r>
              <a:rPr lang="en-US" dirty="0" err="1" smtClean="0"/>
              <a:t>HttpServiceClient</a:t>
            </a:r>
            <a:r>
              <a:rPr lang="en-US" dirty="0" smtClean="0"/>
              <a:t> : </a:t>
            </a:r>
            <a:r>
              <a:rPr lang="en-US" dirty="0" err="1" smtClean="0"/>
              <a:t>ServiceClient</a:t>
            </a:r>
            <a:endParaRPr lang="ru-RU" dirty="0" smtClean="0"/>
          </a:p>
          <a:p>
            <a:pPr>
              <a:buNone/>
            </a:pPr>
            <a:r>
              <a:rPr lang="en-US" dirty="0" smtClean="0"/>
              <a:t>{</a:t>
            </a:r>
            <a:endParaRPr lang="ru-RU" dirty="0" smtClean="0"/>
          </a:p>
          <a:p>
            <a:pPr>
              <a:buNone/>
            </a:pPr>
            <a:r>
              <a:rPr lang="en-US" dirty="0" smtClean="0"/>
              <a:t>    public override void </a:t>
            </a:r>
            <a:r>
              <a:rPr lang="en-US" dirty="0" err="1" smtClean="0"/>
              <a:t>SendData</a:t>
            </a:r>
            <a:r>
              <a:rPr lang="en-US" dirty="0" smtClean="0"/>
              <a:t>(object data){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class </a:t>
            </a:r>
            <a:r>
              <a:rPr lang="en-US" dirty="0" err="1" smtClean="0"/>
              <a:t>BufferingHttpServiceClient</a:t>
            </a:r>
            <a:r>
              <a:rPr lang="en-US" dirty="0" smtClean="0"/>
              <a:t> : </a:t>
            </a:r>
            <a:r>
              <a:rPr lang="en-US" dirty="0" err="1" smtClean="0"/>
              <a:t>BufferingServiceClient</a:t>
            </a:r>
            <a:endParaRPr lang="ru-RU" dirty="0" smtClean="0"/>
          </a:p>
          <a:p>
            <a:pPr>
              <a:buNone/>
            </a:pPr>
            <a:r>
              <a:rPr lang="en-US" dirty="0" smtClean="0"/>
              <a:t>{</a:t>
            </a:r>
            <a:endParaRPr lang="ru-RU" dirty="0" smtClean="0"/>
          </a:p>
          <a:p>
            <a:pPr>
              <a:buNone/>
            </a:pPr>
            <a:r>
              <a:rPr lang="en-US" dirty="0" smtClean="0"/>
              <a:t>    public override void </a:t>
            </a:r>
            <a:r>
              <a:rPr lang="en-US" dirty="0" err="1" smtClean="0"/>
              <a:t>SendData</a:t>
            </a:r>
            <a:r>
              <a:rPr lang="en-US" dirty="0" smtClean="0"/>
              <a:t>(object data){ ... }</a:t>
            </a:r>
            <a:endParaRPr lang="ru-RU" dirty="0" smtClean="0"/>
          </a:p>
          <a:p>
            <a:pPr>
              <a:buNone/>
            </a:pPr>
            <a:r>
              <a:rPr lang="en-US" dirty="0" smtClean="0"/>
              <a:t>    </a:t>
            </a:r>
            <a:r>
              <a:rPr lang="ru-RU" dirty="0" err="1" smtClean="0"/>
              <a:t>public</a:t>
            </a:r>
            <a:r>
              <a:rPr lang="ru-RU" dirty="0" smtClean="0"/>
              <a:t> </a:t>
            </a:r>
            <a:r>
              <a:rPr lang="ru-RU" dirty="0" err="1" smtClean="0"/>
              <a:t>override</a:t>
            </a:r>
            <a:r>
              <a:rPr lang="ru-RU" dirty="0" smtClean="0"/>
              <a:t> </a:t>
            </a:r>
            <a:r>
              <a:rPr lang="ru-RU" dirty="0" err="1" smtClean="0"/>
              <a:t>void</a:t>
            </a:r>
            <a:r>
              <a:rPr lang="ru-RU" dirty="0" smtClean="0"/>
              <a:t> </a:t>
            </a:r>
            <a:r>
              <a:rPr lang="ru-RU" dirty="0" err="1" smtClean="0"/>
              <a:t>Flush</a:t>
            </a:r>
            <a:r>
              <a:rPr lang="ru-RU" dirty="0" smtClean="0"/>
              <a:t>(){ ... }</a:t>
            </a:r>
          </a:p>
          <a:p>
            <a:pPr>
              <a:buNone/>
            </a:pPr>
            <a:r>
              <a:rPr lang="ru-RU" dirty="0" smtClean="0"/>
              <a:t>}</a:t>
            </a:r>
          </a:p>
          <a:p>
            <a:endParaRPr lang="ru-RU"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Dependency Inversion Principle (</a:t>
            </a:r>
            <a:r>
              <a:rPr lang="ru-RU" sz="3200" b="1" dirty="0" smtClean="0"/>
              <a:t>принцип обращения зависимости</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a:normAutofit/>
          </a:bodyPr>
          <a:lstStyle/>
          <a:p>
            <a:r>
              <a:rPr lang="ru-RU" i="1" dirty="0" smtClean="0"/>
              <a:t>Модули верхних уровней не должны зависеть от модулей нижних уровней. Оба типа модулей должны зависеть от абстракций. Абстракции не должны зависеть от деталей. Детали должны зависеть от абстракций.</a:t>
            </a:r>
            <a:r>
              <a:rPr lang="ru-RU" dirty="0" smtClean="0"/>
              <a:t>.</a:t>
            </a:r>
            <a:endParaRPr lang="ru-RU"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Dependency Inversion Principle (</a:t>
            </a:r>
            <a:r>
              <a:rPr lang="ru-RU" sz="3200" b="1" dirty="0" smtClean="0"/>
              <a:t>принцип обращения зависимости</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numCol="2">
            <a:normAutofit fontScale="55000" lnSpcReduction="20000"/>
          </a:bodyPr>
          <a:lstStyle/>
          <a:p>
            <a:pPr>
              <a:buNone/>
            </a:pPr>
            <a:r>
              <a:rPr lang="ru-RU" dirty="0" err="1" smtClean="0"/>
              <a:t>public</a:t>
            </a:r>
            <a:r>
              <a:rPr lang="ru-RU" dirty="0" smtClean="0"/>
              <a:t> </a:t>
            </a:r>
            <a:r>
              <a:rPr lang="ru-RU" dirty="0" err="1" smtClean="0"/>
              <a:t>class</a:t>
            </a:r>
            <a:r>
              <a:rPr lang="ru-RU" dirty="0" smtClean="0"/>
              <a:t> </a:t>
            </a:r>
            <a:r>
              <a:rPr lang="ru-RU" dirty="0" err="1" smtClean="0"/>
              <a:t>OrderProcessor</a:t>
            </a:r>
            <a:endParaRPr lang="ru-RU" dirty="0" smtClean="0"/>
          </a:p>
          <a:p>
            <a:pPr>
              <a:buNone/>
            </a:pPr>
            <a:r>
              <a:rPr lang="en-US" dirty="0" smtClean="0"/>
              <a:t>{</a:t>
            </a:r>
            <a:endParaRPr lang="ru-RU" dirty="0" smtClean="0"/>
          </a:p>
          <a:p>
            <a:pPr>
              <a:buNone/>
            </a:pPr>
            <a:r>
              <a:rPr lang="en-US" dirty="0" smtClean="0"/>
              <a:t>    public decimal </a:t>
            </a:r>
            <a:r>
              <a:rPr lang="en-US" dirty="0" err="1" smtClean="0"/>
              <a:t>CalculateTotal</a:t>
            </a:r>
            <a:r>
              <a:rPr lang="en-US" dirty="0" smtClean="0"/>
              <a:t>(Order </a:t>
            </a:r>
            <a:r>
              <a:rPr lang="en-US" dirty="0" err="1" smtClean="0"/>
              <a:t>order</a:t>
            </a:r>
            <a:r>
              <a:rPr lang="en-US" dirty="0" smtClean="0"/>
              <a:t>)</a:t>
            </a:r>
            <a:endParaRPr lang="ru-RU" dirty="0" smtClean="0"/>
          </a:p>
          <a:p>
            <a:pPr>
              <a:buNone/>
            </a:pPr>
            <a:r>
              <a:rPr lang="en-US" dirty="0" smtClean="0"/>
              <a:t>    {</a:t>
            </a:r>
            <a:endParaRPr lang="ru-RU" dirty="0" smtClean="0"/>
          </a:p>
          <a:p>
            <a:pPr>
              <a:buNone/>
            </a:pPr>
            <a:r>
              <a:rPr lang="en-US" dirty="0" smtClean="0"/>
              <a:t>        decimal </a:t>
            </a:r>
            <a:r>
              <a:rPr lang="en-US" dirty="0" err="1" smtClean="0"/>
              <a:t>itemTotal</a:t>
            </a:r>
            <a:r>
              <a:rPr lang="en-US" dirty="0" smtClean="0"/>
              <a:t> = </a:t>
            </a:r>
            <a:r>
              <a:rPr lang="en-US" dirty="0" err="1" smtClean="0"/>
              <a:t>order.GetItemTotal</a:t>
            </a:r>
            <a:r>
              <a:rPr lang="en-US" dirty="0" smtClean="0"/>
              <a:t>();</a:t>
            </a:r>
            <a:endParaRPr lang="ru-RU" dirty="0" smtClean="0"/>
          </a:p>
          <a:p>
            <a:pPr>
              <a:buNone/>
            </a:pPr>
            <a:r>
              <a:rPr lang="en-US" dirty="0" smtClean="0"/>
              <a:t>        decimal </a:t>
            </a:r>
            <a:r>
              <a:rPr lang="en-US" dirty="0" err="1" smtClean="0"/>
              <a:t>discountAmount</a:t>
            </a:r>
            <a:r>
              <a:rPr lang="en-US" dirty="0" smtClean="0"/>
              <a:t> = </a:t>
            </a:r>
            <a:r>
              <a:rPr lang="en-US" dirty="0" err="1" smtClean="0"/>
              <a:t>DiscountCalculator.CalculateDiscount</a:t>
            </a:r>
            <a:r>
              <a:rPr lang="en-US" dirty="0" smtClean="0"/>
              <a:t>(order);</a:t>
            </a:r>
            <a:endParaRPr lang="ru-RU" dirty="0" smtClean="0"/>
          </a:p>
          <a:p>
            <a:pPr>
              <a:buNone/>
            </a:pPr>
            <a:r>
              <a:rPr lang="en-US" dirty="0" smtClean="0"/>
              <a:t> </a:t>
            </a:r>
            <a:endParaRPr lang="ru-RU" dirty="0" smtClean="0"/>
          </a:p>
          <a:p>
            <a:pPr>
              <a:buNone/>
            </a:pPr>
            <a:r>
              <a:rPr lang="en-US" dirty="0" smtClean="0"/>
              <a:t>        decimal </a:t>
            </a:r>
            <a:r>
              <a:rPr lang="en-US" dirty="0" err="1" smtClean="0"/>
              <a:t>taxAmount</a:t>
            </a:r>
            <a:r>
              <a:rPr lang="en-US" dirty="0" smtClean="0"/>
              <a:t> = 0.0M;</a:t>
            </a:r>
            <a:endParaRPr lang="ru-RU" dirty="0" smtClean="0"/>
          </a:p>
          <a:p>
            <a:pPr>
              <a:buNone/>
            </a:pPr>
            <a:r>
              <a:rPr lang="en-US" dirty="0" smtClean="0"/>
              <a:t> </a:t>
            </a:r>
            <a:endParaRPr lang="ru-RU" dirty="0" smtClean="0"/>
          </a:p>
          <a:p>
            <a:pPr>
              <a:buNone/>
            </a:pPr>
            <a:r>
              <a:rPr lang="en-US" dirty="0" smtClean="0"/>
              <a:t>        if (</a:t>
            </a:r>
            <a:r>
              <a:rPr lang="en-US" dirty="0" err="1" smtClean="0"/>
              <a:t>order.Country</a:t>
            </a:r>
            <a:r>
              <a:rPr lang="en-US" dirty="0" smtClean="0"/>
              <a:t> == "US")</a:t>
            </a:r>
            <a:endParaRPr lang="ru-RU" dirty="0" smtClean="0"/>
          </a:p>
          <a:p>
            <a:pPr>
              <a:buNone/>
            </a:pPr>
            <a:r>
              <a:rPr lang="en-US" dirty="0" smtClean="0"/>
              <a:t>            </a:t>
            </a:r>
            <a:r>
              <a:rPr lang="en-US" dirty="0" err="1" smtClean="0"/>
              <a:t>taxAmount</a:t>
            </a:r>
            <a:r>
              <a:rPr lang="en-US" dirty="0" smtClean="0"/>
              <a:t> = </a:t>
            </a:r>
            <a:r>
              <a:rPr lang="en-US" dirty="0" err="1" smtClean="0"/>
              <a:t>FindTaxAmount</a:t>
            </a:r>
            <a:r>
              <a:rPr lang="en-US" dirty="0" smtClean="0"/>
              <a:t>(order);</a:t>
            </a:r>
            <a:endParaRPr lang="ru-RU" dirty="0" smtClean="0"/>
          </a:p>
          <a:p>
            <a:pPr>
              <a:buNone/>
            </a:pPr>
            <a:r>
              <a:rPr lang="en-US" dirty="0" smtClean="0"/>
              <a:t>        else if (</a:t>
            </a:r>
            <a:r>
              <a:rPr lang="en-US" dirty="0" err="1" smtClean="0"/>
              <a:t>order.Country</a:t>
            </a:r>
            <a:r>
              <a:rPr lang="en-US" dirty="0" smtClean="0"/>
              <a:t> == "UK")</a:t>
            </a:r>
            <a:endParaRPr lang="ru-RU" dirty="0" smtClean="0"/>
          </a:p>
          <a:p>
            <a:pPr>
              <a:buNone/>
            </a:pPr>
            <a:r>
              <a:rPr lang="en-US" dirty="0" smtClean="0"/>
              <a:t>            </a:t>
            </a:r>
            <a:r>
              <a:rPr lang="en-US" dirty="0" err="1" smtClean="0"/>
              <a:t>taxAmount</a:t>
            </a:r>
            <a:r>
              <a:rPr lang="en-US" dirty="0" smtClean="0"/>
              <a:t> = </a:t>
            </a:r>
            <a:r>
              <a:rPr lang="en-US" dirty="0" err="1" smtClean="0"/>
              <a:t>FindVatAmount</a:t>
            </a:r>
            <a:r>
              <a:rPr lang="en-US" dirty="0" smtClean="0"/>
              <a:t>(order);</a:t>
            </a:r>
            <a:endParaRPr lang="ru-RU" dirty="0" smtClean="0"/>
          </a:p>
          <a:p>
            <a:pPr>
              <a:buNone/>
            </a:pPr>
            <a:r>
              <a:rPr lang="en-US" dirty="0" smtClean="0"/>
              <a:t> </a:t>
            </a:r>
            <a:endParaRPr lang="ru-RU" dirty="0" smtClean="0"/>
          </a:p>
          <a:p>
            <a:pPr>
              <a:buNone/>
            </a:pPr>
            <a:r>
              <a:rPr lang="en-US" dirty="0" smtClean="0"/>
              <a:t>        decimal total = </a:t>
            </a:r>
            <a:r>
              <a:rPr lang="en-US" dirty="0" err="1" smtClean="0"/>
              <a:t>itemTotal</a:t>
            </a:r>
            <a:r>
              <a:rPr lang="en-US" dirty="0" smtClean="0"/>
              <a:t> - </a:t>
            </a:r>
            <a:r>
              <a:rPr lang="en-US" dirty="0" err="1" smtClean="0"/>
              <a:t>discountAmount</a:t>
            </a:r>
            <a:r>
              <a:rPr lang="en-US" dirty="0" smtClean="0"/>
              <a:t> + </a:t>
            </a:r>
            <a:r>
              <a:rPr lang="en-US" dirty="0" err="1" smtClean="0"/>
              <a:t>taxAmount</a:t>
            </a:r>
            <a:r>
              <a:rPr lang="en-US" dirty="0" smtClean="0"/>
              <a:t>;</a:t>
            </a:r>
            <a:endParaRPr lang="ru-RU" dirty="0" smtClean="0"/>
          </a:p>
          <a:p>
            <a:pPr>
              <a:buNone/>
            </a:pPr>
            <a:r>
              <a:rPr lang="en-US" dirty="0" smtClean="0"/>
              <a:t> </a:t>
            </a:r>
            <a:endParaRPr lang="ru-RU" dirty="0" smtClean="0"/>
          </a:p>
          <a:p>
            <a:pPr>
              <a:buNone/>
            </a:pPr>
            <a:r>
              <a:rPr lang="en-US" dirty="0" smtClean="0"/>
              <a:t>        return total;</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private decimal </a:t>
            </a:r>
            <a:r>
              <a:rPr lang="en-US" dirty="0" err="1" smtClean="0"/>
              <a:t>FindVatAmount</a:t>
            </a:r>
            <a:r>
              <a:rPr lang="en-US" dirty="0" smtClean="0"/>
              <a:t>(Order </a:t>
            </a:r>
            <a:r>
              <a:rPr lang="en-US" dirty="0" err="1" smtClean="0"/>
              <a:t>order</a:t>
            </a:r>
            <a:r>
              <a:rPr lang="en-US" dirty="0" smtClean="0"/>
              <a:t>)</a:t>
            </a:r>
            <a:endParaRPr lang="ru-RU" dirty="0" smtClean="0"/>
          </a:p>
          <a:p>
            <a:pPr>
              <a:buNone/>
            </a:pPr>
            <a:r>
              <a:rPr lang="en-US" dirty="0" smtClean="0"/>
              <a:t>    {</a:t>
            </a:r>
            <a:endParaRPr lang="ru-RU" dirty="0" smtClean="0"/>
          </a:p>
          <a:p>
            <a:pPr>
              <a:buNone/>
            </a:pPr>
            <a:r>
              <a:rPr lang="en-US" dirty="0" smtClean="0"/>
              <a:t>        return 10.0M;</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private decimal </a:t>
            </a:r>
            <a:r>
              <a:rPr lang="en-US" dirty="0" err="1" smtClean="0"/>
              <a:t>FindTaxAmount</a:t>
            </a:r>
            <a:r>
              <a:rPr lang="en-US" dirty="0" smtClean="0"/>
              <a:t>(Order </a:t>
            </a:r>
            <a:r>
              <a:rPr lang="en-US" dirty="0" err="1" smtClean="0"/>
              <a:t>order</a:t>
            </a:r>
            <a:r>
              <a:rPr lang="en-US" dirty="0" smtClean="0"/>
              <a:t>)</a:t>
            </a:r>
            <a:endParaRPr lang="ru-RU" dirty="0" smtClean="0"/>
          </a:p>
          <a:p>
            <a:pPr>
              <a:buNone/>
            </a:pPr>
            <a:r>
              <a:rPr lang="en-US" dirty="0" smtClean="0"/>
              <a:t>    </a:t>
            </a:r>
            <a:r>
              <a:rPr lang="ru-RU" dirty="0" smtClean="0"/>
              <a:t>{</a:t>
            </a:r>
          </a:p>
          <a:p>
            <a:pPr>
              <a:buNone/>
            </a:pPr>
            <a:r>
              <a:rPr lang="ru-RU" dirty="0" smtClean="0"/>
              <a:t>        </a:t>
            </a:r>
            <a:r>
              <a:rPr lang="ru-RU" dirty="0" err="1" smtClean="0"/>
              <a:t>return</a:t>
            </a:r>
            <a:r>
              <a:rPr lang="ru-RU" dirty="0" smtClean="0"/>
              <a:t> 12.0M;</a:t>
            </a:r>
          </a:p>
          <a:p>
            <a:pPr>
              <a:buNone/>
            </a:pPr>
            <a:r>
              <a:rPr lang="ru-RU" dirty="0" smtClean="0"/>
              <a:t>    }</a:t>
            </a:r>
          </a:p>
          <a:p>
            <a:pPr>
              <a:buNone/>
            </a:pPr>
            <a:r>
              <a:rPr lang="ru-RU" dirty="0" smtClean="0"/>
              <a:t>}</a:t>
            </a:r>
            <a:endParaRPr lang="ru-RU"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Dependency Inversion Principle (</a:t>
            </a:r>
            <a:r>
              <a:rPr lang="ru-RU" sz="3200" b="1" dirty="0" smtClean="0"/>
              <a:t>принцип обращения зависимости</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numCol="1">
            <a:normAutofit fontScale="70000" lnSpcReduction="20000"/>
          </a:bodyPr>
          <a:lstStyle/>
          <a:p>
            <a:r>
              <a:rPr lang="ru-RU" dirty="0" smtClean="0"/>
              <a:t>Возвращаясь к принципу единственной обязанности, перечислим все обязанности, которые выполняет класс </a:t>
            </a:r>
            <a:r>
              <a:rPr lang="ru-RU" dirty="0" err="1" smtClean="0"/>
              <a:t>OrderProcessor</a:t>
            </a:r>
            <a:r>
              <a:rPr lang="ru-RU" dirty="0" smtClean="0"/>
              <a:t>:</a:t>
            </a:r>
          </a:p>
          <a:p>
            <a:pPr lvl="0"/>
            <a:r>
              <a:rPr lang="ru-RU" dirty="0" smtClean="0"/>
              <a:t>Знает, как вычислить сумму заказа;</a:t>
            </a:r>
          </a:p>
          <a:p>
            <a:pPr lvl="0"/>
            <a:r>
              <a:rPr lang="ru-RU" dirty="0" smtClean="0"/>
              <a:t>Знает, как и каким калькулятором вычислить сумму скидки;</a:t>
            </a:r>
          </a:p>
          <a:p>
            <a:pPr lvl="0"/>
            <a:r>
              <a:rPr lang="ru-RU" dirty="0" smtClean="0"/>
              <a:t>Знает, что означают коды стран;</a:t>
            </a:r>
          </a:p>
          <a:p>
            <a:pPr lvl="0"/>
            <a:r>
              <a:rPr lang="ru-RU" dirty="0" smtClean="0"/>
              <a:t>Знает, каким образом вычислить сумму налога для той или иной страны;</a:t>
            </a:r>
          </a:p>
          <a:p>
            <a:pPr lvl="0"/>
            <a:r>
              <a:rPr lang="ru-RU" dirty="0" smtClean="0"/>
              <a:t>Знает формулу, по которой из всех слагаемых вычисляется стоимость заказа.</a:t>
            </a:r>
          </a:p>
          <a:p>
            <a:r>
              <a:rPr lang="ru-RU" dirty="0" smtClean="0"/>
              <a:t>Для того, чтобы разрешить эту проблему, выделим из этого класса две стратегии, которые будут отвечать за расчеты скидки и налогов и перенесем туда соответствующую логику, а зависимость между классами установим через абстракции этих стратегий, реализованных в виде интерфейсов.</a:t>
            </a:r>
            <a:endParaRPr lang="ru-RU"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smtClean="0"/>
              <a:t>Dependency Inversion Principle (</a:t>
            </a:r>
            <a:r>
              <a:rPr lang="ru-RU" sz="3200" b="1" dirty="0" smtClean="0"/>
              <a:t>принцип обращения зависимости</a:t>
            </a:r>
            <a:r>
              <a:rPr lang="en-US" sz="3200" b="1" dirty="0" smtClean="0"/>
              <a:t>)</a:t>
            </a:r>
            <a:endParaRPr lang="ru-RU" sz="2200" dirty="0"/>
          </a:p>
        </p:txBody>
      </p:sp>
      <p:sp>
        <p:nvSpPr>
          <p:cNvPr id="5" name="Содержимое 4"/>
          <p:cNvSpPr>
            <a:spLocks noGrp="1"/>
          </p:cNvSpPr>
          <p:nvPr>
            <p:ph idx="1"/>
          </p:nvPr>
        </p:nvSpPr>
        <p:spPr>
          <a:xfrm>
            <a:off x="457200" y="1556792"/>
            <a:ext cx="8229600" cy="5301208"/>
          </a:xfrm>
        </p:spPr>
        <p:txBody>
          <a:bodyPr numCol="3">
            <a:normAutofit fontScale="40000" lnSpcReduction="20000"/>
          </a:bodyPr>
          <a:lstStyle/>
          <a:p>
            <a:pPr>
              <a:buNone/>
            </a:pPr>
            <a:r>
              <a:rPr lang="ru-RU" dirty="0" smtClean="0"/>
              <a:t>// Интерфейсы стратегий</a:t>
            </a:r>
          </a:p>
          <a:p>
            <a:pPr>
              <a:buNone/>
            </a:pPr>
            <a:r>
              <a:rPr lang="ru-RU" dirty="0" err="1" smtClean="0"/>
              <a:t>public</a:t>
            </a:r>
            <a:r>
              <a:rPr lang="ru-RU" dirty="0" smtClean="0"/>
              <a:t> </a:t>
            </a:r>
            <a:r>
              <a:rPr lang="ru-RU" dirty="0" err="1" smtClean="0"/>
              <a:t>interface</a:t>
            </a:r>
            <a:r>
              <a:rPr lang="ru-RU" dirty="0" smtClean="0"/>
              <a:t> </a:t>
            </a:r>
            <a:r>
              <a:rPr lang="ru-RU" dirty="0" err="1" smtClean="0"/>
              <a:t>IDiscountCalculator</a:t>
            </a:r>
            <a:endParaRPr lang="ru-RU" dirty="0" smtClean="0"/>
          </a:p>
          <a:p>
            <a:pPr>
              <a:buNone/>
            </a:pPr>
            <a:r>
              <a:rPr lang="en-US" dirty="0" smtClean="0"/>
              <a:t>{</a:t>
            </a:r>
            <a:endParaRPr lang="ru-RU" dirty="0" smtClean="0"/>
          </a:p>
          <a:p>
            <a:pPr>
              <a:buNone/>
            </a:pPr>
            <a:r>
              <a:rPr lang="en-US" dirty="0" smtClean="0"/>
              <a:t>    decimal </a:t>
            </a:r>
            <a:r>
              <a:rPr lang="en-US" dirty="0" err="1" smtClean="0"/>
              <a:t>CalculateDiscount</a:t>
            </a:r>
            <a:r>
              <a:rPr lang="en-US" dirty="0" smtClean="0"/>
              <a:t>(Order </a:t>
            </a:r>
            <a:r>
              <a:rPr lang="en-US" dirty="0" err="1" smtClean="0"/>
              <a:t>order</a:t>
            </a:r>
            <a:r>
              <a:rPr lang="en-US" dirty="0" smtClean="0"/>
              <a:t>);</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public interface </a:t>
            </a:r>
            <a:r>
              <a:rPr lang="en-US" dirty="0" err="1" smtClean="0"/>
              <a:t>ITaxStrategy</a:t>
            </a:r>
            <a:endParaRPr lang="ru-RU" dirty="0" smtClean="0"/>
          </a:p>
          <a:p>
            <a:pPr>
              <a:buNone/>
            </a:pPr>
            <a:r>
              <a:rPr lang="en-US" dirty="0" smtClean="0"/>
              <a:t>{</a:t>
            </a:r>
            <a:endParaRPr lang="ru-RU" dirty="0" smtClean="0"/>
          </a:p>
          <a:p>
            <a:pPr>
              <a:buNone/>
            </a:pPr>
            <a:r>
              <a:rPr lang="en-US" dirty="0" smtClean="0"/>
              <a:t>    decimal </a:t>
            </a:r>
            <a:r>
              <a:rPr lang="en-US" dirty="0" err="1" smtClean="0"/>
              <a:t>FindTaxAmount</a:t>
            </a:r>
            <a:r>
              <a:rPr lang="en-US" dirty="0" smtClean="0"/>
              <a:t>(Order </a:t>
            </a:r>
            <a:r>
              <a:rPr lang="en-US" dirty="0" err="1" smtClean="0"/>
              <a:t>order</a:t>
            </a:r>
            <a:r>
              <a:rPr lang="en-US" dirty="0" smtClean="0"/>
              <a:t>);</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 </a:t>
            </a:r>
            <a:r>
              <a:rPr lang="ru-RU" dirty="0" smtClean="0"/>
              <a:t>Реализация стратегий</a:t>
            </a:r>
          </a:p>
          <a:p>
            <a:pPr>
              <a:buNone/>
            </a:pPr>
            <a:r>
              <a:rPr lang="en-US" dirty="0" smtClean="0"/>
              <a:t>public class </a:t>
            </a:r>
            <a:r>
              <a:rPr lang="en-US" dirty="0" err="1" smtClean="0"/>
              <a:t>DiscountCalculatorAdapter</a:t>
            </a:r>
            <a:r>
              <a:rPr lang="en-US" dirty="0" smtClean="0"/>
              <a:t> : </a:t>
            </a:r>
            <a:r>
              <a:rPr lang="en-US" dirty="0" err="1" smtClean="0"/>
              <a:t>IDiscountCalculator</a:t>
            </a:r>
            <a:endParaRPr lang="ru-RU" dirty="0" smtClean="0"/>
          </a:p>
          <a:p>
            <a:pPr>
              <a:buNone/>
            </a:pPr>
            <a:r>
              <a:rPr lang="en-US" dirty="0" smtClean="0"/>
              <a:t>{</a:t>
            </a:r>
            <a:endParaRPr lang="ru-RU" dirty="0" smtClean="0"/>
          </a:p>
          <a:p>
            <a:pPr>
              <a:buNone/>
            </a:pPr>
            <a:r>
              <a:rPr lang="en-US" dirty="0" smtClean="0"/>
              <a:t>    public decimal </a:t>
            </a:r>
            <a:r>
              <a:rPr lang="en-US" dirty="0" err="1" smtClean="0"/>
              <a:t>CalculateDiscount</a:t>
            </a:r>
            <a:r>
              <a:rPr lang="en-US" dirty="0" smtClean="0"/>
              <a:t>(Order </a:t>
            </a:r>
            <a:r>
              <a:rPr lang="en-US" dirty="0" err="1" smtClean="0"/>
              <a:t>order</a:t>
            </a:r>
            <a:r>
              <a:rPr lang="en-US" dirty="0" smtClean="0"/>
              <a:t>)</a:t>
            </a:r>
            <a:endParaRPr lang="ru-RU" dirty="0" smtClean="0"/>
          </a:p>
          <a:p>
            <a:pPr>
              <a:buNone/>
            </a:pPr>
            <a:r>
              <a:rPr lang="en-US" dirty="0" smtClean="0"/>
              <a:t>    {</a:t>
            </a:r>
            <a:endParaRPr lang="ru-RU" dirty="0" smtClean="0"/>
          </a:p>
          <a:p>
            <a:pPr>
              <a:buNone/>
            </a:pPr>
            <a:r>
              <a:rPr lang="en-US" dirty="0" smtClean="0"/>
              <a:t>        return </a:t>
            </a:r>
            <a:r>
              <a:rPr lang="en-US" dirty="0" err="1" smtClean="0"/>
              <a:t>DiscountCalculator.CalculateDiscount</a:t>
            </a:r>
            <a:r>
              <a:rPr lang="en-US" dirty="0" smtClean="0"/>
              <a:t>(order);</a:t>
            </a:r>
            <a:endParaRPr lang="ru-RU" dirty="0" smtClean="0"/>
          </a:p>
          <a:p>
            <a:pPr>
              <a:buNone/>
            </a:pPr>
            <a:r>
              <a:rPr lang="en-US" dirty="0" smtClean="0"/>
              <a:t>    }</a:t>
            </a:r>
            <a:endParaRPr lang="ru-RU" dirty="0" smtClean="0"/>
          </a:p>
          <a:p>
            <a:pPr>
              <a:buNone/>
            </a:pPr>
            <a:r>
              <a:rPr lang="en-US" dirty="0" smtClean="0"/>
              <a:t>}</a:t>
            </a:r>
            <a:endParaRPr lang="ru-RU" dirty="0" smtClean="0"/>
          </a:p>
          <a:p>
            <a:pPr>
              <a:buNone/>
            </a:pPr>
            <a:r>
              <a:rPr lang="en-US" dirty="0" smtClean="0"/>
              <a:t> </a:t>
            </a:r>
            <a:endParaRPr lang="ru-RU" smtClean="0"/>
          </a:p>
          <a:p>
            <a:pPr>
              <a:buNone/>
            </a:pPr>
            <a:endParaRPr lang="ru-RU" dirty="0" smtClean="0"/>
          </a:p>
          <a:p>
            <a:pPr>
              <a:buNone/>
            </a:pPr>
            <a:r>
              <a:rPr lang="en-US" dirty="0" smtClean="0"/>
              <a:t>public class </a:t>
            </a:r>
            <a:r>
              <a:rPr lang="en-US" dirty="0" err="1" smtClean="0"/>
              <a:t>USTaxStrategy</a:t>
            </a:r>
            <a:r>
              <a:rPr lang="en-US" dirty="0" smtClean="0"/>
              <a:t> : </a:t>
            </a:r>
            <a:r>
              <a:rPr lang="en-US" dirty="0" err="1" smtClean="0"/>
              <a:t>ITaxStrategy</a:t>
            </a:r>
            <a:endParaRPr lang="ru-RU" dirty="0" smtClean="0"/>
          </a:p>
          <a:p>
            <a:pPr>
              <a:buNone/>
            </a:pPr>
            <a:r>
              <a:rPr lang="en-US" dirty="0" smtClean="0"/>
              <a:t>{</a:t>
            </a:r>
            <a:endParaRPr lang="ru-RU" dirty="0" smtClean="0"/>
          </a:p>
          <a:p>
            <a:pPr>
              <a:buNone/>
            </a:pPr>
            <a:r>
              <a:rPr lang="en-US" dirty="0" smtClean="0"/>
              <a:t>    public decimal </a:t>
            </a:r>
            <a:r>
              <a:rPr lang="en-US" dirty="0" err="1" smtClean="0"/>
              <a:t>FindTaxAmount</a:t>
            </a:r>
            <a:r>
              <a:rPr lang="en-US" dirty="0" smtClean="0"/>
              <a:t>(Order </a:t>
            </a:r>
            <a:r>
              <a:rPr lang="en-US" dirty="0" err="1" smtClean="0"/>
              <a:t>order</a:t>
            </a:r>
            <a:r>
              <a:rPr lang="en-US" dirty="0" smtClean="0"/>
              <a: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public class </a:t>
            </a:r>
            <a:r>
              <a:rPr lang="en-US" dirty="0" err="1" smtClean="0"/>
              <a:t>UKTaxStrategy</a:t>
            </a:r>
            <a:r>
              <a:rPr lang="en-US" dirty="0" smtClean="0"/>
              <a:t> : </a:t>
            </a:r>
            <a:r>
              <a:rPr lang="en-US" dirty="0" err="1" smtClean="0"/>
              <a:t>ITaxStrategy</a:t>
            </a:r>
            <a:endParaRPr lang="ru-RU" dirty="0" smtClean="0"/>
          </a:p>
          <a:p>
            <a:pPr>
              <a:buNone/>
            </a:pPr>
            <a:r>
              <a:rPr lang="en-US" dirty="0" smtClean="0"/>
              <a:t>{</a:t>
            </a:r>
            <a:endParaRPr lang="ru-RU" dirty="0" smtClean="0"/>
          </a:p>
          <a:p>
            <a:pPr>
              <a:buNone/>
            </a:pPr>
            <a:r>
              <a:rPr lang="en-US" dirty="0" smtClean="0"/>
              <a:t>    public decimal </a:t>
            </a:r>
            <a:r>
              <a:rPr lang="en-US" dirty="0" err="1" smtClean="0"/>
              <a:t>FindTaxAmount</a:t>
            </a:r>
            <a:r>
              <a:rPr lang="en-US" dirty="0" smtClean="0"/>
              <a:t>(Order </a:t>
            </a:r>
            <a:r>
              <a:rPr lang="en-US" dirty="0" err="1" smtClean="0"/>
              <a:t>order</a:t>
            </a:r>
            <a:r>
              <a:rPr lang="en-US" dirty="0" smtClean="0"/>
              <a:t>){ ... }</a:t>
            </a:r>
            <a:endParaRPr lang="ru-RU" dirty="0" smtClean="0"/>
          </a:p>
          <a:p>
            <a:pPr>
              <a:buNone/>
            </a:pPr>
            <a:r>
              <a:rPr lang="en-US" dirty="0" smtClean="0"/>
              <a:t>}</a:t>
            </a:r>
            <a:endParaRPr lang="ru-RU" dirty="0" smtClean="0"/>
          </a:p>
          <a:p>
            <a:pPr>
              <a:buNone/>
            </a:pPr>
            <a:r>
              <a:rPr lang="en-US" dirty="0" smtClean="0"/>
              <a:t> </a:t>
            </a:r>
            <a:endParaRPr lang="ru-RU" dirty="0" smtClean="0"/>
          </a:p>
          <a:p>
            <a:pPr>
              <a:buNone/>
            </a:pPr>
            <a:r>
              <a:rPr lang="en-US" dirty="0" smtClean="0"/>
              <a:t>// </a:t>
            </a:r>
            <a:r>
              <a:rPr lang="ru-RU" dirty="0" smtClean="0"/>
              <a:t>Облегченный код</a:t>
            </a:r>
          </a:p>
          <a:p>
            <a:pPr>
              <a:buNone/>
            </a:pPr>
            <a:r>
              <a:rPr lang="en-US" dirty="0" smtClean="0"/>
              <a:t>public class </a:t>
            </a:r>
            <a:r>
              <a:rPr lang="en-US" dirty="0" err="1" smtClean="0"/>
              <a:t>OrderProcessor</a:t>
            </a:r>
            <a:endParaRPr lang="ru-RU" dirty="0" smtClean="0"/>
          </a:p>
          <a:p>
            <a:pPr>
              <a:buNone/>
            </a:pPr>
            <a:r>
              <a:rPr lang="en-US" dirty="0" smtClean="0"/>
              <a:t>{</a:t>
            </a:r>
            <a:endParaRPr lang="ru-RU" dirty="0" smtClean="0"/>
          </a:p>
          <a:p>
            <a:pPr>
              <a:buNone/>
            </a:pPr>
            <a:r>
              <a:rPr lang="en-US" dirty="0" smtClean="0"/>
              <a:t>    private </a:t>
            </a:r>
            <a:r>
              <a:rPr lang="en-US" dirty="0" err="1" smtClean="0"/>
              <a:t>readonly</a:t>
            </a:r>
            <a:r>
              <a:rPr lang="en-US" dirty="0" smtClean="0"/>
              <a:t> </a:t>
            </a:r>
            <a:r>
              <a:rPr lang="en-US" dirty="0" err="1" smtClean="0"/>
              <a:t>IDiscountCalculator</a:t>
            </a:r>
            <a:r>
              <a:rPr lang="en-US" dirty="0" smtClean="0"/>
              <a:t> _</a:t>
            </a:r>
            <a:r>
              <a:rPr lang="en-US" dirty="0" err="1" smtClean="0"/>
              <a:t>discountCalculator</a:t>
            </a:r>
            <a:r>
              <a:rPr lang="en-US" dirty="0" smtClean="0"/>
              <a:t>;</a:t>
            </a:r>
            <a:endParaRPr lang="ru-RU" dirty="0" smtClean="0"/>
          </a:p>
          <a:p>
            <a:pPr>
              <a:buNone/>
            </a:pPr>
            <a:r>
              <a:rPr lang="en-US" dirty="0" smtClean="0"/>
              <a:t>    private </a:t>
            </a:r>
            <a:r>
              <a:rPr lang="en-US" dirty="0" err="1" smtClean="0"/>
              <a:t>readonly</a:t>
            </a:r>
            <a:r>
              <a:rPr lang="en-US" dirty="0" smtClean="0"/>
              <a:t> </a:t>
            </a:r>
            <a:r>
              <a:rPr lang="en-US" dirty="0" err="1" smtClean="0"/>
              <a:t>ITaxStrategy</a:t>
            </a:r>
            <a:r>
              <a:rPr lang="en-US" dirty="0" smtClean="0"/>
              <a:t> _</a:t>
            </a:r>
            <a:r>
              <a:rPr lang="en-US" dirty="0" err="1" smtClean="0"/>
              <a:t>taxStrategy</a:t>
            </a:r>
            <a:r>
              <a:rPr lang="en-US" dirty="0" smtClean="0"/>
              <a:t>;</a:t>
            </a:r>
            <a:endParaRPr lang="ru-RU" dirty="0" smtClean="0"/>
          </a:p>
          <a:p>
            <a:pPr>
              <a:buNone/>
            </a:pPr>
            <a:r>
              <a:rPr lang="en-US" dirty="0" smtClean="0"/>
              <a:t> </a:t>
            </a:r>
            <a:endParaRPr lang="ru-RU" dirty="0" smtClean="0"/>
          </a:p>
          <a:p>
            <a:pPr>
              <a:buNone/>
            </a:pPr>
            <a:r>
              <a:rPr lang="en-US" dirty="0" smtClean="0"/>
              <a:t>    public </a:t>
            </a:r>
            <a:r>
              <a:rPr lang="en-US" dirty="0" err="1" smtClean="0"/>
              <a:t>OrderProcessor</a:t>
            </a:r>
            <a:r>
              <a:rPr lang="en-US" dirty="0" smtClean="0"/>
              <a:t>(</a:t>
            </a:r>
            <a:r>
              <a:rPr lang="en-US" dirty="0" err="1" smtClean="0"/>
              <a:t>IDiscountCalculator</a:t>
            </a:r>
            <a:r>
              <a:rPr lang="en-US" dirty="0" smtClean="0"/>
              <a:t> </a:t>
            </a:r>
            <a:r>
              <a:rPr lang="en-US" dirty="0" err="1" smtClean="0"/>
              <a:t>discountCalculator</a:t>
            </a:r>
            <a:r>
              <a:rPr lang="en-US" dirty="0" smtClean="0"/>
              <a:t>, </a:t>
            </a:r>
            <a:endParaRPr lang="ru-RU" dirty="0" smtClean="0"/>
          </a:p>
          <a:p>
            <a:pPr>
              <a:buNone/>
            </a:pPr>
            <a:r>
              <a:rPr lang="en-US" dirty="0" smtClean="0"/>
              <a:t>                          </a:t>
            </a:r>
            <a:r>
              <a:rPr lang="en-US" dirty="0" err="1" smtClean="0"/>
              <a:t>ITaxStrategy</a:t>
            </a:r>
            <a:r>
              <a:rPr lang="en-US" dirty="0" smtClean="0"/>
              <a:t> </a:t>
            </a:r>
            <a:r>
              <a:rPr lang="en-US" dirty="0" err="1" smtClean="0"/>
              <a:t>taxStrategy</a:t>
            </a:r>
            <a:r>
              <a:rPr lang="en-US" dirty="0" smtClean="0"/>
              <a:t>)</a:t>
            </a:r>
            <a:endParaRPr lang="ru-RU" dirty="0" smtClean="0"/>
          </a:p>
          <a:p>
            <a:pPr>
              <a:buNone/>
            </a:pPr>
            <a:r>
              <a:rPr lang="en-US" dirty="0" smtClean="0"/>
              <a:t>    {</a:t>
            </a:r>
            <a:endParaRPr lang="ru-RU" dirty="0" smtClean="0"/>
          </a:p>
          <a:p>
            <a:pPr>
              <a:buNone/>
            </a:pPr>
            <a:r>
              <a:rPr lang="en-US" dirty="0" smtClean="0"/>
              <a:t>        _</a:t>
            </a:r>
            <a:r>
              <a:rPr lang="en-US" dirty="0" err="1" smtClean="0"/>
              <a:t>taxStrategy</a:t>
            </a:r>
            <a:r>
              <a:rPr lang="en-US" dirty="0" smtClean="0"/>
              <a:t> = </a:t>
            </a:r>
            <a:r>
              <a:rPr lang="en-US" dirty="0" err="1" smtClean="0"/>
              <a:t>taxStrategy</a:t>
            </a:r>
            <a:r>
              <a:rPr lang="en-US" dirty="0" smtClean="0"/>
              <a:t>;</a:t>
            </a:r>
            <a:endParaRPr lang="ru-RU" dirty="0" smtClean="0"/>
          </a:p>
          <a:p>
            <a:pPr>
              <a:buNone/>
            </a:pPr>
            <a:r>
              <a:rPr lang="en-US" dirty="0" smtClean="0"/>
              <a:t>        _</a:t>
            </a:r>
            <a:r>
              <a:rPr lang="en-US" dirty="0" err="1" smtClean="0"/>
              <a:t>discountCalculator</a:t>
            </a:r>
            <a:r>
              <a:rPr lang="en-US" dirty="0" smtClean="0"/>
              <a:t> = </a:t>
            </a:r>
            <a:r>
              <a:rPr lang="en-US" dirty="0" err="1" smtClean="0"/>
              <a:t>discountCalculator</a:t>
            </a:r>
            <a:r>
              <a:rPr lang="en-US" dirty="0" smtClean="0"/>
              <a:t>;</a:t>
            </a:r>
            <a:endParaRPr lang="ru-RU" dirty="0" smtClean="0"/>
          </a:p>
          <a:p>
            <a:pPr>
              <a:buNone/>
            </a:pPr>
            <a:r>
              <a:rPr lang="en-US" dirty="0" smtClean="0"/>
              <a:t>    }</a:t>
            </a:r>
            <a:endParaRPr lang="ru-RU" dirty="0" smtClean="0"/>
          </a:p>
          <a:p>
            <a:pPr>
              <a:buNone/>
            </a:pPr>
            <a:r>
              <a:rPr lang="en-US" dirty="0" smtClean="0"/>
              <a:t> </a:t>
            </a:r>
            <a:endParaRPr lang="ru-RU" dirty="0" smtClean="0"/>
          </a:p>
          <a:p>
            <a:pPr>
              <a:buNone/>
            </a:pPr>
            <a:r>
              <a:rPr lang="en-US" dirty="0" smtClean="0"/>
              <a:t>    public decimal </a:t>
            </a:r>
            <a:r>
              <a:rPr lang="en-US" dirty="0" err="1" smtClean="0"/>
              <a:t>CalculateTotal</a:t>
            </a:r>
            <a:r>
              <a:rPr lang="en-US" dirty="0" smtClean="0"/>
              <a:t>(Order </a:t>
            </a:r>
            <a:r>
              <a:rPr lang="en-US" dirty="0" err="1" smtClean="0"/>
              <a:t>order</a:t>
            </a:r>
            <a:r>
              <a:rPr lang="en-US" dirty="0" smtClean="0"/>
              <a:t>)</a:t>
            </a:r>
            <a:endParaRPr lang="ru-RU" dirty="0" smtClean="0"/>
          </a:p>
          <a:p>
            <a:pPr>
              <a:buNone/>
            </a:pPr>
            <a:r>
              <a:rPr lang="en-US" dirty="0" smtClean="0"/>
              <a:t>    {</a:t>
            </a:r>
            <a:endParaRPr lang="ru-RU" dirty="0" smtClean="0"/>
          </a:p>
          <a:p>
            <a:pPr>
              <a:buNone/>
            </a:pPr>
            <a:r>
              <a:rPr lang="en-US" dirty="0" smtClean="0"/>
              <a:t>        decimal </a:t>
            </a:r>
            <a:r>
              <a:rPr lang="en-US" dirty="0" err="1" smtClean="0"/>
              <a:t>itemTotal</a:t>
            </a:r>
            <a:r>
              <a:rPr lang="en-US" dirty="0" smtClean="0"/>
              <a:t> = </a:t>
            </a:r>
            <a:r>
              <a:rPr lang="en-US" dirty="0" err="1" smtClean="0"/>
              <a:t>order.GetItemTotal</a:t>
            </a:r>
            <a:r>
              <a:rPr lang="en-US" dirty="0" smtClean="0"/>
              <a:t>();</a:t>
            </a:r>
            <a:endParaRPr lang="ru-RU" dirty="0" smtClean="0"/>
          </a:p>
          <a:p>
            <a:pPr>
              <a:buNone/>
            </a:pPr>
            <a:r>
              <a:rPr lang="en-US" dirty="0" smtClean="0"/>
              <a:t>        decimal </a:t>
            </a:r>
            <a:r>
              <a:rPr lang="en-US" dirty="0" err="1" smtClean="0"/>
              <a:t>discountAmount</a:t>
            </a:r>
            <a:r>
              <a:rPr lang="en-US" dirty="0" smtClean="0"/>
              <a:t> = _</a:t>
            </a:r>
            <a:r>
              <a:rPr lang="en-US" dirty="0" err="1" smtClean="0"/>
              <a:t>discountCalculator.CalculateDiscount</a:t>
            </a:r>
            <a:r>
              <a:rPr lang="en-US" dirty="0" smtClean="0"/>
              <a:t>(order);</a:t>
            </a:r>
            <a:endParaRPr lang="ru-RU" dirty="0" smtClean="0"/>
          </a:p>
          <a:p>
            <a:pPr>
              <a:buNone/>
            </a:pPr>
            <a:r>
              <a:rPr lang="en-US" dirty="0" smtClean="0"/>
              <a:t> </a:t>
            </a:r>
            <a:endParaRPr lang="ru-RU" dirty="0" smtClean="0"/>
          </a:p>
          <a:p>
            <a:pPr>
              <a:buNone/>
            </a:pPr>
            <a:r>
              <a:rPr lang="en-US" dirty="0" smtClean="0"/>
              <a:t>        decimal </a:t>
            </a:r>
            <a:r>
              <a:rPr lang="en-US" dirty="0" err="1" smtClean="0"/>
              <a:t>taxAmount</a:t>
            </a:r>
            <a:r>
              <a:rPr lang="en-US" dirty="0" smtClean="0"/>
              <a:t> = _</a:t>
            </a:r>
            <a:r>
              <a:rPr lang="en-US" dirty="0" err="1" smtClean="0"/>
              <a:t>taxStrategy.FindTaxAmount</a:t>
            </a:r>
            <a:r>
              <a:rPr lang="en-US" dirty="0" smtClean="0"/>
              <a:t>(order);</a:t>
            </a:r>
            <a:endParaRPr lang="ru-RU" dirty="0" smtClean="0"/>
          </a:p>
          <a:p>
            <a:pPr>
              <a:buNone/>
            </a:pPr>
            <a:r>
              <a:rPr lang="en-US" dirty="0" smtClean="0"/>
              <a:t> </a:t>
            </a:r>
            <a:endParaRPr lang="ru-RU" dirty="0" smtClean="0"/>
          </a:p>
          <a:p>
            <a:pPr>
              <a:buNone/>
            </a:pPr>
            <a:r>
              <a:rPr lang="en-US" dirty="0" smtClean="0"/>
              <a:t>        decimal total = </a:t>
            </a:r>
            <a:r>
              <a:rPr lang="en-US" dirty="0" err="1" smtClean="0"/>
              <a:t>itemTotal</a:t>
            </a:r>
            <a:r>
              <a:rPr lang="en-US" dirty="0" smtClean="0"/>
              <a:t> - </a:t>
            </a:r>
            <a:r>
              <a:rPr lang="en-US" dirty="0" err="1" smtClean="0"/>
              <a:t>discountAmount</a:t>
            </a:r>
            <a:r>
              <a:rPr lang="en-US" dirty="0" smtClean="0"/>
              <a:t> + </a:t>
            </a:r>
            <a:r>
              <a:rPr lang="en-US" dirty="0" err="1" smtClean="0"/>
              <a:t>taxAmount</a:t>
            </a:r>
            <a:r>
              <a:rPr lang="en-US" dirty="0" smtClean="0"/>
              <a:t>;</a:t>
            </a:r>
            <a:endParaRPr lang="ru-RU" dirty="0" smtClean="0"/>
          </a:p>
          <a:p>
            <a:pPr>
              <a:buNone/>
            </a:pPr>
            <a:r>
              <a:rPr lang="en-US" dirty="0" smtClean="0"/>
              <a:t> </a:t>
            </a:r>
            <a:endParaRPr lang="ru-RU" dirty="0" smtClean="0"/>
          </a:p>
          <a:p>
            <a:pPr>
              <a:buNone/>
            </a:pPr>
            <a:r>
              <a:rPr lang="en-US" dirty="0" smtClean="0"/>
              <a:t>        </a:t>
            </a:r>
            <a:r>
              <a:rPr lang="ru-RU" dirty="0" err="1" smtClean="0"/>
              <a:t>return</a:t>
            </a:r>
            <a:r>
              <a:rPr lang="ru-RU" dirty="0" smtClean="0"/>
              <a:t> </a:t>
            </a:r>
            <a:r>
              <a:rPr lang="ru-RU" dirty="0" err="1" smtClean="0"/>
              <a:t>total</a:t>
            </a:r>
            <a:r>
              <a:rPr lang="ru-RU" dirty="0" smtClean="0"/>
              <a:t>;</a:t>
            </a:r>
          </a:p>
          <a:p>
            <a:pPr>
              <a:buNone/>
            </a:pPr>
            <a:r>
              <a:rPr lang="ru-RU" dirty="0" smtClean="0"/>
              <a:t>    }</a:t>
            </a:r>
          </a:p>
          <a:p>
            <a:pPr>
              <a:buNone/>
            </a:pPr>
            <a:r>
              <a:rPr lang="ru-RU" dirty="0" smtClean="0"/>
              <a:t>}</a:t>
            </a:r>
            <a:endParaRPr lang="ru-RU"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2139</Words>
  <Application>Microsoft Office PowerPoint</Application>
  <PresentationFormat>Экран (4:3)</PresentationFormat>
  <Paragraphs>393</Paragraphs>
  <Slides>54</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54</vt:i4>
      </vt:variant>
    </vt:vector>
  </HeadingPairs>
  <TitlesOfParts>
    <vt:vector size="55" baseType="lpstr">
      <vt:lpstr>Тема Office</vt:lpstr>
      <vt:lpstr>Слайд 1</vt:lpstr>
      <vt:lpstr>Критерии хорошей архитектуры</vt:lpstr>
      <vt:lpstr>Критерии хорошей архитектуры</vt:lpstr>
      <vt:lpstr>Критерии хорошей архитектуры</vt:lpstr>
      <vt:lpstr>Критерии хорошей архитектуры</vt:lpstr>
      <vt:lpstr>Критерии хорошей архитектуры</vt:lpstr>
      <vt:lpstr>Критерии хорошей архитектуры</vt:lpstr>
      <vt:lpstr>Критерии хорошей архитектуры</vt:lpstr>
      <vt:lpstr>Критерии хорошей архитектуры</vt:lpstr>
      <vt:lpstr>Модульная архитектура. Декомпозиция как основа</vt:lpstr>
      <vt:lpstr>Модульная архитектура. Декомпозиция как основа</vt:lpstr>
      <vt:lpstr>«Правильная» декомпозиция. Иерархическая</vt:lpstr>
      <vt:lpstr>«Правильная» декомпозиция. Иерархическая</vt:lpstr>
      <vt:lpstr>«Правильная» декомпозиция. Функциональная</vt:lpstr>
      <vt:lpstr>«Правильная» декомпозиция.      High Cohesion + Low Coupling</vt:lpstr>
      <vt:lpstr>«Правильная» декомпозиция.      High Cohesion + Low Coupling</vt:lpstr>
      <vt:lpstr>«Правильная» декомпозиция.      High Cohesion + Low Coupling</vt:lpstr>
      <vt:lpstr>«Правильная» декомпозиция.      High Cohesion + Low Coupling</vt:lpstr>
      <vt:lpstr>«Правильная» декомпозиция.      High Cohesion + Low Coupling</vt:lpstr>
      <vt:lpstr>Как ослаблять связанность между модулями</vt:lpstr>
      <vt:lpstr>Как ослаблять связанность между модулями. Интерфейсы. Фасад</vt:lpstr>
      <vt:lpstr>Как ослаблять связанность между модулями. Интерфейсы. Фасад</vt:lpstr>
      <vt:lpstr>Как ослаблять связанность между модулями. Интерфейсы. Фасад</vt:lpstr>
      <vt:lpstr>Как ослаблять связанность между модулями. Интерфейсы. Фасад</vt:lpstr>
      <vt:lpstr>Как ослаблять связанность между модулями. Интерфейсы. Фасад</vt:lpstr>
      <vt:lpstr>Как ослаблять связанность между модулями. Dependency Inversion</vt:lpstr>
      <vt:lpstr>Как ослаблять связанность между модулями. Dependency Inversion</vt:lpstr>
      <vt:lpstr>Как ослаблять связанность между модулями. Dependency Inversion Модуль сам создает объекты необходимые ему для работы.</vt:lpstr>
      <vt:lpstr>Как ослаблять связанность между модулями. Dependency Inversion Модуль берет необходимые объекты у того, у кого они уже есть</vt:lpstr>
      <vt:lpstr>Как ослаблять связанность между модулями. Dependency Inversion Модуль вообще не заботиться о «добывании» зависимостей</vt:lpstr>
      <vt:lpstr>Как ослаблять связанность между модулями. Замена прямых зависимостей на обмен сообщениями</vt:lpstr>
      <vt:lpstr>Как ослаблять связанность между модулями. Замена прямых зависимостей на обмен сообщениями</vt:lpstr>
      <vt:lpstr>Как ослаблять связанность между модулями. Замена прямых зависимостей на обмен сообщениями</vt:lpstr>
      <vt:lpstr>Как ослаблять связанность между модулями. Замена прямых зависимостей на синхронизацию через общее ядро</vt:lpstr>
      <vt:lpstr>Как ослаблять связанность между модулями. Закон Деметры (law of Demeter)</vt:lpstr>
      <vt:lpstr>Как ослаблять связанность между модулями. Композиция вместо наследования</vt:lpstr>
      <vt:lpstr>Single Responsibility Principle (принцип единственной обязанности)</vt:lpstr>
      <vt:lpstr>Single Responsibility Principle (принцип единственной обязанности)</vt:lpstr>
      <vt:lpstr>Single Responsibility Principle (принцип единственной обязанности)</vt:lpstr>
      <vt:lpstr>Single Responsibility Principle (принцип единственной обязанности)</vt:lpstr>
      <vt:lpstr>Open/Closed Principle (принцип открытия/закрытия)</vt:lpstr>
      <vt:lpstr>Open/Closed Principle (принцип открытия/закрытия)</vt:lpstr>
      <vt:lpstr>Open/Closed Principle (принцип открытия/закрытия)</vt:lpstr>
      <vt:lpstr>Open/Closed Principle (принцип открытия/закрытия)</vt:lpstr>
      <vt:lpstr>Liskov Substitution Principle (принцип замещения Лисков)</vt:lpstr>
      <vt:lpstr>Liskov Substitution Principle (принцип замещения Лисков)</vt:lpstr>
      <vt:lpstr>Liskov Substitution Principle (принцип замещения Лисков)</vt:lpstr>
      <vt:lpstr>Interface Segregation Principle (принцип изоляции интерфейса)</vt:lpstr>
      <vt:lpstr>Interface Segregation Principle (принцип изоляции интерфейса)</vt:lpstr>
      <vt:lpstr>Interface Segregation Principle (принцип изоляции интерфейса)</vt:lpstr>
      <vt:lpstr>Dependency Inversion Principle (принцип обращения зависимости)</vt:lpstr>
      <vt:lpstr>Dependency Inversion Principle (принцип обращения зависимости)</vt:lpstr>
      <vt:lpstr>Dependency Inversion Principle (принцип обращения зависимости)</vt:lpstr>
      <vt:lpstr>Dependency Inversion Principle (принцип обращения зависимости)</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Александра Титова</dc:creator>
  <cp:lastModifiedBy>Александра Титова</cp:lastModifiedBy>
  <cp:revision>4</cp:revision>
  <dcterms:created xsi:type="dcterms:W3CDTF">2023-10-20T14:42:52Z</dcterms:created>
  <dcterms:modified xsi:type="dcterms:W3CDTF">2023-10-20T15:15:52Z</dcterms:modified>
</cp:coreProperties>
</file>