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64" r:id="rId7"/>
    <p:sldId id="267" r:id="rId8"/>
    <p:sldId id="265" r:id="rId9"/>
    <p:sldId id="269" r:id="rId10"/>
    <p:sldId id="266" r:id="rId11"/>
    <p:sldId id="268" r:id="rId12"/>
    <p:sldId id="270" r:id="rId13"/>
    <p:sldId id="258" r:id="rId14"/>
    <p:sldId id="271" r:id="rId15"/>
    <p:sldId id="272" r:id="rId16"/>
    <p:sldId id="273" r:id="rId17"/>
    <p:sldId id="274" r:id="rId18"/>
    <p:sldId id="259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60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-168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16.09.2023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vscode.ru/wp-content/uploads/2016/11/Kaskadnaya-vodopadnaya-model.png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hyperlink" Target="https://vscode.ru/wp-content/uploads/2016/11/Iteratsionnaya-model.gif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vscode.ru/wp-content/uploads/2016/11/V-obraznaya-model-razrabotki.png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mtlynch.io/images/2017-10-12-human-code-reviews-1/book-cover.png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Лекции по курсу</a:t>
            </a:r>
            <a:r>
              <a:rPr lang="en-US" dirty="0" smtClean="0"/>
              <a:t> </a:t>
            </a:r>
            <a:r>
              <a:rPr lang="ru-RU" dirty="0" smtClean="0"/>
              <a:t>«</a:t>
            </a:r>
            <a:r>
              <a:rPr lang="ru-RU" dirty="0" smtClean="0"/>
              <a:t>Технологии проектирования </a:t>
            </a:r>
            <a:r>
              <a:rPr lang="ru-RU" dirty="0" smtClean="0"/>
              <a:t>бизнес-приложений</a:t>
            </a:r>
            <a:r>
              <a:rPr lang="ru-RU" dirty="0" smtClean="0"/>
              <a:t>»	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Титов Юрий Павлович</a:t>
            </a:r>
          </a:p>
          <a:p>
            <a:r>
              <a:rPr lang="en-US" dirty="0" smtClean="0"/>
              <a:t>kalengul@mail.ru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Жизненный цикл ПО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Анализ, составление требований к продукту.</a:t>
            </a:r>
          </a:p>
          <a:p>
            <a:r>
              <a:rPr lang="ru-RU" dirty="0" smtClean="0"/>
              <a:t>Планирование.</a:t>
            </a:r>
          </a:p>
          <a:p>
            <a:r>
              <a:rPr lang="ru-RU" dirty="0" smtClean="0"/>
              <a:t>Проектирование и дизайн.</a:t>
            </a:r>
          </a:p>
          <a:p>
            <a:r>
              <a:rPr lang="ru-RU" dirty="0" smtClean="0"/>
              <a:t>Разработка.</a:t>
            </a:r>
          </a:p>
          <a:p>
            <a:r>
              <a:rPr lang="ru-RU" dirty="0" smtClean="0"/>
              <a:t>Тестирование.</a:t>
            </a:r>
          </a:p>
          <a:p>
            <a:r>
              <a:rPr lang="ru-RU" dirty="0" smtClean="0"/>
              <a:t>Развертывание, эксплуатация.</a:t>
            </a:r>
          </a:p>
          <a:p>
            <a:r>
              <a:rPr lang="ru-RU" dirty="0" smtClean="0">
                <a:solidFill>
                  <a:srgbClr val="FF0000"/>
                </a:solidFill>
              </a:rPr>
              <a:t>Утилизация</a:t>
            </a:r>
            <a:endParaRPr lang="ru-RU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ru-RU" dirty="0" smtClean="0"/>
              <a:t>Жизненный цикл ПО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733256"/>
          </a:xfrm>
        </p:spPr>
        <p:txBody>
          <a:bodyPr>
            <a:normAutofit fontScale="55000" lnSpcReduction="20000"/>
          </a:bodyPr>
          <a:lstStyle/>
          <a:p>
            <a:pPr lvl="0" fontAlgn="base"/>
            <a:r>
              <a:rPr lang="ru-RU" b="1" dirty="0" smtClean="0"/>
              <a:t>Процесс приобретения</a:t>
            </a:r>
            <a:r>
              <a:rPr lang="ru-RU" dirty="0" smtClean="0"/>
              <a:t>. Данный процесс представляет собой действия заказчика разработки ПО, и обычно включает в себя такие мероприятия, как: формирование требований и ограничений к программному продукту (ограничения могут быть связаны с выбором программной архитектуры, а также с приемлемым быстродействием системы и т.д.); заключение договора на разработку; анализ и аудит работы исполнителя. В конце данного процесса заказчик осуществляет приёмку готового программного продукта.</a:t>
            </a:r>
          </a:p>
          <a:p>
            <a:pPr lvl="0" fontAlgn="base"/>
            <a:r>
              <a:rPr lang="ru-RU" b="1" dirty="0" smtClean="0"/>
              <a:t>Процесс поставки</a:t>
            </a:r>
            <a:r>
              <a:rPr lang="ru-RU" dirty="0" smtClean="0"/>
              <a:t> включает в себя мероприятия, проводимые исполнителем по поставке ПО. Исполнитель анализирует требования заказчика, выполняет проектирование и анализ работ, решает, как будет происходить процесс конструирования (программирования): своими силами, либо же с привлечением сторонних команд разработки (подрядчика), также осуществляет оценку и контроль качества готового программного продукта и выполняет непосредственно поставку продукта и сопутствующие завершающие мероприятия.</a:t>
            </a:r>
          </a:p>
          <a:p>
            <a:pPr lvl="0" fontAlgn="base"/>
            <a:r>
              <a:rPr lang="ru-RU" b="1" dirty="0" smtClean="0"/>
              <a:t>Процесс разработки</a:t>
            </a:r>
            <a:r>
              <a:rPr lang="ru-RU" dirty="0" smtClean="0"/>
              <a:t>. Его мы подробно рассмотрим в разделе </a:t>
            </a:r>
          </a:p>
          <a:p>
            <a:pPr lvl="0" fontAlgn="base"/>
            <a:r>
              <a:rPr lang="ru-RU" b="1" dirty="0" smtClean="0"/>
              <a:t>Процесс эксплуатации</a:t>
            </a:r>
            <a:r>
              <a:rPr lang="ru-RU" dirty="0" smtClean="0"/>
              <a:t>. После того, как программное обеспечение будет готово, начинается процесс его эксплуатации организацией-заказчиком и её операторами.</a:t>
            </a:r>
          </a:p>
          <a:p>
            <a:pPr lvl="0" fontAlgn="base"/>
            <a:r>
              <a:rPr lang="ru-RU" b="1" dirty="0" smtClean="0"/>
              <a:t>Процесс сопровождения</a:t>
            </a:r>
            <a:r>
              <a:rPr lang="ru-RU" dirty="0" smtClean="0"/>
              <a:t>. Фирма-разработчик осуществляет поддержку пользователей программного продукта в случае возникновения у них каких-либо вопросов или проблем. Если в процессе эксплуатации будет обнаружена ошибка в ПП, разработчики должны её устранить. Процесс эксплуатации и процесс сопровождения идут параллельно.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ru-RU" dirty="0" smtClean="0"/>
              <a:t>Жизненный цикл ПО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1052736"/>
            <a:ext cx="8229600" cy="5544616"/>
          </a:xfrm>
        </p:spPr>
        <p:txBody>
          <a:bodyPr>
            <a:normAutofit fontScale="70000" lnSpcReduction="20000"/>
          </a:bodyPr>
          <a:lstStyle/>
          <a:p>
            <a:pPr lvl="0" fontAlgn="base"/>
            <a:r>
              <a:rPr lang="ru-RU" b="1" dirty="0" smtClean="0"/>
              <a:t>Процесс документирования</a:t>
            </a:r>
            <a:r>
              <a:rPr lang="ru-RU" dirty="0" smtClean="0"/>
              <a:t>. В процессе разработки и далее исполнитель пишет документацию и руководства пользователя к разрабатываемому программному продукту. Данные документы помогут разработчикам [вспомнить/разобраться] структуру и код ПО (ибо со временем всё забывается, особенно в больших проектах), а пользователям освоить работу с программой.</a:t>
            </a:r>
          </a:p>
          <a:p>
            <a:pPr lvl="0" fontAlgn="base"/>
            <a:r>
              <a:rPr lang="ru-RU" b="1" dirty="0" smtClean="0"/>
              <a:t>Процесс управления конфигурацией</a:t>
            </a:r>
            <a:r>
              <a:rPr lang="ru-RU" dirty="0" smtClean="0"/>
              <a:t>. Данный процесс включается в себя работы по управлению наборами разрабатываемых компонентов ПО и по управлению версиями ПП.</a:t>
            </a:r>
          </a:p>
          <a:p>
            <a:pPr lvl="0" fontAlgn="base"/>
            <a:r>
              <a:rPr lang="ru-RU" b="1" dirty="0" smtClean="0"/>
              <a:t>Процесс обеспечения качества</a:t>
            </a:r>
            <a:r>
              <a:rPr lang="ru-RU" dirty="0" smtClean="0"/>
              <a:t>. Он отвечает за то, чтобы разрабатываемый программный продукт соответствовал предварительным требованиям к разработке, а также стандартам организаций исполнителя и заказчика.</a:t>
            </a:r>
          </a:p>
          <a:p>
            <a:pPr lvl="0" fontAlgn="base"/>
            <a:r>
              <a:rPr lang="ru-RU" b="1" dirty="0" smtClean="0"/>
              <a:t>Процесс верификации</a:t>
            </a:r>
            <a:r>
              <a:rPr lang="ru-RU" dirty="0" smtClean="0"/>
              <a:t>. Нужен для того, чтобы выявить ошибки внесённые в ПО во время конструирования, а также выявить несоответствия разрабатываемого ПО выработанной архитектуре.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ru-RU" dirty="0" smtClean="0"/>
              <a:t>Жизненный цикл ПО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1052736"/>
            <a:ext cx="8229600" cy="5544616"/>
          </a:xfrm>
        </p:spPr>
        <p:txBody>
          <a:bodyPr>
            <a:normAutofit fontScale="70000" lnSpcReduction="20000"/>
          </a:bodyPr>
          <a:lstStyle/>
          <a:p>
            <a:pPr lvl="0" fontAlgn="base"/>
            <a:r>
              <a:rPr lang="ru-RU" b="1" dirty="0" smtClean="0"/>
              <a:t>Процесс аттестации</a:t>
            </a:r>
            <a:r>
              <a:rPr lang="ru-RU" dirty="0" smtClean="0"/>
              <a:t>. Процесс направлен на подтверждение соответствия получаемых величин эталонным. То есть, выходные данные должны иметь погрешность, удовлетворяющую требованиям и установленным стандартам.</a:t>
            </a:r>
          </a:p>
          <a:p>
            <a:pPr lvl="0" fontAlgn="base"/>
            <a:r>
              <a:rPr lang="ru-RU" b="1" dirty="0" smtClean="0"/>
              <a:t>Процесс совместной оценки</a:t>
            </a:r>
            <a:r>
              <a:rPr lang="ru-RU" dirty="0" smtClean="0"/>
              <a:t>. Нужен для контроля и проверки состояния персонала и разрабатываемого программного продукта. Выполняется обеими сторонами (заказчиком и исполнителем) на протяжении времени всех работ по проекту.</a:t>
            </a:r>
          </a:p>
          <a:p>
            <a:pPr lvl="0" fontAlgn="base"/>
            <a:r>
              <a:rPr lang="ru-RU" b="1" dirty="0" smtClean="0"/>
              <a:t>Процесс аудита</a:t>
            </a:r>
            <a:r>
              <a:rPr lang="ru-RU" dirty="0" smtClean="0"/>
              <a:t>. Аудит направлен на независимую оценку текущих положений, состояния проекта, документации и отчетов. При аудите выполняется сравнение с договором и документами, определяющими стандарты. Может выполняться также обеими сторонами.</a:t>
            </a:r>
          </a:p>
          <a:p>
            <a:pPr lvl="0" fontAlgn="base"/>
            <a:r>
              <a:rPr lang="ru-RU" b="1" dirty="0" smtClean="0"/>
              <a:t>Процесс разрешения проблем</a:t>
            </a:r>
            <a:r>
              <a:rPr lang="ru-RU" dirty="0" smtClean="0"/>
              <a:t>. Реализует устранение недочётов, выявленных во время всех процессов связанных к контролем и оценкой.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ru-RU" dirty="0" smtClean="0"/>
              <a:t>Модели жизненного цикла ПО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1052736"/>
            <a:ext cx="8229600" cy="5544616"/>
          </a:xfrm>
        </p:spPr>
        <p:txBody>
          <a:bodyPr>
            <a:normAutofit/>
          </a:bodyPr>
          <a:lstStyle/>
          <a:p>
            <a:pPr marL="514350" lvl="0" indent="-514350" fontAlgn="base">
              <a:buNone/>
            </a:pPr>
            <a:r>
              <a:rPr lang="ru-RU" u="sng" dirty="0" smtClean="0"/>
              <a:t>1. Каскадная (водопадная) модель.</a:t>
            </a:r>
            <a:endParaRPr lang="ru-RU" dirty="0"/>
          </a:p>
        </p:txBody>
      </p:sp>
      <p:pic>
        <p:nvPicPr>
          <p:cNvPr id="4" name="Рисунок 3" descr="Каскадная (водопадная) модель">
            <a:hlinkClick r:id="rId2"/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1700808"/>
            <a:ext cx="8208912" cy="4824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ru-RU" dirty="0" smtClean="0"/>
              <a:t>Модели жизненного цикла ПО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1052736"/>
            <a:ext cx="8229600" cy="5544616"/>
          </a:xfrm>
        </p:spPr>
        <p:txBody>
          <a:bodyPr>
            <a:normAutofit/>
          </a:bodyPr>
          <a:lstStyle/>
          <a:p>
            <a:pPr marL="514350" lvl="0" indent="-514350" fontAlgn="base">
              <a:buNone/>
            </a:pPr>
            <a:r>
              <a:rPr lang="ru-RU" u="sng" dirty="0" smtClean="0"/>
              <a:t>2. Итерационная модель.</a:t>
            </a:r>
            <a:endParaRPr lang="ru-RU" dirty="0"/>
          </a:p>
        </p:txBody>
      </p:sp>
      <p:pic>
        <p:nvPicPr>
          <p:cNvPr id="5" name="Рисунок 4" descr="Итерационная модель">
            <a:hlinkClick r:id="rId2"/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1772816"/>
            <a:ext cx="7848872" cy="468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ru-RU" dirty="0" smtClean="0"/>
              <a:t>Модели жизненного цикла ПО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1052736"/>
            <a:ext cx="8229600" cy="5544616"/>
          </a:xfrm>
        </p:spPr>
        <p:txBody>
          <a:bodyPr>
            <a:normAutofit/>
          </a:bodyPr>
          <a:lstStyle/>
          <a:p>
            <a:pPr marL="514350" lvl="0" indent="-514350" fontAlgn="base">
              <a:buNone/>
            </a:pPr>
            <a:r>
              <a:rPr lang="ru-RU" u="sng" dirty="0" smtClean="0"/>
              <a:t>3. V-образная модель разработки (разработка через тестирование).</a:t>
            </a:r>
            <a:endParaRPr lang="ru-RU" dirty="0"/>
          </a:p>
        </p:txBody>
      </p:sp>
      <p:pic>
        <p:nvPicPr>
          <p:cNvPr id="5" name="Рисунок 4" descr="V-образная модель разработки">
            <a:hlinkClick r:id="rId2"/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2276872"/>
            <a:ext cx="7560840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ru-RU" dirty="0" smtClean="0"/>
              <a:t>Модели жизненного цикла ПО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1052736"/>
            <a:ext cx="8229600" cy="5544616"/>
          </a:xfrm>
        </p:spPr>
        <p:txBody>
          <a:bodyPr>
            <a:normAutofit/>
          </a:bodyPr>
          <a:lstStyle/>
          <a:p>
            <a:pPr marL="514350" lvl="0" indent="-514350" fontAlgn="base">
              <a:buNone/>
            </a:pPr>
            <a:r>
              <a:rPr lang="ru-RU" u="sng" dirty="0" smtClean="0"/>
              <a:t>3. V-образная модель разработки (разработка через тестирование).</a:t>
            </a:r>
            <a:endParaRPr lang="ru-RU" dirty="0"/>
          </a:p>
        </p:txBody>
      </p:sp>
      <p:pic>
        <p:nvPicPr>
          <p:cNvPr id="26626" name="Picture 2" descr="D:\РАЗНОЕ\conten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2204864"/>
            <a:ext cx="3153292" cy="446449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ru-RU" dirty="0" smtClean="0"/>
              <a:t>Модели жизненного цикла ПО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1052736"/>
            <a:ext cx="8229600" cy="5544616"/>
          </a:xfrm>
        </p:spPr>
        <p:txBody>
          <a:bodyPr>
            <a:normAutofit/>
          </a:bodyPr>
          <a:lstStyle/>
          <a:p>
            <a:pPr marL="514350" indent="-514350" fontAlgn="base">
              <a:buNone/>
            </a:pPr>
            <a:r>
              <a:rPr lang="ru-RU" u="sng" dirty="0" smtClean="0"/>
              <a:t>4. Спиральная модель.</a:t>
            </a:r>
            <a:endParaRPr lang="ru-RU" dirty="0"/>
          </a:p>
        </p:txBody>
      </p:sp>
      <p:pic>
        <p:nvPicPr>
          <p:cNvPr id="3074" name="Picture 2" descr="http://qaevolution.ru/wp-content/uploads/2016/01/2.3.1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7" y="1556792"/>
            <a:ext cx="8480939" cy="50405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ru-RU" dirty="0" smtClean="0"/>
              <a:t>Модели жизненного цикла ПО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1052736"/>
            <a:ext cx="2664296" cy="5544616"/>
          </a:xfrm>
        </p:spPr>
        <p:txBody>
          <a:bodyPr>
            <a:normAutofit/>
          </a:bodyPr>
          <a:lstStyle/>
          <a:p>
            <a:pPr marL="514350" indent="-514350" fontAlgn="base">
              <a:buNone/>
            </a:pPr>
            <a:r>
              <a:rPr lang="ru-RU" u="sng" dirty="0" smtClean="0"/>
              <a:t>4. Спиральная модель.</a:t>
            </a:r>
            <a:endParaRPr lang="ru-RU" dirty="0"/>
          </a:p>
        </p:txBody>
      </p:sp>
      <p:pic>
        <p:nvPicPr>
          <p:cNvPr id="1026" name="Picture 2" descr="im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4" y="836712"/>
            <a:ext cx="5905500" cy="5715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Работа с временными интервалами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1052736"/>
            <a:ext cx="8352928" cy="5544616"/>
          </a:xfrm>
        </p:spPr>
        <p:txBody>
          <a:bodyPr>
            <a:normAutofit/>
          </a:bodyPr>
          <a:lstStyle/>
          <a:p>
            <a:pPr marL="514350" indent="-514350" fontAlgn="base"/>
            <a:r>
              <a:rPr lang="ru-RU" u="sng" dirty="0" smtClean="0"/>
              <a:t>Диаграмма </a:t>
            </a:r>
            <a:r>
              <a:rPr lang="ru-RU" u="sng" dirty="0" err="1" smtClean="0"/>
              <a:t>Ганта</a:t>
            </a:r>
            <a:endParaRPr lang="ru-RU" u="sng" dirty="0" smtClean="0"/>
          </a:p>
          <a:p>
            <a:pPr marL="514350" indent="-514350" fontAlgn="base"/>
            <a:r>
              <a:rPr lang="en-US" u="sng" dirty="0" smtClean="0"/>
              <a:t>CPM</a:t>
            </a:r>
            <a:endParaRPr lang="ru-RU" dirty="0"/>
          </a:p>
        </p:txBody>
      </p:sp>
      <p:pic>
        <p:nvPicPr>
          <p:cNvPr id="5" name="Рисунок 4" descr="https://habrastorage.org/files/ca6/880/9fe/ca68809fe421467cbfed430d94cecc9d.p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2492896"/>
            <a:ext cx="7560840" cy="3096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Способы организации программистов.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AutoNum type="arabicPeriod"/>
            </a:pPr>
            <a:r>
              <a:rPr lang="ru-RU" u="sng" dirty="0" smtClean="0"/>
              <a:t>Авторская разработка</a:t>
            </a:r>
          </a:p>
          <a:p>
            <a:pPr marL="0" indent="0">
              <a:buNone/>
            </a:pPr>
            <a:r>
              <a:rPr lang="ru-RU" dirty="0" smtClean="0"/>
              <a:t>Этот принцип был достаточно широко распространен в 70—80-е годы XX века.</a:t>
            </a:r>
          </a:p>
          <a:p>
            <a:r>
              <a:rPr lang="ru-RU" dirty="0" smtClean="0"/>
              <a:t>авторская разработка может выигрывать по производительности в тридцать и более раз у коллективной разработки, что достигается за счет:</a:t>
            </a:r>
          </a:p>
          <a:p>
            <a:pPr lvl="0"/>
            <a:r>
              <a:rPr lang="ru-RU" dirty="0" smtClean="0"/>
              <a:t>исключения межличностных коммуникаций, связанных с необходимостью порождения и изучения большого количества технологической документации;</a:t>
            </a:r>
          </a:p>
          <a:p>
            <a:pPr lvl="0"/>
            <a:r>
              <a:rPr lang="ru-RU" dirty="0" smtClean="0"/>
              <a:t>исключения работ по разбиению проекта на составляющие, по распределению их между исполнителями, по координации деятельности исполнителей и контролю за их работой.</a:t>
            </a:r>
          </a:p>
          <a:p>
            <a:r>
              <a:rPr lang="ru-RU" dirty="0" smtClean="0"/>
              <a:t>Объем программного продукта, выполненного методом авторской разработок в 5—20 раз меньше по сравнению с индустриальными аналогами.</a:t>
            </a:r>
          </a:p>
          <a:p>
            <a:pPr marL="514350" indent="-514350"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Способы организации программистов.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ru-RU" u="sng" dirty="0" smtClean="0"/>
              <a:t>2. Коллективная разработка</a:t>
            </a: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Бригада равноправных соисполнителей обычно состоит из специалистов, занимающихся примерно подобными задачами в рамках одного проекта. Естественно, специализаций в рамках одной бригады может быть несколько. Примерный состав такой бригады разработчиков следующий:</a:t>
            </a:r>
          </a:p>
          <a:p>
            <a:pPr lvl="0"/>
            <a:r>
              <a:rPr lang="ru-RU" dirty="0" smtClean="0"/>
              <a:t>инженеры-разработчики (специалисты по инженерии программирования и программисты);</a:t>
            </a:r>
          </a:p>
          <a:p>
            <a:pPr lvl="0"/>
            <a:r>
              <a:rPr lang="ru-RU" dirty="0" smtClean="0"/>
              <a:t>технические писатели;</a:t>
            </a:r>
          </a:p>
          <a:p>
            <a:pPr lvl="0"/>
            <a:r>
              <a:rPr lang="ru-RU" dirty="0" smtClean="0"/>
              <a:t>инженеры тестирования;</a:t>
            </a:r>
          </a:p>
          <a:p>
            <a:pPr lvl="0"/>
            <a:r>
              <a:rPr lang="ru-RU" dirty="0" smtClean="0"/>
              <a:t>инженеры качества;</a:t>
            </a:r>
          </a:p>
          <a:p>
            <a:pPr lvl="0"/>
            <a:r>
              <a:rPr lang="ru-RU" dirty="0" smtClean="0"/>
              <a:t>специалисты по сопровождению продукта;</a:t>
            </a:r>
          </a:p>
          <a:p>
            <a:r>
              <a:rPr lang="ru-RU" dirty="0" smtClean="0"/>
              <a:t>специалисты по продажам продукта.</a:t>
            </a:r>
            <a:endParaRPr lang="ru-R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Способы организации программистов.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u="sng" dirty="0" smtClean="0"/>
              <a:t>2. Коллективная разработка</a:t>
            </a:r>
            <a:endParaRPr lang="ru-RU" dirty="0" smtClean="0"/>
          </a:p>
          <a:p>
            <a:pPr>
              <a:buNone/>
            </a:pPr>
            <a:r>
              <a:rPr lang="ru-RU" sz="2400" dirty="0" smtClean="0"/>
              <a:t>Бригада главного программиста (</a:t>
            </a:r>
            <a:r>
              <a:rPr lang="ru-RU" sz="2400" dirty="0" err="1" smtClean="0"/>
              <a:t>Харлан</a:t>
            </a:r>
            <a:r>
              <a:rPr lang="ru-RU" sz="2400" dirty="0" smtClean="0"/>
              <a:t> </a:t>
            </a:r>
            <a:r>
              <a:rPr lang="ru-RU" sz="2400" dirty="0" err="1" smtClean="0"/>
              <a:t>Миллз</a:t>
            </a:r>
            <a:r>
              <a:rPr lang="ru-RU" sz="2400" dirty="0" smtClean="0"/>
              <a:t> )</a:t>
            </a:r>
          </a:p>
        </p:txBody>
      </p:sp>
      <p:pic>
        <p:nvPicPr>
          <p:cNvPr id="4" name="Рисунок 3" descr="https://studfiles.net/html/2706/53/html_hIkqJ8WUYQ.zesG/img-EKodPm.p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2780928"/>
            <a:ext cx="6984776" cy="3816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Способы организации программистов.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u="sng" dirty="0" smtClean="0"/>
              <a:t>2. Коллективная разработка</a:t>
            </a:r>
            <a:endParaRPr lang="ru-RU" dirty="0" smtClean="0"/>
          </a:p>
          <a:p>
            <a:pPr>
              <a:buNone/>
            </a:pPr>
            <a:r>
              <a:rPr lang="ru-RU" sz="2400" dirty="0" smtClean="0"/>
              <a:t>Бригада главного программиста (Роб </a:t>
            </a:r>
            <a:r>
              <a:rPr lang="ru-RU" sz="2400" dirty="0" err="1" smtClean="0"/>
              <a:t>Томсет</a:t>
            </a:r>
            <a:r>
              <a:rPr lang="ru-RU" sz="2400" dirty="0" smtClean="0"/>
              <a:t>)</a:t>
            </a:r>
          </a:p>
        </p:txBody>
      </p:sp>
      <p:pic>
        <p:nvPicPr>
          <p:cNvPr id="5" name="Рисунок 4" descr="https://studfiles.net/html/2706/53/html_hIkqJ8WUYQ.zesG/img-GzjdFx.p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2852936"/>
            <a:ext cx="6696744" cy="331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Способы организации программистов.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ru-RU" u="sng" dirty="0" smtClean="0"/>
              <a:t>3. Общинная модель разработки</a:t>
            </a:r>
          </a:p>
          <a:p>
            <a:pPr marL="0" indent="0" algn="just">
              <a:buNone/>
            </a:pPr>
            <a:r>
              <a:rPr lang="ru-RU" sz="2400" dirty="0" smtClean="0"/>
              <a:t>Идеология общинной ("базарной") модели разработки сформулирована программной статье Эрика Раймонда (</a:t>
            </a:r>
            <a:r>
              <a:rPr lang="ru-RU" sz="2400" dirty="0" err="1" smtClean="0"/>
              <a:t>Eric</a:t>
            </a:r>
            <a:r>
              <a:rPr lang="ru-RU" sz="2400" dirty="0" smtClean="0"/>
              <a:t> </a:t>
            </a:r>
            <a:r>
              <a:rPr lang="ru-RU" sz="2400" dirty="0" err="1" smtClean="0"/>
              <a:t>Raymond</a:t>
            </a:r>
            <a:r>
              <a:rPr lang="ru-RU" sz="2400" dirty="0" smtClean="0"/>
              <a:t>) "Собор и Базар". Общинная модель характеризуется тремя основными факторами.</a:t>
            </a:r>
          </a:p>
          <a:p>
            <a:pPr lvl="0"/>
            <a:r>
              <a:rPr lang="ru-RU" sz="2400" dirty="0" err="1" smtClean="0"/>
              <a:t>Децентролизованностъ</a:t>
            </a:r>
            <a:r>
              <a:rPr lang="ru-RU" sz="2400" dirty="0" smtClean="0"/>
              <a:t> разработки. Не существует ограничения сверху на количество людей, принимающих участие в проекте. </a:t>
            </a:r>
          </a:p>
          <a:p>
            <a:pPr lvl="0"/>
            <a:r>
              <a:rPr lang="ru-RU" sz="2400" dirty="0" smtClean="0"/>
              <a:t>Разработка ведется на базе открытых исходных текстов. По ним можно разобраться с сутью задачи и в любой момент подключиться к разработке.</a:t>
            </a:r>
          </a:p>
          <a:p>
            <a:r>
              <a:rPr lang="ru-RU" sz="2400" dirty="0" smtClean="0"/>
              <a:t>Большое количество внешних тестеров (бета-тестеров), позволяющих быстро обнаруживать ошибки и проблемы в программе.)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Методологии управления информационными проектами.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ru-RU" dirty="0" smtClean="0"/>
              <a:t>В 1970 году выходит в свет публикация доктора Уинстона У. </a:t>
            </a:r>
            <a:r>
              <a:rPr lang="ru-RU" dirty="0" err="1" smtClean="0"/>
              <a:t>Ройса</a:t>
            </a:r>
            <a:r>
              <a:rPr lang="ru-RU" dirty="0" smtClean="0"/>
              <a:t> «</a:t>
            </a:r>
            <a:r>
              <a:rPr lang="ru-RU" dirty="0" err="1" smtClean="0"/>
              <a:t>Managing</a:t>
            </a:r>
            <a:r>
              <a:rPr lang="ru-RU" dirty="0" smtClean="0"/>
              <a:t> </a:t>
            </a:r>
            <a:r>
              <a:rPr lang="ru-RU" dirty="0" err="1" smtClean="0"/>
              <a:t>the</a:t>
            </a:r>
            <a:r>
              <a:rPr lang="ru-RU" dirty="0" smtClean="0"/>
              <a:t> </a:t>
            </a:r>
            <a:r>
              <a:rPr lang="ru-RU" dirty="0" err="1" smtClean="0"/>
              <a:t>development</a:t>
            </a:r>
            <a:r>
              <a:rPr lang="ru-RU" dirty="0" smtClean="0"/>
              <a:t> </a:t>
            </a:r>
            <a:r>
              <a:rPr lang="ru-RU" dirty="0" err="1" smtClean="0"/>
              <a:t>of</a:t>
            </a:r>
            <a:r>
              <a:rPr lang="ru-RU" dirty="0" smtClean="0"/>
              <a:t> </a:t>
            </a:r>
            <a:r>
              <a:rPr lang="ru-RU" dirty="0" err="1" smtClean="0"/>
              <a:t>large</a:t>
            </a:r>
            <a:r>
              <a:rPr lang="ru-RU" dirty="0" smtClean="0"/>
              <a:t> </a:t>
            </a:r>
            <a:r>
              <a:rPr lang="ru-RU" dirty="0" err="1" smtClean="0"/>
              <a:t>software</a:t>
            </a:r>
            <a:r>
              <a:rPr lang="ru-RU" dirty="0" smtClean="0"/>
              <a:t> </a:t>
            </a:r>
            <a:r>
              <a:rPr lang="ru-RU" dirty="0" err="1" smtClean="0"/>
              <a:t>systems</a:t>
            </a:r>
            <a:r>
              <a:rPr lang="ru-RU" dirty="0" smtClean="0"/>
              <a:t>» [4] (управление разработкой крупных программных приложений), в которой он описывает приемы разработки, которые в последующем будут известны как «каскадная модель разработки», также «</a:t>
            </a:r>
            <a:r>
              <a:rPr lang="ru-RU" b="1" dirty="0" err="1" smtClean="0"/>
              <a:t>waterflow</a:t>
            </a:r>
            <a:r>
              <a:rPr lang="ru-RU" dirty="0" smtClean="0"/>
              <a:t>» или «водопад». В оригинальной модели предполагается следующая последовательность этапов разработки:</a:t>
            </a:r>
          </a:p>
          <a:p>
            <a:pPr marL="0" indent="0">
              <a:buNone/>
            </a:pPr>
            <a:endParaRPr lang="ru-RU" dirty="0" smtClean="0"/>
          </a:p>
          <a:p>
            <a:pPr lvl="0"/>
            <a:r>
              <a:rPr lang="ru-RU" dirty="0" smtClean="0"/>
              <a:t>определение системных требований;</a:t>
            </a:r>
          </a:p>
          <a:p>
            <a:pPr lvl="0"/>
            <a:r>
              <a:rPr lang="ru-RU" dirty="0" smtClean="0"/>
              <a:t>определение программных требований;</a:t>
            </a:r>
          </a:p>
          <a:p>
            <a:pPr lvl="0"/>
            <a:r>
              <a:rPr lang="ru-RU" dirty="0" smtClean="0"/>
              <a:t>анализ;</a:t>
            </a:r>
          </a:p>
          <a:p>
            <a:pPr lvl="0"/>
            <a:r>
              <a:rPr lang="ru-RU" dirty="0" smtClean="0"/>
              <a:t>проектирование;</a:t>
            </a:r>
          </a:p>
          <a:p>
            <a:pPr lvl="0"/>
            <a:r>
              <a:rPr lang="ru-RU" dirty="0" smtClean="0"/>
              <a:t>разработка;</a:t>
            </a:r>
          </a:p>
          <a:p>
            <a:pPr lvl="0"/>
            <a:r>
              <a:rPr lang="ru-RU" dirty="0" smtClean="0"/>
              <a:t>тестирование;</a:t>
            </a:r>
          </a:p>
          <a:p>
            <a:pPr lvl="0"/>
            <a:r>
              <a:rPr lang="ru-RU" dirty="0" smtClean="0"/>
              <a:t>эксплуатация.</a:t>
            </a:r>
          </a:p>
          <a:p>
            <a:endParaRPr lang="ru-RU" dirty="0" smtClean="0"/>
          </a:p>
          <a:p>
            <a:pPr>
              <a:buNone/>
            </a:pPr>
            <a:r>
              <a:rPr lang="ru-RU" dirty="0" smtClean="0"/>
              <a:t>Далее он развивает модель до того, что в будущем будет известно как «итеративная модель разработки»</a:t>
            </a:r>
            <a:endParaRPr lang="ru-RU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Методологии управления информационными проектами.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dirty="0" smtClean="0"/>
              <a:t>В 1991 году публикуется книга Джеймса Мартина «</a:t>
            </a:r>
            <a:r>
              <a:rPr lang="ru-RU" dirty="0" err="1" smtClean="0"/>
              <a:t>Rapid</a:t>
            </a:r>
            <a:r>
              <a:rPr lang="ru-RU" dirty="0" smtClean="0"/>
              <a:t> </a:t>
            </a:r>
            <a:r>
              <a:rPr lang="ru-RU" dirty="0" err="1" smtClean="0"/>
              <a:t>Application</a:t>
            </a:r>
            <a:r>
              <a:rPr lang="ru-RU" dirty="0" smtClean="0"/>
              <a:t> </a:t>
            </a:r>
            <a:r>
              <a:rPr lang="ru-RU" dirty="0" err="1" smtClean="0"/>
              <a:t>Development</a:t>
            </a:r>
            <a:r>
              <a:rPr lang="ru-RU" dirty="0" smtClean="0"/>
              <a:t>» (</a:t>
            </a:r>
            <a:r>
              <a:rPr lang="ru-RU" b="1" dirty="0" smtClean="0"/>
              <a:t>RAD</a:t>
            </a:r>
            <a:r>
              <a:rPr lang="ru-RU" dirty="0" smtClean="0"/>
              <a:t>), в которой описывается концепция быстрой разработки программного обеспечения, использующая построение прототипов при минимальном планировании </a:t>
            </a:r>
          </a:p>
          <a:p>
            <a:pPr>
              <a:buNone/>
            </a:pPr>
            <a:r>
              <a:rPr lang="ru-RU" dirty="0" smtClean="0"/>
              <a:t>RAD включает следующие этапы разработки:</a:t>
            </a:r>
          </a:p>
          <a:p>
            <a:pPr lvl="0"/>
            <a:r>
              <a:rPr lang="ru-RU" dirty="0" smtClean="0"/>
              <a:t>планирование – определяются требования;</a:t>
            </a:r>
          </a:p>
          <a:p>
            <a:pPr lvl="0"/>
            <a:r>
              <a:rPr lang="ru-RU" dirty="0" smtClean="0"/>
              <a:t>пользовательское проектирование – определение функционала;</a:t>
            </a:r>
          </a:p>
          <a:p>
            <a:pPr lvl="0"/>
            <a:r>
              <a:rPr lang="ru-RU" dirty="0" smtClean="0"/>
              <a:t>конструирование – разработка;</a:t>
            </a:r>
          </a:p>
          <a:p>
            <a:pPr lvl="0"/>
            <a:r>
              <a:rPr lang="ru-RU" dirty="0" smtClean="0"/>
              <a:t>переключение – внедрение;</a:t>
            </a:r>
          </a:p>
          <a:p>
            <a:pPr marL="0" indent="0">
              <a:buNone/>
            </a:pPr>
            <a:endParaRPr lang="ru-RU" dirty="0" smtClean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Методологии управления информационными проектами.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85000" lnSpcReduction="10000"/>
          </a:bodyPr>
          <a:lstStyle/>
          <a:p>
            <a:pPr marL="4763" indent="-4763" algn="just">
              <a:buNone/>
            </a:pPr>
            <a:r>
              <a:rPr lang="ru-RU" dirty="0" smtClean="0"/>
              <a:t>В 1993 году компания </a:t>
            </a:r>
            <a:r>
              <a:rPr lang="ru-RU" dirty="0" err="1" smtClean="0"/>
              <a:t>Microsoft</a:t>
            </a:r>
            <a:r>
              <a:rPr lang="ru-RU" dirty="0" smtClean="0"/>
              <a:t> выпускает «</a:t>
            </a:r>
            <a:r>
              <a:rPr lang="ru-RU" dirty="0" err="1" smtClean="0"/>
              <a:t>Microsoft</a:t>
            </a:r>
            <a:r>
              <a:rPr lang="ru-RU" dirty="0" smtClean="0"/>
              <a:t> </a:t>
            </a:r>
            <a:r>
              <a:rPr lang="ru-RU" dirty="0" err="1" smtClean="0"/>
              <a:t>Solutions</a:t>
            </a:r>
            <a:r>
              <a:rPr lang="ru-RU" dirty="0" smtClean="0"/>
              <a:t> </a:t>
            </a:r>
            <a:r>
              <a:rPr lang="ru-RU" dirty="0" err="1" smtClean="0"/>
              <a:t>Framework</a:t>
            </a:r>
            <a:r>
              <a:rPr lang="ru-RU" dirty="0" smtClean="0"/>
              <a:t>» (</a:t>
            </a:r>
            <a:r>
              <a:rPr lang="ru-RU" b="1" dirty="0" smtClean="0"/>
              <a:t>MSF 1.0</a:t>
            </a:r>
            <a:r>
              <a:rPr lang="ru-RU" dirty="0" smtClean="0"/>
              <a:t>), как набор моделей дисциплин, концепций и принципов для создания информационно-технологических решений. В MSF упор делается на следующие ценности:</a:t>
            </a:r>
          </a:p>
          <a:p>
            <a:pPr lvl="0"/>
            <a:r>
              <a:rPr lang="ru-RU" dirty="0" smtClean="0"/>
              <a:t>соответствие технических и коммерческих целей;</a:t>
            </a:r>
          </a:p>
          <a:p>
            <a:pPr lvl="0"/>
            <a:r>
              <a:rPr lang="ru-RU" dirty="0" smtClean="0"/>
              <a:t>определение четких целей, распределение ролей и ответственностей;</a:t>
            </a:r>
          </a:p>
          <a:p>
            <a:pPr lvl="0"/>
            <a:r>
              <a:rPr lang="ru-RU" dirty="0" smtClean="0"/>
              <a:t>реализация итеративного процесса, разделенного на этапы или контрольные точки;</a:t>
            </a:r>
          </a:p>
          <a:p>
            <a:pPr lvl="0"/>
            <a:r>
              <a:rPr lang="ru-RU" dirty="0" err="1" smtClean="0"/>
              <a:t>проактивное</a:t>
            </a:r>
            <a:r>
              <a:rPr lang="ru-RU" dirty="0" smtClean="0"/>
              <a:t> управление рисками;</a:t>
            </a:r>
          </a:p>
          <a:p>
            <a:pPr lvl="0"/>
            <a:r>
              <a:rPr lang="ru-RU" dirty="0" smtClean="0"/>
              <a:t>эффективная реакция на изменение.</a:t>
            </a:r>
          </a:p>
          <a:p>
            <a:pPr marL="0" indent="0">
              <a:buNone/>
            </a:pPr>
            <a:endParaRPr lang="ru-RU" dirty="0" smtClean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Методологии управления информационными проектами.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92500" lnSpcReduction="20000"/>
          </a:bodyPr>
          <a:lstStyle/>
          <a:p>
            <a:pPr marL="4763" indent="-4763" algn="just">
              <a:buNone/>
            </a:pPr>
            <a:r>
              <a:rPr lang="ru-RU" dirty="0" smtClean="0"/>
              <a:t>В 1994 году консорциумом из 17 британских компаний на основе концепции быстрой разработки приложений RAD создается </a:t>
            </a:r>
            <a:r>
              <a:rPr lang="ru-RU" dirty="0" err="1" smtClean="0"/>
              <a:t>фреймворк</a:t>
            </a:r>
            <a:r>
              <a:rPr lang="ru-RU" dirty="0" smtClean="0"/>
              <a:t> разработки программного обеспечения «</a:t>
            </a:r>
            <a:r>
              <a:rPr lang="ru-RU" dirty="0" err="1" smtClean="0"/>
              <a:t>Dynamic</a:t>
            </a:r>
            <a:r>
              <a:rPr lang="ru-RU" dirty="0" smtClean="0"/>
              <a:t> </a:t>
            </a:r>
            <a:r>
              <a:rPr lang="ru-RU" dirty="0" err="1" smtClean="0"/>
              <a:t>Systems</a:t>
            </a:r>
            <a:r>
              <a:rPr lang="ru-RU" dirty="0" smtClean="0"/>
              <a:t> </a:t>
            </a:r>
            <a:r>
              <a:rPr lang="ru-RU" dirty="0" err="1" smtClean="0"/>
              <a:t>Development</a:t>
            </a:r>
            <a:r>
              <a:rPr lang="ru-RU" dirty="0" smtClean="0"/>
              <a:t> </a:t>
            </a:r>
            <a:r>
              <a:rPr lang="ru-RU" dirty="0" err="1" smtClean="0"/>
              <a:t>Method</a:t>
            </a:r>
            <a:r>
              <a:rPr lang="ru-RU" dirty="0" smtClean="0"/>
              <a:t>» (</a:t>
            </a:r>
            <a:r>
              <a:rPr lang="ru-RU" b="1" dirty="0" smtClean="0"/>
              <a:t>DSDM</a:t>
            </a:r>
            <a:r>
              <a:rPr lang="ru-RU" dirty="0" smtClean="0"/>
              <a:t>). Фреймворк представляет собой набор принципов, предопределённых типов ролей и следующих техник:</a:t>
            </a:r>
          </a:p>
          <a:p>
            <a:pPr lvl="0"/>
            <a:r>
              <a:rPr lang="ru-RU" dirty="0" err="1" smtClean="0"/>
              <a:t>таймбокс</a:t>
            </a:r>
            <a:r>
              <a:rPr lang="ru-RU" dirty="0" smtClean="0"/>
              <a:t>,</a:t>
            </a:r>
          </a:p>
          <a:p>
            <a:pPr lvl="0"/>
            <a:r>
              <a:rPr lang="ru-RU" dirty="0" smtClean="0"/>
              <a:t>принцип назначения приоритетов «</a:t>
            </a:r>
            <a:r>
              <a:rPr lang="ru-RU" dirty="0" err="1" smtClean="0"/>
              <a:t>MoSCoW</a:t>
            </a:r>
            <a:r>
              <a:rPr lang="ru-RU" dirty="0" smtClean="0"/>
              <a:t>»,</a:t>
            </a:r>
          </a:p>
          <a:p>
            <a:pPr lvl="0"/>
            <a:r>
              <a:rPr lang="ru-RU" dirty="0" smtClean="0"/>
              <a:t>семинары,</a:t>
            </a:r>
          </a:p>
          <a:p>
            <a:r>
              <a:rPr lang="ru-RU" dirty="0" smtClean="0"/>
              <a:t>построение прототипов..</a:t>
            </a:r>
          </a:p>
          <a:p>
            <a:pPr marL="0" indent="0">
              <a:buNone/>
            </a:pPr>
            <a:endParaRPr lang="ru-RU" dirty="0" smtClean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Методологии управления информационными проектами.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70000" lnSpcReduction="20000"/>
          </a:bodyPr>
          <a:lstStyle/>
          <a:p>
            <a:pPr marL="4763" indent="-4763">
              <a:buNone/>
            </a:pPr>
            <a:r>
              <a:rPr lang="ru-RU" dirty="0" smtClean="0"/>
              <a:t>В </a:t>
            </a:r>
            <a:r>
              <a:rPr lang="ru-RU" b="1" dirty="0" smtClean="0"/>
              <a:t>DSDM</a:t>
            </a:r>
            <a:r>
              <a:rPr lang="ru-RU" dirty="0" smtClean="0"/>
              <a:t> уделяется особое внимание участию в процессе разработки пользователя (потребителя), что закреплено в принципах, являющихся неотъемлемой частью </a:t>
            </a:r>
            <a:r>
              <a:rPr lang="ru-RU" dirty="0" err="1" smtClean="0"/>
              <a:t>фреймворка</a:t>
            </a:r>
            <a:r>
              <a:rPr lang="ru-RU" dirty="0" smtClean="0"/>
              <a:t>:</a:t>
            </a:r>
          </a:p>
          <a:p>
            <a:pPr lvl="0"/>
            <a:r>
              <a:rPr lang="ru-RU" dirty="0" smtClean="0"/>
              <a:t>Активное вовлечение пользователей в процесс разработки;</a:t>
            </a:r>
          </a:p>
          <a:p>
            <a:pPr lvl="0"/>
            <a:r>
              <a:rPr lang="ru-RU" dirty="0" smtClean="0"/>
              <a:t>Команда разработчиков может принимать решения;</a:t>
            </a:r>
          </a:p>
          <a:p>
            <a:pPr lvl="0"/>
            <a:r>
              <a:rPr lang="ru-RU" dirty="0" smtClean="0"/>
              <a:t>Частая поставка результатов;</a:t>
            </a:r>
          </a:p>
          <a:p>
            <a:pPr lvl="0"/>
            <a:r>
              <a:rPr lang="ru-RU" dirty="0" smtClean="0"/>
              <a:t>Критерием приемлемости результатов является их соответствие бизнесу;</a:t>
            </a:r>
          </a:p>
          <a:p>
            <a:pPr lvl="0"/>
            <a:r>
              <a:rPr lang="ru-RU" dirty="0" smtClean="0"/>
              <a:t>Итеративная и инкрементальная разработка;</a:t>
            </a:r>
          </a:p>
          <a:p>
            <a:pPr lvl="0"/>
            <a:r>
              <a:rPr lang="ru-RU" dirty="0" smtClean="0"/>
              <a:t>Любые действия могут быть отменены;</a:t>
            </a:r>
          </a:p>
          <a:p>
            <a:pPr lvl="0"/>
            <a:r>
              <a:rPr lang="ru-RU" dirty="0" smtClean="0"/>
              <a:t>Стабильность высокоуровневых требований;</a:t>
            </a:r>
          </a:p>
          <a:p>
            <a:pPr lvl="0"/>
            <a:r>
              <a:rPr lang="ru-RU" dirty="0" smtClean="0"/>
              <a:t>Тестирование выполняется постоянно и непрерывно;</a:t>
            </a:r>
          </a:p>
          <a:p>
            <a:r>
              <a:rPr lang="ru-RU" dirty="0" smtClean="0"/>
              <a:t>Взаимодействие и кооперация.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Методологии управления информационными проектами.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484784"/>
            <a:ext cx="8229600" cy="5789240"/>
          </a:xfrm>
        </p:spPr>
        <p:txBody>
          <a:bodyPr>
            <a:normAutofit fontScale="55000" lnSpcReduction="20000"/>
          </a:bodyPr>
          <a:lstStyle/>
          <a:p>
            <a:pPr marL="4763" indent="-4763">
              <a:buNone/>
            </a:pPr>
            <a:r>
              <a:rPr lang="ru-RU" dirty="0" smtClean="0"/>
              <a:t>Последняя версия методологии, вышедшая в 2007 году и именуемая </a:t>
            </a:r>
            <a:r>
              <a:rPr lang="ru-RU" b="1" dirty="0" smtClean="0"/>
              <a:t>DSDM</a:t>
            </a:r>
            <a:r>
              <a:rPr lang="ru-RU" dirty="0" smtClean="0"/>
              <a:t> </a:t>
            </a:r>
            <a:r>
              <a:rPr lang="ru-RU" dirty="0" err="1" smtClean="0"/>
              <a:t>Atern</a:t>
            </a:r>
            <a:r>
              <a:rPr lang="ru-RU" dirty="0" smtClean="0"/>
              <a:t>, предполагает следующие 7 этапов жизненного цикла проекта:</a:t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1. </a:t>
            </a:r>
            <a:r>
              <a:rPr lang="ru-RU" dirty="0" err="1" smtClean="0"/>
              <a:t>Пре-проект</a:t>
            </a:r>
            <a:r>
              <a:rPr lang="ru-RU" dirty="0" smtClean="0"/>
              <a:t>. На первом этапе жизненного цикла проекта определяется целесообразность проекта и помимо прочего допускается выпуск акта об инициации проекта.</a:t>
            </a:r>
            <a:br>
              <a:rPr lang="ru-RU" dirty="0" smtClean="0"/>
            </a:br>
            <a:r>
              <a:rPr lang="ru-RU" dirty="0" smtClean="0"/>
              <a:t>2. Осуществимость. На данном этапе определяется технико-экономическая возможность реализации проекта, в том числе возможность эффективного достижения целей бизнеса.</a:t>
            </a:r>
            <a:br>
              <a:rPr lang="ru-RU" dirty="0" smtClean="0"/>
            </a:br>
            <a:r>
              <a:rPr lang="ru-RU" dirty="0" smtClean="0"/>
              <a:t>3. Определение бизнес процессов – подразумевает определение требований, стратегии, архитектуры, используемых стандартов и возможных рисков сопутствующих процессу реализации проекта.</a:t>
            </a:r>
            <a:br>
              <a:rPr lang="ru-RU" dirty="0" smtClean="0"/>
            </a:br>
            <a:r>
              <a:rPr lang="ru-RU" dirty="0" smtClean="0"/>
              <a:t>4. Разведка. На данном этапе предполагается построение </a:t>
            </a:r>
            <a:r>
              <a:rPr lang="ru-RU" dirty="0" err="1" smtClean="0"/>
              <a:t>бизнес-прототипов</a:t>
            </a:r>
            <a:r>
              <a:rPr lang="ru-RU" dirty="0" smtClean="0"/>
              <a:t> и формирование списка функциональных требований.</a:t>
            </a:r>
            <a:br>
              <a:rPr lang="ru-RU" dirty="0" smtClean="0"/>
            </a:br>
            <a:r>
              <a:rPr lang="ru-RU" dirty="0" smtClean="0"/>
              <a:t>5. Инжиниринг. Проектно-конструкторские изыскания направленные на решение нефункциональных требований (например, производительности, безопасности, возможностей поддержки и сопровождения). В том числе реализация всех требований для успешной работы продукта.</a:t>
            </a:r>
            <a:br>
              <a:rPr lang="ru-RU" dirty="0" smtClean="0"/>
            </a:br>
            <a:r>
              <a:rPr lang="ru-RU" dirty="0" smtClean="0"/>
              <a:t>6. Развертывание – подразумевает цикл работ для предоставления продукта конечному потребителю, обучение и написание документации. Также выявляется соответствует ли продукт всем установленным бизнес требованиями.</a:t>
            </a:r>
            <a:br>
              <a:rPr lang="ru-RU" dirty="0" smtClean="0"/>
            </a:br>
            <a:r>
              <a:rPr lang="ru-RU" dirty="0" smtClean="0"/>
              <a:t>7. Пост-проект. На данном этапе подводятся итоги и оценивается эффективность принятых решений, рекомендуется делать это спустя 3-6 месяцев чтобы обладать большим количеством информации о результатах работы проекта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Методологии управления информационными проектами.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484784"/>
            <a:ext cx="8229600" cy="6336704"/>
          </a:xfrm>
        </p:spPr>
        <p:txBody>
          <a:bodyPr>
            <a:normAutofit fontScale="92500" lnSpcReduction="10000"/>
          </a:bodyPr>
          <a:lstStyle/>
          <a:p>
            <a:pPr marL="4763" indent="-4763" algn="just">
              <a:buNone/>
            </a:pPr>
            <a:r>
              <a:rPr lang="ru-RU" dirty="0" smtClean="0"/>
              <a:t>В 1995 году на ежегодной практической конференции «Объектно-ориентированное программирование, системы, языки и приложения» (OOPSLA) проводимой «Ассоциацией вычислительной техники» доктор </a:t>
            </a:r>
            <a:r>
              <a:rPr lang="ru-RU" dirty="0" err="1" smtClean="0"/>
              <a:t>Джефф</a:t>
            </a:r>
            <a:r>
              <a:rPr lang="ru-RU" dirty="0" smtClean="0"/>
              <a:t> Сазерленд и Кен </a:t>
            </a:r>
            <a:r>
              <a:rPr lang="ru-RU" dirty="0" err="1" smtClean="0"/>
              <a:t>Швабер</a:t>
            </a:r>
            <a:r>
              <a:rPr lang="ru-RU" dirty="0" smtClean="0"/>
              <a:t> представили методологию под названием «</a:t>
            </a:r>
            <a:r>
              <a:rPr lang="ru-RU" b="1" dirty="0" err="1" smtClean="0"/>
              <a:t>Scrum</a:t>
            </a:r>
            <a:r>
              <a:rPr lang="ru-RU" dirty="0" smtClean="0"/>
              <a:t>» </a:t>
            </a:r>
          </a:p>
          <a:p>
            <a:r>
              <a:rPr lang="ru-RU" dirty="0" smtClean="0"/>
              <a:t>Подход представлен тремя категориями:</a:t>
            </a:r>
          </a:p>
          <a:p>
            <a:pPr lvl="0"/>
            <a:r>
              <a:rPr lang="ru-RU" dirty="0" smtClean="0"/>
              <a:t>команда;</a:t>
            </a:r>
          </a:p>
          <a:p>
            <a:pPr lvl="0"/>
            <a:r>
              <a:rPr lang="ru-RU" dirty="0" smtClean="0"/>
              <a:t>мероприятия;</a:t>
            </a:r>
          </a:p>
          <a:p>
            <a:pPr lvl="0"/>
            <a:r>
              <a:rPr lang="ru-RU" dirty="0" smtClean="0"/>
              <a:t>артефакты.</a:t>
            </a:r>
          </a:p>
          <a:p>
            <a:pPr marL="0" indent="0">
              <a:buNone/>
            </a:pPr>
            <a:r>
              <a:rPr lang="ru-RU" dirty="0" smtClean="0"/>
              <a:t/>
            </a:r>
            <a:br>
              <a:rPr lang="ru-RU" dirty="0" smtClean="0"/>
            </a:br>
            <a:endParaRPr lang="ru-RU" dirty="0" smtClean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Методологии управления информационными проектами.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484784"/>
            <a:ext cx="8229600" cy="6336704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ru-RU" dirty="0" smtClean="0"/>
              <a:t>Команда состоит из владельца продукта, который несет ответственность за постановку задач, команды разработки и </a:t>
            </a:r>
            <a:r>
              <a:rPr lang="ru-RU" dirty="0" err="1" smtClean="0"/>
              <a:t>Скрам</a:t>
            </a:r>
            <a:r>
              <a:rPr lang="ru-RU" dirty="0" smtClean="0"/>
              <a:t> мастера, который призван обеспечить соответствие </a:t>
            </a:r>
            <a:r>
              <a:rPr lang="ru-RU" dirty="0" err="1" smtClean="0"/>
              <a:t>Скрам</a:t>
            </a:r>
            <a:r>
              <a:rPr lang="ru-RU" dirty="0" smtClean="0"/>
              <a:t> методологии. Артефакты являются внутренней терминологией, а мероприятия используются в </a:t>
            </a:r>
            <a:r>
              <a:rPr lang="ru-RU" dirty="0" err="1" smtClean="0"/>
              <a:t>Скраме</a:t>
            </a:r>
            <a:r>
              <a:rPr lang="ru-RU" dirty="0" smtClean="0"/>
              <a:t> для создания регулярности и минимизации потребности в совещаниях, не оговоренных </a:t>
            </a:r>
            <a:r>
              <a:rPr lang="ru-RU" dirty="0" err="1" smtClean="0"/>
              <a:t>Скрамом</a:t>
            </a:r>
            <a:r>
              <a:rPr lang="ru-RU" dirty="0" smtClean="0"/>
              <a:t>, их перечень таков:</a:t>
            </a:r>
          </a:p>
          <a:p>
            <a:pPr marL="0" indent="0"/>
            <a:endParaRPr lang="ru-RU" dirty="0" smtClean="0"/>
          </a:p>
          <a:p>
            <a:pPr lvl="0"/>
            <a:r>
              <a:rPr lang="ru-RU" dirty="0" smtClean="0"/>
              <a:t>спринт – аналог </a:t>
            </a:r>
            <a:r>
              <a:rPr lang="ru-RU" dirty="0" err="1" smtClean="0"/>
              <a:t>таймбокса</a:t>
            </a:r>
            <a:r>
              <a:rPr lang="ru-RU" dirty="0" smtClean="0"/>
              <a:t>, из методологии DSDM;</a:t>
            </a:r>
          </a:p>
          <a:p>
            <a:pPr lvl="0"/>
            <a:r>
              <a:rPr lang="ru-RU" dirty="0" smtClean="0"/>
              <a:t>планирование спринта;</a:t>
            </a:r>
          </a:p>
          <a:p>
            <a:pPr lvl="0"/>
            <a:r>
              <a:rPr lang="ru-RU" dirty="0" smtClean="0"/>
              <a:t>ежедневный </a:t>
            </a:r>
            <a:r>
              <a:rPr lang="ru-RU" dirty="0" err="1" smtClean="0"/>
              <a:t>Скрам</a:t>
            </a:r>
            <a:r>
              <a:rPr lang="ru-RU" dirty="0" smtClean="0"/>
              <a:t> митинг – четверть часовые совещания, с целью планирования задач на день и обсуждения результатов предыдущего рабочего дня;</a:t>
            </a:r>
          </a:p>
          <a:p>
            <a:pPr lvl="0"/>
            <a:r>
              <a:rPr lang="ru-RU" dirty="0" smtClean="0"/>
              <a:t>обзор спринта – обсуждение достигнутых результатов по итогам итерации и постановка новых задач;</a:t>
            </a:r>
          </a:p>
          <a:p>
            <a:pPr lvl="0"/>
            <a:r>
              <a:rPr lang="ru-RU" dirty="0" smtClean="0"/>
              <a:t>ретроспектива спринта – обсуждение качества процессов разработки по итогам итерации.</a:t>
            </a:r>
          </a:p>
          <a:p>
            <a:pPr marL="0" indent="0">
              <a:buNone/>
            </a:pPr>
            <a:r>
              <a:rPr lang="ru-RU" dirty="0" smtClean="0"/>
              <a:t/>
            </a:r>
            <a:br>
              <a:rPr lang="ru-RU" dirty="0" smtClean="0"/>
            </a:br>
            <a:endParaRPr lang="ru-RU" dirty="0" smtClean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Методологии управления информационными проектами.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484784"/>
            <a:ext cx="8229600" cy="6336704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dirty="0" smtClean="0"/>
              <a:t>В 1997 году выходит статья «</a:t>
            </a:r>
            <a:r>
              <a:rPr lang="ru-RU" dirty="0" err="1" smtClean="0"/>
              <a:t>Messy</a:t>
            </a:r>
            <a:r>
              <a:rPr lang="ru-RU" dirty="0" smtClean="0"/>
              <a:t>, </a:t>
            </a:r>
            <a:r>
              <a:rPr lang="ru-RU" dirty="0" err="1" smtClean="0"/>
              <a:t>exciting</a:t>
            </a:r>
            <a:r>
              <a:rPr lang="ru-RU" dirty="0" smtClean="0"/>
              <a:t>, </a:t>
            </a:r>
            <a:r>
              <a:rPr lang="ru-RU" dirty="0" err="1" smtClean="0"/>
              <a:t>and</a:t>
            </a:r>
            <a:r>
              <a:rPr lang="ru-RU" dirty="0" smtClean="0"/>
              <a:t> </a:t>
            </a:r>
            <a:r>
              <a:rPr lang="ru-RU" dirty="0" err="1" smtClean="0"/>
              <a:t>anxiety-ridden</a:t>
            </a:r>
            <a:r>
              <a:rPr lang="ru-RU" dirty="0" smtClean="0"/>
              <a:t>: </a:t>
            </a:r>
            <a:r>
              <a:rPr lang="ru-RU" dirty="0" err="1" smtClean="0"/>
              <a:t>adaptive</a:t>
            </a:r>
            <a:r>
              <a:rPr lang="ru-RU" dirty="0" smtClean="0"/>
              <a:t> </a:t>
            </a:r>
            <a:r>
              <a:rPr lang="ru-RU" dirty="0" err="1" smtClean="0"/>
              <a:t>software</a:t>
            </a:r>
            <a:r>
              <a:rPr lang="ru-RU" dirty="0" smtClean="0"/>
              <a:t> </a:t>
            </a:r>
            <a:r>
              <a:rPr lang="ru-RU" dirty="0" err="1" smtClean="0"/>
              <a:t>development</a:t>
            </a:r>
            <a:r>
              <a:rPr lang="ru-RU" dirty="0" smtClean="0"/>
              <a:t>» Джима </a:t>
            </a:r>
            <a:r>
              <a:rPr lang="ru-RU" dirty="0" err="1" smtClean="0"/>
              <a:t>Хигсмита</a:t>
            </a:r>
            <a:r>
              <a:rPr lang="ru-RU" dirty="0" smtClean="0"/>
              <a:t>, в которой он описывает адаптивную методологию разработки программного (</a:t>
            </a:r>
            <a:r>
              <a:rPr lang="ru-RU" dirty="0" err="1" smtClean="0"/>
              <a:t>Adaptive</a:t>
            </a:r>
            <a:r>
              <a:rPr lang="ru-RU" dirty="0" smtClean="0"/>
              <a:t> </a:t>
            </a:r>
            <a:r>
              <a:rPr lang="ru-RU" dirty="0" err="1" smtClean="0"/>
              <a:t>software</a:t>
            </a:r>
            <a:r>
              <a:rPr lang="ru-RU" dirty="0" smtClean="0"/>
              <a:t> </a:t>
            </a:r>
            <a:r>
              <a:rPr lang="ru-RU" dirty="0" err="1" smtClean="0"/>
              <a:t>development</a:t>
            </a:r>
            <a:r>
              <a:rPr lang="ru-RU" dirty="0" smtClean="0"/>
              <a:t>, сокращенно </a:t>
            </a:r>
            <a:r>
              <a:rPr lang="ru-RU" b="1" dirty="0" smtClean="0"/>
              <a:t>ASD</a:t>
            </a:r>
            <a:r>
              <a:rPr lang="ru-RU" dirty="0" smtClean="0"/>
              <a:t>). Ключевой особенностью данной методологии является новый взгляд на отношение к требованиям и проекту, подразумевается возможность их постоянного изменения, к чему она и стремиться адаптироваться.</a:t>
            </a:r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обдумывание-взаимодействие-обучение (</a:t>
            </a:r>
            <a:r>
              <a:rPr lang="ru-RU" dirty="0" err="1" smtClean="0"/>
              <a:t>speculate-collaborate-learn</a:t>
            </a:r>
            <a:r>
              <a:rPr lang="ru-RU" dirty="0" smtClean="0"/>
              <a:t>)</a:t>
            </a:r>
          </a:p>
          <a:p>
            <a:pPr marL="0" indent="0">
              <a:buNone/>
            </a:pPr>
            <a:r>
              <a:rPr lang="ru-RU" dirty="0" smtClean="0"/>
              <a:t/>
            </a:r>
            <a:br>
              <a:rPr lang="ru-RU" dirty="0" smtClean="0"/>
            </a:br>
            <a:endParaRPr lang="ru-RU" dirty="0" smtClean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Методологии управления информационными проектами.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484784"/>
            <a:ext cx="8229600" cy="5904656"/>
          </a:xfrm>
        </p:spPr>
        <p:txBody>
          <a:bodyPr>
            <a:normAutofit fontScale="47500" lnSpcReduction="20000"/>
          </a:bodyPr>
          <a:lstStyle/>
          <a:p>
            <a:pPr marL="0" indent="0" algn="just">
              <a:buNone/>
            </a:pPr>
            <a:r>
              <a:rPr lang="ru-RU" sz="4200" dirty="0" smtClean="0"/>
              <a:t>В 1999 году выходит книга «</a:t>
            </a:r>
            <a:r>
              <a:rPr lang="ru-RU" sz="4200" b="1" dirty="0" err="1" smtClean="0"/>
              <a:t>Extreme</a:t>
            </a:r>
            <a:r>
              <a:rPr lang="ru-RU" sz="4200" b="1" dirty="0" smtClean="0"/>
              <a:t> </a:t>
            </a:r>
            <a:r>
              <a:rPr lang="ru-RU" sz="4200" b="1" dirty="0" err="1" smtClean="0"/>
              <a:t>Programming</a:t>
            </a:r>
            <a:r>
              <a:rPr lang="ru-RU" sz="4200" b="1" dirty="0" smtClean="0"/>
              <a:t> </a:t>
            </a:r>
            <a:r>
              <a:rPr lang="ru-RU" sz="4200" dirty="0" err="1" smtClean="0"/>
              <a:t>Explained</a:t>
            </a:r>
            <a:r>
              <a:rPr lang="ru-RU" sz="4200" dirty="0" smtClean="0"/>
              <a:t>: </a:t>
            </a:r>
            <a:r>
              <a:rPr lang="ru-RU" sz="4200" dirty="0" err="1" smtClean="0"/>
              <a:t>Embrace</a:t>
            </a:r>
            <a:r>
              <a:rPr lang="ru-RU" sz="4200" dirty="0" smtClean="0"/>
              <a:t> </a:t>
            </a:r>
            <a:r>
              <a:rPr lang="ru-RU" sz="4200" dirty="0" err="1" smtClean="0"/>
              <a:t>Change</a:t>
            </a:r>
            <a:r>
              <a:rPr lang="ru-RU" sz="4200" dirty="0" smtClean="0"/>
              <a:t>», описывающая методологию экстремального программирования, авторами которой являются Кент Бек, Уорд </a:t>
            </a:r>
            <a:r>
              <a:rPr lang="ru-RU" sz="4200" dirty="0" err="1" smtClean="0"/>
              <a:t>Каннингем</a:t>
            </a:r>
            <a:r>
              <a:rPr lang="ru-RU" sz="4200" dirty="0" smtClean="0"/>
              <a:t> и Мартин </a:t>
            </a:r>
            <a:r>
              <a:rPr lang="ru-RU" sz="4200" dirty="0" err="1" smtClean="0"/>
              <a:t>Фаулер</a:t>
            </a:r>
            <a:r>
              <a:rPr lang="ru-RU" sz="4200" dirty="0" smtClean="0"/>
              <a:t>. Экстремальное программирование как и ASD ориентируется на постоянное изменение требований и предлагает 12 методик способствующих эффективному процессу разработки в подобных условиях:</a:t>
            </a:r>
          </a:p>
          <a:p>
            <a:pPr lvl="0"/>
            <a:r>
              <a:rPr lang="ru-RU" dirty="0" smtClean="0"/>
              <a:t>Игра в планирование (</a:t>
            </a:r>
            <a:r>
              <a:rPr lang="ru-RU" dirty="0" err="1" smtClean="0"/>
              <a:t>planning</a:t>
            </a:r>
            <a:r>
              <a:rPr lang="ru-RU" dirty="0" smtClean="0"/>
              <a:t> </a:t>
            </a:r>
            <a:r>
              <a:rPr lang="ru-RU" dirty="0" err="1" smtClean="0"/>
              <a:t>game</a:t>
            </a:r>
            <a:r>
              <a:rPr lang="ru-RU" dirty="0" smtClean="0"/>
              <a:t>) – быстрое создание приблизительного плана работы и его постоянное обновление;</a:t>
            </a:r>
          </a:p>
          <a:p>
            <a:pPr lvl="0"/>
            <a:r>
              <a:rPr lang="ru-RU" dirty="0" smtClean="0"/>
              <a:t>Небольшие версии (</a:t>
            </a:r>
            <a:r>
              <a:rPr lang="ru-RU" dirty="0" err="1" smtClean="0"/>
              <a:t>small</a:t>
            </a:r>
            <a:r>
              <a:rPr lang="ru-RU" dirty="0" smtClean="0"/>
              <a:t> </a:t>
            </a:r>
            <a:r>
              <a:rPr lang="ru-RU" dirty="0" err="1" smtClean="0"/>
              <a:t>releases</a:t>
            </a:r>
            <a:r>
              <a:rPr lang="ru-RU" dirty="0" smtClean="0"/>
              <a:t>) – частый выпуск небольших версий продукта;</a:t>
            </a:r>
          </a:p>
          <a:p>
            <a:pPr lvl="0"/>
            <a:r>
              <a:rPr lang="ru-RU" dirty="0" smtClean="0"/>
              <a:t>Метафора (</a:t>
            </a:r>
            <a:r>
              <a:rPr lang="ru-RU" dirty="0" err="1" smtClean="0"/>
              <a:t>metaphor</a:t>
            </a:r>
            <a:r>
              <a:rPr lang="ru-RU" dirty="0" smtClean="0"/>
              <a:t>) – краткое описание работы системы;</a:t>
            </a:r>
          </a:p>
          <a:p>
            <a:pPr lvl="0"/>
            <a:r>
              <a:rPr lang="ru-RU" dirty="0" smtClean="0"/>
              <a:t>Простой дизайн (</a:t>
            </a:r>
            <a:r>
              <a:rPr lang="ru-RU" dirty="0" err="1" smtClean="0"/>
              <a:t>simple</a:t>
            </a:r>
            <a:r>
              <a:rPr lang="ru-RU" dirty="0" smtClean="0"/>
              <a:t> </a:t>
            </a:r>
            <a:r>
              <a:rPr lang="ru-RU" dirty="0" err="1" smtClean="0"/>
              <a:t>design</a:t>
            </a:r>
            <a:r>
              <a:rPr lang="ru-RU" dirty="0" smtClean="0"/>
              <a:t>) – применительно к архитектуре;</a:t>
            </a:r>
          </a:p>
          <a:p>
            <a:pPr lvl="0"/>
            <a:r>
              <a:rPr lang="ru-RU" dirty="0" smtClean="0"/>
              <a:t>Тестирование (</a:t>
            </a:r>
            <a:r>
              <a:rPr lang="ru-RU" dirty="0" err="1" smtClean="0"/>
              <a:t>testing</a:t>
            </a:r>
            <a:r>
              <a:rPr lang="ru-RU" dirty="0" smtClean="0"/>
              <a:t>) – стоит отметить что данная методика в дальнейшем выделилась в отдельную методологию разработки именуемую «</a:t>
            </a:r>
            <a:r>
              <a:rPr lang="ru-RU" dirty="0" err="1" smtClean="0"/>
              <a:t>Test</a:t>
            </a:r>
            <a:r>
              <a:rPr lang="ru-RU" dirty="0" smtClean="0"/>
              <a:t> </a:t>
            </a:r>
            <a:r>
              <a:rPr lang="ru-RU" dirty="0" err="1" smtClean="0"/>
              <a:t>Driving</a:t>
            </a:r>
            <a:r>
              <a:rPr lang="ru-RU" dirty="0" smtClean="0"/>
              <a:t> </a:t>
            </a:r>
            <a:r>
              <a:rPr lang="ru-RU" dirty="0" err="1" smtClean="0"/>
              <a:t>Development</a:t>
            </a:r>
            <a:r>
              <a:rPr lang="ru-RU" dirty="0" smtClean="0"/>
              <a:t>» (TDD);</a:t>
            </a:r>
          </a:p>
          <a:p>
            <a:pPr lvl="0"/>
            <a:r>
              <a:rPr lang="ru-RU" dirty="0" smtClean="0"/>
              <a:t>Переработка (</a:t>
            </a:r>
            <a:r>
              <a:rPr lang="ru-RU" dirty="0" err="1" smtClean="0"/>
              <a:t>refactoring</a:t>
            </a:r>
            <a:r>
              <a:rPr lang="ru-RU" dirty="0" smtClean="0"/>
              <a:t>);</a:t>
            </a:r>
          </a:p>
          <a:p>
            <a:pPr lvl="0"/>
            <a:r>
              <a:rPr lang="ru-RU" dirty="0" smtClean="0"/>
              <a:t>Парное программирование (</a:t>
            </a:r>
            <a:r>
              <a:rPr lang="ru-RU" dirty="0" err="1" smtClean="0"/>
              <a:t>pair</a:t>
            </a:r>
            <a:r>
              <a:rPr lang="ru-RU" dirty="0" smtClean="0"/>
              <a:t> </a:t>
            </a:r>
            <a:r>
              <a:rPr lang="ru-RU" dirty="0" err="1" smtClean="0"/>
              <a:t>programming</a:t>
            </a:r>
            <a:r>
              <a:rPr lang="ru-RU" dirty="0" smtClean="0"/>
              <a:t>) – одновременное участие в работе над задачей двух разработчиков;</a:t>
            </a:r>
          </a:p>
          <a:p>
            <a:pPr lvl="0"/>
            <a:r>
              <a:rPr lang="ru-RU" dirty="0" smtClean="0"/>
              <a:t>Коллективное владение кодом (</a:t>
            </a:r>
            <a:r>
              <a:rPr lang="ru-RU" dirty="0" err="1" smtClean="0"/>
              <a:t>collective</a:t>
            </a:r>
            <a:r>
              <a:rPr lang="ru-RU" dirty="0" smtClean="0"/>
              <a:t> </a:t>
            </a:r>
            <a:r>
              <a:rPr lang="ru-RU" dirty="0" err="1" smtClean="0"/>
              <a:t>ownership</a:t>
            </a:r>
            <a:r>
              <a:rPr lang="ru-RU" dirty="0" smtClean="0"/>
              <a:t>);</a:t>
            </a:r>
          </a:p>
          <a:p>
            <a:pPr lvl="0"/>
            <a:r>
              <a:rPr lang="ru-RU" dirty="0" smtClean="0"/>
              <a:t>Непрерывная интеграция (</a:t>
            </a:r>
            <a:r>
              <a:rPr lang="ru-RU" dirty="0" err="1" smtClean="0"/>
              <a:t>continuous</a:t>
            </a:r>
            <a:r>
              <a:rPr lang="ru-RU" dirty="0" smtClean="0"/>
              <a:t> </a:t>
            </a:r>
            <a:r>
              <a:rPr lang="ru-RU" dirty="0" err="1" smtClean="0"/>
              <a:t>integration</a:t>
            </a:r>
            <a:r>
              <a:rPr lang="ru-RU" dirty="0" smtClean="0"/>
              <a:t>) – частое внедрение разработок;</a:t>
            </a:r>
          </a:p>
          <a:p>
            <a:pPr lvl="0"/>
            <a:r>
              <a:rPr lang="ru-RU" dirty="0" smtClean="0"/>
              <a:t>40-часовая неделя (40-hour </a:t>
            </a:r>
            <a:r>
              <a:rPr lang="ru-RU" dirty="0" err="1" smtClean="0"/>
              <a:t>week</a:t>
            </a:r>
            <a:r>
              <a:rPr lang="ru-RU" dirty="0" smtClean="0"/>
              <a:t>);</a:t>
            </a:r>
          </a:p>
          <a:p>
            <a:pPr lvl="0"/>
            <a:r>
              <a:rPr lang="ru-RU" dirty="0" smtClean="0"/>
              <a:t>Заказчик на месте разработки (</a:t>
            </a:r>
            <a:r>
              <a:rPr lang="ru-RU" dirty="0" err="1" smtClean="0"/>
              <a:t>on-site</a:t>
            </a:r>
            <a:r>
              <a:rPr lang="ru-RU" dirty="0" smtClean="0"/>
              <a:t> </a:t>
            </a:r>
            <a:r>
              <a:rPr lang="ru-RU" dirty="0" err="1" smtClean="0"/>
              <a:t>customer</a:t>
            </a:r>
            <a:r>
              <a:rPr lang="ru-RU" dirty="0" smtClean="0"/>
              <a:t>);</a:t>
            </a:r>
          </a:p>
          <a:p>
            <a:r>
              <a:rPr lang="ru-RU" dirty="0" smtClean="0"/>
              <a:t>Стандарты кодирования (</a:t>
            </a:r>
            <a:r>
              <a:rPr lang="ru-RU" dirty="0" err="1" smtClean="0"/>
              <a:t>coding</a:t>
            </a:r>
            <a:r>
              <a:rPr lang="ru-RU" dirty="0" smtClean="0"/>
              <a:t> </a:t>
            </a:r>
            <a:r>
              <a:rPr lang="ru-RU" dirty="0" err="1" smtClean="0"/>
              <a:t>standards</a:t>
            </a:r>
            <a:r>
              <a:rPr lang="ru-RU" dirty="0" smtClean="0"/>
              <a:t>).</a:t>
            </a:r>
            <a:br>
              <a:rPr lang="ru-RU" dirty="0" smtClean="0"/>
            </a:br>
            <a:endParaRPr lang="ru-RU" dirty="0" smtClean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Методологии управления информационными проектами.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484784"/>
            <a:ext cx="8229600" cy="5904656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ru-RU" sz="2400" dirty="0" smtClean="0"/>
              <a:t>В 2001 году выходит методология разработки от компании IBM, называющаяся </a:t>
            </a:r>
            <a:r>
              <a:rPr lang="ru-RU" sz="2400" dirty="0" err="1" smtClean="0"/>
              <a:t>Rational</a:t>
            </a:r>
            <a:r>
              <a:rPr lang="ru-RU" sz="2400" dirty="0" smtClean="0"/>
              <a:t> </a:t>
            </a:r>
            <a:r>
              <a:rPr lang="ru-RU" sz="2400" dirty="0" err="1" smtClean="0"/>
              <a:t>Unified</a:t>
            </a:r>
            <a:r>
              <a:rPr lang="ru-RU" sz="2400" dirty="0" smtClean="0"/>
              <a:t> </a:t>
            </a:r>
            <a:r>
              <a:rPr lang="ru-RU" sz="2400" dirty="0" err="1" smtClean="0"/>
              <a:t>Process</a:t>
            </a:r>
            <a:r>
              <a:rPr lang="ru-RU" sz="2400" dirty="0" smtClean="0"/>
              <a:t> (</a:t>
            </a:r>
            <a:r>
              <a:rPr lang="ru-RU" sz="2400" b="1" dirty="0" smtClean="0"/>
              <a:t>RUP</a:t>
            </a:r>
            <a:r>
              <a:rPr lang="ru-RU" sz="2400" dirty="0" smtClean="0"/>
              <a:t>), которая описывает как эффективно использовать коммерчески проверенные подходы к разработке программного обеспечения. RUP обеспечивает членов команды руководящими принципами, шаблонами и инструментальными наставлениями, необходимыми для всей команды, чтобы в полной мере воспользоваться следующими практиками:</a:t>
            </a:r>
          </a:p>
          <a:p>
            <a:pPr lvl="0"/>
            <a:r>
              <a:rPr lang="ru-RU" sz="2400" dirty="0" smtClean="0"/>
              <a:t>Разрабатывайте программное обеспечение итеративно;</a:t>
            </a:r>
          </a:p>
          <a:p>
            <a:pPr lvl="0"/>
            <a:r>
              <a:rPr lang="ru-RU" sz="2400" dirty="0" smtClean="0"/>
              <a:t>Управляйте требованиями;</a:t>
            </a:r>
          </a:p>
          <a:p>
            <a:pPr lvl="0"/>
            <a:r>
              <a:rPr lang="ru-RU" sz="2400" dirty="0" smtClean="0"/>
              <a:t>Используйте компонентную архитектуру;</a:t>
            </a:r>
          </a:p>
          <a:p>
            <a:pPr lvl="0"/>
            <a:r>
              <a:rPr lang="ru-RU" sz="2400" dirty="0" smtClean="0"/>
              <a:t>Визуализируйте модель программы;</a:t>
            </a:r>
          </a:p>
          <a:p>
            <a:pPr lvl="0"/>
            <a:r>
              <a:rPr lang="ru-RU" sz="2400" dirty="0" smtClean="0"/>
              <a:t>Проверяйте качество программы;</a:t>
            </a:r>
          </a:p>
          <a:p>
            <a:r>
              <a:rPr lang="ru-RU" sz="2400" dirty="0" smtClean="0"/>
              <a:t>Контролируйте изменения программы.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 smtClean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Методологии управления информационными проектами. 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 descr="https://habrastorage.org/files/08a/f18/859/08af18859514490897483948e01f5c3c.p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628800"/>
            <a:ext cx="8640960" cy="504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Методологии управления информационными проектами. 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717232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ru-RU" dirty="0" smtClean="0"/>
              <a:t>В 2001 году в США, штате Юта, подписывается манифест гибкой методологии разработки программного обеспечения «</a:t>
            </a:r>
            <a:r>
              <a:rPr lang="ru-RU" b="1" dirty="0" err="1" smtClean="0"/>
              <a:t>Agile</a:t>
            </a:r>
            <a:r>
              <a:rPr lang="ru-RU" b="1" dirty="0" smtClean="0"/>
              <a:t> </a:t>
            </a:r>
            <a:r>
              <a:rPr lang="ru-RU" b="1" dirty="0" err="1" smtClean="0"/>
              <a:t>Manifesto</a:t>
            </a:r>
            <a:r>
              <a:rPr lang="ru-RU" dirty="0" smtClean="0"/>
              <a:t>», </a:t>
            </a:r>
            <a:r>
              <a:rPr lang="ru-RU" dirty="0" err="1" smtClean="0"/>
              <a:t>Agile</a:t>
            </a:r>
            <a:r>
              <a:rPr lang="ru-RU" dirty="0" smtClean="0"/>
              <a:t> представляет собой семейство методологий разработки в которое вошли такие как: экстремальное программирование, SCRUM, DSDM, ASD, мало известная методология </a:t>
            </a:r>
            <a:r>
              <a:rPr lang="ru-RU" dirty="0" err="1" smtClean="0"/>
              <a:t>Crystal</a:t>
            </a:r>
            <a:r>
              <a:rPr lang="ru-RU" dirty="0" smtClean="0"/>
              <a:t>, FDD, </a:t>
            </a:r>
            <a:r>
              <a:rPr lang="ru-RU" dirty="0" err="1" smtClean="0"/>
              <a:t>Pragmatic</a:t>
            </a:r>
            <a:r>
              <a:rPr lang="ru-RU" dirty="0" smtClean="0"/>
              <a:t> </a:t>
            </a:r>
            <a:r>
              <a:rPr lang="ru-RU" dirty="0" err="1" smtClean="0"/>
              <a:t>Programming</a:t>
            </a:r>
            <a:r>
              <a:rPr lang="ru-RU" dirty="0" smtClean="0"/>
              <a:t> и прочие. </a:t>
            </a:r>
            <a:r>
              <a:rPr lang="ru-RU" dirty="0" err="1" smtClean="0"/>
              <a:t>Agile</a:t>
            </a:r>
            <a:r>
              <a:rPr lang="ru-RU" dirty="0" smtClean="0"/>
              <a:t> определяет 12 принципов, которых стоит придерживаться:</a:t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1. Наивысшим приоритетом для нас является удовлетворение потребностей заказчика, обеспечиваемой посредством регулярной и ранней поставке ценного программного обеспечения.</a:t>
            </a:r>
            <a:br>
              <a:rPr lang="ru-RU" dirty="0" smtClean="0"/>
            </a:br>
            <a:r>
              <a:rPr lang="ru-RU" dirty="0" smtClean="0"/>
              <a:t>2. Изменение требований приветствуется, даже на поздних стадиях разработки. Agile-процессы позволяют использовать изменения для обеспечения заказчику конкурентного преимущества.</a:t>
            </a:r>
            <a:br>
              <a:rPr lang="ru-RU" dirty="0" smtClean="0"/>
            </a:br>
            <a:r>
              <a:rPr lang="ru-RU" dirty="0" smtClean="0"/>
              <a:t>3. Работающий продукт следует выпускать как можно чаще, с периодичностью от пары недель до пары месяцев.</a:t>
            </a:r>
            <a:br>
              <a:rPr lang="ru-RU" dirty="0" smtClean="0"/>
            </a:br>
            <a:r>
              <a:rPr lang="ru-RU" dirty="0" smtClean="0"/>
              <a:t>4. На протяжении всего проекта разработчики и представители бизнеса должны ежедневно работать вместе.</a:t>
            </a:r>
            <a:br>
              <a:rPr lang="ru-RU" dirty="0" smtClean="0"/>
            </a:br>
            <a:r>
              <a:rPr lang="ru-RU" dirty="0" smtClean="0"/>
              <a:t>5. Над проектом должны работать мотивированные профессионалы. Чтобы работа была сделана, создайте условия, обеспечьте поддержку и полностью доверьтесь им.</a:t>
            </a:r>
            <a:br>
              <a:rPr lang="ru-RU" dirty="0" smtClean="0"/>
            </a:br>
            <a:r>
              <a:rPr lang="ru-RU" dirty="0" smtClean="0"/>
              <a:t>6. Непосредственное общение является наиболее практичным и эффективным способом обмена информацией как с самой командой, так и внутри команды.</a:t>
            </a:r>
            <a:br>
              <a:rPr lang="ru-RU" dirty="0" smtClean="0"/>
            </a:br>
            <a:r>
              <a:rPr lang="ru-RU" dirty="0" smtClean="0"/>
              <a:t>7. Работающий продукт — основной показатель прогресса.</a:t>
            </a:r>
            <a:br>
              <a:rPr lang="ru-RU" dirty="0" smtClean="0"/>
            </a:br>
            <a:r>
              <a:rPr lang="ru-RU" dirty="0" smtClean="0"/>
              <a:t>8. Инвесторы, разработчики и пользователи должны иметь возможность поддерживать постоянный ритм бесконечно. </a:t>
            </a:r>
            <a:r>
              <a:rPr lang="ru-RU" dirty="0" err="1" smtClean="0"/>
              <a:t>Agile</a:t>
            </a:r>
            <a:r>
              <a:rPr lang="ru-RU" dirty="0" smtClean="0"/>
              <a:t> помогает наладить такой устойчивый процесс разработки.</a:t>
            </a:r>
            <a:br>
              <a:rPr lang="ru-RU" dirty="0" smtClean="0"/>
            </a:br>
            <a:r>
              <a:rPr lang="ru-RU" dirty="0" smtClean="0"/>
              <a:t>9. Постоянное внимание к техническому совершенству и качеству проектирования повышает гибкость проекта.</a:t>
            </a:r>
            <a:br>
              <a:rPr lang="ru-RU" dirty="0" smtClean="0"/>
            </a:br>
            <a:r>
              <a:rPr lang="ru-RU" dirty="0" smtClean="0"/>
              <a:t>10. Простота — искусство минимизации лишней работы — крайне необходима.</a:t>
            </a:r>
            <a:br>
              <a:rPr lang="ru-RU" dirty="0" smtClean="0"/>
            </a:br>
            <a:r>
              <a:rPr lang="ru-RU" dirty="0" smtClean="0"/>
              <a:t>11. Самые лучшие требования, архитектурные и технические решения рождаются у самоорганизующихся команд.</a:t>
            </a:r>
            <a:br>
              <a:rPr lang="ru-RU" dirty="0" smtClean="0"/>
            </a:br>
            <a:r>
              <a:rPr lang="ru-RU" dirty="0" smtClean="0"/>
              <a:t>12. Команда должна систематически анализировать возможные способы улучшения эффективности и соответственно корректировать стиль своей работы.</a:t>
            </a:r>
            <a:endParaRPr lang="ru-RU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Методологии управления информационными проектами. 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573216"/>
          </a:xfrm>
        </p:spPr>
        <p:txBody>
          <a:bodyPr>
            <a:noAutofit/>
          </a:bodyPr>
          <a:lstStyle/>
          <a:p>
            <a:r>
              <a:rPr lang="ru-RU" sz="1400" dirty="0" smtClean="0"/>
              <a:t>Метод </a:t>
            </a:r>
            <a:r>
              <a:rPr lang="ru-RU" sz="1400" b="1" dirty="0" smtClean="0"/>
              <a:t>OKR</a:t>
            </a:r>
            <a:r>
              <a:rPr lang="ru-RU" sz="1400" dirty="0" smtClean="0"/>
              <a:t> – это сравнительно агрессивная техника </a:t>
            </a:r>
            <a:r>
              <a:rPr lang="ru-RU" sz="1400" dirty="0" err="1" smtClean="0"/>
              <a:t>целеполагания</a:t>
            </a:r>
            <a:r>
              <a:rPr lang="ru-RU" sz="1400" dirty="0" smtClean="0"/>
              <a:t> и планирования. Изначально метод использовался для постановки квартальных целей, однако сегодня большинство компаний используют его и для годового планирования. Суть в том, что для каждой заданной цели должен существовать ряд измеряемых результатов (метрик), которые бы показывали, насколько достигнута цель.</a:t>
            </a:r>
          </a:p>
          <a:p>
            <a:r>
              <a:rPr lang="ru-RU" sz="1400" dirty="0" smtClean="0"/>
              <a:t>Это помогает, во-первых, добиться измеримости прогресса в конкретных показателях, а во-вторых, не размывать фокус в повседневной работе. С тем, чтобы не распыляться и избежать выгорания, связано и ограничение на цели и метрики. Можно создать </a:t>
            </a:r>
            <a:r>
              <a:rPr lang="ru-RU" sz="1400" b="1" dirty="0" smtClean="0"/>
              <a:t>не более 5 целей на планируемый период и не более 4 метрик для каждой</a:t>
            </a:r>
            <a:r>
              <a:rPr lang="ru-RU" sz="1400" dirty="0" smtClean="0"/>
              <a:t> из них.</a:t>
            </a:r>
          </a:p>
          <a:p>
            <a:r>
              <a:rPr lang="ru-RU" sz="1400" dirty="0" smtClean="0"/>
              <a:t>Ключевая особенность метода состоит в том, что эти </a:t>
            </a:r>
            <a:r>
              <a:rPr lang="ru-RU" sz="1400" b="1" dirty="0" smtClean="0"/>
              <a:t>цели должны быть принципиально недостижимы</a:t>
            </a:r>
            <a:r>
              <a:rPr lang="ru-RU" sz="1400" dirty="0" smtClean="0"/>
              <a:t>. Если цели достигнуты на 100%, они считаются недостаточно амбициозно поставленными, и в планировании на следующий период нужно это учесть. Оптимальным будет выполнение 60-75% результатов из каждой цели. Получается, что OKR с самого начала провоцирует вас на пресловутый выход из зоны комфорта и более смелый подход к планированию.</a:t>
            </a:r>
          </a:p>
          <a:p>
            <a:r>
              <a:rPr lang="ru-RU" sz="1400" dirty="0" smtClean="0"/>
              <a:t>Другая особенность методики, отличающая ее от KPI и других методов измерения производительности, это то, что </a:t>
            </a:r>
            <a:r>
              <a:rPr lang="ru-RU" sz="1400" b="1" dirty="0" smtClean="0"/>
              <a:t>OKR никак не влияют на оценку сотрудника и размер бонусов</a:t>
            </a:r>
            <a:r>
              <a:rPr lang="ru-RU" sz="1400" dirty="0" smtClean="0"/>
              <a:t> и прочих поощрений. Считается, что OKR можно использовать только в том случае, если компания сознательно культивирует доверие к сотрудникам. Без кнута и пряника людям будет проще ставить действительно сложные цели, не боясь, что их накажут за невыполнение, а тактика постановки простых целей, чтобы получить премию в конце квартала, окажется бессмысленной.</a:t>
            </a:r>
            <a:endParaRPr lang="ru-RU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 smtClean="0"/>
              <a:t>Agile</a:t>
            </a:r>
            <a:r>
              <a:rPr lang="ru-RU" dirty="0" smtClean="0"/>
              <a:t>. </a:t>
            </a:r>
            <a:endParaRPr lang="ru-RU" dirty="0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 descr="https://habrastorage.org/files/4d5/c04/2f7/4d5c042f74a84d76ba5034559253fb5c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412776"/>
            <a:ext cx="8280920" cy="5184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 smtClean="0"/>
              <a:t>Agile</a:t>
            </a:r>
            <a:r>
              <a:rPr lang="ru-RU" dirty="0" smtClean="0"/>
              <a:t>. </a:t>
            </a:r>
            <a:endParaRPr lang="ru-RU" dirty="0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dirty="0" smtClean="0"/>
              <a:t>Как соотносится размер истории и ее ценность? Никак.</a:t>
            </a:r>
            <a:r>
              <a:rPr lang="ru-RU" dirty="0" smtClean="0"/>
              <a:t> Больше не значит лучше. Ценность и сложность задачи — вот что помогает Пэт расставлять приоритеты.</a:t>
            </a:r>
            <a:br>
              <a:rPr lang="ru-RU" dirty="0" smtClean="0"/>
            </a:br>
            <a:endParaRPr lang="ru-RU" dirty="0" smtClean="0"/>
          </a:p>
          <a:p>
            <a:r>
              <a:rPr lang="ru-RU" b="1" dirty="0" smtClean="0"/>
              <a:t>Как владелец продукта определяет ценность и объем истории? Никак.</a:t>
            </a:r>
            <a:r>
              <a:rPr lang="ru-RU" dirty="0" smtClean="0"/>
              <a:t> Это игра в </a:t>
            </a:r>
            <a:r>
              <a:rPr lang="ru-RU" dirty="0" err="1" smtClean="0"/>
              <a:t>угадайку</a:t>
            </a:r>
            <a:r>
              <a:rPr lang="ru-RU" dirty="0" smtClean="0"/>
              <a:t>. И лучше в ней участвовать всем. Пэт постоянно общается с заинтересованными лицами, чтобы знать ценность каждой истории, общается с командой разработчиков, чтобы знать объем работ, но все это приблизительные догадки, никаких точных цифр. Вначале всегда будут промахи и это нормально. Гораздо большую ценность представляет общение, чем сверхточные цифры.</a:t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 smtClean="0"/>
              <a:t>Agile</a:t>
            </a:r>
            <a:r>
              <a:rPr lang="ru-RU" dirty="0" smtClean="0"/>
              <a:t>. 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 descr="https://habrastorage.org/files/dde/507/53a/dde50753a2c945efa946080b9d64cb15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556792"/>
            <a:ext cx="8640960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 smtClean="0"/>
              <a:t>Agile</a:t>
            </a:r>
            <a:r>
              <a:rPr lang="ru-RU" dirty="0" smtClean="0"/>
              <a:t>. 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 descr="https://habrastorage.org/files/a82/c07/77b/a82c0777b3b44c5ead0f6b391e953967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124744"/>
            <a:ext cx="8460432" cy="547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 smtClean="0"/>
              <a:t>Agile</a:t>
            </a:r>
            <a:r>
              <a:rPr lang="ru-RU" dirty="0" smtClean="0"/>
              <a:t>. 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 descr="https://habrastorage.org/files/359/fdd/b88/359fddb884ae43529b823cb92338c170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268760"/>
            <a:ext cx="5133975" cy="2880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Рисунок 6" descr="https://habrastorage.org/files/c79/222/444/c792224448fe45ef94fdb256a6ab4209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63888" y="4219513"/>
            <a:ext cx="4886325" cy="2638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 smtClean="0"/>
              <a:t>Agile</a:t>
            </a:r>
            <a:r>
              <a:rPr lang="ru-RU" dirty="0" smtClean="0"/>
              <a:t>. 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" name="Рисунок 7" descr="imag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412776"/>
            <a:ext cx="8280920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SCRUM</a:t>
            </a:r>
            <a:r>
              <a:rPr lang="ru-RU" dirty="0" smtClean="0"/>
              <a:t>. 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fontAlgn="t">
              <a:buNone/>
            </a:pPr>
            <a:r>
              <a:rPr lang="ru-RU" dirty="0" smtClean="0"/>
              <a:t>Для </a:t>
            </a:r>
            <a:r>
              <a:rPr lang="ru-RU" dirty="0" err="1" smtClean="0"/>
              <a:t>скрам-процесса</a:t>
            </a:r>
            <a:r>
              <a:rPr lang="ru-RU" dirty="0" smtClean="0"/>
              <a:t> необходимы:</a:t>
            </a:r>
          </a:p>
          <a:p>
            <a:pPr lvl="0" fontAlgn="t"/>
            <a:r>
              <a:rPr lang="ru-RU" dirty="0" smtClean="0"/>
              <a:t>Доска (существующая реально или в системе управления проектами): на ней команда может прочитать, над какими задачами сейчас идет работа, кто ими занимается и каков статус каждой задачи</a:t>
            </a:r>
          </a:p>
          <a:p>
            <a:pPr lvl="0" fontAlgn="t"/>
            <a:r>
              <a:rPr lang="ru-RU" dirty="0" smtClean="0"/>
              <a:t>Владелец продукта, который разбивает крупный проект на отдельные задачи и определяет, какие из них следует завершить в первую очередь</a:t>
            </a:r>
          </a:p>
          <a:p>
            <a:pPr lvl="0" fontAlgn="t"/>
            <a:r>
              <a:rPr lang="ru-RU" dirty="0" smtClean="0"/>
              <a:t>Участники команды, работающие над своими приоритетными задачами в течение определенного срока — спринта (это может быть день, неделя, две недели, месяц)</a:t>
            </a:r>
          </a:p>
          <a:p>
            <a:pPr lvl="0" fontAlgn="t"/>
            <a:r>
              <a:rPr lang="ru-RU" dirty="0" err="1" smtClean="0"/>
              <a:t>Скрам-мастер</a:t>
            </a:r>
            <a:r>
              <a:rPr lang="ru-RU" dirty="0" smtClean="0"/>
              <a:t>, который проводит ежедневные летучки длительностью не больше 10 минут, где каждый член команды рассказывает остальным о проделанной им работе</a:t>
            </a:r>
          </a:p>
          <a:p>
            <a:pPr lvl="0" fontAlgn="t"/>
            <a:r>
              <a:rPr lang="ru-RU" dirty="0" smtClean="0"/>
              <a:t>Ретроспектива — анализ, проводящийся в конце каждого </a:t>
            </a:r>
            <a:r>
              <a:rPr lang="ru-RU" dirty="0" err="1" smtClean="0"/>
              <a:t>скрам-периода</a:t>
            </a:r>
            <a:r>
              <a:rPr lang="ru-RU" dirty="0" smtClean="0"/>
              <a:t>, чтобы оценить, что получилось, а что можно усовершенствовать в будущем (разбор полетов).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</a:t>
            </a:r>
            <a:r>
              <a:rPr lang="ru-RU" dirty="0" smtClean="0"/>
              <a:t>.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https://habrastorage.org/webt/59/e8/37/59e8378c4c14b734316121.p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55976" y="1412776"/>
            <a:ext cx="4392488" cy="503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Рисунок 4" descr="https://habrastorage.org/webt/59/e8/43/59e843159a875757508106.png">
            <a:hlinkClick r:id="rId3"/>
          </p:cNvPr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5576" y="1412776"/>
            <a:ext cx="3098346" cy="4955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</a:t>
            </a:r>
            <a:r>
              <a:rPr lang="ru-RU" dirty="0" smtClean="0"/>
              <a:t>.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Отдайте компьютерам скучную часть работы</a:t>
            </a:r>
          </a:p>
          <a:p>
            <a:pPr algn="just">
              <a:buNone/>
            </a:pP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Когда вас постоянно отвлекают совещания и почтовые письма, трудно выкроить время для вдумчивого анализа кода. Ментальных сил ещё меньше, чем времени. Чтение кода коллеги — </a:t>
            </a:r>
            <a:r>
              <a:rPr lang="ru-RU" dirty="0" err="1" smtClean="0"/>
              <a:t>когнитивно</a:t>
            </a:r>
            <a:r>
              <a:rPr lang="ru-RU" dirty="0" smtClean="0"/>
              <a:t> тяжёлая задача и требует высокого уровня концентрации. Не транжирьте эти ресурсы на задачи, которые может выполнить компьютер, особенно если он выполняет их лучше.</a:t>
            </a:r>
            <a:endParaRPr lang="ru-RU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</a:t>
            </a:r>
            <a:r>
              <a:rPr lang="ru-RU" dirty="0" smtClean="0"/>
              <a:t>.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268959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/>
              <a:t>Оформите аргументы по стилю в виде руководства по стилю</a:t>
            </a:r>
          </a:p>
          <a:p>
            <a:pPr>
              <a:buNone/>
            </a:pP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Обсуждение стиля — это потерянное время в процессе код </a:t>
            </a:r>
            <a:r>
              <a:rPr lang="ru-RU" dirty="0" err="1" smtClean="0"/>
              <a:t>ревью</a:t>
            </a:r>
            <a:r>
              <a:rPr lang="ru-RU" dirty="0" smtClean="0"/>
              <a:t>. Разумеется, единообразный стиль важен, но обсуждение кода — неподходящее время для прений, где поставить фигурные скобки. Лучший способ исключить споры и стиле из всего процесса — завести руководство по стилю.</a:t>
            </a:r>
            <a:br>
              <a:rPr lang="ru-RU" dirty="0" smtClean="0"/>
            </a:br>
            <a:endParaRPr lang="ru-RU" dirty="0"/>
          </a:p>
        </p:txBody>
      </p:sp>
      <p:pic>
        <p:nvPicPr>
          <p:cNvPr id="4" name="Рисунок 3" descr="https://habrastorage.org/getpro/habr/post_images/275/261/322/275261322f32c3e0dce033e76a7b9d11.p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4221088"/>
            <a:ext cx="4248472" cy="2636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</a:t>
            </a:r>
            <a:r>
              <a:rPr lang="ru-RU" dirty="0" smtClean="0"/>
              <a:t>.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268959"/>
          </a:xfrm>
        </p:spPr>
        <p:txBody>
          <a:bodyPr>
            <a:normAutofit fontScale="85000" lnSpcReduction="10000"/>
          </a:bodyPr>
          <a:lstStyle/>
          <a:p>
            <a:r>
              <a:rPr lang="ru-RU" dirty="0" smtClean="0"/>
              <a:t>Начинайте </a:t>
            </a:r>
            <a:r>
              <a:rPr lang="ru-RU" dirty="0" err="1" smtClean="0"/>
              <a:t>ревью</a:t>
            </a:r>
            <a:r>
              <a:rPr lang="ru-RU" dirty="0" smtClean="0"/>
              <a:t> немедленно</a:t>
            </a:r>
          </a:p>
          <a:p>
            <a:pPr algn="just">
              <a:buNone/>
            </a:pP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Расценивайте </a:t>
            </a:r>
            <a:r>
              <a:rPr lang="ru-RU" dirty="0" err="1" smtClean="0"/>
              <a:t>code</a:t>
            </a:r>
            <a:r>
              <a:rPr lang="ru-RU" dirty="0" smtClean="0"/>
              <a:t> </a:t>
            </a:r>
            <a:r>
              <a:rPr lang="ru-RU" dirty="0" err="1" smtClean="0"/>
              <a:t>reviews</a:t>
            </a:r>
            <a:r>
              <a:rPr lang="ru-RU" dirty="0" smtClean="0"/>
              <a:t> как задачу с высоким приоритетом. Когда вы изучаете код или пишете отзыв, не торопитесь, но начинайте делать это немедленно — в идеале, в течение нескольких </a:t>
            </a:r>
            <a:r>
              <a:rPr lang="ru-RU" dirty="0" err="1" smtClean="0"/>
              <a:t>минут.руководство</a:t>
            </a:r>
            <a:r>
              <a:rPr lang="ru-RU" dirty="0" smtClean="0"/>
              <a:t> по стилю.</a:t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</a:t>
            </a:r>
            <a:r>
              <a:rPr lang="ru-RU" dirty="0" smtClean="0"/>
              <a:t>.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268959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/>
              <a:t>Начните с высокого уровня, и спускайтесь ниже</a:t>
            </a:r>
          </a:p>
          <a:p>
            <a:pPr algn="just">
              <a:buNone/>
            </a:pP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Чем больше заметок вы пишете в каждом конкретном раунде, тем больше риск, что автор будет чувствовать себя подавленным. Точный лимит зависит от разработчика, но опасная зона обычно начинается в районе 20-50 заметок на один раунд </a:t>
            </a:r>
            <a:r>
              <a:rPr lang="ru-RU" dirty="0" err="1" smtClean="0"/>
              <a:t>ревью</a:t>
            </a:r>
            <a:r>
              <a:rPr lang="ru-RU" dirty="0" smtClean="0"/>
              <a:t>.</a:t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</a:t>
            </a:r>
            <a:r>
              <a:rPr lang="ru-RU" dirty="0" smtClean="0"/>
              <a:t>.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997151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/>
              <a:t>Щедро используйте примеры кода</a:t>
            </a:r>
          </a:p>
          <a:p>
            <a:pPr algn="just">
              <a:buNone/>
            </a:pP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В идеальном мире автор кода будет благодарен за любое </a:t>
            </a:r>
            <a:r>
              <a:rPr lang="ru-RU" dirty="0" err="1" smtClean="0"/>
              <a:t>ревью</a:t>
            </a:r>
            <a:r>
              <a:rPr lang="ru-RU" dirty="0" smtClean="0"/>
              <a:t>. Для него это возможность учиться и защита от ошибок. В реальности много внешних факторов, из-за которых авторы могут негативно воспринять </a:t>
            </a:r>
            <a:r>
              <a:rPr lang="ru-RU" dirty="0" err="1" smtClean="0"/>
              <a:t>ревью</a:t>
            </a:r>
            <a:r>
              <a:rPr lang="ru-RU" dirty="0" smtClean="0"/>
              <a:t> и возмущаться, что вы делаете замечания к их коду. Может, они спешат из-за </a:t>
            </a:r>
            <a:r>
              <a:rPr lang="ru-RU" dirty="0" err="1" smtClean="0"/>
              <a:t>дедлайна</a:t>
            </a:r>
            <a:r>
              <a:rPr lang="ru-RU" dirty="0" smtClean="0"/>
              <a:t>, так что любая заминка, кроме мгновенного одобрения, кажется препятствием. Может, вы не так долго работаете вместе и они не верят, что ваше замечание сделано из благих намерений.</a:t>
            </a:r>
            <a:br>
              <a:rPr lang="ru-RU" dirty="0" smtClean="0"/>
            </a:br>
            <a:r>
              <a:rPr lang="ru-RU" dirty="0" smtClean="0"/>
              <a:t>.</a:t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</a:t>
            </a:r>
            <a:r>
              <a:rPr lang="ru-RU" dirty="0" smtClean="0"/>
              <a:t>.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997151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Никогда не говорите «ты»</a:t>
            </a:r>
          </a:p>
          <a:p>
            <a:pPr algn="just">
              <a:buNone/>
            </a:pP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Ваши решения должны быть основаны на идеях по улучшению кода, а не на том, кто придумал эти идеи. Ваш коллега потратил немало сил на свой список изменений и код и, наверное, гордится проделанной работой. Естественная реакция на критику его работы — стать в оборонительную позу.</a:t>
            </a:r>
            <a:br>
              <a:rPr lang="ru-RU" dirty="0" smtClean="0"/>
            </a:br>
            <a:r>
              <a:rPr lang="ru-RU" dirty="0" smtClean="0"/>
              <a:t>Подбирайте слова для отзыва таким образом, чтобы минимизировать риск возникновения оборонительной позы. Чётко обозначьте, что вы критикуете код, а не самого разработчика. Когда автор видит в комментарии личное обращение к нему, это отвлекает его внимание от кода и переводит внимание на личность. Так повышается риск, что он воспримет критику лично.</a:t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</a:t>
            </a:r>
            <a:r>
              <a:rPr lang="ru-RU" dirty="0" smtClean="0"/>
              <a:t>.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997151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/>
              <a:t>Оформляйте отзывы как запросы, а не команды</a:t>
            </a:r>
          </a:p>
          <a:p>
            <a:pPr algn="just">
              <a:buNone/>
            </a:pP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Код </a:t>
            </a:r>
            <a:r>
              <a:rPr lang="ru-RU" dirty="0" err="1" smtClean="0"/>
              <a:t>ревью</a:t>
            </a:r>
            <a:r>
              <a:rPr lang="ru-RU" dirty="0" smtClean="0"/>
              <a:t> требует большего такта и осторожности, чем обычное общение, потому что здесь выше риск, что обсуждение скатится в личный спор. Казалось бы, рецензенты должны проявлять </a:t>
            </a:r>
            <a:r>
              <a:rPr lang="ru-RU" dirty="0" err="1" smtClean="0"/>
              <a:t>бóльшую</a:t>
            </a:r>
            <a:r>
              <a:rPr lang="ru-RU" dirty="0" smtClean="0"/>
              <a:t> вежливость и учтивость в код </a:t>
            </a:r>
            <a:r>
              <a:rPr lang="ru-RU" dirty="0" err="1" smtClean="0"/>
              <a:t>ревью</a:t>
            </a:r>
            <a:r>
              <a:rPr lang="ru-RU" dirty="0" smtClean="0"/>
              <a:t> по сравнению с личным общением. Но я обнаружил страннейшим образом прямо противоположную ситуацию. Многие люди никогда не скажут коллеге, «Дай мне этот </a:t>
            </a:r>
            <a:r>
              <a:rPr lang="ru-RU" dirty="0" err="1" smtClean="0"/>
              <a:t>степлер</a:t>
            </a:r>
            <a:r>
              <a:rPr lang="ru-RU" dirty="0" smtClean="0"/>
              <a:t>, а потом принеси газировки». Но я видел множество случаев, когда рецензенты оформляют отзывы в таком командном стиле, вроде «Перенеси этот класс в отдельный файл».</a:t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</a:t>
            </a:r>
            <a:r>
              <a:rPr lang="ru-RU" dirty="0" smtClean="0"/>
              <a:t>.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997151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Обосновывайте принципами, а не мнениями</a:t>
            </a:r>
          </a:p>
          <a:p>
            <a:pPr>
              <a:buNone/>
            </a:pP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Когда составляете замечание для автора, то объясните и предлагаемое изменение, и его </a:t>
            </a:r>
            <a:r>
              <a:rPr lang="ru-RU" i="1" dirty="0" smtClean="0"/>
              <a:t>причину</a:t>
            </a:r>
            <a:r>
              <a:rPr lang="ru-RU" dirty="0" smtClean="0"/>
              <a:t>. Вместо фразы «Нам следует разделить этот класс на два» лучше сказать «Сейчас этот класс отвечает одновременно и за скачивание файла, и за его </a:t>
            </a:r>
            <a:r>
              <a:rPr lang="ru-RU" dirty="0" err="1" smtClean="0"/>
              <a:t>парсинг</a:t>
            </a:r>
            <a:r>
              <a:rPr lang="ru-RU" dirty="0" smtClean="0"/>
              <a:t>. Следует разделить его на класс для скачивания и на класс для </a:t>
            </a:r>
            <a:r>
              <a:rPr lang="ru-RU" dirty="0" err="1" smtClean="0"/>
              <a:t>парсинга</a:t>
            </a:r>
            <a:r>
              <a:rPr lang="ru-RU" dirty="0" smtClean="0"/>
              <a:t> согласно принципу единой ответственности».</a:t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</a:t>
            </a:r>
            <a:r>
              <a:rPr lang="ru-RU" dirty="0" smtClean="0"/>
              <a:t>.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997151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Стремитесь повысить уровень качества кода только на одну-две ступени</a:t>
            </a:r>
            <a:endParaRPr lang="ru-RU" b="1" dirty="0" smtClean="0"/>
          </a:p>
          <a:p>
            <a:pPr>
              <a:buNone/>
            </a:pP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Хотя в </a:t>
            </a:r>
            <a:r>
              <a:rPr lang="ru-RU" i="1" dirty="0" smtClean="0"/>
              <a:t>теории</a:t>
            </a:r>
            <a:r>
              <a:rPr lang="ru-RU" dirty="0" smtClean="0"/>
              <a:t> у вашего коллеги может быть желание исправить абсолютно все недочёты в коде, но его терпение не безгранично. Если вы станете тянуть с одобрением раунд за раундом, у него быстро появится раздражение, потому что у вас возникают всё новые и новые блестящие идеи, как улучшить код.</a:t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</a:t>
            </a:r>
            <a:r>
              <a:rPr lang="ru-RU" dirty="0" smtClean="0"/>
              <a:t>.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997151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/>
              <a:t>Ограничьте </a:t>
            </a:r>
            <a:r>
              <a:rPr lang="ru-RU" dirty="0" err="1" smtClean="0"/>
              <a:t>фидбек</a:t>
            </a:r>
            <a:r>
              <a:rPr lang="ru-RU" dirty="0" smtClean="0"/>
              <a:t> по повторяющимся примерам</a:t>
            </a:r>
            <a:endParaRPr lang="ru-RU" b="1" dirty="0" smtClean="0"/>
          </a:p>
          <a:p>
            <a:pPr>
              <a:buNone/>
            </a:pP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Если вы заметили, что у автора несколько раз повторяются однотипные ошибки, не нужно помечать каждый случай. Не стоит тратить время на написание одного и того же 25 раз, и автор тоже не захочет читать 25 повторяющихся замечаний.</a:t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Нормально будет назвать два или три отдельных случая ошибок этого типа. Для всего остального просто попросите автора исправить все ошибки этого типа, а не перечисляйте каждый конкретный случай.</a:t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</a:t>
            </a:r>
            <a:r>
              <a:rPr lang="ru-RU" dirty="0" smtClean="0"/>
              <a:t>.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997151"/>
          </a:xfrm>
        </p:spPr>
        <p:txBody>
          <a:bodyPr>
            <a:normAutofit fontScale="85000" lnSpcReduction="10000"/>
          </a:bodyPr>
          <a:lstStyle/>
          <a:p>
            <a:r>
              <a:rPr lang="ru-RU" dirty="0" smtClean="0"/>
              <a:t>Уважайте область </a:t>
            </a:r>
            <a:r>
              <a:rPr lang="ru-RU" dirty="0" err="1" smtClean="0"/>
              <a:t>ревью</a:t>
            </a:r>
            <a:endParaRPr lang="ru-RU" b="1" dirty="0" smtClean="0"/>
          </a:p>
          <a:p>
            <a:pPr>
              <a:buNone/>
            </a:pP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Существует пример неправильных действий, когда рецензент обнаруживает что-то </a:t>
            </a:r>
            <a:r>
              <a:rPr lang="ru-RU" i="1" dirty="0" smtClean="0"/>
              <a:t>рядом</a:t>
            </a:r>
            <a:r>
              <a:rPr lang="ru-RU" dirty="0" smtClean="0"/>
              <a:t> с кодом из списка изменений — и просит автора исправить. Когда тот удовлетворяет просьбу, рецензент обычно находит, что код стал лучше, но он теперь непоследователен, так что нужно произвести ещё несколько незначительных изменений. А потом ещё несколько. Это продолжается и продолжается, пока конкретный лаконичный список изменений не разрастётся, вобрав в себя кучу посторонних вещей.</a:t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</a:t>
            </a:r>
            <a:r>
              <a:rPr lang="ru-RU" dirty="0" smtClean="0"/>
              <a:t>.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997151"/>
          </a:xfrm>
        </p:spPr>
        <p:txBody>
          <a:bodyPr>
            <a:normAutofit fontScale="92500"/>
          </a:bodyPr>
          <a:lstStyle/>
          <a:p>
            <a:r>
              <a:rPr lang="ru-RU" dirty="0" smtClean="0"/>
              <a:t>Ищите возможность разбить большие </a:t>
            </a:r>
            <a:r>
              <a:rPr lang="ru-RU" dirty="0" err="1" smtClean="0"/>
              <a:t>ревью</a:t>
            </a:r>
            <a:endParaRPr lang="ru-RU" b="1" dirty="0" smtClean="0"/>
          </a:p>
          <a:p>
            <a:pPr>
              <a:buNone/>
            </a:pP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Если вы получаете список изменений из более чем ~400 строк кода, попросите автора разбить его на более мелкие части. Чем больше строк выходит за пределы этого лимита, тем труднее подготовить ответ. Лично я отказываюсь рассматривать списки изменений более чем на 1000 строк..</a:t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https://habrastorage.org/webt/gg/eq/2b/ggeq2b7gtfuzagm6fuy-lzoay0g.p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84748" y="0"/>
            <a:ext cx="3059252" cy="24492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</a:t>
            </a:r>
            <a:r>
              <a:rPr lang="ru-RU" dirty="0" smtClean="0"/>
              <a:t>.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6635080" cy="5573215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/>
              <a:t>Искренне хвалите</a:t>
            </a:r>
            <a:endParaRPr lang="ru-RU" b="1" dirty="0" smtClean="0"/>
          </a:p>
          <a:p>
            <a:pPr>
              <a:buNone/>
            </a:pP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Большинство рецензентов фокусируются на </a:t>
            </a:r>
            <a:r>
              <a:rPr lang="ru-RU" i="1" dirty="0" smtClean="0"/>
              <a:t>ошибках</a:t>
            </a:r>
            <a:r>
              <a:rPr lang="ru-RU" dirty="0" smtClean="0"/>
              <a:t> в коде, но </a:t>
            </a:r>
            <a:r>
              <a:rPr lang="ru-RU" dirty="0" err="1" smtClean="0"/>
              <a:t>код-ревью</a:t>
            </a:r>
            <a:r>
              <a:rPr lang="ru-RU" dirty="0" smtClean="0"/>
              <a:t> — это великолепная возможность поощрить правильное поведение.</a:t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Например, вы рассматриваете код от автора, у которого проблемы с написанием документации — и вдруг натыкаетесь на чёткий, лаконичный комментарий к функции. Скажите автору о его успехе. Он будет быстрее прогрессировать, если вы будете сообщать о правильных действиях, а не просто ждать того случая, когда он </a:t>
            </a:r>
            <a:r>
              <a:rPr lang="ru-RU" dirty="0" err="1" smtClean="0"/>
              <a:t>облажается</a:t>
            </a:r>
            <a:r>
              <a:rPr lang="ru-RU" dirty="0" smtClean="0"/>
              <a:t> — чтобы сообщить ему об этом.</a:t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1841</Words>
  <Application>Microsoft Office PowerPoint</Application>
  <PresentationFormat>Экран (4:3)</PresentationFormat>
  <Paragraphs>222</Paragraphs>
  <Slides>52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52</vt:i4>
      </vt:variant>
    </vt:vector>
  </HeadingPairs>
  <TitlesOfParts>
    <vt:vector size="53" baseType="lpstr">
      <vt:lpstr>Тема Office</vt:lpstr>
      <vt:lpstr>Лекции по курсу «Технологии проектирования бизнес-приложений» </vt:lpstr>
      <vt:lpstr>Жизненный цикл ПО</vt:lpstr>
      <vt:lpstr>Жизненный цикл ПО</vt:lpstr>
      <vt:lpstr>Жизненный цикл ПО</vt:lpstr>
      <vt:lpstr>Жизненный цикл ПО</vt:lpstr>
      <vt:lpstr>Модели жизненного цикла ПО</vt:lpstr>
      <vt:lpstr>Модели жизненного цикла ПО</vt:lpstr>
      <vt:lpstr>Модели жизненного цикла ПО</vt:lpstr>
      <vt:lpstr>Модели жизненного цикла ПО</vt:lpstr>
      <vt:lpstr>Модели жизненного цикла ПО</vt:lpstr>
      <vt:lpstr>Модели жизненного цикла ПО</vt:lpstr>
      <vt:lpstr>Работа с временными интервалами</vt:lpstr>
      <vt:lpstr>Способы организации программистов. </vt:lpstr>
      <vt:lpstr>Способы организации программистов. </vt:lpstr>
      <vt:lpstr>Способы организации программистов. </vt:lpstr>
      <vt:lpstr>Способы организации программистов. </vt:lpstr>
      <vt:lpstr>Способы организации программистов. </vt:lpstr>
      <vt:lpstr>Методологии управления информационными проектами. </vt:lpstr>
      <vt:lpstr>Методологии управления информационными проектами. </vt:lpstr>
      <vt:lpstr>Методологии управления информационными проектами. </vt:lpstr>
      <vt:lpstr>Методологии управления информационными проектами. </vt:lpstr>
      <vt:lpstr>Методологии управления информационными проектами. </vt:lpstr>
      <vt:lpstr>Методологии управления информационными проектами. </vt:lpstr>
      <vt:lpstr>Методологии управления информационными проектами. </vt:lpstr>
      <vt:lpstr>Методологии управления информационными проектами. </vt:lpstr>
      <vt:lpstr>Методологии управления информационными проектами. </vt:lpstr>
      <vt:lpstr>Методологии управления информационными проектами. </vt:lpstr>
      <vt:lpstr>Методологии управления информационными проектами. </vt:lpstr>
      <vt:lpstr>Методологии управления информационными проектами. </vt:lpstr>
      <vt:lpstr>Методологии управления информационными проектами. </vt:lpstr>
      <vt:lpstr>Методологии управления информационными проектами. </vt:lpstr>
      <vt:lpstr>Agile. </vt:lpstr>
      <vt:lpstr>Agile. </vt:lpstr>
      <vt:lpstr>Agile. </vt:lpstr>
      <vt:lpstr>Agile. </vt:lpstr>
      <vt:lpstr>Agile. </vt:lpstr>
      <vt:lpstr>Agile. </vt:lpstr>
      <vt:lpstr>SCRUM. </vt:lpstr>
      <vt:lpstr>Review. </vt:lpstr>
      <vt:lpstr>Review. </vt:lpstr>
      <vt:lpstr>Review. </vt:lpstr>
      <vt:lpstr>Review. </vt:lpstr>
      <vt:lpstr>Review. </vt:lpstr>
      <vt:lpstr>Review. </vt:lpstr>
      <vt:lpstr>Review. </vt:lpstr>
      <vt:lpstr>Review. </vt:lpstr>
      <vt:lpstr>Review. </vt:lpstr>
      <vt:lpstr>Review. </vt:lpstr>
      <vt:lpstr>Review. </vt:lpstr>
      <vt:lpstr>Review. </vt:lpstr>
      <vt:lpstr>Review. </vt:lpstr>
      <vt:lpstr>Review.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Александра Титова</dc:creator>
  <cp:lastModifiedBy>Александра Титова</cp:lastModifiedBy>
  <cp:revision>21</cp:revision>
  <dcterms:created xsi:type="dcterms:W3CDTF">2023-09-16T05:24:55Z</dcterms:created>
  <dcterms:modified xsi:type="dcterms:W3CDTF">2023-09-16T14:55:39Z</dcterms:modified>
</cp:coreProperties>
</file>