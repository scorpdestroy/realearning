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7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7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70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s/slide7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slides/slide7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Default Extension="gif" ContentType="image/gif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Layouts/slideLayout8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5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5" r:id="rId70"/>
    <p:sldId id="326" r:id="rId71"/>
    <p:sldId id="327" r:id="rId72"/>
    <p:sldId id="324" r:id="rId73"/>
    <p:sldId id="328" r:id="rId74"/>
    <p:sldId id="329" r:id="rId75"/>
    <p:sldId id="330" r:id="rId7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6" d="100"/>
          <a:sy n="76" d="100"/>
        </p:scale>
        <p:origin x="-84" y="-7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03.11.2023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03.11.2023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03.11.2023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03.11.2023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03.11.2023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03.11.2023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03.11.2023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03.11.2023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03.11.2023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03.11.2023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03.11.2023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03.11.2023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martinfowler.com/eaaDev/PassiveScreen.html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://www.informit.com/articles/article.aspx?p=1398617&amp;seqNum=2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://c2.com/cgi/wiki?ModelModelViewController" TargetMode="External"/><Relationship Id="rId2" Type="http://schemas.openxmlformats.org/officeDocument/2006/relationships/hyperlink" Target="https://ru.wikipedia.org/wiki/Model-View-ViewMode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c.qt.io/archives/4.6/model-view-proxy-models.html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://martinfowler.com/eaaDev/PresentationModel.html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msdn.microsoft.com/en-us/library/ff921080.aspx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s://msdn.microsoft.com/en-us/library/ff921080.aspx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://www.javaworld.com/article/2076632/core-java/mvc-meets-swing.html" TargetMode="Externa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://c2.com/cgi/wiki?RecursiveModelViewController" TargetMode="External"/><Relationship Id="rId2" Type="http://schemas.openxmlformats.org/officeDocument/2006/relationships/hyperlink" Target="http://www.javaworld.com/article/2076128/design-patterns/hmvc--the-layered-pattern-for-developing-strong-client-tiers.html?page=2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gif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hyperlink" Target="http://ru.wikipedia.org/wiki/%D0%A0%D0%B0%D0%B7%D0%B4%D1%83%D0%B2%D0%B0%D0%BD%D0%B8%D0%B5_%D0%BF%D1%80%D0%BE%D0%B3%D1%80%D0%B0%D0%BC%D0%BC%D0%BD%D0%BE%D0%B3%D0%BE_%D0%BE%D0%B1%D0%B5%D1%81%D0%BF%D0%B5%D1%87%D0%B5%D0%BD%D0%B8%D1%8F" TargetMode="Externa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hyperlink" Target="https://martinfowler.com/eaaCatalog/domainModel.html" TargetMode="Externa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djangoproject.com/en/3.1/faq/general/" TargetMode="Externa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8thlight.com/blog/uncle-bob/2011/09/30/Screaming-Architecture.html" TargetMode="External"/><Relationship Id="rId2" Type="http://schemas.openxmlformats.org/officeDocument/2006/relationships/hyperlink" Target="https://ru.wikipedia.org/wiki/%D0%9C%D0%B0%D1%80%D1%82%D0%B8%D0%BD,_%D0%A0%D0%BE%D0%B1%D0%B5%D1%80%D1%82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watch?v=Nsjsiz2A9mg" TargetMode="External"/><Relationship Id="rId5" Type="http://schemas.openxmlformats.org/officeDocument/2006/relationships/hyperlink" Target="https://8thlight.com/blog/uncle-bob/2012/08/13/the-clean-architecture.html" TargetMode="External"/><Relationship Id="rId4" Type="http://schemas.openxmlformats.org/officeDocument/2006/relationships/hyperlink" Target="https://8thlight.com/blog/uncle-bob/2011/11/22/Clean-Architecture.html" TargetMode="Externa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fernandocejas.com/2014/09/03/architecting-android-the-clean-way/" TargetMode="Externa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ru.wikipedia.org/wiki/DTO" TargetMode="Externa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android.com/topic/libraries/architecture/viewmodel.html" TargetMode="External"/><Relationship Id="rId2" Type="http://schemas.openxmlformats.org/officeDocument/2006/relationships/hyperlink" Target="https://ru.wikipedia.org/wiki/Model-View-ViewModel" TargetMode="Externa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hyperlink" Target="https://groups.google.com/forum/" TargetMode="Externa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hyperlink" Target="https://ru.wikipedia.org/wiki/%D0%A1%D1%86%D0%B5%D0%BD%D0%B0%D1%80%D0%B8%D0%B9_%D0%B8%D1%81%D0%BF%D0%BE%D0%BB%D1%8C%D0%B7%D0%BE%D0%B2%D0%B0%D0%BD%D0%B8%D1%8F" TargetMode="Externa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hyperlink" Target="https://habrahabr.ru/users/dmdev/" TargetMode="External"/><Relationship Id="rId2" Type="http://schemas.openxmlformats.org/officeDocument/2006/relationships/hyperlink" Target="https://habrahabr.ru/company/mobileup/blog/313538/" TargetMode="Externa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hyperlink" Target="http://enterprisecraftsmanship.com/2014/11/08/domain-object-base-class/" TargetMode="External"/><Relationship Id="rId2" Type="http://schemas.openxmlformats.org/officeDocument/2006/relationships/hyperlink" Target="http://enterprisecraftsmanship.com/2015/01/03/value-objects-explained/" TargetMode="Externa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Охота на мифический </a:t>
            </a:r>
            <a:r>
              <a:rPr lang="en-US" b="1" smtClean="0"/>
              <a:t>MVC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ru-RU" dirty="0" smtClean="0"/>
              <a:t>Проект мы переписали, уже без MVC, просто руководствуясь принципами – код перестал быть похож на клубок спагетти и сократился наполовину (об этом позже, в обещанной статье про то, как мы применяли «принципы» в своем проекте). Но хотелось понять, что же мы сделали не так, в чем была ошибка? И в течении долгого времени изучалось все, что содержало аббревиатуру MVC. До тех пор пока не встретились исходные работы от создателя – </a:t>
            </a:r>
            <a:r>
              <a:rPr lang="ru-RU" b="1" dirty="0" err="1" smtClean="0"/>
              <a:t>Трюгве</a:t>
            </a:r>
            <a:r>
              <a:rPr lang="ru-RU" b="1" dirty="0" smtClean="0"/>
              <a:t> </a:t>
            </a:r>
            <a:r>
              <a:rPr lang="ru-RU" b="1" dirty="0" err="1" smtClean="0"/>
              <a:t>Реенскауга</a:t>
            </a:r>
            <a:r>
              <a:rPr lang="ru-RU" dirty="0" smtClean="0"/>
              <a:t>…</a:t>
            </a:r>
          </a:p>
          <a:p>
            <a:pPr>
              <a:buNone/>
            </a:pPr>
            <a:endParaRPr lang="ru-RU" dirty="0" smtClean="0"/>
          </a:p>
          <a:p>
            <a:r>
              <a:rPr lang="ru-RU" dirty="0" smtClean="0"/>
              <a:t>И тогда все встало на свои места. Оказалось что фактически на основе принципов мы </a:t>
            </a:r>
            <a:r>
              <a:rPr lang="ru-RU" dirty="0" err="1" smtClean="0"/>
              <a:t>пере-изобретали</a:t>
            </a:r>
            <a:r>
              <a:rPr lang="ru-RU" dirty="0" smtClean="0"/>
              <a:t> «</a:t>
            </a:r>
            <a:r>
              <a:rPr lang="ru-RU" dirty="0" err="1" smtClean="0"/>
              <a:t>original</a:t>
            </a:r>
            <a:r>
              <a:rPr lang="ru-RU" dirty="0" smtClean="0"/>
              <a:t> MVC». А то, что зачастую преподносится как MVC, не имеет к нему никакого отношения… впрочем также как и к хорошей архитектуре. И судя по тому сколько людей пишет о несостоятельности «классического MVC», спорит о нем и изобретает его всевозможные модификации, не одни мы столкнулись с этой проблемой.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Охота на мифический </a:t>
            </a:r>
            <a:r>
              <a:rPr lang="en-US" b="1" smtClean="0"/>
              <a:t>MVC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404863"/>
          </a:xfrm>
        </p:spPr>
        <p:txBody>
          <a:bodyPr>
            <a:normAutofit fontScale="55000" lnSpcReduction="20000"/>
          </a:bodyPr>
          <a:lstStyle/>
          <a:p>
            <a:r>
              <a:rPr lang="en-US" dirty="0" err="1" smtClean="0"/>
              <a:t>Более</a:t>
            </a:r>
            <a:r>
              <a:rPr lang="en-US" dirty="0" smtClean="0"/>
              <a:t> 30 </a:t>
            </a:r>
            <a:r>
              <a:rPr lang="en-US" dirty="0" err="1" smtClean="0"/>
              <a:t>лет</a:t>
            </a:r>
            <a:r>
              <a:rPr lang="en-US" dirty="0" smtClean="0"/>
              <a:t> </a:t>
            </a:r>
            <a:r>
              <a:rPr lang="en-US" dirty="0" err="1" smtClean="0"/>
              <a:t>собранные</a:t>
            </a:r>
            <a:r>
              <a:rPr lang="en-US" dirty="0" smtClean="0"/>
              <a:t> в MVC </a:t>
            </a:r>
            <a:r>
              <a:rPr lang="en-US" dirty="0" err="1" smtClean="0"/>
              <a:t>идеи</a:t>
            </a:r>
            <a:r>
              <a:rPr lang="en-US" dirty="0" smtClean="0"/>
              <a:t> и </a:t>
            </a:r>
            <a:r>
              <a:rPr lang="en-US" dirty="0" err="1" smtClean="0"/>
              <a:t>решения</a:t>
            </a:r>
            <a:r>
              <a:rPr lang="en-US" dirty="0" smtClean="0"/>
              <a:t> </a:t>
            </a:r>
            <a:r>
              <a:rPr lang="en-US" dirty="0" err="1" smtClean="0"/>
              <a:t>остаются</a:t>
            </a:r>
            <a:r>
              <a:rPr lang="en-US" dirty="0" smtClean="0"/>
              <a:t> </a:t>
            </a:r>
            <a:r>
              <a:rPr lang="en-US" dirty="0" err="1" smtClean="0"/>
              <a:t>наиболее</a:t>
            </a:r>
            <a:r>
              <a:rPr lang="en-US" dirty="0" smtClean="0"/>
              <a:t> </a:t>
            </a:r>
            <a:r>
              <a:rPr lang="en-US" dirty="0" err="1" smtClean="0"/>
              <a:t>значимыми</a:t>
            </a:r>
            <a:r>
              <a:rPr lang="en-US" dirty="0" smtClean="0"/>
              <a:t> </a:t>
            </a:r>
            <a:r>
              <a:rPr lang="en-US" dirty="0" err="1" smtClean="0"/>
              <a:t>для</a:t>
            </a:r>
            <a:r>
              <a:rPr lang="en-US" dirty="0" smtClean="0"/>
              <a:t> </a:t>
            </a:r>
            <a:r>
              <a:rPr lang="en-US" dirty="0" err="1" smtClean="0"/>
              <a:t>разработки</a:t>
            </a:r>
            <a:r>
              <a:rPr lang="en-US" dirty="0" smtClean="0"/>
              <a:t> </a:t>
            </a:r>
            <a:r>
              <a:rPr lang="en-US" dirty="0" err="1" smtClean="0"/>
              <a:t>пользовательских</a:t>
            </a:r>
            <a:r>
              <a:rPr lang="en-US" dirty="0" smtClean="0"/>
              <a:t> </a:t>
            </a:r>
            <a:r>
              <a:rPr lang="en-US" dirty="0" err="1" smtClean="0"/>
              <a:t>интерфейсов</a:t>
            </a:r>
            <a:r>
              <a:rPr lang="en-US" dirty="0" smtClean="0"/>
              <a:t>. </a:t>
            </a:r>
            <a:r>
              <a:rPr lang="en-US" dirty="0" err="1" smtClean="0"/>
              <a:t>Но</a:t>
            </a:r>
            <a:r>
              <a:rPr lang="en-US" dirty="0" smtClean="0"/>
              <a:t> </a:t>
            </a:r>
            <a:r>
              <a:rPr lang="en-US" dirty="0" err="1" smtClean="0"/>
              <a:t>как</a:t>
            </a:r>
            <a:r>
              <a:rPr lang="en-US" dirty="0" smtClean="0"/>
              <a:t> </a:t>
            </a:r>
            <a:r>
              <a:rPr lang="en-US" dirty="0" err="1" smtClean="0"/>
              <a:t>ни</a:t>
            </a:r>
            <a:r>
              <a:rPr lang="en-US" dirty="0" smtClean="0"/>
              <a:t> </a:t>
            </a:r>
            <a:r>
              <a:rPr lang="en-US" dirty="0" err="1" smtClean="0"/>
              <a:t>странно</a:t>
            </a:r>
            <a:r>
              <a:rPr lang="en-US" dirty="0" smtClean="0"/>
              <a:t>, </a:t>
            </a:r>
            <a:r>
              <a:rPr lang="en-US" dirty="0" err="1" smtClean="0"/>
              <a:t>несмотря</a:t>
            </a:r>
            <a:r>
              <a:rPr lang="en-US" dirty="0" smtClean="0"/>
              <a:t> </a:t>
            </a:r>
            <a:r>
              <a:rPr lang="en-US" dirty="0" err="1" smtClean="0"/>
              <a:t>на</a:t>
            </a:r>
            <a:r>
              <a:rPr lang="en-US" dirty="0" smtClean="0"/>
              <a:t> </a:t>
            </a:r>
            <a:r>
              <a:rPr lang="en-US" dirty="0" err="1" smtClean="0"/>
              <a:t>существующую</a:t>
            </a:r>
            <a:r>
              <a:rPr lang="en-US" dirty="0" smtClean="0"/>
              <a:t> </a:t>
            </a:r>
            <a:r>
              <a:rPr lang="en-US" dirty="0" err="1" smtClean="0"/>
              <a:t>путаницу</a:t>
            </a:r>
            <a:r>
              <a:rPr lang="en-US" dirty="0" smtClean="0"/>
              <a:t> и </a:t>
            </a:r>
            <a:r>
              <a:rPr lang="en-US" dirty="0" err="1" smtClean="0"/>
              <a:t>обилие</a:t>
            </a:r>
            <a:r>
              <a:rPr lang="en-US" dirty="0" smtClean="0"/>
              <a:t> </a:t>
            </a:r>
            <a:r>
              <a:rPr lang="en-US" dirty="0" err="1" smtClean="0"/>
              <a:t>противоречивых</a:t>
            </a:r>
            <a:r>
              <a:rPr lang="en-US" dirty="0" smtClean="0"/>
              <a:t> </a:t>
            </a:r>
            <a:r>
              <a:rPr lang="en-US" dirty="0" err="1" smtClean="0"/>
              <a:t>трактовок</a:t>
            </a:r>
            <a:r>
              <a:rPr lang="en-US" dirty="0" smtClean="0"/>
              <a:t>, </a:t>
            </a:r>
            <a:r>
              <a:rPr lang="en-US" dirty="0" err="1" smtClean="0"/>
              <a:t>разработчики</a:t>
            </a:r>
            <a:r>
              <a:rPr lang="en-US" dirty="0" smtClean="0"/>
              <a:t> </a:t>
            </a:r>
            <a:r>
              <a:rPr lang="en-US" dirty="0" err="1" smtClean="0"/>
              <a:t>продолжают</a:t>
            </a:r>
            <a:r>
              <a:rPr lang="en-US" dirty="0" smtClean="0"/>
              <a:t> </a:t>
            </a:r>
            <a:r>
              <a:rPr lang="en-US" dirty="0" err="1" smtClean="0"/>
              <a:t>довольствоваться</a:t>
            </a:r>
            <a:r>
              <a:rPr lang="en-US" dirty="0" smtClean="0"/>
              <a:t> </a:t>
            </a:r>
            <a:r>
              <a:rPr lang="en-US" dirty="0" err="1" smtClean="0"/>
              <a:t>информацией</a:t>
            </a:r>
            <a:r>
              <a:rPr lang="en-US" dirty="0" smtClean="0"/>
              <a:t> «</a:t>
            </a:r>
            <a:r>
              <a:rPr lang="en-US" dirty="0" err="1" smtClean="0"/>
              <a:t>из</a:t>
            </a:r>
            <a:r>
              <a:rPr lang="en-US" dirty="0" smtClean="0"/>
              <a:t> </a:t>
            </a:r>
            <a:r>
              <a:rPr lang="en-US" dirty="0" err="1" smtClean="0"/>
              <a:t>вторых</a:t>
            </a:r>
            <a:r>
              <a:rPr lang="en-US" dirty="0" smtClean="0"/>
              <a:t> </a:t>
            </a:r>
            <a:r>
              <a:rPr lang="en-US" dirty="0" err="1" smtClean="0"/>
              <a:t>рук</a:t>
            </a:r>
            <a:r>
              <a:rPr lang="en-US" dirty="0" smtClean="0"/>
              <a:t>», </a:t>
            </a:r>
            <a:r>
              <a:rPr lang="en-US" dirty="0" err="1" smtClean="0"/>
              <a:t>черпая</a:t>
            </a:r>
            <a:r>
              <a:rPr lang="en-US" dirty="0" smtClean="0"/>
              <a:t> </a:t>
            </a:r>
            <a:r>
              <a:rPr lang="en-US" dirty="0" err="1" smtClean="0"/>
              <a:t>знания</a:t>
            </a:r>
            <a:r>
              <a:rPr lang="en-US" dirty="0" smtClean="0"/>
              <a:t> о MVC </a:t>
            </a:r>
            <a:r>
              <a:rPr lang="en-US" dirty="0" err="1" smtClean="0"/>
              <a:t>из</a:t>
            </a:r>
            <a:r>
              <a:rPr lang="en-US" dirty="0" smtClean="0"/>
              <a:t> </a:t>
            </a:r>
            <a:r>
              <a:rPr lang="en-US" dirty="0" err="1" smtClean="0"/>
              <a:t>википедии</a:t>
            </a:r>
            <a:r>
              <a:rPr lang="en-US" dirty="0" smtClean="0"/>
              <a:t>, </a:t>
            </a:r>
            <a:r>
              <a:rPr lang="en-US" dirty="0" err="1" smtClean="0"/>
              <a:t>небольших</a:t>
            </a:r>
            <a:r>
              <a:rPr lang="en-US" dirty="0" smtClean="0"/>
              <a:t> </a:t>
            </a:r>
            <a:r>
              <a:rPr lang="en-US" dirty="0" err="1" smtClean="0"/>
              <a:t>статей</a:t>
            </a:r>
            <a:r>
              <a:rPr lang="en-US" dirty="0" smtClean="0"/>
              <a:t> в </a:t>
            </a:r>
            <a:r>
              <a:rPr lang="en-US" dirty="0" err="1" smtClean="0"/>
              <a:t>интернете</a:t>
            </a:r>
            <a:r>
              <a:rPr lang="en-US" dirty="0" smtClean="0"/>
              <a:t> и </a:t>
            </a:r>
            <a:r>
              <a:rPr lang="en-US" dirty="0" err="1" smtClean="0"/>
              <a:t>фреймворков</a:t>
            </a:r>
            <a:r>
              <a:rPr lang="en-US" dirty="0" smtClean="0"/>
              <a:t> </a:t>
            </a:r>
            <a:r>
              <a:rPr lang="en-US" dirty="0" err="1" smtClean="0"/>
              <a:t>для</a:t>
            </a:r>
            <a:r>
              <a:rPr lang="en-US" dirty="0" smtClean="0"/>
              <a:t> </a:t>
            </a:r>
            <a:r>
              <a:rPr lang="en-US" dirty="0" err="1" smtClean="0"/>
              <a:t>разработки</a:t>
            </a:r>
            <a:r>
              <a:rPr lang="en-US" dirty="0" smtClean="0"/>
              <a:t> </a:t>
            </a:r>
            <a:r>
              <a:rPr lang="en-US" dirty="0" err="1" smtClean="0"/>
              <a:t>веб-приложений</a:t>
            </a:r>
            <a:r>
              <a:rPr lang="en-US" dirty="0" smtClean="0"/>
              <a:t>. </a:t>
            </a:r>
            <a:r>
              <a:rPr lang="en-US" dirty="0" err="1" smtClean="0"/>
              <a:t>Самые</a:t>
            </a:r>
            <a:r>
              <a:rPr lang="en-US" dirty="0" smtClean="0"/>
              <a:t> «</a:t>
            </a:r>
            <a:r>
              <a:rPr lang="en-US" dirty="0" err="1" smtClean="0"/>
              <a:t>продвинутые</a:t>
            </a:r>
            <a:r>
              <a:rPr lang="en-US" dirty="0" smtClean="0"/>
              <a:t>» </a:t>
            </a:r>
            <a:r>
              <a:rPr lang="en-US" dirty="0" err="1" smtClean="0"/>
              <a:t>читают</a:t>
            </a:r>
            <a:r>
              <a:rPr lang="en-US" dirty="0" smtClean="0"/>
              <a:t> </a:t>
            </a:r>
            <a:r>
              <a:rPr lang="en-US" dirty="0" err="1" smtClean="0"/>
              <a:t>Мартина</a:t>
            </a:r>
            <a:r>
              <a:rPr lang="en-US" dirty="0" smtClean="0"/>
              <a:t> </a:t>
            </a:r>
            <a:r>
              <a:rPr lang="en-US" dirty="0" err="1" smtClean="0"/>
              <a:t>Фаулера</a:t>
            </a:r>
            <a:r>
              <a:rPr lang="en-US" dirty="0" smtClean="0"/>
              <a:t>. И </a:t>
            </a:r>
            <a:r>
              <a:rPr lang="en-US" dirty="0" err="1" smtClean="0"/>
              <a:t>почему-то</a:t>
            </a:r>
            <a:r>
              <a:rPr lang="en-US" dirty="0" smtClean="0"/>
              <a:t> </a:t>
            </a:r>
            <a:r>
              <a:rPr lang="en-US" dirty="0" err="1" smtClean="0"/>
              <a:t>почти</a:t>
            </a:r>
            <a:r>
              <a:rPr lang="en-US" dirty="0" smtClean="0"/>
              <a:t> </a:t>
            </a:r>
            <a:r>
              <a:rPr lang="en-US" dirty="0" err="1" smtClean="0"/>
              <a:t>никто</a:t>
            </a:r>
            <a:r>
              <a:rPr lang="en-US" dirty="0" smtClean="0"/>
              <a:t> </a:t>
            </a:r>
            <a:r>
              <a:rPr lang="en-US" dirty="0" err="1" smtClean="0"/>
              <a:t>не</a:t>
            </a:r>
            <a:r>
              <a:rPr lang="en-US" dirty="0" smtClean="0"/>
              <a:t> </a:t>
            </a:r>
            <a:r>
              <a:rPr lang="en-US" dirty="0" err="1" smtClean="0"/>
              <a:t>обращается</a:t>
            </a:r>
            <a:r>
              <a:rPr lang="en-US" dirty="0" smtClean="0"/>
              <a:t> к </a:t>
            </a:r>
            <a:r>
              <a:rPr lang="en-US" dirty="0" err="1" smtClean="0"/>
              <a:t>первоисточникам</a:t>
            </a:r>
            <a:r>
              <a:rPr lang="en-US" dirty="0" smtClean="0"/>
              <a:t>. </a:t>
            </a:r>
            <a:r>
              <a:rPr lang="en-US" dirty="0" err="1" smtClean="0"/>
              <a:t>Вот</a:t>
            </a:r>
            <a:r>
              <a:rPr lang="en-US" dirty="0" smtClean="0"/>
              <a:t> </a:t>
            </a:r>
            <a:r>
              <a:rPr lang="en-US" dirty="0" err="1" smtClean="0"/>
              <a:t>этот</a:t>
            </a:r>
            <a:r>
              <a:rPr lang="en-US" dirty="0" smtClean="0"/>
              <a:t> </a:t>
            </a:r>
            <a:r>
              <a:rPr lang="en-US" dirty="0" err="1" smtClean="0"/>
              <a:t>пробел</a:t>
            </a:r>
            <a:r>
              <a:rPr lang="en-US" dirty="0" smtClean="0"/>
              <a:t> и </a:t>
            </a:r>
            <a:r>
              <a:rPr lang="en-US" dirty="0" err="1" smtClean="0"/>
              <a:t>хотелось</a:t>
            </a:r>
            <a:r>
              <a:rPr lang="en-US" dirty="0" smtClean="0"/>
              <a:t> </a:t>
            </a:r>
            <a:r>
              <a:rPr lang="en-US" dirty="0" err="1" smtClean="0"/>
              <a:t>бы</a:t>
            </a:r>
            <a:r>
              <a:rPr lang="en-US" dirty="0" smtClean="0"/>
              <a:t> </a:t>
            </a:r>
            <a:r>
              <a:rPr lang="en-US" dirty="0" err="1" smtClean="0"/>
              <a:t>заполнить</a:t>
            </a:r>
            <a:r>
              <a:rPr lang="en-US" dirty="0" smtClean="0"/>
              <a:t>. И </a:t>
            </a:r>
            <a:r>
              <a:rPr lang="en-US" dirty="0" err="1" smtClean="0"/>
              <a:t>заодно</a:t>
            </a:r>
            <a:r>
              <a:rPr lang="en-US" dirty="0" smtClean="0"/>
              <a:t> </a:t>
            </a:r>
            <a:r>
              <a:rPr lang="en-US" dirty="0" err="1" smtClean="0"/>
              <a:t>развеять</a:t>
            </a:r>
            <a:r>
              <a:rPr lang="en-US" dirty="0" smtClean="0"/>
              <a:t> </a:t>
            </a:r>
            <a:r>
              <a:rPr lang="en-US" dirty="0" err="1" smtClean="0"/>
              <a:t>некоторые</a:t>
            </a:r>
            <a:r>
              <a:rPr lang="en-US" dirty="0" smtClean="0"/>
              <a:t> </a:t>
            </a:r>
            <a:r>
              <a:rPr lang="en-US" dirty="0" err="1" smtClean="0"/>
              <a:t>мифы</a:t>
            </a:r>
            <a:r>
              <a:rPr lang="ru-RU" dirty="0" smtClean="0"/>
              <a:t>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Охота на мифический </a:t>
            </a:r>
            <a:r>
              <a:rPr lang="en-US" b="1" smtClean="0"/>
              <a:t>MVC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645224"/>
          </a:xfrm>
        </p:spPr>
        <p:txBody>
          <a:bodyPr>
            <a:normAutofit fontScale="47500" lnSpcReduction="20000"/>
          </a:bodyPr>
          <a:lstStyle/>
          <a:p>
            <a:r>
              <a:rPr lang="ru-RU" dirty="0" smtClean="0"/>
              <a:t>Итак, несмотря на то, что MVC трактуется и изображается очень по разному, во всем этом многообразии все же можно выделить общее «ядро». Общим является то, что везде говорится о неких трех частях — Модели, Виде и Контроллере, которые связаны между собой определенным образом, а именно:</a:t>
            </a:r>
          </a:p>
          <a:p>
            <a:pPr>
              <a:buNone/>
            </a:pPr>
            <a:r>
              <a:rPr lang="ru-RU" dirty="0" smtClean="0"/>
              <a:t/>
            </a:r>
            <a:br>
              <a:rPr lang="ru-RU" dirty="0" smtClean="0"/>
            </a:br>
            <a:endParaRPr lang="ru-RU" dirty="0" smtClean="0"/>
          </a:p>
          <a:p>
            <a:pPr lvl="0"/>
            <a:r>
              <a:rPr lang="ru-RU" dirty="0" smtClean="0"/>
              <a:t>Модель ничего не знает ни о Виде, ни о Контроллере, что делает возможным ее разработку и тестирование как независимого компонента. И это является главным моментом MVC.</a:t>
            </a:r>
          </a:p>
          <a:p>
            <a:endParaRPr lang="ru-RU" dirty="0" smtClean="0"/>
          </a:p>
          <a:p>
            <a:pPr lvl="0"/>
            <a:r>
              <a:rPr lang="ru-RU" dirty="0" smtClean="0"/>
              <a:t>Вид отображает Модель. И значит, он каким-то образом должен получать из нее нужные для отображения данные. Наиболее распространены следующие два варианта: 1) </a:t>
            </a:r>
            <a:r>
              <a:rPr lang="ru-RU" b="1" dirty="0" smtClean="0"/>
              <a:t>Активный Вид</a:t>
            </a:r>
            <a:r>
              <a:rPr lang="ru-RU" dirty="0" smtClean="0"/>
              <a:t>, который знает о Модели и сам берет из нее нужные данные. 2) </a:t>
            </a:r>
            <a:r>
              <a:rPr lang="ru-RU" u="sng" dirty="0" smtClean="0">
                <a:hlinkClick r:id="rId2"/>
              </a:rPr>
              <a:t>Пассивный Вид</a:t>
            </a:r>
            <a:r>
              <a:rPr lang="ru-RU" dirty="0" smtClean="0"/>
              <a:t>, которому данные поставляет Контроллер. В этом случае Вид с Моделью никак не связан.</a:t>
            </a:r>
          </a:p>
          <a:p>
            <a:pPr>
              <a:buNone/>
            </a:pPr>
            <a:r>
              <a:rPr lang="ru-RU" dirty="0" smtClean="0"/>
              <a:t/>
            </a:r>
            <a:br>
              <a:rPr lang="ru-RU" dirty="0" smtClean="0"/>
            </a:br>
            <a:endParaRPr lang="ru-RU" dirty="0" smtClean="0"/>
          </a:p>
          <a:p>
            <a:r>
              <a:rPr lang="ru-RU" dirty="0" smtClean="0"/>
              <a:t>Видов может быть несколько — они могут по разному отображать одни и те же данные, например в виде таблицы или графика, или же отвечать за отображение разных частей данных из Модели.</a:t>
            </a:r>
          </a:p>
          <a:p>
            <a:pPr>
              <a:buNone/>
            </a:pPr>
            <a:r>
              <a:rPr lang="ru-RU" dirty="0" smtClean="0"/>
              <a:t> </a:t>
            </a:r>
          </a:p>
          <a:p>
            <a:pPr lvl="0"/>
            <a:r>
              <a:rPr lang="ru-RU" dirty="0" smtClean="0"/>
              <a:t>Контроллер является пожалуй самым неоднозначным компонентом. Тем не менее общим является то, что Контроллер всегда знает о Модели и может ее изменять (как правило в результате действий пользователя).</a:t>
            </a:r>
          </a:p>
          <a:p>
            <a:pPr>
              <a:buNone/>
            </a:pPr>
            <a:endParaRPr lang="ru-RU" dirty="0" smtClean="0"/>
          </a:p>
          <a:p>
            <a:r>
              <a:rPr lang="ru-RU" dirty="0" smtClean="0"/>
              <a:t>А также он может осуществлять управление Видом/Видами (особенно если их несколько) и соответственно знать о Видах, но это не обязательно.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Охота на мифический </a:t>
            </a:r>
            <a:r>
              <a:rPr lang="en-US" b="1" dirty="0" smtClean="0"/>
              <a:t>MVC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645224"/>
          </a:xfrm>
        </p:spPr>
        <p:txBody>
          <a:bodyPr>
            <a:normAutofit/>
          </a:bodyPr>
          <a:lstStyle/>
          <a:p>
            <a:endParaRPr lang="ru-RU" dirty="0"/>
          </a:p>
        </p:txBody>
      </p:sp>
      <p:pic>
        <p:nvPicPr>
          <p:cNvPr id="4" name="Рисунок 3" descr="Model View Controller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700808"/>
            <a:ext cx="8640960" cy="2304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Рисунок 4" descr="Model View Controller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9552" y="4437112"/>
            <a:ext cx="3240360" cy="18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Охота на мифический </a:t>
            </a:r>
            <a:r>
              <a:rPr lang="en-US" b="1" smtClean="0"/>
              <a:t>MVC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 fontScale="70000" lnSpcReduction="20000"/>
          </a:bodyPr>
          <a:lstStyle/>
          <a:p>
            <a:r>
              <a:rPr lang="ru-RU" dirty="0" smtClean="0"/>
              <a:t>Модель</a:t>
            </a:r>
            <a:r>
              <a:rPr lang="ru-RU" dirty="0" smtClean="0"/>
              <a:t>, как и Вид, тоже может быть Пассивной либо Активной. </a:t>
            </a:r>
            <a:r>
              <a:rPr lang="ru-RU" b="1" dirty="0" smtClean="0"/>
              <a:t>Пассивная Модель</a:t>
            </a:r>
            <a:r>
              <a:rPr lang="ru-RU" dirty="0" smtClean="0"/>
              <a:t> никак не воздействует ни на Вид ни на Контроллер. В этом случае все изменения Модели отслеживаются Контроллером и он же отвечает за перерисовку Вида, когда это необходимо.</a:t>
            </a:r>
          </a:p>
          <a:p>
            <a:endParaRPr lang="ru-RU" dirty="0" smtClean="0"/>
          </a:p>
          <a:p>
            <a:r>
              <a:rPr lang="ru-RU" dirty="0" smtClean="0"/>
              <a:t>Но обычно, под MVC все таки подразумевают вариант с </a:t>
            </a:r>
            <a:r>
              <a:rPr lang="ru-RU" b="1" dirty="0" smtClean="0"/>
              <a:t>Активной Моделью</a:t>
            </a:r>
            <a:r>
              <a:rPr lang="ru-RU" dirty="0" smtClean="0"/>
              <a:t>.</a:t>
            </a:r>
          </a:p>
          <a:p>
            <a:endParaRPr lang="ru-RU" dirty="0" smtClean="0"/>
          </a:p>
          <a:p>
            <a:r>
              <a:rPr lang="ru-RU" dirty="0" smtClean="0"/>
              <a:t>«Активная Модель» </a:t>
            </a:r>
            <a:r>
              <a:rPr lang="ru-RU" b="1" dirty="0" smtClean="0"/>
              <a:t>оповещает</a:t>
            </a:r>
            <a:r>
              <a:rPr lang="ru-RU" dirty="0" smtClean="0"/>
              <a:t> о том, что в ней произошли изменения. И делает она это посредством шаблона </a:t>
            </a:r>
            <a:r>
              <a:rPr lang="ru-RU" b="1" i="1" dirty="0" smtClean="0"/>
              <a:t>Наблюдатель</a:t>
            </a:r>
            <a:r>
              <a:rPr lang="ru-RU" dirty="0" smtClean="0"/>
              <a:t>, рассылая уведомления о изменениях всем своим «подписчикам». «Активный Вид» подписывается на эти сообщения сам и таким образом знает когда нужно заново считать из модели нужные ему данные и обновиться. В случае «Пассивного Вида», подписчиком является Контроллер, который затем уже обновляет Вид.</a:t>
            </a:r>
            <a:endParaRPr lang="ru-RU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Охота на мифический </a:t>
            </a:r>
            <a:r>
              <a:rPr lang="en-US" b="1" smtClean="0"/>
              <a:t>MVC</a:t>
            </a:r>
            <a:endParaRPr lang="ru-RU"/>
          </a:p>
        </p:txBody>
      </p:sp>
      <p:pic>
        <p:nvPicPr>
          <p:cNvPr id="4" name="Содержимое 3" descr="Model View Controller"/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484784"/>
            <a:ext cx="8352928" cy="1944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Охота на мифический </a:t>
            </a:r>
            <a:r>
              <a:rPr lang="en-US" b="1" smtClean="0"/>
              <a:t>MVC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 fontScale="70000" lnSpcReduction="20000"/>
          </a:bodyPr>
          <a:lstStyle/>
          <a:p>
            <a:r>
              <a:rPr lang="ru-RU" dirty="0" smtClean="0"/>
              <a:t>MVC</a:t>
            </a:r>
            <a:r>
              <a:rPr lang="ru-RU" dirty="0" smtClean="0"/>
              <a:t>, в любой своей разновидности, это прежде всего шаблон для разработки приложений с пользовательским интерфейсом и его главное назначение – обеспечить взаимодействие приложения с пользователем. Поэтому в полноценной MVC схеме (явно или неявно) должен присутствовать </a:t>
            </a:r>
            <a:r>
              <a:rPr lang="ru-RU" b="1" dirty="0" smtClean="0"/>
              <a:t>пользователь</a:t>
            </a:r>
            <a:r>
              <a:rPr lang="ru-RU" dirty="0" smtClean="0"/>
              <a:t>. И тут в основном встречаются две трактовки:</a:t>
            </a:r>
          </a:p>
          <a:p>
            <a:pPr>
              <a:buNone/>
            </a:pPr>
            <a:endParaRPr lang="ru-RU" dirty="0" smtClean="0"/>
          </a:p>
          <a:p>
            <a:pPr lvl="0"/>
            <a:r>
              <a:rPr lang="ru-RU" dirty="0" smtClean="0"/>
              <a:t>Пользователь управляет приложением через Контроллер, а Вид служит исключительно для отображения информации о Модели, и пользователь его лишь видит</a:t>
            </a:r>
          </a:p>
          <a:p>
            <a:pPr>
              <a:buNone/>
            </a:pPr>
            <a:r>
              <a:rPr lang="ru-RU" dirty="0" smtClean="0"/>
              <a:t/>
            </a:r>
            <a:br>
              <a:rPr lang="ru-RU" dirty="0" smtClean="0"/>
            </a:br>
            <a:endParaRPr lang="ru-RU" dirty="0" smtClean="0"/>
          </a:p>
          <a:p>
            <a:pPr>
              <a:buNone/>
            </a:pPr>
            <a:r>
              <a:rPr lang="en-US" dirty="0" smtClean="0"/>
              <a:t/>
            </a:r>
            <a:br>
              <a:rPr lang="en-US" dirty="0" smtClean="0"/>
            </a:br>
            <a:endParaRPr lang="ru-RU" dirty="0" smtClean="0"/>
          </a:p>
          <a:p>
            <a:endParaRPr lang="ru-RU" dirty="0"/>
          </a:p>
        </p:txBody>
      </p:sp>
      <p:pic>
        <p:nvPicPr>
          <p:cNvPr id="4" name="Рисунок 3" descr="Model View Controller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4869160"/>
            <a:ext cx="7920880" cy="19888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Охота на мифический </a:t>
            </a:r>
            <a:r>
              <a:rPr lang="en-US" b="1" smtClean="0"/>
              <a:t>MVC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845024"/>
          </a:xfrm>
        </p:spPr>
        <p:txBody>
          <a:bodyPr>
            <a:normAutofit fontScale="55000" lnSpcReduction="20000"/>
          </a:bodyPr>
          <a:lstStyle/>
          <a:p>
            <a:pPr lvl="0"/>
            <a:r>
              <a:rPr lang="ru-RU" dirty="0" smtClean="0"/>
              <a:t>Пользователь взаимодействует только с Видом. То есть Вид не только отражает Модель, но также принимает команды пользователя и передает их Контроллеру. В этом случае между Видом и Контроллером образуется еще одна связь: прямая (Вид знает о Контроллере и напрямую передает информацию) или, чаще всего, ослабленная (Вид просто рассылает информацию о действиях пользователя всем заинтересованным подписчикам а Контроллер на эту рассылку подписывается)</a:t>
            </a:r>
          </a:p>
          <a:p>
            <a:r>
              <a:rPr lang="en-US" b="1" i="1" dirty="0" err="1" smtClean="0"/>
              <a:t>Замечание</a:t>
            </a:r>
            <a:r>
              <a:rPr lang="en-US" b="1" i="1" dirty="0" smtClean="0"/>
              <a:t>: </a:t>
            </a:r>
            <a:r>
              <a:rPr lang="en-US" b="1" i="1" dirty="0" err="1" smtClean="0"/>
              <a:t>нужно</a:t>
            </a:r>
            <a:r>
              <a:rPr lang="en-US" b="1" i="1" dirty="0" smtClean="0"/>
              <a:t> </a:t>
            </a:r>
            <a:r>
              <a:rPr lang="en-US" b="1" i="1" dirty="0" err="1" smtClean="0"/>
              <a:t>иметь</a:t>
            </a:r>
            <a:r>
              <a:rPr lang="en-US" b="1" i="1" dirty="0" smtClean="0"/>
              <a:t> </a:t>
            </a:r>
            <a:r>
              <a:rPr lang="en-US" b="1" i="1" dirty="0" err="1" smtClean="0"/>
              <a:t>ввиду</a:t>
            </a:r>
            <a:r>
              <a:rPr lang="en-US" b="1" i="1" dirty="0" smtClean="0"/>
              <a:t>, </a:t>
            </a:r>
            <a:r>
              <a:rPr lang="en-US" b="1" i="1" dirty="0" err="1" smtClean="0"/>
              <a:t>что</a:t>
            </a:r>
            <a:r>
              <a:rPr lang="en-US" b="1" i="1" dirty="0" smtClean="0"/>
              <a:t> </a:t>
            </a:r>
            <a:r>
              <a:rPr lang="en-US" b="1" i="1" dirty="0" err="1" smtClean="0"/>
              <a:t>вариант</a:t>
            </a:r>
            <a:r>
              <a:rPr lang="en-US" b="1" i="1" dirty="0" smtClean="0"/>
              <a:t> с </a:t>
            </a:r>
            <a:r>
              <a:rPr lang="en-US" b="1" i="1" dirty="0" err="1" smtClean="0"/>
              <a:t>Пассивным</a:t>
            </a:r>
            <a:r>
              <a:rPr lang="en-US" b="1" i="1" dirty="0" smtClean="0"/>
              <a:t> </a:t>
            </a:r>
            <a:r>
              <a:rPr lang="en-US" b="1" i="1" dirty="0" err="1" smtClean="0"/>
              <a:t>Видом</a:t>
            </a:r>
            <a:r>
              <a:rPr lang="en-US" b="1" i="1" dirty="0" smtClean="0"/>
              <a:t>, </a:t>
            </a:r>
            <a:r>
              <a:rPr lang="en-US" b="1" i="1" dirty="0" err="1" smtClean="0"/>
              <a:t>когда</a:t>
            </a:r>
            <a:r>
              <a:rPr lang="en-US" b="1" i="1" dirty="0" smtClean="0"/>
              <a:t> </a:t>
            </a:r>
            <a:r>
              <a:rPr lang="en-US" b="1" i="1" dirty="0" err="1" smtClean="0"/>
              <a:t>Вид</a:t>
            </a:r>
            <a:r>
              <a:rPr lang="en-US" b="1" i="1" dirty="0" smtClean="0"/>
              <a:t> </a:t>
            </a:r>
            <a:r>
              <a:rPr lang="en-US" b="1" i="1" dirty="0" err="1" smtClean="0"/>
              <a:t>никак</a:t>
            </a:r>
            <a:r>
              <a:rPr lang="en-US" b="1" i="1" dirty="0" smtClean="0"/>
              <a:t> </a:t>
            </a:r>
            <a:r>
              <a:rPr lang="en-US" b="1" i="1" dirty="0" err="1" smtClean="0"/>
              <a:t>не</a:t>
            </a:r>
            <a:r>
              <a:rPr lang="en-US" b="1" i="1" dirty="0" smtClean="0"/>
              <a:t> </a:t>
            </a:r>
            <a:r>
              <a:rPr lang="en-US" b="1" i="1" dirty="0" err="1" smtClean="0"/>
              <a:t>связан</a:t>
            </a:r>
            <a:r>
              <a:rPr lang="en-US" b="1" i="1" dirty="0" smtClean="0"/>
              <a:t> с </a:t>
            </a:r>
            <a:r>
              <a:rPr lang="en-US" b="1" i="1" dirty="0" err="1" smtClean="0"/>
              <a:t>Моделью</a:t>
            </a:r>
            <a:r>
              <a:rPr lang="en-US" b="1" i="1" dirty="0" smtClean="0"/>
              <a:t> и </a:t>
            </a:r>
            <a:r>
              <a:rPr lang="en-US" b="1" i="1" dirty="0" err="1" smtClean="0"/>
              <a:t>данные</a:t>
            </a:r>
            <a:r>
              <a:rPr lang="en-US" b="1" i="1" dirty="0" smtClean="0"/>
              <a:t> </a:t>
            </a:r>
            <a:r>
              <a:rPr lang="en-US" b="1" i="1" dirty="0" err="1" smtClean="0"/>
              <a:t>для</a:t>
            </a:r>
            <a:r>
              <a:rPr lang="en-US" b="1" i="1" dirty="0" smtClean="0"/>
              <a:t> </a:t>
            </a:r>
            <a:r>
              <a:rPr lang="en-US" b="1" i="1" dirty="0" err="1" smtClean="0"/>
              <a:t>отображения</a:t>
            </a:r>
            <a:r>
              <a:rPr lang="en-US" b="1" i="1" dirty="0" smtClean="0"/>
              <a:t> </a:t>
            </a:r>
            <a:r>
              <a:rPr lang="en-US" b="1" i="1" dirty="0" err="1" smtClean="0"/>
              <a:t>ему</a:t>
            </a:r>
            <a:r>
              <a:rPr lang="en-US" b="1" i="1" dirty="0" smtClean="0"/>
              <a:t> </a:t>
            </a:r>
            <a:r>
              <a:rPr lang="en-US" b="1" i="1" dirty="0" err="1" smtClean="0"/>
              <a:t>поставляет</a:t>
            </a:r>
            <a:r>
              <a:rPr lang="en-US" b="1" i="1" dirty="0" smtClean="0"/>
              <a:t> </a:t>
            </a:r>
            <a:r>
              <a:rPr lang="en-US" b="1" i="1" dirty="0" err="1" smtClean="0"/>
              <a:t>Контроллер</a:t>
            </a:r>
            <a:r>
              <a:rPr lang="en-US" b="1" i="1" dirty="0" smtClean="0"/>
              <a:t>, </a:t>
            </a:r>
            <a:r>
              <a:rPr lang="en-US" b="1" i="1" dirty="0" err="1" smtClean="0"/>
              <a:t>иногда</a:t>
            </a:r>
            <a:r>
              <a:rPr lang="en-US" b="1" i="1" dirty="0" smtClean="0"/>
              <a:t> </a:t>
            </a:r>
            <a:r>
              <a:rPr lang="en-US" b="1" i="1" dirty="0" err="1" smtClean="0"/>
              <a:t>называют</a:t>
            </a:r>
            <a:r>
              <a:rPr lang="en-US" b="1" i="1" dirty="0" smtClean="0"/>
              <a:t> MVC, а </a:t>
            </a:r>
            <a:r>
              <a:rPr lang="en-US" b="1" i="1" dirty="0" err="1" smtClean="0"/>
              <a:t>иногда</a:t>
            </a:r>
            <a:r>
              <a:rPr lang="en-US" b="1" i="1" dirty="0" smtClean="0"/>
              <a:t> </a:t>
            </a:r>
            <a:r>
              <a:rPr lang="en-US" b="1" i="1" dirty="0" err="1" smtClean="0"/>
              <a:t>выделяют</a:t>
            </a:r>
            <a:r>
              <a:rPr lang="en-US" b="1" i="1" dirty="0" smtClean="0"/>
              <a:t> в </a:t>
            </a:r>
            <a:r>
              <a:rPr lang="en-US" b="1" i="1" dirty="0" err="1" smtClean="0"/>
              <a:t>отдельную</a:t>
            </a:r>
            <a:r>
              <a:rPr lang="en-US" b="1" i="1" dirty="0" smtClean="0"/>
              <a:t> </a:t>
            </a:r>
            <a:r>
              <a:rPr lang="en-US" b="1" i="1" dirty="0" err="1" smtClean="0"/>
              <a:t>разновидность</a:t>
            </a:r>
            <a:r>
              <a:rPr lang="en-US" b="1" i="1" dirty="0" smtClean="0"/>
              <a:t> — MVP и </a:t>
            </a:r>
            <a:r>
              <a:rPr lang="en-US" b="1" i="1" dirty="0" err="1" smtClean="0"/>
              <a:t>тогда</a:t>
            </a:r>
            <a:r>
              <a:rPr lang="en-US" b="1" i="1" dirty="0" smtClean="0"/>
              <a:t> </a:t>
            </a:r>
            <a:r>
              <a:rPr lang="en-US" b="1" i="1" dirty="0" err="1" smtClean="0"/>
              <a:t>Контроллер</a:t>
            </a:r>
            <a:r>
              <a:rPr lang="en-US" b="1" i="1" dirty="0" smtClean="0"/>
              <a:t> </a:t>
            </a:r>
            <a:r>
              <a:rPr lang="en-US" b="1" i="1" dirty="0" err="1" smtClean="0"/>
              <a:t>переименовывают</a:t>
            </a:r>
            <a:r>
              <a:rPr lang="en-US" b="1" i="1" dirty="0" smtClean="0"/>
              <a:t> в </a:t>
            </a:r>
            <a:r>
              <a:rPr lang="en-US" b="1" i="1" dirty="0" err="1" smtClean="0"/>
              <a:t>Презентер</a:t>
            </a:r>
            <a:r>
              <a:rPr lang="en-US" b="1" i="1" dirty="0" smtClean="0"/>
              <a:t>.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 smtClean="0"/>
          </a:p>
          <a:p>
            <a:pPr>
              <a:buNone/>
            </a:pPr>
            <a:r>
              <a:rPr lang="en-US" dirty="0" smtClean="0"/>
              <a:t/>
            </a:r>
            <a:br>
              <a:rPr lang="en-US" dirty="0" smtClean="0"/>
            </a:br>
            <a:endParaRPr lang="ru-RU" dirty="0" smtClean="0"/>
          </a:p>
          <a:p>
            <a:endParaRPr lang="ru-RU" dirty="0"/>
          </a:p>
        </p:txBody>
      </p:sp>
      <p:pic>
        <p:nvPicPr>
          <p:cNvPr id="5" name="Рисунок 4" descr="Model View Controller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4581128"/>
            <a:ext cx="8208912" cy="22768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Охота на мифический </a:t>
            </a:r>
            <a:r>
              <a:rPr lang="en-US" b="1" smtClean="0"/>
              <a:t>MVC</a:t>
            </a:r>
            <a:endParaRPr lang="ru-RU"/>
          </a:p>
        </p:txBody>
      </p:sp>
      <p:pic>
        <p:nvPicPr>
          <p:cNvPr id="4" name="Содержимое 3" descr="Model View Controller"/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68017" y="1600200"/>
            <a:ext cx="4807966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cap="small" dirty="0" smtClean="0"/>
              <a:t>«Трехуровневый </a:t>
            </a:r>
            <a:r>
              <a:rPr lang="en-US" b="1" cap="small" dirty="0" smtClean="0"/>
              <a:t>MVC</a:t>
            </a:r>
            <a:r>
              <a:rPr lang="ru-RU" b="1" cap="small" dirty="0" smtClean="0"/>
              <a:t>» от </a:t>
            </a:r>
            <a:r>
              <a:rPr lang="ru-RU" b="1" cap="small" dirty="0" err="1" smtClean="0"/>
              <a:t>веб</a:t>
            </a:r>
            <a:endParaRPr lang="ru-RU" b="1" cap="small" dirty="0" smtClean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 fontScale="55000" lnSpcReduction="20000"/>
          </a:bodyPr>
          <a:lstStyle/>
          <a:p>
            <a:r>
              <a:rPr lang="ru-RU" dirty="0" smtClean="0"/>
              <a:t>Первый подход идет из </a:t>
            </a:r>
            <a:r>
              <a:rPr lang="ru-RU" dirty="0" err="1" smtClean="0"/>
              <a:t>веб-программирования</a:t>
            </a:r>
            <a:r>
              <a:rPr lang="ru-RU" dirty="0" smtClean="0"/>
              <a:t>, где MVC получил самое широкое распространение, и поэтому в нем максимально отразились свойственные </a:t>
            </a:r>
            <a:r>
              <a:rPr lang="ru-RU" dirty="0" err="1" smtClean="0"/>
              <a:t>веб-программированию</a:t>
            </a:r>
            <a:r>
              <a:rPr lang="ru-RU" dirty="0" smtClean="0"/>
              <a:t> черты. А именно, привязка к трехуровневой архитектуре «клиент–сервер–база данных» и преобладание </a:t>
            </a:r>
            <a:r>
              <a:rPr lang="ru-RU" dirty="0" err="1" smtClean="0"/>
              <a:t>скриптовых</a:t>
            </a:r>
            <a:r>
              <a:rPr lang="ru-RU" dirty="0" smtClean="0"/>
              <a:t> языков. В результате компоненты MVC формально привязываются к трем слоям архитектуры и получается что:</a:t>
            </a:r>
          </a:p>
          <a:p>
            <a:pPr>
              <a:buNone/>
            </a:pPr>
            <a:endParaRPr lang="ru-RU" dirty="0" smtClean="0"/>
          </a:p>
          <a:p>
            <a:pPr lvl="0"/>
            <a:r>
              <a:rPr lang="ru-RU" b="1" dirty="0" smtClean="0"/>
              <a:t>Модель = База Данных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Модель — это просто данные, которыми оперирует приложение</a:t>
            </a:r>
          </a:p>
          <a:p>
            <a:endParaRPr lang="ru-RU" dirty="0" smtClean="0"/>
          </a:p>
          <a:p>
            <a:pPr lvl="0"/>
            <a:r>
              <a:rPr lang="ru-RU" b="1" dirty="0" smtClean="0"/>
              <a:t>Контроллер = Сервер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Контроллер — это бизнес-логика приложения. Иногда еще говорят что контроллер это центр обработки всех запросов и принятия решений, а также промежуточный слой обеспечивающий связь модели и представления.</a:t>
            </a:r>
          </a:p>
          <a:p>
            <a:endParaRPr lang="ru-RU" dirty="0" smtClean="0"/>
          </a:p>
          <a:p>
            <a:pPr lvl="0"/>
            <a:r>
              <a:rPr lang="ru-RU" b="1" dirty="0" smtClean="0"/>
              <a:t>Вид = Клиент</a:t>
            </a:r>
            <a:r>
              <a:rPr lang="en-US" dirty="0" smtClean="0"/>
              <a:t> </a:t>
            </a:r>
            <a:r>
              <a:rPr lang="ru-RU" dirty="0" smtClean="0"/>
              <a:t>(как правило тонкий)</a:t>
            </a:r>
            <a:br>
              <a:rPr lang="ru-RU" dirty="0" smtClean="0"/>
            </a:br>
            <a:r>
              <a:rPr lang="ru-RU" dirty="0" smtClean="0"/>
              <a:t>Вид — это пользовательский интерфейс. Причем интерфейс в этом случае, как правило, понимается в основном исключительно как «дизайн», просто набор графических элементов. Логика же работы этого интерфейса, как и логика работы с данными, выносится в Контроллер</a:t>
            </a:r>
            <a:endParaRPr lang="ru-RU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cap="small" dirty="0" smtClean="0"/>
              <a:t>«Трехуровневый </a:t>
            </a:r>
            <a:r>
              <a:rPr lang="en-US" b="1" cap="small" dirty="0" smtClean="0"/>
              <a:t>MVC</a:t>
            </a:r>
            <a:r>
              <a:rPr lang="ru-RU" b="1" cap="small" dirty="0" smtClean="0"/>
              <a:t>» от </a:t>
            </a:r>
            <a:r>
              <a:rPr lang="ru-RU" b="1" cap="small" dirty="0" err="1" smtClean="0"/>
              <a:t>веб</a:t>
            </a:r>
            <a:endParaRPr lang="ru-RU" b="1" cap="small" dirty="0" smtClean="0"/>
          </a:p>
        </p:txBody>
      </p:sp>
      <p:pic>
        <p:nvPicPr>
          <p:cNvPr id="4" name="Содержимое 3" descr="image alt text"/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700808"/>
            <a:ext cx="8229600" cy="30066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cap="small" dirty="0" smtClean="0"/>
              <a:t>«Трехуровневый </a:t>
            </a:r>
            <a:r>
              <a:rPr lang="en-US" b="1" cap="small" dirty="0" smtClean="0"/>
              <a:t>MVC</a:t>
            </a:r>
            <a:r>
              <a:rPr lang="ru-RU" b="1" cap="small" dirty="0" smtClean="0"/>
              <a:t>» от </a:t>
            </a:r>
            <a:r>
              <a:rPr lang="ru-RU" b="1" cap="small" dirty="0" err="1" smtClean="0"/>
              <a:t>веб</a:t>
            </a:r>
            <a:endParaRPr lang="ru-RU" b="1" cap="small" dirty="0" smtClean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 fontScale="55000" lnSpcReduction="20000"/>
          </a:bodyPr>
          <a:lstStyle/>
          <a:p>
            <a:pPr lvl="0"/>
            <a:r>
              <a:rPr lang="ru-RU" dirty="0" smtClean="0"/>
              <a:t>Независимость Модели является главным в MVC. Если Модель тонкая, то есть содержит лишь данные, то возможность ее независимой разработки имеет мало смысла. Соответственно при таком подходе теряет смысл и сам MVC</a:t>
            </a:r>
          </a:p>
          <a:p>
            <a:endParaRPr lang="ru-RU" dirty="0" smtClean="0"/>
          </a:p>
          <a:p>
            <a:pPr lvl="0"/>
            <a:r>
              <a:rPr lang="ru-RU" dirty="0" smtClean="0"/>
              <a:t>Вся бизнес логика приложения, то есть большая часть кода, сосредотачивается в Контроллере и это при том что как раз Контроллер является самой зависимой частью в MVC – в общем случае он зависит и от Модели и от Вида. Вообще говоря в хорошо спроектированных приложениях стараются делать с точностью до наоборот – наиболее зависимые части должны быть минимальными, а не максимальными</a:t>
            </a:r>
          </a:p>
          <a:p>
            <a:endParaRPr lang="ru-RU" dirty="0" smtClean="0"/>
          </a:p>
          <a:p>
            <a:pPr lvl="0"/>
            <a:r>
              <a:rPr lang="ru-RU" dirty="0" smtClean="0"/>
              <a:t>На практике Контроллеру в </a:t>
            </a:r>
            <a:r>
              <a:rPr lang="ru-RU" dirty="0" err="1" smtClean="0"/>
              <a:t>веб-приложении</a:t>
            </a:r>
            <a:r>
              <a:rPr lang="ru-RU" dirty="0" smtClean="0"/>
              <a:t> обычно соответствует один </a:t>
            </a:r>
            <a:r>
              <a:rPr lang="ru-RU" dirty="0" err="1" smtClean="0"/>
              <a:t>скрипт</a:t>
            </a:r>
            <a:r>
              <a:rPr lang="ru-RU" dirty="0" smtClean="0"/>
              <a:t> и вынесение всей </a:t>
            </a:r>
            <a:r>
              <a:rPr lang="ru-RU" dirty="0" err="1" smtClean="0"/>
              <a:t>бизнес-логики</a:t>
            </a:r>
            <a:r>
              <a:rPr lang="ru-RU" dirty="0" smtClean="0"/>
              <a:t> в Контроллер фактически означает еще и то, что большая часть приложения оказывается в одном </a:t>
            </a:r>
            <a:r>
              <a:rPr lang="ru-RU" dirty="0" err="1" smtClean="0"/>
              <a:t>скрипте</a:t>
            </a:r>
            <a:r>
              <a:rPr lang="ru-RU" dirty="0" smtClean="0"/>
              <a:t>. Отсюда и появился термин ТТУК — толстый тупой уродливый контроллер</a:t>
            </a:r>
          </a:p>
          <a:p>
            <a:endParaRPr lang="ru-RU" dirty="0" smtClean="0"/>
          </a:p>
          <a:p>
            <a:pPr lvl="0"/>
            <a:r>
              <a:rPr lang="ru-RU" dirty="0" smtClean="0"/>
              <a:t>Поскольку, как правило, тонкой является не только Модель но также и Вид (тупой Вид или тупой интерфейс — </a:t>
            </a:r>
            <a:r>
              <a:rPr lang="en-US" dirty="0" smtClean="0"/>
              <a:t>Dumb GUI</a:t>
            </a:r>
            <a:r>
              <a:rPr lang="ru-RU" dirty="0" smtClean="0"/>
              <a:t>, </a:t>
            </a:r>
            <a:r>
              <a:rPr lang="en-US" dirty="0" smtClean="0"/>
              <a:t>Dumb View</a:t>
            </a:r>
            <a:r>
              <a:rPr lang="ru-RU" dirty="0" smtClean="0"/>
              <a:t>), то, как следствие, в Контроллер помимо всей </a:t>
            </a:r>
            <a:r>
              <a:rPr lang="ru-RU" dirty="0" err="1" smtClean="0"/>
              <a:t>бизнес-логики</a:t>
            </a:r>
            <a:r>
              <a:rPr lang="ru-RU" dirty="0" smtClean="0"/>
              <a:t> приложения помещается также еще и логика управления пользовательским интерфейсом. То есть, вместо разделения бизнес логики и логики представления при таком подходе получается их смешение.</a:t>
            </a:r>
            <a:endParaRPr lang="ru-RU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cap="small" dirty="0" smtClean="0"/>
              <a:t>«Архитектурный </a:t>
            </a:r>
            <a:r>
              <a:rPr lang="en-US" b="1" cap="small" dirty="0" smtClean="0"/>
              <a:t>MVC</a:t>
            </a:r>
            <a:r>
              <a:rPr lang="ru-RU" b="1" cap="small" dirty="0" smtClean="0"/>
              <a:t>»</a:t>
            </a:r>
            <a:endParaRPr lang="ru-RU" b="1" cap="small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692896"/>
          </a:xfrm>
        </p:spPr>
        <p:txBody>
          <a:bodyPr>
            <a:normAutofit fontScale="70000" lnSpcReduction="20000"/>
          </a:bodyPr>
          <a:lstStyle/>
          <a:p>
            <a:r>
              <a:rPr lang="ru-RU" b="1" dirty="0" smtClean="0"/>
              <a:t>Отделение модели предметной области (бизнес логики) приложения от пользовательского интерфейса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 smtClean="0"/>
          </a:p>
          <a:p>
            <a:r>
              <a:rPr lang="ru-RU" dirty="0" smtClean="0"/>
              <a:t>Первая и основная идея MVC заключается в том, что любое пользовательское приложение в первом приближении можно разделить на два модуля — один из которых обеспечивает основной функционал приложения, его бизнес логику, а второй отвечает за взаимодействие с пользователем:</a:t>
            </a:r>
            <a:endParaRPr lang="ru-RU" dirty="0"/>
          </a:p>
        </p:txBody>
      </p:sp>
      <p:pic>
        <p:nvPicPr>
          <p:cNvPr id="4" name="Рисунок 3" descr="MVC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4221088"/>
            <a:ext cx="8280920" cy="1944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cap="small" dirty="0" smtClean="0"/>
              <a:t>«Архитектурный </a:t>
            </a:r>
            <a:r>
              <a:rPr lang="en-US" b="1" cap="small" dirty="0" smtClean="0"/>
              <a:t>MVC</a:t>
            </a:r>
            <a:r>
              <a:rPr lang="ru-RU" b="1" cap="small" dirty="0" smtClean="0"/>
              <a:t>»</a:t>
            </a:r>
            <a:endParaRPr lang="ru-RU" b="1" cap="small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692896"/>
          </a:xfrm>
        </p:spPr>
        <p:txBody>
          <a:bodyPr>
            <a:normAutofit fontScale="55000" lnSpcReduction="20000"/>
          </a:bodyPr>
          <a:lstStyle/>
          <a:p>
            <a:r>
              <a:rPr lang="ru-RU" dirty="0" smtClean="0"/>
              <a:t>Получаем </a:t>
            </a:r>
            <a:r>
              <a:rPr lang="ru-RU" dirty="0" smtClean="0"/>
              <a:t>возможность разрабатывать </a:t>
            </a:r>
            <a:r>
              <a:rPr lang="ru-RU" b="1" dirty="0" smtClean="0"/>
              <a:t>модель предметной области</a:t>
            </a:r>
            <a:r>
              <a:rPr lang="ru-RU" dirty="0" smtClean="0"/>
              <a:t>, содержащую бизнес-логику системы и составляющую функциональное ядро приложения, не думая о том как именно она будет взаимодействовать с пользователем.</a:t>
            </a:r>
          </a:p>
          <a:p>
            <a:r>
              <a:rPr lang="ru-RU" dirty="0" smtClean="0"/>
              <a:t>Задача же взаимодействия с пользователем выносится в отдельный модуль – </a:t>
            </a:r>
            <a:r>
              <a:rPr lang="ru-RU" b="1" dirty="0" smtClean="0"/>
              <a:t>пользовательский интерфейс</a:t>
            </a:r>
            <a:r>
              <a:rPr lang="ru-RU" dirty="0" smtClean="0"/>
              <a:t> и тоже может решаться относительно независимо.</a:t>
            </a:r>
          </a:p>
          <a:p>
            <a:r>
              <a:rPr lang="en-US" dirty="0" err="1" smtClean="0"/>
              <a:t>Именно</a:t>
            </a:r>
            <a:r>
              <a:rPr lang="en-US" dirty="0" smtClean="0"/>
              <a:t> </a:t>
            </a:r>
            <a:r>
              <a:rPr lang="en-US" dirty="0" err="1" smtClean="0"/>
              <a:t>модель</a:t>
            </a:r>
            <a:r>
              <a:rPr lang="en-US" dirty="0" smtClean="0"/>
              <a:t> </a:t>
            </a:r>
            <a:r>
              <a:rPr lang="en-US" dirty="0" err="1" smtClean="0"/>
              <a:t>предметной</a:t>
            </a:r>
            <a:r>
              <a:rPr lang="en-US" dirty="0" smtClean="0"/>
              <a:t> </a:t>
            </a:r>
            <a:r>
              <a:rPr lang="en-US" dirty="0" err="1" smtClean="0"/>
              <a:t>области</a:t>
            </a:r>
            <a:r>
              <a:rPr lang="en-US" dirty="0" smtClean="0"/>
              <a:t> (</a:t>
            </a:r>
            <a:r>
              <a:rPr lang="en-US" u="sng" dirty="0" err="1" smtClean="0">
                <a:hlinkClick r:id="rId2"/>
              </a:rPr>
              <a:t>Доменная</a:t>
            </a:r>
            <a:r>
              <a:rPr lang="en-US" u="sng" dirty="0" smtClean="0">
                <a:hlinkClick r:id="rId2"/>
              </a:rPr>
              <a:t> </a:t>
            </a:r>
            <a:r>
              <a:rPr lang="en-US" u="sng" dirty="0" err="1" smtClean="0">
                <a:hlinkClick r:id="rId2"/>
              </a:rPr>
              <a:t>Модель</a:t>
            </a:r>
            <a:r>
              <a:rPr lang="en-US" dirty="0" smtClean="0"/>
              <a:t> </a:t>
            </a:r>
            <a:r>
              <a:rPr lang="en-US" dirty="0" err="1" smtClean="0"/>
              <a:t>от</a:t>
            </a:r>
            <a:r>
              <a:rPr lang="en-US" dirty="0" smtClean="0"/>
              <a:t> </a:t>
            </a:r>
            <a:r>
              <a:rPr lang="en-US" dirty="0" err="1" smtClean="0"/>
              <a:t>английского</a:t>
            </a:r>
            <a:r>
              <a:rPr lang="en-US" dirty="0" smtClean="0"/>
              <a:t> </a:t>
            </a:r>
            <a:r>
              <a:rPr lang="en-US" b="1" dirty="0" smtClean="0"/>
              <a:t>domain model</a:t>
            </a:r>
            <a:r>
              <a:rPr lang="en-US" dirty="0" smtClean="0"/>
              <a:t>) </a:t>
            </a:r>
            <a:r>
              <a:rPr lang="en-US" dirty="0" err="1" smtClean="0"/>
              <a:t>считается</a:t>
            </a:r>
            <a:r>
              <a:rPr lang="en-US" dirty="0" smtClean="0"/>
              <a:t> </a:t>
            </a:r>
            <a:r>
              <a:rPr lang="en-US" b="1" dirty="0" err="1" smtClean="0"/>
              <a:t>Моделью</a:t>
            </a:r>
            <a:r>
              <a:rPr lang="en-US" dirty="0" smtClean="0"/>
              <a:t> в «</a:t>
            </a:r>
            <a:r>
              <a:rPr lang="en-US" dirty="0" err="1" smtClean="0"/>
              <a:t>архитектурном</a:t>
            </a:r>
            <a:r>
              <a:rPr lang="en-US" dirty="0" smtClean="0"/>
              <a:t> MVC» (</a:t>
            </a:r>
            <a:r>
              <a:rPr lang="en-US" dirty="0" err="1" smtClean="0"/>
              <a:t>отсюда</a:t>
            </a:r>
            <a:r>
              <a:rPr lang="en-US" dirty="0" smtClean="0"/>
              <a:t> и </a:t>
            </a:r>
            <a:r>
              <a:rPr lang="en-US" dirty="0" err="1" smtClean="0"/>
              <a:t>термин</a:t>
            </a:r>
            <a:r>
              <a:rPr lang="en-US" dirty="0" smtClean="0"/>
              <a:t>). </a:t>
            </a:r>
            <a:r>
              <a:rPr lang="en-US" dirty="0" err="1" smtClean="0"/>
              <a:t>Поэтому</a:t>
            </a:r>
            <a:r>
              <a:rPr lang="en-US" dirty="0" smtClean="0"/>
              <a:t> </a:t>
            </a:r>
            <a:r>
              <a:rPr lang="en-US" dirty="0" err="1" smtClean="0"/>
              <a:t>так</a:t>
            </a:r>
            <a:r>
              <a:rPr lang="en-US" dirty="0" smtClean="0"/>
              <a:t> </a:t>
            </a:r>
            <a:r>
              <a:rPr lang="en-US" dirty="0" err="1" smtClean="0"/>
              <a:t>важно</a:t>
            </a:r>
            <a:r>
              <a:rPr lang="en-US" dirty="0" smtClean="0"/>
              <a:t> </a:t>
            </a:r>
            <a:r>
              <a:rPr lang="en-US" dirty="0" err="1" smtClean="0"/>
              <a:t>чтобы</a:t>
            </a:r>
            <a:r>
              <a:rPr lang="en-US" dirty="0" smtClean="0"/>
              <a:t> </a:t>
            </a:r>
            <a:r>
              <a:rPr lang="en-US" dirty="0" err="1" smtClean="0"/>
              <a:t>она</a:t>
            </a:r>
            <a:r>
              <a:rPr lang="en-US" dirty="0" smtClean="0"/>
              <a:t> </a:t>
            </a:r>
            <a:r>
              <a:rPr lang="en-US" dirty="0" err="1" smtClean="0"/>
              <a:t>была</a:t>
            </a:r>
            <a:r>
              <a:rPr lang="en-US" dirty="0" smtClean="0"/>
              <a:t> </a:t>
            </a:r>
            <a:r>
              <a:rPr lang="en-US" dirty="0" err="1" smtClean="0"/>
              <a:t>независимой</a:t>
            </a:r>
            <a:r>
              <a:rPr lang="en-US" dirty="0" smtClean="0"/>
              <a:t> и </a:t>
            </a:r>
            <a:r>
              <a:rPr lang="en-US" dirty="0" err="1" smtClean="0"/>
              <a:t>могла</a:t>
            </a:r>
            <a:r>
              <a:rPr lang="en-US" dirty="0" smtClean="0"/>
              <a:t> </a:t>
            </a:r>
            <a:r>
              <a:rPr lang="en-US" dirty="0" err="1" smtClean="0"/>
              <a:t>независимо</a:t>
            </a:r>
            <a:r>
              <a:rPr lang="en-US" dirty="0" smtClean="0"/>
              <a:t> </a:t>
            </a:r>
            <a:r>
              <a:rPr lang="en-US" dirty="0" err="1" smtClean="0"/>
              <a:t>разрабатываться</a:t>
            </a:r>
            <a:r>
              <a:rPr lang="en-US" dirty="0" smtClean="0"/>
              <a:t> и </a:t>
            </a:r>
            <a:r>
              <a:rPr lang="en-US" dirty="0" err="1" smtClean="0"/>
              <a:t>тестироваться</a:t>
            </a:r>
            <a:r>
              <a:rPr lang="en-US" dirty="0" smtClean="0"/>
              <a:t>.</a:t>
            </a:r>
            <a:endParaRPr lang="ru-RU" dirty="0"/>
          </a:p>
        </p:txBody>
      </p:sp>
      <p:pic>
        <p:nvPicPr>
          <p:cNvPr id="4" name="Рисунок 3" descr="MVC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536" y="4221088"/>
            <a:ext cx="8280920" cy="1944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cap="small" dirty="0" smtClean="0"/>
              <a:t>«Архитектурный </a:t>
            </a:r>
            <a:r>
              <a:rPr lang="en-US" b="1" cap="small" dirty="0" smtClean="0"/>
              <a:t>MVC</a:t>
            </a:r>
            <a:r>
              <a:rPr lang="ru-RU" b="1" cap="small" dirty="0" smtClean="0"/>
              <a:t>»</a:t>
            </a:r>
            <a:endParaRPr lang="ru-RU" b="1" cap="small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 fontScale="70000" lnSpcReduction="20000"/>
          </a:bodyPr>
          <a:lstStyle/>
          <a:p>
            <a:r>
              <a:rPr lang="ru-RU" b="1" dirty="0" smtClean="0"/>
              <a:t>Независимость Модели и синхронизация пользовательских интерфейсов за счет шаблона </a:t>
            </a:r>
            <a:r>
              <a:rPr lang="ru-RU" b="1" i="1" dirty="0" smtClean="0"/>
              <a:t>Наблюдатель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 smtClean="0"/>
          </a:p>
          <a:p>
            <a:r>
              <a:rPr lang="ru-RU" dirty="0" smtClean="0"/>
              <a:t>Вторая ключевая идея заключается в том, что для того, чтобы иметь возможность разрабатывать Модель </a:t>
            </a:r>
            <a:r>
              <a:rPr lang="ru-RU" b="1" dirty="0" smtClean="0"/>
              <a:t>независимо</a:t>
            </a:r>
            <a:r>
              <a:rPr lang="ru-RU" dirty="0" smtClean="0"/>
              <a:t>, необходимо ослабить ее зависимость от пользовательского интерфейса. И делается это, как уже упоминалось выше, за счет шаблона </a:t>
            </a:r>
            <a:r>
              <a:rPr lang="ru-RU" b="1" i="1" dirty="0" smtClean="0"/>
              <a:t>Наблюдатель</a:t>
            </a:r>
            <a:r>
              <a:rPr lang="ru-RU" dirty="0" smtClean="0"/>
              <a:t>.</a:t>
            </a:r>
          </a:p>
          <a:p>
            <a:r>
              <a:rPr lang="ru-RU" dirty="0" smtClean="0"/>
              <a:t>Модель </a:t>
            </a:r>
            <a:r>
              <a:rPr lang="ru-RU" b="1" dirty="0" smtClean="0"/>
              <a:t>рассылает извещения об изменениях</a:t>
            </a:r>
            <a:r>
              <a:rPr lang="ru-RU" dirty="0" smtClean="0"/>
              <a:t>. Интерфейс подписывается на эти оповещения и таким образом знает, когда нужно заново считать данные из модели и обновиться. Благодаря этому мы получаем практически </a:t>
            </a:r>
            <a:r>
              <a:rPr lang="ru-RU" b="1" dirty="0" smtClean="0"/>
              <a:t>независимую Модель</a:t>
            </a:r>
            <a:r>
              <a:rPr lang="ru-RU" dirty="0" smtClean="0"/>
              <a:t>, которая ничего не знает о связанных с ней пользовательских интерфейсах, кроме того что они реализуют интерфейс «наблюдателя».</a:t>
            </a:r>
            <a:endParaRPr lang="ru-RU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cap="small" dirty="0" smtClean="0"/>
              <a:t>«Архитектурный </a:t>
            </a:r>
            <a:r>
              <a:rPr lang="en-US" b="1" cap="small" dirty="0" smtClean="0"/>
              <a:t>MVC</a:t>
            </a:r>
            <a:r>
              <a:rPr lang="ru-RU" b="1" cap="small" dirty="0" smtClean="0"/>
              <a:t>»</a:t>
            </a:r>
            <a:endParaRPr lang="ru-RU" b="1" cap="small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980928"/>
          </a:xfrm>
        </p:spPr>
        <p:txBody>
          <a:bodyPr>
            <a:normAutofit fontScale="70000" lnSpcReduction="20000"/>
          </a:bodyPr>
          <a:lstStyle/>
          <a:p>
            <a:r>
              <a:rPr lang="ru-RU" b="1" dirty="0" smtClean="0"/>
              <a:t>Разделение Пользовательского Интерфейса на Вид и Контроллер.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 smtClean="0"/>
          </a:p>
          <a:p>
            <a:r>
              <a:rPr lang="en-US" dirty="0" err="1" smtClean="0"/>
              <a:t>Третья</a:t>
            </a:r>
            <a:r>
              <a:rPr lang="en-US" dirty="0" smtClean="0"/>
              <a:t> </a:t>
            </a:r>
            <a:r>
              <a:rPr lang="en-US" dirty="0" err="1" smtClean="0"/>
              <a:t>идея</a:t>
            </a:r>
            <a:r>
              <a:rPr lang="en-US" dirty="0" smtClean="0"/>
              <a:t> </a:t>
            </a:r>
            <a:r>
              <a:rPr lang="en-US" dirty="0" err="1" smtClean="0"/>
              <a:t>это</a:t>
            </a:r>
            <a:r>
              <a:rPr lang="en-US" dirty="0" smtClean="0"/>
              <a:t> </a:t>
            </a:r>
            <a:r>
              <a:rPr lang="en-US" dirty="0" err="1" smtClean="0"/>
              <a:t>просто</a:t>
            </a:r>
            <a:r>
              <a:rPr lang="en-US" dirty="0" smtClean="0"/>
              <a:t> </a:t>
            </a:r>
            <a:r>
              <a:rPr lang="en-US" dirty="0" err="1" smtClean="0"/>
              <a:t>второй</a:t>
            </a:r>
            <a:r>
              <a:rPr lang="en-US" dirty="0" smtClean="0"/>
              <a:t> </a:t>
            </a:r>
            <a:r>
              <a:rPr lang="en-US" dirty="0" err="1" smtClean="0"/>
              <a:t>шаг</a:t>
            </a:r>
            <a:r>
              <a:rPr lang="en-US" dirty="0" smtClean="0"/>
              <a:t> </a:t>
            </a:r>
            <a:r>
              <a:rPr lang="en-US" dirty="0" err="1" smtClean="0"/>
              <a:t>иерархической</a:t>
            </a:r>
            <a:r>
              <a:rPr lang="en-US" dirty="0" smtClean="0"/>
              <a:t> </a:t>
            </a:r>
            <a:r>
              <a:rPr lang="en-US" dirty="0" err="1" smtClean="0"/>
              <a:t>декомпозиции</a:t>
            </a:r>
            <a:r>
              <a:rPr lang="en-US" dirty="0" smtClean="0"/>
              <a:t>. </a:t>
            </a:r>
            <a:r>
              <a:rPr lang="en-US" dirty="0" err="1" smtClean="0"/>
              <a:t>После</a:t>
            </a:r>
            <a:r>
              <a:rPr lang="en-US" dirty="0" smtClean="0"/>
              <a:t> </a:t>
            </a:r>
            <a:r>
              <a:rPr lang="en-US" dirty="0" err="1" smtClean="0"/>
              <a:t>первичного</a:t>
            </a:r>
            <a:r>
              <a:rPr lang="en-US" dirty="0" smtClean="0"/>
              <a:t> </a:t>
            </a:r>
            <a:r>
              <a:rPr lang="en-US" dirty="0" err="1" smtClean="0"/>
              <a:t>разделения</a:t>
            </a:r>
            <a:r>
              <a:rPr lang="en-US" dirty="0" smtClean="0"/>
              <a:t> </a:t>
            </a:r>
            <a:r>
              <a:rPr lang="en-US" dirty="0" err="1" smtClean="0"/>
              <a:t>приложения</a:t>
            </a:r>
            <a:r>
              <a:rPr lang="en-US" dirty="0" smtClean="0"/>
              <a:t> </a:t>
            </a:r>
            <a:r>
              <a:rPr lang="en-US" dirty="0" err="1" smtClean="0"/>
              <a:t>на</a:t>
            </a:r>
            <a:r>
              <a:rPr lang="en-US" dirty="0" smtClean="0"/>
              <a:t> </a:t>
            </a:r>
            <a:r>
              <a:rPr lang="en-US" dirty="0" err="1" smtClean="0"/>
              <a:t>бизнес</a:t>
            </a:r>
            <a:r>
              <a:rPr lang="en-US" dirty="0" smtClean="0"/>
              <a:t> </a:t>
            </a:r>
            <a:r>
              <a:rPr lang="en-US" dirty="0" err="1" smtClean="0"/>
              <a:t>модель</a:t>
            </a:r>
            <a:r>
              <a:rPr lang="en-US" dirty="0" smtClean="0"/>
              <a:t> и </a:t>
            </a:r>
            <a:r>
              <a:rPr lang="en-US" dirty="0" err="1" smtClean="0"/>
              <a:t>интерфейс</a:t>
            </a:r>
            <a:r>
              <a:rPr lang="en-US" dirty="0" smtClean="0"/>
              <a:t>, </a:t>
            </a:r>
            <a:r>
              <a:rPr lang="en-US" dirty="0" err="1" smtClean="0"/>
              <a:t>декомпозиция</a:t>
            </a:r>
            <a:r>
              <a:rPr lang="en-US" dirty="0" smtClean="0"/>
              <a:t> </a:t>
            </a:r>
            <a:r>
              <a:rPr lang="en-US" dirty="0" err="1" smtClean="0"/>
              <a:t>продолжается</a:t>
            </a:r>
            <a:r>
              <a:rPr lang="en-US" dirty="0" smtClean="0"/>
              <a:t> </a:t>
            </a:r>
            <a:r>
              <a:rPr lang="en-US" dirty="0" err="1" smtClean="0"/>
              <a:t>на</a:t>
            </a:r>
            <a:r>
              <a:rPr lang="en-US" dirty="0" smtClean="0"/>
              <a:t> </a:t>
            </a:r>
            <a:r>
              <a:rPr lang="en-US" dirty="0" err="1" smtClean="0"/>
              <a:t>следующем</a:t>
            </a:r>
            <a:r>
              <a:rPr lang="en-US" dirty="0" smtClean="0"/>
              <a:t> </a:t>
            </a:r>
            <a:r>
              <a:rPr lang="en-US" dirty="0" err="1" smtClean="0"/>
              <a:t>иерархическом</a:t>
            </a:r>
            <a:r>
              <a:rPr lang="en-US" dirty="0" smtClean="0"/>
              <a:t> </a:t>
            </a:r>
            <a:r>
              <a:rPr lang="en-US" dirty="0" err="1" smtClean="0"/>
              <a:t>уровне</a:t>
            </a:r>
            <a:r>
              <a:rPr lang="en-US" dirty="0" smtClean="0"/>
              <a:t> и </a:t>
            </a:r>
            <a:r>
              <a:rPr lang="en-US" dirty="0" err="1" smtClean="0"/>
              <a:t>уже</a:t>
            </a:r>
            <a:r>
              <a:rPr lang="en-US" dirty="0" smtClean="0"/>
              <a:t> </a:t>
            </a:r>
            <a:r>
              <a:rPr lang="en-US" dirty="0" err="1" smtClean="0"/>
              <a:t>пользовательский</a:t>
            </a:r>
            <a:r>
              <a:rPr lang="en-US" dirty="0" smtClean="0"/>
              <a:t> </a:t>
            </a:r>
            <a:r>
              <a:rPr lang="en-US" dirty="0" err="1" smtClean="0"/>
              <a:t>интерфейс</a:t>
            </a:r>
            <a:r>
              <a:rPr lang="en-US" dirty="0" smtClean="0"/>
              <a:t>, в </a:t>
            </a:r>
            <a:r>
              <a:rPr lang="en-US" dirty="0" err="1" smtClean="0"/>
              <a:t>свою</a:t>
            </a:r>
            <a:r>
              <a:rPr lang="en-US" dirty="0" smtClean="0"/>
              <a:t> </a:t>
            </a:r>
            <a:r>
              <a:rPr lang="en-US" dirty="0" err="1" smtClean="0"/>
              <a:t>очередь</a:t>
            </a:r>
            <a:r>
              <a:rPr lang="en-US" dirty="0" smtClean="0"/>
              <a:t>, </a:t>
            </a:r>
            <a:r>
              <a:rPr lang="en-US" dirty="0" err="1" smtClean="0"/>
              <a:t>делится</a:t>
            </a:r>
            <a:r>
              <a:rPr lang="en-US" dirty="0" smtClean="0"/>
              <a:t> </a:t>
            </a:r>
            <a:r>
              <a:rPr lang="en-US" dirty="0" err="1" smtClean="0"/>
              <a:t>на</a:t>
            </a:r>
            <a:r>
              <a:rPr lang="en-US" dirty="0" smtClean="0"/>
              <a:t> </a:t>
            </a:r>
            <a:r>
              <a:rPr lang="en-US" dirty="0" err="1" smtClean="0"/>
              <a:t>Вид</a:t>
            </a:r>
            <a:r>
              <a:rPr lang="en-US" dirty="0" smtClean="0"/>
              <a:t> и </a:t>
            </a:r>
            <a:r>
              <a:rPr lang="en-US" dirty="0" err="1" smtClean="0"/>
              <a:t>Контроллер</a:t>
            </a:r>
            <a:r>
              <a:rPr lang="en-US" dirty="0" smtClean="0"/>
              <a:t>.</a:t>
            </a:r>
            <a:endParaRPr lang="ru-RU" dirty="0"/>
          </a:p>
        </p:txBody>
      </p:sp>
      <p:pic>
        <p:nvPicPr>
          <p:cNvPr id="4" name="Рисунок 3" descr="MVC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4149080"/>
            <a:ext cx="7776864" cy="2376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cap="small" dirty="0" smtClean="0"/>
              <a:t>«</a:t>
            </a:r>
            <a:r>
              <a:rPr lang="en-US" b="1" cap="small" dirty="0" smtClean="0"/>
              <a:t>Original</a:t>
            </a:r>
            <a:r>
              <a:rPr lang="ru-RU" b="1" cap="small" dirty="0" smtClean="0"/>
              <a:t> </a:t>
            </a:r>
            <a:r>
              <a:rPr lang="en-US" b="1" cap="small" dirty="0" smtClean="0"/>
              <a:t>MVC</a:t>
            </a:r>
            <a:r>
              <a:rPr lang="ru-RU" b="1" cap="small" dirty="0" smtClean="0"/>
              <a:t>»</a:t>
            </a:r>
            <a:endParaRPr lang="ru-RU" b="1" cap="small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 fontScale="55000" lnSpcReduction="20000"/>
          </a:bodyPr>
          <a:lstStyle/>
          <a:p>
            <a:r>
              <a:rPr lang="ru-RU" dirty="0" smtClean="0"/>
              <a:t>Ключевая </a:t>
            </a:r>
            <a:r>
              <a:rPr lang="ru-RU" dirty="0" smtClean="0"/>
              <a:t>идея MVC действительно состоит в том, что пользовательское приложение делится на два модуля – один из которых моделирует предметную область и реализует бизнес логику (</a:t>
            </a:r>
            <a:r>
              <a:rPr lang="ru-RU" b="1" i="1" dirty="0" smtClean="0"/>
              <a:t>доменная модель</a:t>
            </a:r>
            <a:r>
              <a:rPr lang="ru-RU" dirty="0" smtClean="0"/>
              <a:t>), а второй отвечает за взаимодействие с пользователем (</a:t>
            </a:r>
            <a:r>
              <a:rPr lang="ru-RU" b="1" i="1" dirty="0" smtClean="0"/>
              <a:t>пользовательский интерфейс</a:t>
            </a:r>
            <a:r>
              <a:rPr lang="ru-RU" dirty="0" smtClean="0"/>
              <a:t>). Но при этом </a:t>
            </a:r>
            <a:r>
              <a:rPr lang="ru-RU" b="1" dirty="0" smtClean="0"/>
              <a:t>Модель</a:t>
            </a:r>
            <a:r>
              <a:rPr lang="ru-RU" dirty="0" smtClean="0"/>
              <a:t> в «MVC схеме» вовсе </a:t>
            </a:r>
            <a:r>
              <a:rPr lang="ru-RU" b="1" dirty="0" smtClean="0"/>
              <a:t>не тождественна доменной модели</a:t>
            </a:r>
            <a:r>
              <a:rPr lang="ru-RU" dirty="0" smtClean="0"/>
              <a:t> (которая может быть сколь угодно сложной и состоять из множества объектов), а является всего лишь ее </a:t>
            </a:r>
            <a:r>
              <a:rPr lang="ru-RU" b="1" dirty="0" smtClean="0"/>
              <a:t>интерфейсом</a:t>
            </a:r>
            <a:r>
              <a:rPr lang="ru-RU" dirty="0" smtClean="0"/>
              <a:t> и </a:t>
            </a:r>
            <a:r>
              <a:rPr lang="ru-RU" b="1" dirty="0" smtClean="0"/>
              <a:t>фасадом</a:t>
            </a:r>
            <a:r>
              <a:rPr lang="ru-RU" dirty="0" smtClean="0"/>
              <a:t>.</a:t>
            </a:r>
          </a:p>
          <a:p>
            <a:pPr>
              <a:buNone/>
            </a:pPr>
            <a:endParaRPr lang="ru-RU" dirty="0" smtClean="0"/>
          </a:p>
          <a:p>
            <a:r>
              <a:rPr lang="ru-RU" dirty="0" smtClean="0"/>
              <a:t>Н</a:t>
            </a:r>
            <a:r>
              <a:rPr lang="en-US" dirty="0" smtClean="0"/>
              <a:t>и </a:t>
            </a:r>
            <a:r>
              <a:rPr lang="en-US" dirty="0" err="1" smtClean="0"/>
              <a:t>Вид</a:t>
            </a:r>
            <a:r>
              <a:rPr lang="en-US" dirty="0" smtClean="0"/>
              <a:t> </a:t>
            </a:r>
            <a:r>
              <a:rPr lang="en-US" dirty="0" err="1" smtClean="0"/>
              <a:t>ни</a:t>
            </a:r>
            <a:r>
              <a:rPr lang="en-US" dirty="0" smtClean="0"/>
              <a:t> </a:t>
            </a:r>
            <a:r>
              <a:rPr lang="en-US" dirty="0" err="1" smtClean="0"/>
              <a:t>Контроллер</a:t>
            </a:r>
            <a:r>
              <a:rPr lang="en-US" dirty="0" smtClean="0"/>
              <a:t> </a:t>
            </a:r>
            <a:r>
              <a:rPr lang="en-US" dirty="0" err="1" smtClean="0"/>
              <a:t>разумеется</a:t>
            </a:r>
            <a:r>
              <a:rPr lang="en-US" dirty="0" smtClean="0"/>
              <a:t> </a:t>
            </a:r>
            <a:r>
              <a:rPr lang="en-US" dirty="0" err="1" smtClean="0"/>
              <a:t>не</a:t>
            </a:r>
            <a:r>
              <a:rPr lang="en-US" dirty="0" smtClean="0"/>
              <a:t> </a:t>
            </a:r>
            <a:r>
              <a:rPr lang="en-US" dirty="0" err="1" smtClean="0"/>
              <a:t>должны</a:t>
            </a:r>
            <a:r>
              <a:rPr lang="en-US" dirty="0" smtClean="0"/>
              <a:t> </a:t>
            </a:r>
            <a:r>
              <a:rPr lang="en-US" dirty="0" err="1" smtClean="0"/>
              <a:t>знать</a:t>
            </a:r>
            <a:r>
              <a:rPr lang="en-US" dirty="0" smtClean="0"/>
              <a:t> о </a:t>
            </a:r>
            <a:r>
              <a:rPr lang="en-US" dirty="0" err="1" smtClean="0"/>
              <a:t>том</a:t>
            </a:r>
            <a:r>
              <a:rPr lang="en-US" dirty="0" smtClean="0"/>
              <a:t>, </a:t>
            </a:r>
            <a:r>
              <a:rPr lang="en-US" dirty="0" err="1" smtClean="0"/>
              <a:t>как</a:t>
            </a:r>
            <a:r>
              <a:rPr lang="en-US" dirty="0" smtClean="0"/>
              <a:t> </a:t>
            </a:r>
            <a:r>
              <a:rPr lang="en-US" dirty="0" err="1" smtClean="0"/>
              <a:t>устроен</a:t>
            </a:r>
            <a:r>
              <a:rPr lang="en-US" dirty="0" smtClean="0"/>
              <a:t> </a:t>
            </a:r>
            <a:r>
              <a:rPr lang="en-US" dirty="0" err="1" smtClean="0"/>
              <a:t>модуль</a:t>
            </a:r>
            <a:r>
              <a:rPr lang="en-US" dirty="0" smtClean="0"/>
              <a:t> </a:t>
            </a:r>
            <a:r>
              <a:rPr lang="en-US" dirty="0" err="1" smtClean="0"/>
              <a:t>предметной</a:t>
            </a:r>
            <a:r>
              <a:rPr lang="en-US" dirty="0" smtClean="0"/>
              <a:t> </a:t>
            </a:r>
            <a:r>
              <a:rPr lang="en-US" dirty="0" err="1" smtClean="0"/>
              <a:t>области</a:t>
            </a:r>
            <a:r>
              <a:rPr lang="en-US" dirty="0" smtClean="0"/>
              <a:t> (</a:t>
            </a:r>
            <a:r>
              <a:rPr lang="en-US" dirty="0" err="1" smtClean="0"/>
              <a:t>доменная</a:t>
            </a:r>
            <a:r>
              <a:rPr lang="en-US" dirty="0" smtClean="0"/>
              <a:t> </a:t>
            </a:r>
            <a:r>
              <a:rPr lang="en-US" dirty="0" err="1" smtClean="0"/>
              <a:t>модель</a:t>
            </a:r>
            <a:r>
              <a:rPr lang="en-US" dirty="0" smtClean="0"/>
              <a:t>), </a:t>
            </a:r>
            <a:r>
              <a:rPr lang="en-US" dirty="0" err="1" smtClean="0"/>
              <a:t>где</a:t>
            </a:r>
            <a:r>
              <a:rPr lang="en-US" dirty="0" smtClean="0"/>
              <a:t> и в </a:t>
            </a:r>
            <a:r>
              <a:rPr lang="en-US" dirty="0" err="1" smtClean="0"/>
              <a:t>каком</a:t>
            </a:r>
            <a:r>
              <a:rPr lang="en-US" dirty="0" smtClean="0"/>
              <a:t> </a:t>
            </a:r>
            <a:r>
              <a:rPr lang="en-US" dirty="0" err="1" smtClean="0"/>
              <a:t>формате</a:t>
            </a:r>
            <a:r>
              <a:rPr lang="en-US" dirty="0" smtClean="0"/>
              <a:t> </a:t>
            </a:r>
            <a:r>
              <a:rPr lang="en-US" dirty="0" err="1" smtClean="0"/>
              <a:t>там</a:t>
            </a:r>
            <a:r>
              <a:rPr lang="en-US" dirty="0" smtClean="0"/>
              <a:t> </a:t>
            </a:r>
            <a:r>
              <a:rPr lang="en-US" dirty="0" err="1" smtClean="0"/>
              <a:t>храняться</a:t>
            </a:r>
            <a:r>
              <a:rPr lang="en-US" dirty="0" smtClean="0"/>
              <a:t> </a:t>
            </a:r>
            <a:r>
              <a:rPr lang="en-US" dirty="0" err="1" smtClean="0"/>
              <a:t>данные</a:t>
            </a:r>
            <a:r>
              <a:rPr lang="en-US" dirty="0" smtClean="0"/>
              <a:t>, и </a:t>
            </a:r>
            <a:r>
              <a:rPr lang="en-US" dirty="0" err="1" smtClean="0"/>
              <a:t>как</a:t>
            </a:r>
            <a:r>
              <a:rPr lang="en-US" dirty="0" smtClean="0"/>
              <a:t> </a:t>
            </a:r>
            <a:r>
              <a:rPr lang="en-US" dirty="0" err="1" smtClean="0"/>
              <a:t>именно</a:t>
            </a:r>
            <a:r>
              <a:rPr lang="en-US" dirty="0" smtClean="0"/>
              <a:t> </a:t>
            </a:r>
            <a:r>
              <a:rPr lang="en-US" dirty="0" err="1" smtClean="0"/>
              <a:t>осуществляется</a:t>
            </a:r>
            <a:r>
              <a:rPr lang="en-US" dirty="0" smtClean="0"/>
              <a:t> </a:t>
            </a:r>
            <a:r>
              <a:rPr lang="en-US" dirty="0" err="1" smtClean="0"/>
              <a:t>управление</a:t>
            </a:r>
            <a:r>
              <a:rPr lang="en-US" dirty="0" smtClean="0"/>
              <a:t>. </a:t>
            </a:r>
            <a:r>
              <a:rPr lang="en-US" dirty="0" err="1" smtClean="0"/>
              <a:t>Они</a:t>
            </a:r>
            <a:r>
              <a:rPr lang="en-US" dirty="0" smtClean="0"/>
              <a:t> </a:t>
            </a:r>
            <a:r>
              <a:rPr lang="en-US" dirty="0" err="1" smtClean="0"/>
              <a:t>взаимодействуют</a:t>
            </a:r>
            <a:r>
              <a:rPr lang="en-US" dirty="0" smtClean="0"/>
              <a:t> </a:t>
            </a:r>
            <a:r>
              <a:rPr lang="en-US" dirty="0" err="1" smtClean="0"/>
              <a:t>лишь</a:t>
            </a:r>
            <a:r>
              <a:rPr lang="en-US" dirty="0" smtClean="0"/>
              <a:t> с </a:t>
            </a:r>
            <a:r>
              <a:rPr lang="en-US" b="1" dirty="0" err="1" smtClean="0"/>
              <a:t>интерфейсом</a:t>
            </a:r>
            <a:r>
              <a:rPr lang="en-US" dirty="0" smtClean="0"/>
              <a:t> и </a:t>
            </a:r>
            <a:r>
              <a:rPr lang="en-US" dirty="0" err="1" smtClean="0"/>
              <a:t>реализующим</a:t>
            </a:r>
            <a:r>
              <a:rPr lang="en-US" dirty="0" smtClean="0"/>
              <a:t> </a:t>
            </a:r>
            <a:r>
              <a:rPr lang="en-US" dirty="0" err="1" smtClean="0"/>
              <a:t>его</a:t>
            </a:r>
            <a:r>
              <a:rPr lang="en-US" dirty="0" smtClean="0"/>
              <a:t> </a:t>
            </a:r>
            <a:r>
              <a:rPr lang="en-US" b="1" dirty="0" err="1" smtClean="0"/>
              <a:t>объектом-фасадом</a:t>
            </a:r>
            <a:r>
              <a:rPr lang="en-US" dirty="0" smtClean="0"/>
              <a:t>, </a:t>
            </a:r>
            <a:r>
              <a:rPr lang="en-US" dirty="0" err="1" smtClean="0"/>
              <a:t>который</a:t>
            </a:r>
            <a:r>
              <a:rPr lang="en-US" dirty="0" smtClean="0"/>
              <a:t> </a:t>
            </a:r>
            <a:r>
              <a:rPr lang="en-US" dirty="0" err="1" smtClean="0"/>
              <a:t>предоставляет</a:t>
            </a:r>
            <a:r>
              <a:rPr lang="en-US" dirty="0" smtClean="0"/>
              <a:t> </a:t>
            </a:r>
            <a:r>
              <a:rPr lang="en-US" dirty="0" err="1" smtClean="0"/>
              <a:t>все</a:t>
            </a:r>
            <a:r>
              <a:rPr lang="en-US" dirty="0" smtClean="0"/>
              <a:t> </a:t>
            </a:r>
            <a:r>
              <a:rPr lang="en-US" dirty="0" err="1" smtClean="0"/>
              <a:t>нужные</a:t>
            </a:r>
            <a:r>
              <a:rPr lang="en-US" dirty="0" smtClean="0"/>
              <a:t> </a:t>
            </a:r>
            <a:r>
              <a:rPr lang="en-US" dirty="0" err="1" smtClean="0"/>
              <a:t>данные</a:t>
            </a:r>
            <a:r>
              <a:rPr lang="en-US" dirty="0" smtClean="0"/>
              <a:t> в </a:t>
            </a:r>
            <a:r>
              <a:rPr lang="en-US" dirty="0" err="1" smtClean="0"/>
              <a:t>нужном</a:t>
            </a:r>
            <a:r>
              <a:rPr lang="en-US" dirty="0" smtClean="0"/>
              <a:t> </a:t>
            </a:r>
            <a:r>
              <a:rPr lang="en-US" dirty="0" err="1" smtClean="0"/>
              <a:t>формате</a:t>
            </a:r>
            <a:r>
              <a:rPr lang="en-US" dirty="0" smtClean="0"/>
              <a:t> и </a:t>
            </a:r>
            <a:r>
              <a:rPr lang="en-US" dirty="0" err="1" smtClean="0"/>
              <a:t>удобный</a:t>
            </a:r>
            <a:r>
              <a:rPr lang="en-US" dirty="0" smtClean="0"/>
              <a:t> </a:t>
            </a:r>
            <a:r>
              <a:rPr lang="en-US" dirty="0" err="1" smtClean="0"/>
              <a:t>набор</a:t>
            </a:r>
            <a:r>
              <a:rPr lang="en-US" dirty="0" smtClean="0"/>
              <a:t> </a:t>
            </a:r>
            <a:r>
              <a:rPr lang="en-US" dirty="0" err="1" smtClean="0"/>
              <a:t>высокоуровневых</a:t>
            </a:r>
            <a:r>
              <a:rPr lang="en-US" dirty="0" smtClean="0"/>
              <a:t> </a:t>
            </a:r>
            <a:r>
              <a:rPr lang="en-US" dirty="0" err="1" smtClean="0"/>
              <a:t>команд</a:t>
            </a:r>
            <a:r>
              <a:rPr lang="en-US" dirty="0" smtClean="0"/>
              <a:t> </a:t>
            </a:r>
            <a:r>
              <a:rPr lang="en-US" dirty="0" err="1" smtClean="0"/>
              <a:t>для</a:t>
            </a:r>
            <a:r>
              <a:rPr lang="en-US" dirty="0" smtClean="0"/>
              <a:t> </a:t>
            </a:r>
            <a:r>
              <a:rPr lang="en-US" dirty="0" err="1" smtClean="0"/>
              <a:t>управления</a:t>
            </a:r>
            <a:r>
              <a:rPr lang="en-US" dirty="0" smtClean="0"/>
              <a:t> </a:t>
            </a:r>
            <a:r>
              <a:rPr lang="en-US" dirty="0" err="1" smtClean="0"/>
              <a:t>подсистемой</a:t>
            </a:r>
            <a:r>
              <a:rPr lang="en-US" dirty="0" smtClean="0"/>
              <a:t>, а </a:t>
            </a:r>
            <a:r>
              <a:rPr lang="en-US" dirty="0" err="1" smtClean="0"/>
              <a:t>также</a:t>
            </a:r>
            <a:r>
              <a:rPr lang="en-US" dirty="0" smtClean="0"/>
              <a:t> </a:t>
            </a:r>
            <a:r>
              <a:rPr lang="en-US" dirty="0" err="1" smtClean="0"/>
              <a:t>реализует</a:t>
            </a:r>
            <a:r>
              <a:rPr lang="en-US" dirty="0" smtClean="0"/>
              <a:t> </a:t>
            </a:r>
            <a:r>
              <a:rPr lang="en-US" dirty="0" err="1" smtClean="0"/>
              <a:t>шаблон</a:t>
            </a:r>
            <a:r>
              <a:rPr lang="en-US" dirty="0" smtClean="0"/>
              <a:t> </a:t>
            </a:r>
            <a:r>
              <a:rPr lang="en-US" dirty="0" err="1" smtClean="0"/>
              <a:t>Наблюдатель</a:t>
            </a:r>
            <a:r>
              <a:rPr lang="en-US" dirty="0" smtClean="0"/>
              <a:t>, </a:t>
            </a:r>
            <a:r>
              <a:rPr lang="en-US" dirty="0" err="1" smtClean="0"/>
              <a:t>для</a:t>
            </a:r>
            <a:r>
              <a:rPr lang="en-US" dirty="0" smtClean="0"/>
              <a:t> </a:t>
            </a:r>
            <a:r>
              <a:rPr lang="en-US" dirty="0" err="1" smtClean="0"/>
              <a:t>извещения</a:t>
            </a:r>
            <a:r>
              <a:rPr lang="en-US" dirty="0" smtClean="0"/>
              <a:t> о </a:t>
            </a:r>
            <a:r>
              <a:rPr lang="en-US" b="1" dirty="0" err="1" smtClean="0"/>
              <a:t>значимых</a:t>
            </a:r>
            <a:r>
              <a:rPr lang="en-US" dirty="0" smtClean="0"/>
              <a:t> </a:t>
            </a:r>
            <a:r>
              <a:rPr lang="en-US" dirty="0" err="1" smtClean="0"/>
              <a:t>изменениях</a:t>
            </a:r>
            <a:r>
              <a:rPr lang="en-US" dirty="0" smtClean="0"/>
              <a:t> в </a:t>
            </a:r>
            <a:r>
              <a:rPr lang="en-US" dirty="0" err="1" smtClean="0"/>
              <a:t>подсистеме</a:t>
            </a:r>
            <a:r>
              <a:rPr lang="en-US" dirty="0" smtClean="0"/>
              <a:t>. И </a:t>
            </a:r>
            <a:r>
              <a:rPr lang="en-US" dirty="0" err="1" smtClean="0"/>
              <a:t>если</a:t>
            </a:r>
            <a:r>
              <a:rPr lang="en-US" dirty="0" smtClean="0"/>
              <a:t> </a:t>
            </a:r>
            <a:r>
              <a:rPr lang="en-US" dirty="0" err="1" smtClean="0"/>
              <a:t>мы</a:t>
            </a:r>
            <a:r>
              <a:rPr lang="en-US" dirty="0" smtClean="0"/>
              <a:t> </a:t>
            </a:r>
            <a:r>
              <a:rPr lang="en-US" dirty="0" err="1" smtClean="0"/>
              <a:t>захотим</a:t>
            </a:r>
            <a:r>
              <a:rPr lang="en-US" dirty="0" smtClean="0"/>
              <a:t> </a:t>
            </a:r>
            <a:r>
              <a:rPr lang="en-US" dirty="0" err="1" smtClean="0"/>
              <a:t>поменять</a:t>
            </a:r>
            <a:r>
              <a:rPr lang="en-US" dirty="0" smtClean="0"/>
              <a:t> </a:t>
            </a:r>
            <a:r>
              <a:rPr lang="en-US" dirty="0" err="1" smtClean="0"/>
              <a:t>базу</a:t>
            </a:r>
            <a:r>
              <a:rPr lang="en-US" dirty="0" smtClean="0"/>
              <a:t> </a:t>
            </a:r>
            <a:r>
              <a:rPr lang="en-US" dirty="0" err="1" smtClean="0"/>
              <a:t>данных</a:t>
            </a:r>
            <a:r>
              <a:rPr lang="en-US" dirty="0" smtClean="0"/>
              <a:t>, </a:t>
            </a:r>
            <a:r>
              <a:rPr lang="en-US" dirty="0" err="1" smtClean="0"/>
              <a:t>использовать</a:t>
            </a:r>
            <a:r>
              <a:rPr lang="en-US" dirty="0" smtClean="0"/>
              <a:t> </a:t>
            </a:r>
            <a:r>
              <a:rPr lang="en-US" dirty="0" err="1" smtClean="0"/>
              <a:t>облако</a:t>
            </a:r>
            <a:r>
              <a:rPr lang="en-US" dirty="0" smtClean="0"/>
              <a:t>, </a:t>
            </a:r>
            <a:r>
              <a:rPr lang="en-US" dirty="0" err="1" smtClean="0"/>
              <a:t>или</a:t>
            </a:r>
            <a:r>
              <a:rPr lang="en-US" dirty="0" smtClean="0"/>
              <a:t> </a:t>
            </a:r>
            <a:r>
              <a:rPr lang="en-US" dirty="0" err="1" smtClean="0"/>
              <a:t>вообще</a:t>
            </a:r>
            <a:r>
              <a:rPr lang="en-US" dirty="0" smtClean="0"/>
              <a:t> </a:t>
            </a:r>
            <a:r>
              <a:rPr lang="en-US" dirty="0" err="1" smtClean="0"/>
              <a:t>собирать</a:t>
            </a:r>
            <a:r>
              <a:rPr lang="en-US" dirty="0" smtClean="0"/>
              <a:t> </a:t>
            </a:r>
            <a:r>
              <a:rPr lang="en-US" dirty="0" err="1" smtClean="0"/>
              <a:t>нужные</a:t>
            </a:r>
            <a:r>
              <a:rPr lang="en-US" dirty="0" smtClean="0"/>
              <a:t> </a:t>
            </a:r>
            <a:r>
              <a:rPr lang="en-US" dirty="0" err="1" smtClean="0"/>
              <a:t>нам</a:t>
            </a:r>
            <a:r>
              <a:rPr lang="en-US" dirty="0" smtClean="0"/>
              <a:t> </a:t>
            </a:r>
            <a:r>
              <a:rPr lang="en-US" dirty="0" err="1" smtClean="0"/>
              <a:t>данные</a:t>
            </a:r>
            <a:r>
              <a:rPr lang="en-US" dirty="0" smtClean="0"/>
              <a:t> </a:t>
            </a:r>
            <a:r>
              <a:rPr lang="en-US" dirty="0" err="1" smtClean="0"/>
              <a:t>из</a:t>
            </a:r>
            <a:r>
              <a:rPr lang="en-US" dirty="0" smtClean="0"/>
              <a:t> </a:t>
            </a:r>
            <a:r>
              <a:rPr lang="en-US" dirty="0" err="1" smtClean="0"/>
              <a:t>различных</a:t>
            </a:r>
            <a:r>
              <a:rPr lang="en-US" dirty="0" smtClean="0"/>
              <a:t> </a:t>
            </a:r>
            <a:r>
              <a:rPr lang="en-US" dirty="0" err="1" smtClean="0"/>
              <a:t>источников</a:t>
            </a:r>
            <a:r>
              <a:rPr lang="en-US" dirty="0" smtClean="0"/>
              <a:t> в </a:t>
            </a:r>
            <a:r>
              <a:rPr lang="en-US" dirty="0" err="1" smtClean="0"/>
              <a:t>сети</a:t>
            </a:r>
            <a:r>
              <a:rPr lang="en-US" dirty="0" smtClean="0"/>
              <a:t>… </a:t>
            </a:r>
            <a:r>
              <a:rPr lang="en-US" dirty="0" err="1" smtClean="0"/>
              <a:t>если</a:t>
            </a:r>
            <a:r>
              <a:rPr lang="en-US" dirty="0" smtClean="0"/>
              <a:t> </a:t>
            </a:r>
            <a:r>
              <a:rPr lang="en-US" dirty="0" err="1" smtClean="0"/>
              <a:t>внесем</a:t>
            </a:r>
            <a:r>
              <a:rPr lang="en-US" dirty="0" smtClean="0"/>
              <a:t> </a:t>
            </a:r>
            <a:r>
              <a:rPr lang="en-US" dirty="0" err="1" smtClean="0"/>
              <a:t>какие</a:t>
            </a:r>
            <a:r>
              <a:rPr lang="en-US" dirty="0" smtClean="0"/>
              <a:t> </a:t>
            </a:r>
            <a:r>
              <a:rPr lang="en-US" dirty="0" err="1" smtClean="0"/>
              <a:t>угодно</a:t>
            </a:r>
            <a:r>
              <a:rPr lang="en-US" dirty="0" smtClean="0"/>
              <a:t> </a:t>
            </a:r>
            <a:r>
              <a:rPr lang="en-US" dirty="0" err="1" smtClean="0"/>
              <a:t>изменения</a:t>
            </a:r>
            <a:r>
              <a:rPr lang="en-US" dirty="0" smtClean="0"/>
              <a:t> в </a:t>
            </a:r>
            <a:r>
              <a:rPr lang="en-US" dirty="0" err="1" smtClean="0"/>
              <a:t>бизнес</a:t>
            </a:r>
            <a:r>
              <a:rPr lang="en-US" dirty="0" smtClean="0"/>
              <a:t> </a:t>
            </a:r>
            <a:r>
              <a:rPr lang="en-US" dirty="0" err="1" smtClean="0"/>
              <a:t>логику</a:t>
            </a:r>
            <a:r>
              <a:rPr lang="en-US" dirty="0" smtClean="0"/>
              <a:t> </a:t>
            </a:r>
            <a:r>
              <a:rPr lang="en-US" dirty="0" err="1" smtClean="0"/>
              <a:t>приложения</a:t>
            </a:r>
            <a:r>
              <a:rPr lang="en-US" dirty="0" smtClean="0"/>
              <a:t>, </a:t>
            </a:r>
            <a:r>
              <a:rPr lang="en-US" dirty="0" err="1" smtClean="0"/>
              <a:t>но</a:t>
            </a:r>
            <a:r>
              <a:rPr lang="en-US" dirty="0" smtClean="0"/>
              <a:t> </a:t>
            </a:r>
            <a:r>
              <a:rPr lang="en-US" dirty="0" err="1" smtClean="0"/>
              <a:t>при</a:t>
            </a:r>
            <a:r>
              <a:rPr lang="en-US" dirty="0" smtClean="0"/>
              <a:t> </a:t>
            </a:r>
            <a:r>
              <a:rPr lang="en-US" dirty="0" err="1" smtClean="0"/>
              <a:t>этом</a:t>
            </a:r>
            <a:r>
              <a:rPr lang="en-US" dirty="0" smtClean="0"/>
              <a:t> </a:t>
            </a:r>
            <a:r>
              <a:rPr lang="en-US" dirty="0" err="1" smtClean="0"/>
              <a:t>оставим</a:t>
            </a:r>
            <a:r>
              <a:rPr lang="en-US" dirty="0" smtClean="0"/>
              <a:t> </a:t>
            </a:r>
            <a:r>
              <a:rPr lang="en-US" dirty="0" err="1" smtClean="0"/>
              <a:t>неизменным</a:t>
            </a:r>
            <a:r>
              <a:rPr lang="en-US" dirty="0" smtClean="0"/>
              <a:t> </a:t>
            </a:r>
            <a:r>
              <a:rPr lang="en-US" dirty="0" err="1" smtClean="0"/>
              <a:t>интерфейс-фасад</a:t>
            </a:r>
            <a:r>
              <a:rPr lang="en-US" dirty="0" smtClean="0"/>
              <a:t>, </a:t>
            </a:r>
            <a:r>
              <a:rPr lang="en-US" dirty="0" err="1" smtClean="0"/>
              <a:t>то</a:t>
            </a:r>
            <a:r>
              <a:rPr lang="en-US" dirty="0" smtClean="0"/>
              <a:t> </a:t>
            </a:r>
            <a:r>
              <a:rPr lang="en-US" dirty="0" err="1" smtClean="0"/>
              <a:t>ни</a:t>
            </a:r>
            <a:r>
              <a:rPr lang="en-US" dirty="0" smtClean="0"/>
              <a:t> </a:t>
            </a:r>
            <a:r>
              <a:rPr lang="en-US" dirty="0" err="1" smtClean="0"/>
              <a:t>Вид</a:t>
            </a:r>
            <a:r>
              <a:rPr lang="en-US" dirty="0" smtClean="0"/>
              <a:t>, </a:t>
            </a:r>
            <a:r>
              <a:rPr lang="en-US" dirty="0" err="1" smtClean="0"/>
              <a:t>ни</a:t>
            </a:r>
            <a:r>
              <a:rPr lang="en-US" dirty="0" smtClean="0"/>
              <a:t> </a:t>
            </a:r>
            <a:r>
              <a:rPr lang="en-US" dirty="0" err="1" smtClean="0"/>
              <a:t>Контроллер</a:t>
            </a:r>
            <a:r>
              <a:rPr lang="en-US" dirty="0" smtClean="0"/>
              <a:t> </a:t>
            </a:r>
            <a:r>
              <a:rPr lang="en-US" dirty="0" err="1" smtClean="0"/>
              <a:t>это</a:t>
            </a:r>
            <a:r>
              <a:rPr lang="en-US" dirty="0" smtClean="0"/>
              <a:t> </a:t>
            </a:r>
            <a:r>
              <a:rPr lang="en-US" dirty="0" err="1" smtClean="0"/>
              <a:t>никак</a:t>
            </a:r>
            <a:r>
              <a:rPr lang="en-US" dirty="0" smtClean="0"/>
              <a:t> </a:t>
            </a:r>
            <a:r>
              <a:rPr lang="en-US" dirty="0" err="1" smtClean="0"/>
              <a:t>не</a:t>
            </a:r>
            <a:r>
              <a:rPr lang="en-US" dirty="0" smtClean="0"/>
              <a:t> </a:t>
            </a:r>
            <a:r>
              <a:rPr lang="en-US" dirty="0" err="1" smtClean="0"/>
              <a:t>затронет</a:t>
            </a:r>
            <a:r>
              <a:rPr lang="en-US" dirty="0" smtClean="0"/>
              <a:t>. </a:t>
            </a:r>
            <a:r>
              <a:rPr lang="en-US" dirty="0" err="1" smtClean="0"/>
              <a:t>Мы</a:t>
            </a:r>
            <a:r>
              <a:rPr lang="en-US" dirty="0" smtClean="0"/>
              <a:t> </a:t>
            </a:r>
            <a:r>
              <a:rPr lang="en-US" dirty="0" err="1" smtClean="0"/>
              <a:t>имеем</a:t>
            </a:r>
            <a:r>
              <a:rPr lang="en-US" dirty="0" smtClean="0"/>
              <a:t> </a:t>
            </a:r>
            <a:r>
              <a:rPr lang="en-US" dirty="0" err="1" smtClean="0"/>
              <a:t>архитектуру</a:t>
            </a:r>
            <a:r>
              <a:rPr lang="en-US" dirty="0" smtClean="0"/>
              <a:t> </a:t>
            </a:r>
            <a:r>
              <a:rPr lang="en-US" b="1" dirty="0" err="1" smtClean="0"/>
              <a:t>устойчивую</a:t>
            </a:r>
            <a:r>
              <a:rPr lang="en-US" dirty="0" smtClean="0"/>
              <a:t> к </a:t>
            </a:r>
            <a:r>
              <a:rPr lang="en-US" dirty="0" err="1" smtClean="0"/>
              <a:t>изменениям</a:t>
            </a:r>
            <a:r>
              <a:rPr lang="en-US" dirty="0" smtClean="0"/>
              <a:t>.</a:t>
            </a:r>
            <a:endParaRPr lang="ru-RU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cap="small" dirty="0" smtClean="0"/>
              <a:t>«</a:t>
            </a:r>
            <a:r>
              <a:rPr lang="en-US" b="1" cap="small" dirty="0" smtClean="0"/>
              <a:t>Original</a:t>
            </a:r>
            <a:r>
              <a:rPr lang="ru-RU" b="1" cap="small" dirty="0" smtClean="0"/>
              <a:t> </a:t>
            </a:r>
            <a:r>
              <a:rPr lang="en-US" b="1" cap="small" dirty="0" smtClean="0"/>
              <a:t>MVC</a:t>
            </a:r>
            <a:r>
              <a:rPr lang="ru-RU" b="1" cap="small" dirty="0" smtClean="0"/>
              <a:t>»</a:t>
            </a:r>
            <a:endParaRPr lang="ru-RU" b="1" cap="small" dirty="0"/>
          </a:p>
        </p:txBody>
      </p:sp>
      <p:pic>
        <p:nvPicPr>
          <p:cNvPr id="4" name="Содержимое 3" descr="MVC"/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1556792"/>
            <a:ext cx="7667625" cy="3133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cap="small" dirty="0" smtClean="0"/>
              <a:t>«</a:t>
            </a:r>
            <a:r>
              <a:rPr lang="en-US" b="1" cap="small" dirty="0" smtClean="0"/>
              <a:t>Original</a:t>
            </a:r>
            <a:r>
              <a:rPr lang="ru-RU" b="1" cap="small" dirty="0" smtClean="0"/>
              <a:t> </a:t>
            </a:r>
            <a:r>
              <a:rPr lang="en-US" b="1" cap="small" dirty="0" smtClean="0"/>
              <a:t>MVC</a:t>
            </a:r>
            <a:r>
              <a:rPr lang="ru-RU" b="1" cap="small" dirty="0" smtClean="0"/>
              <a:t>»</a:t>
            </a:r>
            <a:endParaRPr lang="ru-RU" b="1" cap="small" dirty="0"/>
          </a:p>
        </p:txBody>
      </p:sp>
      <p:sp>
        <p:nvSpPr>
          <p:cNvPr id="5" name="Содержимое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Рисунок 5" descr="RequiredInterface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484784"/>
            <a:ext cx="8568952" cy="259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Рисунок 6" descr="RequiredInterface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3528" y="4437112"/>
            <a:ext cx="8640960" cy="2160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Типичные ошибки: </a:t>
            </a:r>
            <a:endParaRPr lang="ru-RU" b="1" cap="small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 fontScale="62500" lnSpcReduction="20000"/>
          </a:bodyPr>
          <a:lstStyle/>
          <a:p>
            <a:r>
              <a:rPr lang="ru-RU" b="1" dirty="0" smtClean="0"/>
              <a:t>Обращение </a:t>
            </a:r>
            <a:r>
              <a:rPr lang="ru-RU" b="1" dirty="0" smtClean="0"/>
              <a:t>к доменным объектам напрямую</a:t>
            </a:r>
            <a:endParaRPr lang="ru-RU" dirty="0" smtClean="0"/>
          </a:p>
          <a:p>
            <a:r>
              <a:rPr lang="ru-RU" dirty="0" smtClean="0"/>
              <a:t>Поскольку на практике в любом сколько </a:t>
            </a:r>
            <a:r>
              <a:rPr lang="ru-RU" dirty="0" err="1" smtClean="0"/>
              <a:t>нибудь</a:t>
            </a:r>
            <a:r>
              <a:rPr lang="ru-RU" dirty="0" smtClean="0"/>
              <a:t> серьезном приложении сложно обойтись без фасадов, то не удивительно что во многих </a:t>
            </a:r>
            <a:r>
              <a:rPr lang="ru-RU" dirty="0" err="1" smtClean="0"/>
              <a:t>фреймворках</a:t>
            </a:r>
            <a:r>
              <a:rPr lang="ru-RU" dirty="0" smtClean="0"/>
              <a:t> и "модификациях MVC" аналоги фасада или объекта-посредника между GUI и доменной моделью </a:t>
            </a:r>
            <a:r>
              <a:rPr lang="ru-RU" dirty="0" err="1" smtClean="0"/>
              <a:t>пере-изобретаются</a:t>
            </a:r>
            <a:r>
              <a:rPr lang="ru-RU" dirty="0" smtClean="0"/>
              <a:t> под самыми разными именами. Помимо </a:t>
            </a:r>
            <a:r>
              <a:rPr lang="ru-RU" dirty="0" err="1" smtClean="0"/>
              <a:t>Front-Controller</a:t>
            </a:r>
            <a:r>
              <a:rPr lang="ru-RU" dirty="0" smtClean="0"/>
              <a:t> здесь можно упомянуть также </a:t>
            </a:r>
            <a:r>
              <a:rPr lang="ru-RU" dirty="0" err="1" smtClean="0"/>
              <a:t>ApplicationModel</a:t>
            </a:r>
            <a:r>
              <a:rPr lang="ru-RU" dirty="0" smtClean="0"/>
              <a:t>, </a:t>
            </a:r>
            <a:r>
              <a:rPr lang="ru-RU" u="sng" dirty="0" err="1" smtClean="0">
                <a:hlinkClick r:id="rId2"/>
              </a:rPr>
              <a:t>ViewModel</a:t>
            </a:r>
            <a:r>
              <a:rPr lang="ru-RU" dirty="0" smtClean="0"/>
              <a:t> (подробнее см. дискуссию </a:t>
            </a:r>
            <a:r>
              <a:rPr lang="ru-RU" u="sng" dirty="0" err="1" smtClean="0">
                <a:hlinkClick r:id="rId3"/>
              </a:rPr>
              <a:t>Model-ModelView-Controller</a:t>
            </a:r>
            <a:r>
              <a:rPr lang="ru-RU" dirty="0" smtClean="0"/>
              <a:t>) и </a:t>
            </a:r>
            <a:r>
              <a:rPr lang="ru-RU" u="sng" dirty="0" err="1" smtClean="0">
                <a:hlinkClick r:id="rId4"/>
              </a:rPr>
              <a:t>Proxy-model</a:t>
            </a:r>
            <a:r>
              <a:rPr lang="ru-RU" dirty="0" smtClean="0"/>
              <a:t>.</a:t>
            </a:r>
          </a:p>
          <a:p>
            <a:pPr>
              <a:buNone/>
            </a:pPr>
            <a:r>
              <a:rPr lang="ru-RU" dirty="0" smtClean="0"/>
              <a:t/>
            </a:r>
            <a:br>
              <a:rPr lang="ru-RU" dirty="0" smtClean="0"/>
            </a:br>
            <a:endParaRPr lang="ru-RU" dirty="0" smtClean="0"/>
          </a:p>
          <a:p>
            <a:r>
              <a:rPr lang="ru-RU" dirty="0" smtClean="0"/>
              <a:t>Из-за того, что разработчики не всегда хорошо понимают что стоит за всеми этими «моделями», а сами модели привыкли воспринимать как данные а не интерфейс, то это становится источником еще одной весьма распространенной и ресурсоемкой ошибки. Вместо того чтобы нужным образом всего лишь </a:t>
            </a:r>
            <a:r>
              <a:rPr lang="ru-RU" b="1" dirty="0" smtClean="0"/>
              <a:t>интерпретировать</a:t>
            </a:r>
            <a:r>
              <a:rPr lang="ru-RU" dirty="0" smtClean="0"/>
              <a:t> и адаптировать имеющиеся доменные данные с помощью моделей-посредников их начинают </a:t>
            </a:r>
            <a:r>
              <a:rPr lang="ru-RU" b="1" dirty="0" smtClean="0"/>
              <a:t>копировать</a:t>
            </a:r>
            <a:r>
              <a:rPr lang="ru-RU" dirty="0" smtClean="0"/>
              <a:t> в эти модели-посредники.</a:t>
            </a:r>
            <a:endParaRPr lang="ru-RU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Типичные ошибки: </a:t>
            </a:r>
            <a:endParaRPr lang="ru-RU" b="1" cap="small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 fontScale="77500" lnSpcReduction="20000"/>
          </a:bodyPr>
          <a:lstStyle/>
          <a:p>
            <a:r>
              <a:rPr lang="ru-RU" dirty="0" smtClean="0"/>
              <a:t>Когда MVC преподносится исключительно как «схема», то наличие «промежуточных моделей» кажется сложным и запутанным. Появляются вопросы ("Чем эти модели отличаются друг от друга?", “Как их правильно использовать?”), неоднозначные трактовки и множество возможностей сделать ошибку.</a:t>
            </a:r>
          </a:p>
          <a:p>
            <a:pPr>
              <a:buNone/>
            </a:pPr>
            <a:r>
              <a:rPr lang="ru-RU" dirty="0" smtClean="0"/>
              <a:t/>
            </a:r>
            <a:br>
              <a:rPr lang="ru-RU" dirty="0" smtClean="0"/>
            </a:br>
            <a:endParaRPr lang="ru-RU" dirty="0" smtClean="0"/>
          </a:p>
          <a:p>
            <a:r>
              <a:rPr lang="ru-RU" dirty="0" smtClean="0"/>
              <a:t>Если </a:t>
            </a:r>
            <a:r>
              <a:rPr lang="en-US" dirty="0" err="1" smtClean="0"/>
              <a:t>понимать</a:t>
            </a:r>
            <a:r>
              <a:rPr lang="en-US" dirty="0" smtClean="0"/>
              <a:t> </a:t>
            </a:r>
            <a:r>
              <a:rPr lang="en-US" dirty="0" err="1" smtClean="0"/>
              <a:t>заложенные</a:t>
            </a:r>
            <a:r>
              <a:rPr lang="en-US" dirty="0" smtClean="0"/>
              <a:t> в MVC </a:t>
            </a:r>
            <a:r>
              <a:rPr lang="en-US" dirty="0" err="1" smtClean="0"/>
              <a:t>архитектурные</a:t>
            </a:r>
            <a:r>
              <a:rPr lang="en-US" dirty="0" smtClean="0"/>
              <a:t> </a:t>
            </a:r>
            <a:r>
              <a:rPr lang="en-US" dirty="0" err="1" smtClean="0"/>
              <a:t>идеи</a:t>
            </a:r>
            <a:r>
              <a:rPr lang="en-US" dirty="0" smtClean="0"/>
              <a:t>, </a:t>
            </a:r>
            <a:r>
              <a:rPr lang="en-US" dirty="0" err="1" smtClean="0"/>
              <a:t>то</a:t>
            </a:r>
            <a:r>
              <a:rPr lang="en-US" dirty="0" smtClean="0"/>
              <a:t> </a:t>
            </a:r>
            <a:r>
              <a:rPr lang="en-US" dirty="0" err="1" smtClean="0"/>
              <a:t>все</a:t>
            </a:r>
            <a:r>
              <a:rPr lang="en-US" dirty="0" smtClean="0"/>
              <a:t> </a:t>
            </a:r>
            <a:r>
              <a:rPr lang="en-US" dirty="0" err="1" smtClean="0"/>
              <a:t>становится</a:t>
            </a:r>
            <a:r>
              <a:rPr lang="en-US" dirty="0" smtClean="0"/>
              <a:t> </a:t>
            </a:r>
            <a:r>
              <a:rPr lang="en-US" dirty="0" err="1" smtClean="0"/>
              <a:t>предельно</a:t>
            </a:r>
            <a:r>
              <a:rPr lang="en-US" dirty="0" smtClean="0"/>
              <a:t> </a:t>
            </a:r>
            <a:r>
              <a:rPr lang="en-US" dirty="0" err="1" smtClean="0"/>
              <a:t>ясным</a:t>
            </a:r>
            <a:r>
              <a:rPr lang="en-US" dirty="0" smtClean="0"/>
              <a:t>: </a:t>
            </a:r>
            <a:r>
              <a:rPr lang="en-US" dirty="0" err="1" smtClean="0"/>
              <a:t>пользовательский</a:t>
            </a:r>
            <a:r>
              <a:rPr lang="en-US" dirty="0" smtClean="0"/>
              <a:t> </a:t>
            </a:r>
            <a:r>
              <a:rPr lang="en-US" dirty="0" err="1" smtClean="0"/>
              <a:t>интерфейс</a:t>
            </a:r>
            <a:r>
              <a:rPr lang="en-US" dirty="0" smtClean="0"/>
              <a:t> </a:t>
            </a:r>
            <a:r>
              <a:rPr lang="en-US" dirty="0" err="1" smtClean="0"/>
              <a:t>не</a:t>
            </a:r>
            <a:r>
              <a:rPr lang="en-US" dirty="0" smtClean="0"/>
              <a:t> </a:t>
            </a:r>
            <a:r>
              <a:rPr lang="en-US" dirty="0" err="1" smtClean="0"/>
              <a:t>имеет</a:t>
            </a:r>
            <a:r>
              <a:rPr lang="en-US" dirty="0" smtClean="0"/>
              <a:t> </a:t>
            </a:r>
            <a:r>
              <a:rPr lang="en-US" dirty="0" err="1" smtClean="0"/>
              <a:t>права</a:t>
            </a:r>
            <a:r>
              <a:rPr lang="en-US" dirty="0" smtClean="0"/>
              <a:t> </a:t>
            </a:r>
            <a:r>
              <a:rPr lang="en-US" dirty="0" err="1" smtClean="0"/>
              <a:t>обращаться</a:t>
            </a:r>
            <a:r>
              <a:rPr lang="en-US" dirty="0" smtClean="0"/>
              <a:t> к </a:t>
            </a:r>
            <a:r>
              <a:rPr lang="en-US" dirty="0" err="1" smtClean="0"/>
              <a:t>объектам</a:t>
            </a:r>
            <a:r>
              <a:rPr lang="en-US" dirty="0" smtClean="0"/>
              <a:t> </a:t>
            </a:r>
            <a:r>
              <a:rPr lang="en-US" dirty="0" err="1" smtClean="0"/>
              <a:t>доменной</a:t>
            </a:r>
            <a:r>
              <a:rPr lang="en-US" dirty="0" smtClean="0"/>
              <a:t> </a:t>
            </a:r>
            <a:r>
              <a:rPr lang="en-US" dirty="0" err="1" smtClean="0"/>
              <a:t>модели</a:t>
            </a:r>
            <a:r>
              <a:rPr lang="en-US" dirty="0" smtClean="0"/>
              <a:t> </a:t>
            </a:r>
            <a:r>
              <a:rPr lang="en-US" dirty="0" err="1" smtClean="0"/>
              <a:t>напрямую</a:t>
            </a:r>
            <a:r>
              <a:rPr lang="en-US" dirty="0" smtClean="0"/>
              <a:t>. А </a:t>
            </a:r>
            <a:r>
              <a:rPr lang="en-US" dirty="0" err="1" smtClean="0"/>
              <a:t>значит</a:t>
            </a:r>
            <a:r>
              <a:rPr lang="en-US" dirty="0" smtClean="0"/>
              <a:t> </a:t>
            </a:r>
            <a:r>
              <a:rPr lang="en-US" dirty="0" err="1" smtClean="0"/>
              <a:t>между</a:t>
            </a:r>
            <a:r>
              <a:rPr lang="en-US" dirty="0" smtClean="0"/>
              <a:t> </a:t>
            </a:r>
            <a:r>
              <a:rPr lang="en-US" dirty="0" err="1" smtClean="0"/>
              <a:t>доменной</a:t>
            </a:r>
            <a:r>
              <a:rPr lang="en-US" dirty="0" smtClean="0"/>
              <a:t> </a:t>
            </a:r>
            <a:r>
              <a:rPr lang="en-US" dirty="0" err="1" smtClean="0"/>
              <a:t>моделью</a:t>
            </a:r>
            <a:r>
              <a:rPr lang="en-US" dirty="0" smtClean="0"/>
              <a:t> и </a:t>
            </a:r>
            <a:r>
              <a:rPr lang="en-US" dirty="0" err="1" smtClean="0"/>
              <a:t>пользовательским</a:t>
            </a:r>
            <a:r>
              <a:rPr lang="en-US" dirty="0" smtClean="0"/>
              <a:t> </a:t>
            </a:r>
            <a:r>
              <a:rPr lang="en-US" dirty="0" err="1" smtClean="0"/>
              <a:t>интерфейсом</a:t>
            </a:r>
            <a:r>
              <a:rPr lang="en-US" dirty="0" smtClean="0"/>
              <a:t> </a:t>
            </a:r>
            <a:r>
              <a:rPr lang="en-US" dirty="0" err="1" smtClean="0"/>
              <a:t>должнен</a:t>
            </a:r>
            <a:r>
              <a:rPr lang="en-US" dirty="0" smtClean="0"/>
              <a:t> </a:t>
            </a:r>
            <a:r>
              <a:rPr lang="en-US" dirty="0" err="1" smtClean="0"/>
              <a:t>находиться</a:t>
            </a:r>
            <a:r>
              <a:rPr lang="en-US" dirty="0" smtClean="0"/>
              <a:t> </a:t>
            </a:r>
            <a:r>
              <a:rPr lang="en-US" dirty="0" err="1" smtClean="0"/>
              <a:t>фасад</a:t>
            </a:r>
            <a:r>
              <a:rPr lang="en-US" dirty="0" smtClean="0"/>
              <a:t>/</a:t>
            </a:r>
            <a:r>
              <a:rPr lang="en-US" dirty="0" err="1" smtClean="0"/>
              <a:t>посредник</a:t>
            </a:r>
            <a:r>
              <a:rPr lang="en-US" dirty="0" smtClean="0"/>
              <a:t>/</a:t>
            </a:r>
            <a:r>
              <a:rPr lang="en-US" dirty="0" err="1" smtClean="0"/>
              <a:t>адаптер</a:t>
            </a:r>
            <a:r>
              <a:rPr lang="en-US" dirty="0" smtClean="0"/>
              <a:t>..., и </a:t>
            </a:r>
            <a:r>
              <a:rPr lang="en-US" dirty="0" err="1" smtClean="0"/>
              <a:t>взаимодействовать</a:t>
            </a:r>
            <a:r>
              <a:rPr lang="en-US" dirty="0" smtClean="0"/>
              <a:t> </a:t>
            </a:r>
            <a:r>
              <a:rPr lang="en-US" dirty="0" err="1" smtClean="0"/>
              <a:t>пользовательский</a:t>
            </a:r>
            <a:r>
              <a:rPr lang="en-US" dirty="0" smtClean="0"/>
              <a:t> </a:t>
            </a:r>
            <a:r>
              <a:rPr lang="en-US" dirty="0" err="1" smtClean="0"/>
              <a:t>интерфейс</a:t>
            </a:r>
            <a:r>
              <a:rPr lang="en-US" dirty="0" smtClean="0"/>
              <a:t> (</a:t>
            </a:r>
            <a:r>
              <a:rPr lang="en-US" dirty="0" err="1" smtClean="0"/>
              <a:t>Вид</a:t>
            </a:r>
            <a:r>
              <a:rPr lang="en-US" dirty="0" smtClean="0"/>
              <a:t> и </a:t>
            </a:r>
            <a:r>
              <a:rPr lang="en-US" dirty="0" err="1" smtClean="0"/>
              <a:t>Контроллер</a:t>
            </a:r>
            <a:r>
              <a:rPr lang="en-US" dirty="0" smtClean="0"/>
              <a:t>) </a:t>
            </a:r>
            <a:r>
              <a:rPr lang="en-US" dirty="0" err="1" smtClean="0"/>
              <a:t>может</a:t>
            </a:r>
            <a:r>
              <a:rPr lang="en-US" dirty="0" smtClean="0"/>
              <a:t> </a:t>
            </a:r>
            <a:r>
              <a:rPr lang="en-US" dirty="0" err="1" smtClean="0"/>
              <a:t>только</a:t>
            </a:r>
            <a:r>
              <a:rPr lang="en-US" dirty="0" smtClean="0"/>
              <a:t> с </a:t>
            </a:r>
            <a:r>
              <a:rPr lang="en-US" dirty="0" err="1" smtClean="0"/>
              <a:t>ним</a:t>
            </a:r>
            <a:r>
              <a:rPr lang="en-US" dirty="0" smtClean="0"/>
              <a:t>. </a:t>
            </a:r>
            <a:endParaRPr lang="ru-RU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Построение пользовательского интерфейса </a:t>
            </a:r>
            <a:endParaRPr lang="ru-RU" b="1" cap="small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ru-RU" dirty="0" smtClean="0"/>
              <a:t>Т</a:t>
            </a:r>
            <a:r>
              <a:rPr lang="en-US" dirty="0" err="1" smtClean="0"/>
              <a:t>ут</a:t>
            </a:r>
            <a:r>
              <a:rPr lang="en-US" dirty="0" smtClean="0"/>
              <a:t> </a:t>
            </a:r>
            <a:r>
              <a:rPr lang="en-US" dirty="0" err="1" smtClean="0"/>
              <a:t>содержится</a:t>
            </a:r>
            <a:r>
              <a:rPr lang="en-US" dirty="0" smtClean="0"/>
              <a:t> </a:t>
            </a:r>
            <a:r>
              <a:rPr lang="en-US" dirty="0" err="1" smtClean="0"/>
              <a:t>некое</a:t>
            </a:r>
            <a:r>
              <a:rPr lang="en-US" dirty="0" smtClean="0"/>
              <a:t> </a:t>
            </a:r>
            <a:r>
              <a:rPr lang="en-US" dirty="0" err="1" smtClean="0"/>
              <a:t>противоречие</a:t>
            </a:r>
            <a:r>
              <a:rPr lang="en-US" dirty="0" smtClean="0"/>
              <a:t>, </a:t>
            </a:r>
            <a:r>
              <a:rPr lang="en-US" dirty="0" err="1" smtClean="0"/>
              <a:t>поскольку</a:t>
            </a:r>
            <a:r>
              <a:rPr lang="en-US" dirty="0" smtClean="0"/>
              <a:t> </a:t>
            </a:r>
            <a:r>
              <a:rPr lang="en-US" dirty="0" err="1" smtClean="0"/>
              <a:t>такие</a:t>
            </a:r>
            <a:r>
              <a:rPr lang="en-US" dirty="0" smtClean="0"/>
              <a:t> </a:t>
            </a:r>
            <a:r>
              <a:rPr lang="en-US" dirty="0" err="1" smtClean="0"/>
              <a:t>графические</a:t>
            </a:r>
            <a:r>
              <a:rPr lang="en-US" dirty="0" smtClean="0"/>
              <a:t> </a:t>
            </a:r>
            <a:r>
              <a:rPr lang="en-US" dirty="0" err="1" smtClean="0"/>
              <a:t>компоненты</a:t>
            </a:r>
            <a:r>
              <a:rPr lang="en-US" dirty="0" smtClean="0"/>
              <a:t> </a:t>
            </a:r>
            <a:r>
              <a:rPr lang="en-US" dirty="0" err="1" smtClean="0"/>
              <a:t>как</a:t>
            </a:r>
            <a:r>
              <a:rPr lang="en-US" dirty="0" smtClean="0"/>
              <a:t> </a:t>
            </a:r>
            <a:r>
              <a:rPr lang="en-US" dirty="0" err="1" smtClean="0"/>
              <a:t>меню</a:t>
            </a:r>
            <a:r>
              <a:rPr lang="en-US" dirty="0" smtClean="0"/>
              <a:t>, </a:t>
            </a:r>
            <a:r>
              <a:rPr lang="en-US" dirty="0" err="1" smtClean="0"/>
              <a:t>кнопки</a:t>
            </a:r>
            <a:r>
              <a:rPr lang="en-US" dirty="0" smtClean="0"/>
              <a:t>, </a:t>
            </a:r>
            <a:r>
              <a:rPr lang="en-US" dirty="0" err="1" smtClean="0"/>
              <a:t>тулбары</a:t>
            </a:r>
            <a:r>
              <a:rPr lang="en-US" dirty="0" smtClean="0"/>
              <a:t> </a:t>
            </a:r>
            <a:r>
              <a:rPr lang="en-US" dirty="0" err="1" smtClean="0"/>
              <a:t>служат</a:t>
            </a:r>
            <a:r>
              <a:rPr lang="en-US" dirty="0" smtClean="0"/>
              <a:t> </a:t>
            </a:r>
            <a:r>
              <a:rPr lang="en-US" dirty="0" err="1" smtClean="0"/>
              <a:t>не</a:t>
            </a:r>
            <a:r>
              <a:rPr lang="en-US" dirty="0" smtClean="0"/>
              <a:t> </a:t>
            </a:r>
            <a:r>
              <a:rPr lang="en-US" dirty="0" err="1" smtClean="0"/>
              <a:t>для</a:t>
            </a:r>
            <a:r>
              <a:rPr lang="en-US" dirty="0" smtClean="0"/>
              <a:t> </a:t>
            </a:r>
            <a:r>
              <a:rPr lang="en-US" dirty="0" err="1" smtClean="0"/>
              <a:t>отображения</a:t>
            </a:r>
            <a:r>
              <a:rPr lang="en-US" dirty="0" smtClean="0"/>
              <a:t> </a:t>
            </a:r>
            <a:r>
              <a:rPr lang="en-US" dirty="0" err="1" smtClean="0"/>
              <a:t>информации</a:t>
            </a:r>
            <a:r>
              <a:rPr lang="en-US" dirty="0" smtClean="0"/>
              <a:t> о </a:t>
            </a:r>
            <a:r>
              <a:rPr lang="en-US" dirty="0" err="1" smtClean="0"/>
              <a:t>системе</a:t>
            </a:r>
            <a:r>
              <a:rPr lang="en-US" dirty="0" smtClean="0"/>
              <a:t>, а </a:t>
            </a:r>
            <a:r>
              <a:rPr lang="en-US" dirty="0" err="1" smtClean="0"/>
              <a:t>прежде</a:t>
            </a:r>
            <a:r>
              <a:rPr lang="en-US" dirty="0" smtClean="0"/>
              <a:t> </a:t>
            </a:r>
            <a:r>
              <a:rPr lang="en-US" dirty="0" err="1" smtClean="0"/>
              <a:t>всего</a:t>
            </a:r>
            <a:r>
              <a:rPr lang="en-US" dirty="0" smtClean="0"/>
              <a:t> </a:t>
            </a:r>
            <a:r>
              <a:rPr lang="en-US" dirty="0" err="1" smtClean="0"/>
              <a:t>для</a:t>
            </a:r>
            <a:r>
              <a:rPr lang="en-US" dirty="0" smtClean="0"/>
              <a:t> </a:t>
            </a:r>
            <a:r>
              <a:rPr lang="en-US" dirty="0" err="1" smtClean="0"/>
              <a:t>управления</a:t>
            </a:r>
            <a:r>
              <a:rPr lang="en-US" dirty="0" smtClean="0"/>
              <a:t> </a:t>
            </a:r>
            <a:r>
              <a:rPr lang="en-US" dirty="0" err="1" smtClean="0"/>
              <a:t>системой</a:t>
            </a:r>
            <a:r>
              <a:rPr lang="en-US" dirty="0" smtClean="0"/>
              <a:t>. </a:t>
            </a:r>
            <a:r>
              <a:rPr lang="en-US" dirty="0" err="1" smtClean="0"/>
              <a:t>Клавиатура</a:t>
            </a:r>
            <a:r>
              <a:rPr lang="en-US" dirty="0" smtClean="0"/>
              <a:t> и </a:t>
            </a:r>
            <a:r>
              <a:rPr lang="en-US" dirty="0" err="1" smtClean="0"/>
              <a:t>мышь</a:t>
            </a:r>
            <a:r>
              <a:rPr lang="en-US" dirty="0" smtClean="0"/>
              <a:t> </a:t>
            </a:r>
            <a:r>
              <a:rPr lang="en-US" dirty="0" err="1" smtClean="0"/>
              <a:t>всегда</a:t>
            </a:r>
            <a:r>
              <a:rPr lang="en-US" dirty="0" smtClean="0"/>
              <a:t> </a:t>
            </a:r>
            <a:r>
              <a:rPr lang="en-US" dirty="0" err="1" smtClean="0"/>
              <a:t>были</a:t>
            </a:r>
            <a:r>
              <a:rPr lang="en-US" dirty="0" smtClean="0"/>
              <a:t> </a:t>
            </a:r>
            <a:r>
              <a:rPr lang="en-US" dirty="0" err="1" smtClean="0"/>
              <a:t>средством</a:t>
            </a:r>
            <a:r>
              <a:rPr lang="en-US" dirty="0" smtClean="0"/>
              <a:t> </a:t>
            </a:r>
            <a:r>
              <a:rPr lang="en-US" dirty="0" err="1" smtClean="0"/>
              <a:t>управления</a:t>
            </a:r>
            <a:r>
              <a:rPr lang="en-US" dirty="0" smtClean="0"/>
              <a:t> </a:t>
            </a:r>
            <a:r>
              <a:rPr lang="en-US" dirty="0" err="1" smtClean="0"/>
              <a:t>программой</a:t>
            </a:r>
            <a:r>
              <a:rPr lang="en-US" dirty="0" smtClean="0"/>
              <a:t> и </a:t>
            </a:r>
            <a:r>
              <a:rPr lang="en-US" dirty="0" err="1" smtClean="0"/>
              <a:t>находились</a:t>
            </a:r>
            <a:r>
              <a:rPr lang="en-US" dirty="0" smtClean="0"/>
              <a:t> в «</a:t>
            </a:r>
            <a:r>
              <a:rPr lang="en-US" dirty="0" err="1" smtClean="0"/>
              <a:t>ведомости</a:t>
            </a:r>
            <a:r>
              <a:rPr lang="en-US" dirty="0" smtClean="0"/>
              <a:t>» </a:t>
            </a:r>
            <a:r>
              <a:rPr lang="en-US" dirty="0" err="1" smtClean="0"/>
              <a:t>Контроллера</a:t>
            </a:r>
            <a:r>
              <a:rPr lang="en-US" dirty="0" smtClean="0"/>
              <a:t> (</a:t>
            </a:r>
            <a:r>
              <a:rPr lang="en-US" dirty="0" err="1" smtClean="0"/>
              <a:t>как</a:t>
            </a:r>
            <a:r>
              <a:rPr lang="en-US" dirty="0" smtClean="0"/>
              <a:t> </a:t>
            </a:r>
            <a:r>
              <a:rPr lang="en-US" dirty="0" err="1" smtClean="0"/>
              <a:t>бы</a:t>
            </a:r>
            <a:r>
              <a:rPr lang="en-US" dirty="0" smtClean="0"/>
              <a:t> </a:t>
            </a:r>
            <a:r>
              <a:rPr lang="en-US" dirty="0" err="1" smtClean="0"/>
              <a:t>его</a:t>
            </a:r>
            <a:r>
              <a:rPr lang="en-US" dirty="0" smtClean="0"/>
              <a:t> </a:t>
            </a:r>
            <a:r>
              <a:rPr lang="en-US" dirty="0" err="1" smtClean="0"/>
              <a:t>не</a:t>
            </a:r>
            <a:r>
              <a:rPr lang="en-US" dirty="0" smtClean="0"/>
              <a:t> </a:t>
            </a:r>
            <a:r>
              <a:rPr lang="en-US" dirty="0" err="1" smtClean="0"/>
              <a:t>трактовали</a:t>
            </a:r>
            <a:r>
              <a:rPr lang="en-US" dirty="0" smtClean="0"/>
              <a:t>). </a:t>
            </a:r>
            <a:r>
              <a:rPr lang="ru-RU" dirty="0" smtClean="0"/>
              <a:t>К</a:t>
            </a:r>
            <a:r>
              <a:rPr lang="en-US" dirty="0" err="1" smtClean="0"/>
              <a:t>ажется</a:t>
            </a:r>
            <a:r>
              <a:rPr lang="en-US" dirty="0" smtClean="0"/>
              <a:t> </a:t>
            </a:r>
            <a:r>
              <a:rPr lang="en-US" dirty="0" err="1" smtClean="0"/>
              <a:t>нелогичным</a:t>
            </a:r>
            <a:r>
              <a:rPr lang="en-US" dirty="0" smtClean="0"/>
              <a:t> и </a:t>
            </a:r>
            <a:r>
              <a:rPr lang="en-US" dirty="0" err="1" smtClean="0"/>
              <a:t>странным</a:t>
            </a:r>
            <a:r>
              <a:rPr lang="en-US" dirty="0" smtClean="0"/>
              <a:t>, </a:t>
            </a:r>
            <a:r>
              <a:rPr lang="en-US" dirty="0" err="1" smtClean="0"/>
              <a:t>что</a:t>
            </a:r>
            <a:r>
              <a:rPr lang="en-US" dirty="0" smtClean="0"/>
              <a:t> </a:t>
            </a:r>
            <a:r>
              <a:rPr lang="en-US" dirty="0" err="1" smtClean="0"/>
              <a:t>кнопки</a:t>
            </a:r>
            <a:r>
              <a:rPr lang="en-US" dirty="0" smtClean="0"/>
              <a:t>, </a:t>
            </a:r>
            <a:r>
              <a:rPr lang="en-US" dirty="0" err="1" smtClean="0"/>
              <a:t>сделанные</a:t>
            </a:r>
            <a:r>
              <a:rPr lang="en-US" dirty="0" smtClean="0"/>
              <a:t> </a:t>
            </a:r>
            <a:r>
              <a:rPr lang="en-US" dirty="0" err="1" smtClean="0"/>
              <a:t>из</a:t>
            </a:r>
            <a:r>
              <a:rPr lang="en-US" dirty="0" smtClean="0"/>
              <a:t> </a:t>
            </a:r>
            <a:r>
              <a:rPr lang="en-US" dirty="0" err="1" smtClean="0"/>
              <a:t>пластмассы</a:t>
            </a:r>
            <a:r>
              <a:rPr lang="en-US" dirty="0" smtClean="0"/>
              <a:t>, </a:t>
            </a:r>
            <a:r>
              <a:rPr lang="en-US" dirty="0" err="1" smtClean="0"/>
              <a:t>считаются</a:t>
            </a:r>
            <a:r>
              <a:rPr lang="en-US" dirty="0" smtClean="0"/>
              <a:t> </a:t>
            </a:r>
            <a:r>
              <a:rPr lang="en-US" dirty="0" err="1" smtClean="0"/>
              <a:t>элементами</a:t>
            </a:r>
            <a:r>
              <a:rPr lang="en-US" dirty="0" smtClean="0"/>
              <a:t> </a:t>
            </a:r>
            <a:r>
              <a:rPr lang="en-US" dirty="0" err="1" smtClean="0"/>
              <a:t>управления</a:t>
            </a:r>
            <a:r>
              <a:rPr lang="en-US" dirty="0" smtClean="0"/>
              <a:t> и </a:t>
            </a:r>
            <a:r>
              <a:rPr lang="en-US" dirty="0" err="1" smtClean="0"/>
              <a:t>относятся</a:t>
            </a:r>
            <a:r>
              <a:rPr lang="en-US" dirty="0" smtClean="0"/>
              <a:t> к </a:t>
            </a:r>
            <a:r>
              <a:rPr lang="en-US" dirty="0" err="1" smtClean="0"/>
              <a:t>Контроллеру</a:t>
            </a:r>
            <a:r>
              <a:rPr lang="en-US" dirty="0" smtClean="0"/>
              <a:t>, а </a:t>
            </a:r>
            <a:r>
              <a:rPr lang="en-US" dirty="0" err="1" smtClean="0"/>
              <a:t>кнопки</a:t>
            </a:r>
            <a:r>
              <a:rPr lang="en-US" dirty="0" smtClean="0"/>
              <a:t>, </a:t>
            </a:r>
            <a:r>
              <a:rPr lang="en-US" dirty="0" err="1" smtClean="0"/>
              <a:t>нарисованные</a:t>
            </a:r>
            <a:r>
              <a:rPr lang="en-US" dirty="0" smtClean="0"/>
              <a:t> </a:t>
            </a:r>
            <a:r>
              <a:rPr lang="en-US" dirty="0" err="1" smtClean="0"/>
              <a:t>на</a:t>
            </a:r>
            <a:r>
              <a:rPr lang="en-US" dirty="0" smtClean="0"/>
              <a:t> </a:t>
            </a:r>
            <a:r>
              <a:rPr lang="en-US" dirty="0" err="1" smtClean="0"/>
              <a:t>экране</a:t>
            </a:r>
            <a:r>
              <a:rPr lang="en-US" dirty="0" smtClean="0"/>
              <a:t>, и </a:t>
            </a:r>
            <a:r>
              <a:rPr lang="en-US" dirty="0" err="1" smtClean="0"/>
              <a:t>по</a:t>
            </a:r>
            <a:r>
              <a:rPr lang="en-US" dirty="0" smtClean="0"/>
              <a:t> </a:t>
            </a:r>
            <a:r>
              <a:rPr lang="en-US" dirty="0" err="1" smtClean="0"/>
              <a:t>сути</a:t>
            </a:r>
            <a:r>
              <a:rPr lang="en-US" dirty="0" smtClean="0"/>
              <a:t> </a:t>
            </a:r>
            <a:r>
              <a:rPr lang="en-US" dirty="0" err="1" smtClean="0"/>
              <a:t>выполняющие</a:t>
            </a:r>
            <a:r>
              <a:rPr lang="en-US" dirty="0" smtClean="0"/>
              <a:t> </a:t>
            </a:r>
            <a:r>
              <a:rPr lang="en-US" dirty="0" err="1" smtClean="0"/>
              <a:t>те</a:t>
            </a:r>
            <a:r>
              <a:rPr lang="en-US" dirty="0" smtClean="0"/>
              <a:t> </a:t>
            </a:r>
            <a:r>
              <a:rPr lang="en-US" dirty="0" err="1" smtClean="0"/>
              <a:t>же</a:t>
            </a:r>
            <a:r>
              <a:rPr lang="en-US" dirty="0" smtClean="0"/>
              <a:t> </a:t>
            </a:r>
            <a:r>
              <a:rPr lang="en-US" dirty="0" err="1" smtClean="0"/>
              <a:t>самые</a:t>
            </a:r>
            <a:r>
              <a:rPr lang="en-US" dirty="0" smtClean="0"/>
              <a:t> </a:t>
            </a:r>
            <a:r>
              <a:rPr lang="en-US" dirty="0" err="1" smtClean="0"/>
              <a:t>функции</a:t>
            </a:r>
            <a:r>
              <a:rPr lang="en-US" dirty="0" smtClean="0"/>
              <a:t> (</a:t>
            </a:r>
            <a:r>
              <a:rPr lang="en-US" dirty="0" err="1" smtClean="0"/>
              <a:t>производить</a:t>
            </a:r>
            <a:r>
              <a:rPr lang="en-US" dirty="0" smtClean="0"/>
              <a:t> </a:t>
            </a:r>
            <a:r>
              <a:rPr lang="en-US" dirty="0" err="1" smtClean="0"/>
              <a:t>входящие</a:t>
            </a:r>
            <a:r>
              <a:rPr lang="en-US" dirty="0" smtClean="0"/>
              <a:t> </a:t>
            </a:r>
            <a:r>
              <a:rPr lang="en-US" dirty="0" err="1" smtClean="0"/>
              <a:t>события</a:t>
            </a:r>
            <a:r>
              <a:rPr lang="en-US" dirty="0" smtClean="0"/>
              <a:t>), </a:t>
            </a:r>
            <a:r>
              <a:rPr lang="en-US" dirty="0" err="1" smtClean="0"/>
              <a:t>почему</a:t>
            </a:r>
            <a:r>
              <a:rPr lang="en-US" dirty="0" smtClean="0"/>
              <a:t> </a:t>
            </a:r>
            <a:r>
              <a:rPr lang="en-US" dirty="0" err="1" smtClean="0"/>
              <a:t>то</a:t>
            </a:r>
            <a:r>
              <a:rPr lang="en-US" dirty="0" smtClean="0"/>
              <a:t> </a:t>
            </a:r>
            <a:r>
              <a:rPr lang="en-US" dirty="0" err="1" smtClean="0"/>
              <a:t>относят</a:t>
            </a:r>
            <a:r>
              <a:rPr lang="en-US" dirty="0" smtClean="0"/>
              <a:t> к </a:t>
            </a:r>
            <a:r>
              <a:rPr lang="en-US" dirty="0" err="1" smtClean="0"/>
              <a:t>Виду</a:t>
            </a:r>
            <a:r>
              <a:rPr lang="en-US" dirty="0" smtClean="0"/>
              <a:t>.</a:t>
            </a:r>
            <a:endParaRPr lang="ru-RU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Построение пользовательского интерфейса </a:t>
            </a:r>
            <a:endParaRPr lang="ru-RU" b="1" cap="small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/>
          </a:bodyPr>
          <a:lstStyle/>
          <a:p>
            <a:r>
              <a:rPr lang="en-US" b="1" dirty="0" err="1" smtClean="0"/>
              <a:t>Контроллер</a:t>
            </a:r>
            <a:r>
              <a:rPr lang="en-US" dirty="0" smtClean="0"/>
              <a:t> </a:t>
            </a:r>
            <a:r>
              <a:rPr lang="en-US" dirty="0" err="1" smtClean="0"/>
              <a:t>это</a:t>
            </a:r>
            <a:r>
              <a:rPr lang="en-US" dirty="0" smtClean="0"/>
              <a:t> </a:t>
            </a:r>
            <a:r>
              <a:rPr lang="en-US" b="1" dirty="0" err="1" smtClean="0"/>
              <a:t>часть</a:t>
            </a:r>
            <a:r>
              <a:rPr lang="en-US" b="1" dirty="0" smtClean="0"/>
              <a:t> </a:t>
            </a:r>
            <a:r>
              <a:rPr lang="en-US" b="1" dirty="0" err="1" smtClean="0"/>
              <a:t>пользовательского</a:t>
            </a:r>
            <a:r>
              <a:rPr lang="en-US" b="1" dirty="0" smtClean="0"/>
              <a:t> </a:t>
            </a:r>
            <a:r>
              <a:rPr lang="en-US" b="1" dirty="0" err="1" smtClean="0"/>
              <a:t>интерфейса</a:t>
            </a:r>
            <a:r>
              <a:rPr lang="en-US" dirty="0" smtClean="0"/>
              <a:t>, </a:t>
            </a:r>
            <a:r>
              <a:rPr lang="en-US" dirty="0" err="1" smtClean="0"/>
              <a:t>которая</a:t>
            </a:r>
            <a:r>
              <a:rPr lang="en-US" dirty="0" smtClean="0"/>
              <a:t> </a:t>
            </a:r>
            <a:r>
              <a:rPr lang="en-US" dirty="0" err="1" smtClean="0"/>
              <a:t>отвечает</a:t>
            </a:r>
            <a:r>
              <a:rPr lang="en-US" dirty="0" smtClean="0"/>
              <a:t> </a:t>
            </a:r>
            <a:r>
              <a:rPr lang="en-US" dirty="0" err="1" smtClean="0"/>
              <a:t>за</a:t>
            </a:r>
            <a:r>
              <a:rPr lang="en-US" dirty="0" smtClean="0"/>
              <a:t> </a:t>
            </a:r>
            <a:r>
              <a:rPr lang="en-US" dirty="0" err="1" smtClean="0"/>
              <a:t>то</a:t>
            </a:r>
            <a:r>
              <a:rPr lang="en-US" dirty="0" smtClean="0"/>
              <a:t> </a:t>
            </a:r>
            <a:r>
              <a:rPr lang="en-US" dirty="0" err="1" smtClean="0"/>
              <a:t>чтобы</a:t>
            </a:r>
            <a:r>
              <a:rPr lang="en-US" dirty="0" smtClean="0"/>
              <a:t> </a:t>
            </a:r>
            <a:r>
              <a:rPr lang="ru-RU" dirty="0" smtClean="0"/>
              <a:t> </a:t>
            </a:r>
            <a:r>
              <a:rPr lang="en-US" dirty="0" err="1" smtClean="0"/>
              <a:t>предоставить</a:t>
            </a:r>
            <a:r>
              <a:rPr lang="en-US" dirty="0" smtClean="0"/>
              <a:t> </a:t>
            </a:r>
            <a:r>
              <a:rPr lang="en-US" dirty="0" err="1" smtClean="0"/>
              <a:t>пользователю</a:t>
            </a:r>
            <a:r>
              <a:rPr lang="en-US" dirty="0" smtClean="0"/>
              <a:t> </a:t>
            </a:r>
            <a:r>
              <a:rPr lang="en-US" b="1" dirty="0" err="1" smtClean="0"/>
              <a:t>удобные</a:t>
            </a:r>
            <a:r>
              <a:rPr lang="en-US" b="1" dirty="0" smtClean="0"/>
              <a:t> </a:t>
            </a:r>
            <a:r>
              <a:rPr lang="en-US" b="1" dirty="0" err="1" smtClean="0"/>
              <a:t>средства</a:t>
            </a:r>
            <a:r>
              <a:rPr lang="en-US" b="1" dirty="0" smtClean="0"/>
              <a:t> </a:t>
            </a:r>
            <a:r>
              <a:rPr lang="en-US" b="1" dirty="0" err="1" smtClean="0"/>
              <a:t>для</a:t>
            </a:r>
            <a:r>
              <a:rPr lang="en-US" b="1" dirty="0" smtClean="0"/>
              <a:t> </a:t>
            </a:r>
            <a:r>
              <a:rPr lang="en-US" b="1" dirty="0" err="1" smtClean="0"/>
              <a:t>ввода</a:t>
            </a:r>
            <a:r>
              <a:rPr lang="en-US" b="1" dirty="0" smtClean="0"/>
              <a:t> </a:t>
            </a:r>
            <a:r>
              <a:rPr lang="en-US" b="1" dirty="0" err="1" smtClean="0"/>
              <a:t>команд</a:t>
            </a:r>
            <a:r>
              <a:rPr lang="en-US" b="1" dirty="0" smtClean="0"/>
              <a:t> и </a:t>
            </a:r>
            <a:r>
              <a:rPr lang="en-US" b="1" dirty="0" err="1" smtClean="0"/>
              <a:t>данных</a:t>
            </a:r>
            <a:r>
              <a:rPr lang="en-US" dirty="0" smtClean="0"/>
              <a:t>, а </a:t>
            </a:r>
            <a:r>
              <a:rPr lang="en-US" dirty="0" err="1" smtClean="0"/>
              <a:t>затем</a:t>
            </a:r>
            <a:r>
              <a:rPr lang="en-US" dirty="0" smtClean="0"/>
              <a:t> </a:t>
            </a:r>
            <a:r>
              <a:rPr lang="ru-RU" dirty="0" smtClean="0"/>
              <a:t> </a:t>
            </a:r>
            <a:r>
              <a:rPr lang="en-US" dirty="0" err="1" smtClean="0"/>
              <a:t>действия</a:t>
            </a:r>
            <a:r>
              <a:rPr lang="en-US" dirty="0" smtClean="0"/>
              <a:t> </a:t>
            </a:r>
            <a:r>
              <a:rPr lang="en-US" dirty="0" err="1" smtClean="0"/>
              <a:t>пользователя</a:t>
            </a:r>
            <a:r>
              <a:rPr lang="en-US" dirty="0" smtClean="0"/>
              <a:t> </a:t>
            </a:r>
            <a:r>
              <a:rPr lang="en-US" b="1" dirty="0" err="1" smtClean="0"/>
              <a:t>перевести</a:t>
            </a:r>
            <a:r>
              <a:rPr lang="en-US" dirty="0" smtClean="0"/>
              <a:t> в </a:t>
            </a:r>
            <a:r>
              <a:rPr lang="en-US" dirty="0" err="1" smtClean="0"/>
              <a:t>вызовы</a:t>
            </a:r>
            <a:r>
              <a:rPr lang="en-US" dirty="0" smtClean="0"/>
              <a:t> </a:t>
            </a:r>
            <a:r>
              <a:rPr lang="en-US" dirty="0" err="1" smtClean="0"/>
              <a:t>соответствующих</a:t>
            </a:r>
            <a:r>
              <a:rPr lang="en-US" dirty="0" smtClean="0"/>
              <a:t> </a:t>
            </a:r>
            <a:r>
              <a:rPr lang="en-US" dirty="0" err="1" smtClean="0"/>
              <a:t>методов</a:t>
            </a:r>
            <a:r>
              <a:rPr lang="en-US" dirty="0" smtClean="0"/>
              <a:t> </a:t>
            </a:r>
            <a:r>
              <a:rPr lang="en-US" dirty="0" err="1" smtClean="0"/>
              <a:t>Модели</a:t>
            </a:r>
            <a:r>
              <a:rPr lang="en-US" dirty="0" smtClean="0"/>
              <a:t> и </a:t>
            </a:r>
            <a:r>
              <a:rPr lang="en-US" b="1" dirty="0" err="1" smtClean="0"/>
              <a:t>передать</a:t>
            </a:r>
            <a:r>
              <a:rPr lang="en-US" dirty="0" smtClean="0"/>
              <a:t> </a:t>
            </a:r>
            <a:r>
              <a:rPr lang="en-US" dirty="0" err="1" smtClean="0"/>
              <a:t>их</a:t>
            </a:r>
            <a:r>
              <a:rPr lang="en-US" dirty="0" smtClean="0"/>
              <a:t> </a:t>
            </a:r>
            <a:r>
              <a:rPr lang="en-US" dirty="0" err="1" smtClean="0"/>
              <a:t>ей</a:t>
            </a:r>
            <a:r>
              <a:rPr lang="en-US" dirty="0" smtClean="0"/>
              <a:t>.</a:t>
            </a:r>
            <a:endParaRPr lang="ru-RU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Построение пользовательского интерфейса </a:t>
            </a:r>
            <a:endParaRPr lang="ru-RU" b="1" cap="small" dirty="0"/>
          </a:p>
        </p:txBody>
      </p:sp>
      <p:pic>
        <p:nvPicPr>
          <p:cNvPr id="4" name="Содержимое 3" descr="View Controller"/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723292"/>
            <a:ext cx="8229600" cy="3011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Построение пользовательского интерфейса </a:t>
            </a:r>
            <a:endParaRPr lang="ru-RU" b="1" cap="small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 lnSpcReduction="10000"/>
          </a:bodyPr>
          <a:lstStyle/>
          <a:p>
            <a:r>
              <a:rPr lang="ru-RU" dirty="0" smtClean="0"/>
              <a:t>Если всю логику работы GUI вынести в Контроллер, то это нарушало бы сразу несколько принципов:</a:t>
            </a:r>
            <a:br>
              <a:rPr lang="ru-RU" dirty="0" smtClean="0"/>
            </a:br>
            <a:endParaRPr lang="ru-RU" dirty="0" smtClean="0"/>
          </a:p>
          <a:p>
            <a:pPr lvl="1"/>
            <a:r>
              <a:rPr lang="ru-RU" dirty="0" smtClean="0"/>
              <a:t>Главный принцип определяющий качество декомпозиции –</a:t>
            </a:r>
            <a:r>
              <a:rPr lang="en-US" dirty="0" smtClean="0"/>
              <a:t> </a:t>
            </a:r>
            <a:r>
              <a:rPr lang="en-US" b="1" i="1" dirty="0" smtClean="0"/>
              <a:t>High Cohesion</a:t>
            </a:r>
            <a:r>
              <a:rPr lang="ru-RU" b="1" i="1" dirty="0" smtClean="0"/>
              <a:t> + </a:t>
            </a:r>
            <a:r>
              <a:rPr lang="en-US" b="1" i="1" dirty="0" smtClean="0"/>
              <a:t>Low Coupling</a:t>
            </a:r>
            <a:r>
              <a:rPr lang="ru-RU" dirty="0" smtClean="0"/>
              <a:t>, который говорит что «резать» на модули нужно так, чтобы связи, особенно сильные, оставались преимущественно внутри модулей, а не между ними</a:t>
            </a:r>
          </a:p>
          <a:p>
            <a:pPr lvl="1"/>
            <a:r>
              <a:rPr lang="en-US" b="1" i="1" dirty="0" err="1" smtClean="0"/>
              <a:t>Принцип</a:t>
            </a:r>
            <a:r>
              <a:rPr lang="en-US" b="1" i="1" dirty="0" smtClean="0"/>
              <a:t> </a:t>
            </a:r>
            <a:r>
              <a:rPr lang="en-US" b="1" i="1" dirty="0" err="1" smtClean="0"/>
              <a:t>единственной</a:t>
            </a:r>
            <a:r>
              <a:rPr lang="en-US" b="1" i="1" dirty="0" smtClean="0"/>
              <a:t> </a:t>
            </a:r>
            <a:r>
              <a:rPr lang="en-US" b="1" i="1" dirty="0" err="1" smtClean="0"/>
              <a:t>ответственности</a:t>
            </a:r>
            <a:r>
              <a:rPr lang="en-US" b="1" i="1" dirty="0" smtClean="0"/>
              <a:t> (Single responsibility principle)</a:t>
            </a:r>
            <a:r>
              <a:rPr lang="en-US" dirty="0" smtClean="0"/>
              <a:t>.</a:t>
            </a:r>
            <a:endParaRPr lang="ru-RU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Построение пользовательского интерфейса </a:t>
            </a:r>
            <a:endParaRPr lang="ru-RU" b="1" cap="small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 fontScale="92500"/>
          </a:bodyPr>
          <a:lstStyle/>
          <a:p>
            <a:r>
              <a:rPr lang="en-US" dirty="0" err="1" smtClean="0"/>
              <a:t>Тонкий</a:t>
            </a:r>
            <a:r>
              <a:rPr lang="en-US" dirty="0" smtClean="0"/>
              <a:t> </a:t>
            </a:r>
            <a:r>
              <a:rPr lang="en-US" dirty="0" err="1" smtClean="0"/>
              <a:t>Вид</a:t>
            </a:r>
            <a:r>
              <a:rPr lang="en-US" dirty="0" smtClean="0"/>
              <a:t>, </a:t>
            </a:r>
            <a:r>
              <a:rPr lang="en-US" dirty="0" err="1" smtClean="0"/>
              <a:t>рассматриваемый</a:t>
            </a:r>
            <a:r>
              <a:rPr lang="en-US" dirty="0" smtClean="0"/>
              <a:t> </a:t>
            </a:r>
            <a:r>
              <a:rPr lang="en-US" dirty="0" err="1" smtClean="0"/>
              <a:t>исключительно</a:t>
            </a:r>
            <a:r>
              <a:rPr lang="en-US" dirty="0" smtClean="0"/>
              <a:t> </a:t>
            </a:r>
            <a:r>
              <a:rPr lang="en-US" dirty="0" err="1" smtClean="0"/>
              <a:t>как</a:t>
            </a:r>
            <a:r>
              <a:rPr lang="en-US" dirty="0" smtClean="0"/>
              <a:t> </a:t>
            </a:r>
            <a:r>
              <a:rPr lang="en-US" dirty="0" err="1" smtClean="0"/>
              <a:t>набор</a:t>
            </a:r>
            <a:r>
              <a:rPr lang="en-US" dirty="0" smtClean="0"/>
              <a:t> </a:t>
            </a:r>
            <a:r>
              <a:rPr lang="en-US" dirty="0" err="1" smtClean="0"/>
              <a:t>графических</a:t>
            </a:r>
            <a:r>
              <a:rPr lang="en-US" dirty="0" smtClean="0"/>
              <a:t> </a:t>
            </a:r>
            <a:r>
              <a:rPr lang="en-US" dirty="0" err="1" smtClean="0"/>
              <a:t>элементов</a:t>
            </a:r>
            <a:r>
              <a:rPr lang="en-US" dirty="0" smtClean="0"/>
              <a:t>, </a:t>
            </a:r>
            <a:r>
              <a:rPr lang="en-US" dirty="0" err="1" smtClean="0"/>
              <a:t>не</a:t>
            </a:r>
            <a:r>
              <a:rPr lang="en-US" dirty="0" smtClean="0"/>
              <a:t> </a:t>
            </a:r>
            <a:r>
              <a:rPr lang="en-US" dirty="0" err="1" smtClean="0"/>
              <a:t>выполняет</a:t>
            </a:r>
            <a:r>
              <a:rPr lang="en-US" dirty="0" smtClean="0"/>
              <a:t> </a:t>
            </a:r>
            <a:r>
              <a:rPr lang="en-US" dirty="0" err="1" smtClean="0"/>
              <a:t>никакой</a:t>
            </a:r>
            <a:r>
              <a:rPr lang="en-US" dirty="0" smtClean="0"/>
              <a:t> </a:t>
            </a:r>
            <a:r>
              <a:rPr lang="en-US" dirty="0" err="1" smtClean="0"/>
              <a:t>функции</a:t>
            </a:r>
            <a:r>
              <a:rPr lang="en-US" dirty="0" smtClean="0"/>
              <a:t> и </a:t>
            </a:r>
            <a:r>
              <a:rPr lang="en-US" dirty="0" err="1" smtClean="0"/>
              <a:t>поэтому</a:t>
            </a:r>
            <a:r>
              <a:rPr lang="en-US" dirty="0" smtClean="0"/>
              <a:t> в </a:t>
            </a:r>
            <a:r>
              <a:rPr lang="en-US" dirty="0" err="1" smtClean="0"/>
              <a:t>плане</a:t>
            </a:r>
            <a:r>
              <a:rPr lang="en-US" dirty="0" smtClean="0"/>
              <a:t> </a:t>
            </a:r>
            <a:r>
              <a:rPr lang="en-US" dirty="0" err="1" smtClean="0"/>
              <a:t>пере-использования</a:t>
            </a:r>
            <a:r>
              <a:rPr lang="en-US" dirty="0" smtClean="0"/>
              <a:t> </a:t>
            </a:r>
            <a:r>
              <a:rPr lang="en-US" dirty="0" err="1" smtClean="0"/>
              <a:t>мало</a:t>
            </a:r>
            <a:r>
              <a:rPr lang="en-US" dirty="0" smtClean="0"/>
              <a:t> </a:t>
            </a:r>
            <a:r>
              <a:rPr lang="en-US" dirty="0" err="1" smtClean="0"/>
              <a:t>полезен</a:t>
            </a:r>
            <a:r>
              <a:rPr lang="en-US" dirty="0" smtClean="0"/>
              <a:t>. </a:t>
            </a:r>
            <a:r>
              <a:rPr lang="en-US" dirty="0" err="1" smtClean="0"/>
              <a:t>Если</a:t>
            </a:r>
            <a:r>
              <a:rPr lang="en-US" dirty="0" smtClean="0"/>
              <a:t> </a:t>
            </a:r>
            <a:r>
              <a:rPr lang="en-US" dirty="0" err="1" smtClean="0"/>
              <a:t>рассматрива</a:t>
            </a:r>
            <a:r>
              <a:rPr lang="ru-RU" dirty="0" err="1" smtClean="0"/>
              <a:t>ть</a:t>
            </a:r>
            <a:r>
              <a:rPr lang="en-US" dirty="0" smtClean="0"/>
              <a:t> </a:t>
            </a:r>
            <a:r>
              <a:rPr lang="en-US" dirty="0" err="1" smtClean="0"/>
              <a:t>Вид</a:t>
            </a:r>
            <a:r>
              <a:rPr lang="en-US" dirty="0" smtClean="0"/>
              <a:t> </a:t>
            </a:r>
            <a:r>
              <a:rPr lang="en-US" dirty="0" err="1" smtClean="0"/>
              <a:t>как</a:t>
            </a:r>
            <a:r>
              <a:rPr lang="en-US" dirty="0" smtClean="0"/>
              <a:t> </a:t>
            </a:r>
            <a:r>
              <a:rPr lang="en-US" dirty="0" err="1" smtClean="0"/>
              <a:t>полноценный</a:t>
            </a:r>
            <a:r>
              <a:rPr lang="en-US" dirty="0" smtClean="0"/>
              <a:t> </a:t>
            </a:r>
            <a:r>
              <a:rPr lang="en-US" dirty="0" err="1" smtClean="0"/>
              <a:t>функциональный</a:t>
            </a:r>
            <a:r>
              <a:rPr lang="en-US" dirty="0" smtClean="0"/>
              <a:t> </a:t>
            </a:r>
            <a:r>
              <a:rPr lang="en-US" dirty="0" err="1" smtClean="0"/>
              <a:t>модуль</a:t>
            </a:r>
            <a:r>
              <a:rPr lang="en-US" dirty="0" smtClean="0"/>
              <a:t>, </a:t>
            </a:r>
            <a:r>
              <a:rPr lang="en-US" dirty="0" err="1" smtClean="0"/>
              <a:t>решающий</a:t>
            </a:r>
            <a:r>
              <a:rPr lang="en-US" dirty="0" smtClean="0"/>
              <a:t> </a:t>
            </a:r>
            <a:r>
              <a:rPr lang="en-US" dirty="0" err="1" smtClean="0"/>
              <a:t>довольно</a:t>
            </a:r>
            <a:r>
              <a:rPr lang="en-US" dirty="0" smtClean="0"/>
              <a:t> </a:t>
            </a:r>
            <a:r>
              <a:rPr lang="en-US" dirty="0" err="1" smtClean="0"/>
              <a:t>общую</a:t>
            </a:r>
            <a:r>
              <a:rPr lang="en-US" dirty="0" smtClean="0"/>
              <a:t> и </a:t>
            </a:r>
            <a:r>
              <a:rPr lang="en-US" dirty="0" err="1" smtClean="0"/>
              <a:t>востребованную</a:t>
            </a:r>
            <a:r>
              <a:rPr lang="en-US" dirty="0" smtClean="0"/>
              <a:t> </a:t>
            </a:r>
            <a:r>
              <a:rPr lang="en-US" dirty="0" err="1" smtClean="0"/>
              <a:t>задачу</a:t>
            </a:r>
            <a:r>
              <a:rPr lang="en-US" dirty="0" smtClean="0"/>
              <a:t> – </a:t>
            </a:r>
            <a:r>
              <a:rPr lang="en-US" dirty="0" err="1" smtClean="0"/>
              <a:t>визуализация</a:t>
            </a:r>
            <a:r>
              <a:rPr lang="en-US" dirty="0" smtClean="0"/>
              <a:t> и </a:t>
            </a:r>
            <a:r>
              <a:rPr lang="en-US" dirty="0" err="1" smtClean="0"/>
              <a:t>удобное</a:t>
            </a:r>
            <a:r>
              <a:rPr lang="en-US" dirty="0" smtClean="0"/>
              <a:t> </a:t>
            </a:r>
            <a:r>
              <a:rPr lang="en-US" dirty="0" err="1" smtClean="0"/>
              <a:t>представление</a:t>
            </a:r>
            <a:r>
              <a:rPr lang="en-US" dirty="0" smtClean="0"/>
              <a:t> </a:t>
            </a:r>
            <a:r>
              <a:rPr lang="en-US" dirty="0" err="1" smtClean="0"/>
              <a:t>данных</a:t>
            </a:r>
            <a:r>
              <a:rPr lang="en-US" dirty="0" smtClean="0"/>
              <a:t>, </a:t>
            </a:r>
            <a:r>
              <a:rPr lang="en-US" dirty="0" err="1" smtClean="0"/>
              <a:t>то</a:t>
            </a:r>
            <a:r>
              <a:rPr lang="en-US" dirty="0" smtClean="0"/>
              <a:t> </a:t>
            </a:r>
            <a:r>
              <a:rPr lang="en-US" dirty="0" err="1" smtClean="0"/>
              <a:t>при</a:t>
            </a:r>
            <a:r>
              <a:rPr lang="en-US" dirty="0" smtClean="0"/>
              <a:t> </a:t>
            </a:r>
            <a:r>
              <a:rPr lang="en-US" dirty="0" err="1" smtClean="0"/>
              <a:t>правильном</a:t>
            </a:r>
            <a:r>
              <a:rPr lang="en-US" dirty="0" smtClean="0"/>
              <a:t> </a:t>
            </a:r>
            <a:r>
              <a:rPr lang="en-US" dirty="0" err="1" smtClean="0"/>
              <a:t>подходе</a:t>
            </a:r>
            <a:r>
              <a:rPr lang="en-US" dirty="0" smtClean="0"/>
              <a:t> </a:t>
            </a:r>
            <a:r>
              <a:rPr lang="en-US" dirty="0" err="1" smtClean="0"/>
              <a:t>он</a:t>
            </a:r>
            <a:r>
              <a:rPr lang="en-US" dirty="0" smtClean="0"/>
              <a:t> </a:t>
            </a:r>
            <a:r>
              <a:rPr lang="en-US" dirty="0" err="1" smtClean="0"/>
              <a:t>становится</a:t>
            </a:r>
            <a:r>
              <a:rPr lang="en-US" dirty="0" smtClean="0"/>
              <a:t> </a:t>
            </a:r>
            <a:r>
              <a:rPr lang="en-US" dirty="0" err="1" smtClean="0"/>
              <a:t>идеальным</a:t>
            </a:r>
            <a:r>
              <a:rPr lang="en-US" dirty="0" smtClean="0"/>
              <a:t> </a:t>
            </a:r>
            <a:r>
              <a:rPr lang="en-US" dirty="0" err="1" smtClean="0"/>
              <a:t>кандидатом</a:t>
            </a:r>
            <a:r>
              <a:rPr lang="en-US" dirty="0" smtClean="0"/>
              <a:t> </a:t>
            </a:r>
            <a:r>
              <a:rPr lang="en-US" dirty="0" err="1" smtClean="0"/>
              <a:t>на</a:t>
            </a:r>
            <a:r>
              <a:rPr lang="en-US" dirty="0" smtClean="0"/>
              <a:t> </a:t>
            </a:r>
            <a:r>
              <a:rPr lang="en-US" dirty="0" err="1" smtClean="0"/>
              <a:t>пере-использование</a:t>
            </a:r>
            <a:r>
              <a:rPr lang="en-US" dirty="0" smtClean="0"/>
              <a:t>.</a:t>
            </a:r>
            <a:endParaRPr lang="ru-RU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Построение пользовательского интерфейса </a:t>
            </a:r>
            <a:endParaRPr lang="ru-RU" b="1" cap="small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 lnSpcReduction="10000"/>
          </a:bodyPr>
          <a:lstStyle/>
          <a:p>
            <a:r>
              <a:rPr lang="en-US" dirty="0" err="1" smtClean="0"/>
              <a:t>Последнее</a:t>
            </a:r>
            <a:r>
              <a:rPr lang="en-US" dirty="0" smtClean="0"/>
              <a:t> </a:t>
            </a:r>
            <a:r>
              <a:rPr lang="en-US" dirty="0" err="1" smtClean="0"/>
              <a:t>время</a:t>
            </a:r>
            <a:r>
              <a:rPr lang="en-US" dirty="0" smtClean="0"/>
              <a:t> </a:t>
            </a:r>
            <a:r>
              <a:rPr lang="en-US" dirty="0" err="1" smtClean="0"/>
              <a:t>активно</a:t>
            </a:r>
            <a:r>
              <a:rPr lang="en-US" dirty="0" smtClean="0"/>
              <a:t> </a:t>
            </a:r>
            <a:r>
              <a:rPr lang="en-US" dirty="0" err="1" smtClean="0"/>
              <a:t>разрабатывается</a:t>
            </a:r>
            <a:r>
              <a:rPr lang="en-US" dirty="0" smtClean="0"/>
              <a:t> и </a:t>
            </a:r>
            <a:r>
              <a:rPr lang="en-US" dirty="0" err="1" smtClean="0"/>
              <a:t>используется</a:t>
            </a:r>
            <a:r>
              <a:rPr lang="en-US" dirty="0" smtClean="0"/>
              <a:t> </a:t>
            </a:r>
            <a:r>
              <a:rPr lang="en-US" dirty="0" err="1" smtClean="0"/>
              <a:t>концепция</a:t>
            </a:r>
            <a:r>
              <a:rPr lang="en-US" dirty="0" smtClean="0"/>
              <a:t> </a:t>
            </a:r>
            <a:r>
              <a:rPr lang="en-US" b="1" dirty="0" smtClean="0"/>
              <a:t>Dashboard</a:t>
            </a:r>
            <a:r>
              <a:rPr lang="en-US" dirty="0" smtClean="0"/>
              <a:t>-</a:t>
            </a:r>
            <a:r>
              <a:rPr lang="en-US" dirty="0" err="1" smtClean="0"/>
              <a:t>ов</a:t>
            </a:r>
            <a:r>
              <a:rPr lang="en-US" dirty="0" smtClean="0"/>
              <a:t> (</a:t>
            </a:r>
            <a:r>
              <a:rPr lang="en-US" dirty="0" err="1" smtClean="0"/>
              <a:t>информационных</a:t>
            </a:r>
            <a:r>
              <a:rPr lang="en-US" dirty="0" smtClean="0"/>
              <a:t> </a:t>
            </a:r>
            <a:r>
              <a:rPr lang="en-US" dirty="0" err="1" smtClean="0"/>
              <a:t>панелей</a:t>
            </a:r>
            <a:r>
              <a:rPr lang="en-US" dirty="0" smtClean="0"/>
              <a:t>), </a:t>
            </a:r>
            <a:r>
              <a:rPr lang="en-US" dirty="0" err="1" smtClean="0"/>
              <a:t>для</a:t>
            </a:r>
            <a:r>
              <a:rPr lang="en-US" dirty="0" smtClean="0"/>
              <a:t> </a:t>
            </a:r>
            <a:r>
              <a:rPr lang="en-US" dirty="0" err="1" smtClean="0"/>
              <a:t>которых</a:t>
            </a:r>
            <a:r>
              <a:rPr lang="en-US" dirty="0" smtClean="0"/>
              <a:t> </a:t>
            </a:r>
            <a:r>
              <a:rPr lang="en-US" dirty="0" err="1" smtClean="0"/>
              <a:t>создаются</a:t>
            </a:r>
            <a:r>
              <a:rPr lang="en-US" dirty="0" smtClean="0"/>
              <a:t> </a:t>
            </a:r>
            <a:r>
              <a:rPr lang="en-US" dirty="0" err="1" smtClean="0"/>
              <a:t>наборы</a:t>
            </a:r>
            <a:r>
              <a:rPr lang="en-US" dirty="0" smtClean="0"/>
              <a:t> </a:t>
            </a:r>
            <a:r>
              <a:rPr lang="en-US" dirty="0" err="1" smtClean="0"/>
              <a:t>универсальных</a:t>
            </a:r>
            <a:r>
              <a:rPr lang="en-US" dirty="0" smtClean="0"/>
              <a:t> </a:t>
            </a:r>
            <a:r>
              <a:rPr lang="en-US" dirty="0" err="1" smtClean="0"/>
              <a:t>виджетов</a:t>
            </a:r>
            <a:r>
              <a:rPr lang="en-US" dirty="0" smtClean="0"/>
              <a:t>, </a:t>
            </a:r>
            <a:r>
              <a:rPr lang="en-US" dirty="0" err="1" smtClean="0"/>
              <a:t>позволяющих</a:t>
            </a:r>
            <a:r>
              <a:rPr lang="en-US" dirty="0" smtClean="0"/>
              <a:t> </a:t>
            </a:r>
            <a:r>
              <a:rPr lang="en-US" dirty="0" err="1" smtClean="0"/>
              <a:t>наглядно</a:t>
            </a:r>
            <a:r>
              <a:rPr lang="en-US" dirty="0" smtClean="0"/>
              <a:t> и </a:t>
            </a:r>
            <a:r>
              <a:rPr lang="en-US" dirty="0" err="1" smtClean="0"/>
              <a:t>удобно</a:t>
            </a:r>
            <a:r>
              <a:rPr lang="en-US" dirty="0" smtClean="0"/>
              <a:t> </a:t>
            </a:r>
            <a:r>
              <a:rPr lang="en-US" dirty="0" err="1" smtClean="0"/>
              <a:t>визуализировать</a:t>
            </a:r>
            <a:r>
              <a:rPr lang="en-US" dirty="0" smtClean="0"/>
              <a:t> «</a:t>
            </a:r>
            <a:r>
              <a:rPr lang="en-US" dirty="0" err="1" smtClean="0"/>
              <a:t>все</a:t>
            </a:r>
            <a:r>
              <a:rPr lang="en-US" dirty="0" smtClean="0"/>
              <a:t> </a:t>
            </a:r>
            <a:r>
              <a:rPr lang="en-US" dirty="0" err="1" smtClean="0"/>
              <a:t>что</a:t>
            </a:r>
            <a:r>
              <a:rPr lang="en-US" dirty="0" smtClean="0"/>
              <a:t> </a:t>
            </a:r>
            <a:r>
              <a:rPr lang="en-US" dirty="0" err="1" smtClean="0"/>
              <a:t>угодно</a:t>
            </a:r>
            <a:r>
              <a:rPr lang="en-US" dirty="0" smtClean="0"/>
              <a:t>». В </a:t>
            </a:r>
            <a:r>
              <a:rPr lang="en-US" dirty="0" err="1" smtClean="0"/>
              <a:t>отличие</a:t>
            </a:r>
            <a:r>
              <a:rPr lang="en-US" dirty="0" smtClean="0"/>
              <a:t> </a:t>
            </a:r>
            <a:r>
              <a:rPr lang="en-US" dirty="0" err="1" smtClean="0"/>
              <a:t>от</a:t>
            </a:r>
            <a:r>
              <a:rPr lang="en-US" dirty="0" smtClean="0"/>
              <a:t> «</a:t>
            </a:r>
            <a:r>
              <a:rPr lang="en-US" dirty="0" err="1" smtClean="0"/>
              <a:t>тупого</a:t>
            </a:r>
            <a:r>
              <a:rPr lang="en-US" dirty="0" smtClean="0"/>
              <a:t> </a:t>
            </a:r>
            <a:r>
              <a:rPr lang="en-US" dirty="0" err="1" smtClean="0"/>
              <a:t>вида</a:t>
            </a:r>
            <a:r>
              <a:rPr lang="en-US" dirty="0" smtClean="0"/>
              <a:t>» </a:t>
            </a:r>
            <a:r>
              <a:rPr lang="en-US" dirty="0" err="1" smtClean="0"/>
              <a:t>такие</a:t>
            </a:r>
            <a:r>
              <a:rPr lang="en-US" dirty="0" smtClean="0"/>
              <a:t> «</a:t>
            </a:r>
            <a:r>
              <a:rPr lang="en-US" b="1" i="1" dirty="0" err="1" smtClean="0"/>
              <a:t>полноценные</a:t>
            </a:r>
            <a:r>
              <a:rPr lang="en-US" b="1" i="1" dirty="0" smtClean="0"/>
              <a:t> </a:t>
            </a:r>
            <a:r>
              <a:rPr lang="en-US" b="1" i="1" dirty="0" err="1" smtClean="0"/>
              <a:t>блоки</a:t>
            </a:r>
            <a:r>
              <a:rPr lang="en-US" b="1" i="1" dirty="0" smtClean="0"/>
              <a:t> </a:t>
            </a:r>
            <a:r>
              <a:rPr lang="en-US" b="1" i="1" dirty="0" err="1" smtClean="0"/>
              <a:t>визуализации</a:t>
            </a:r>
            <a:r>
              <a:rPr lang="en-US" dirty="0" smtClean="0"/>
              <a:t>» (</a:t>
            </a:r>
            <a:r>
              <a:rPr lang="en-US" dirty="0" err="1" smtClean="0"/>
              <a:t>инкапсулирующие</a:t>
            </a:r>
            <a:r>
              <a:rPr lang="en-US" dirty="0" smtClean="0"/>
              <a:t> </a:t>
            </a:r>
            <a:r>
              <a:rPr lang="en-US" dirty="0" err="1" smtClean="0"/>
              <a:t>свою</a:t>
            </a:r>
            <a:r>
              <a:rPr lang="en-US" dirty="0" smtClean="0"/>
              <a:t> </a:t>
            </a:r>
            <a:r>
              <a:rPr lang="en-US" dirty="0" err="1" smtClean="0"/>
              <a:t>логику</a:t>
            </a:r>
            <a:r>
              <a:rPr lang="en-US" dirty="0" smtClean="0"/>
              <a:t>, </a:t>
            </a:r>
            <a:r>
              <a:rPr lang="en-US" dirty="0" err="1" smtClean="0"/>
              <a:t>настройки</a:t>
            </a:r>
            <a:r>
              <a:rPr lang="en-US" dirty="0" smtClean="0"/>
              <a:t> и </a:t>
            </a:r>
            <a:r>
              <a:rPr lang="en-US" dirty="0" err="1" smtClean="0"/>
              <a:t>способные</a:t>
            </a:r>
            <a:r>
              <a:rPr lang="en-US" dirty="0" smtClean="0"/>
              <a:t> </a:t>
            </a:r>
            <a:r>
              <a:rPr lang="en-US" dirty="0" err="1" smtClean="0"/>
              <a:t>работать</a:t>
            </a:r>
            <a:r>
              <a:rPr lang="en-US" dirty="0" smtClean="0"/>
              <a:t> </a:t>
            </a:r>
            <a:r>
              <a:rPr lang="en-US" dirty="0" err="1" smtClean="0"/>
              <a:t>самостоятельно</a:t>
            </a:r>
            <a:r>
              <a:rPr lang="en-US" dirty="0" smtClean="0"/>
              <a:t>) </a:t>
            </a:r>
            <a:r>
              <a:rPr lang="en-US" dirty="0" err="1" smtClean="0"/>
              <a:t>очень</a:t>
            </a:r>
            <a:r>
              <a:rPr lang="en-US" dirty="0" smtClean="0"/>
              <a:t> </a:t>
            </a:r>
            <a:r>
              <a:rPr lang="en-US" dirty="0" err="1" smtClean="0"/>
              <a:t>востребованы</a:t>
            </a:r>
            <a:r>
              <a:rPr lang="en-US" dirty="0" smtClean="0"/>
              <a:t> и </a:t>
            </a:r>
            <a:r>
              <a:rPr lang="en-US" dirty="0" err="1" smtClean="0"/>
              <a:t>ценны</a:t>
            </a:r>
            <a:r>
              <a:rPr lang="en-US" dirty="0" smtClean="0"/>
              <a:t> </a:t>
            </a:r>
            <a:r>
              <a:rPr lang="en-US" dirty="0" err="1" smtClean="0"/>
              <a:t>сами</a:t>
            </a:r>
            <a:r>
              <a:rPr lang="en-US" dirty="0" smtClean="0"/>
              <a:t> </a:t>
            </a:r>
            <a:r>
              <a:rPr lang="en-US" dirty="0" err="1" smtClean="0"/>
              <a:t>по</a:t>
            </a:r>
            <a:r>
              <a:rPr lang="en-US" dirty="0" smtClean="0"/>
              <a:t> </a:t>
            </a:r>
            <a:r>
              <a:rPr lang="en-US" dirty="0" err="1" smtClean="0"/>
              <a:t>себе</a:t>
            </a:r>
            <a:endParaRPr lang="ru-RU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Построение пользовательского интерфейса </a:t>
            </a:r>
            <a:endParaRPr lang="ru-RU" b="1" cap="small" dirty="0"/>
          </a:p>
        </p:txBody>
      </p:sp>
      <p:pic>
        <p:nvPicPr>
          <p:cNvPr id="4" name="Содержимое 3" descr="SamllTalk Controller"/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1628800"/>
            <a:ext cx="7488832" cy="5040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Построение пользовательского интерфейса </a:t>
            </a:r>
            <a:endParaRPr lang="ru-RU" b="1" cap="small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6093296"/>
            <a:ext cx="8229600" cy="764704"/>
          </a:xfrm>
        </p:spPr>
        <p:txBody>
          <a:bodyPr>
            <a:normAutofit fontScale="77500" lnSpcReduction="20000"/>
          </a:bodyPr>
          <a:lstStyle/>
          <a:p>
            <a:r>
              <a:rPr lang="en-US" dirty="0" err="1" smtClean="0"/>
              <a:t>Фаулер</a:t>
            </a:r>
            <a:r>
              <a:rPr lang="en-US" dirty="0" smtClean="0"/>
              <a:t> </a:t>
            </a:r>
            <a:r>
              <a:rPr lang="en-US" dirty="0" err="1" smtClean="0"/>
              <a:t>такие</a:t>
            </a:r>
            <a:r>
              <a:rPr lang="en-US" dirty="0" smtClean="0"/>
              <a:t> </a:t>
            </a:r>
            <a:r>
              <a:rPr lang="en-US" dirty="0" err="1" smtClean="0"/>
              <a:t>внутренние</a:t>
            </a:r>
            <a:r>
              <a:rPr lang="en-US" dirty="0" smtClean="0"/>
              <a:t> </a:t>
            </a:r>
            <a:r>
              <a:rPr lang="en-US" dirty="0" err="1" smtClean="0"/>
              <a:t>модели</a:t>
            </a:r>
            <a:r>
              <a:rPr lang="en-US" dirty="0" smtClean="0"/>
              <a:t>, </a:t>
            </a:r>
            <a:r>
              <a:rPr lang="en-US" dirty="0" err="1" smtClean="0"/>
              <a:t>являющиеся</a:t>
            </a:r>
            <a:r>
              <a:rPr lang="en-US" dirty="0" smtClean="0"/>
              <a:t> </a:t>
            </a:r>
            <a:r>
              <a:rPr lang="en-US" dirty="0" err="1" smtClean="0"/>
              <a:t>частью</a:t>
            </a:r>
            <a:r>
              <a:rPr lang="en-US" dirty="0" smtClean="0"/>
              <a:t> </a:t>
            </a:r>
            <a:r>
              <a:rPr lang="en-US" dirty="0" err="1" smtClean="0"/>
              <a:t>представления</a:t>
            </a:r>
            <a:r>
              <a:rPr lang="en-US" dirty="0" smtClean="0"/>
              <a:t> </a:t>
            </a:r>
            <a:r>
              <a:rPr lang="en-US" dirty="0" err="1" smtClean="0"/>
              <a:t>называет</a:t>
            </a:r>
            <a:r>
              <a:rPr lang="en-US" dirty="0" smtClean="0"/>
              <a:t> — </a:t>
            </a:r>
            <a:r>
              <a:rPr lang="en-US" u="sng" dirty="0" smtClean="0">
                <a:hlinkClick r:id="rId2"/>
              </a:rPr>
              <a:t>Presentation Model</a:t>
            </a:r>
            <a:endParaRPr lang="ru-RU" dirty="0"/>
          </a:p>
        </p:txBody>
      </p:sp>
      <p:pic>
        <p:nvPicPr>
          <p:cNvPr id="4" name="Рисунок 3" descr="MVC View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3528" y="2564904"/>
            <a:ext cx="7992888" cy="3528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Содержимое 2"/>
          <p:cNvSpPr txBox="1">
            <a:spLocks/>
          </p:cNvSpPr>
          <p:nvPr/>
        </p:nvSpPr>
        <p:spPr>
          <a:xfrm>
            <a:off x="609600" y="1752600"/>
            <a:ext cx="8229600" cy="964704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ru-RU" sz="32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Мифы: То, что Вид это всего лишь «графика», является такой же идеализацией как и то, что Контроллер это «исключительно логика».</a:t>
            </a: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Построение пользовательского интерфейса </a:t>
            </a:r>
            <a:endParaRPr lang="ru-RU" b="1" cap="small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 fontScale="70000" lnSpcReduction="20000"/>
          </a:bodyPr>
          <a:lstStyle/>
          <a:p>
            <a:r>
              <a:rPr lang="ru-RU" dirty="0" smtClean="0"/>
              <a:t>В первой </a:t>
            </a:r>
            <a:r>
              <a:rPr lang="ru-RU" dirty="0" smtClean="0"/>
              <a:t>части презентации </a:t>
            </a:r>
            <a:r>
              <a:rPr lang="ru-RU" dirty="0" smtClean="0"/>
              <a:t>подробно рассказывается о том, как в MVC был «потерян» Фасад и что из-за этого его роль на себе вынуждены брать другие компоненты. Так вот хотя </a:t>
            </a:r>
            <a:r>
              <a:rPr lang="ru-RU" dirty="0" err="1" smtClean="0"/>
              <a:t>Фаулер</a:t>
            </a:r>
            <a:r>
              <a:rPr lang="ru-RU" dirty="0" smtClean="0"/>
              <a:t> и пишет что "</a:t>
            </a:r>
            <a:r>
              <a:rPr lang="ru-RU" b="1" i="1" dirty="0" err="1" smtClean="0"/>
              <a:t>Presentation</a:t>
            </a:r>
            <a:r>
              <a:rPr lang="ru-RU" b="1" i="1" dirty="0" smtClean="0"/>
              <a:t> </a:t>
            </a:r>
            <a:r>
              <a:rPr lang="ru-RU" b="1" i="1" dirty="0" err="1" smtClean="0"/>
              <a:t>Model</a:t>
            </a:r>
            <a:r>
              <a:rPr lang="ru-RU" b="1" i="1" dirty="0" smtClean="0"/>
              <a:t> </a:t>
            </a:r>
            <a:r>
              <a:rPr lang="ru-RU" b="1" i="1" dirty="0" err="1" smtClean="0"/>
              <a:t>is</a:t>
            </a:r>
            <a:r>
              <a:rPr lang="ru-RU" b="1" i="1" dirty="0" smtClean="0"/>
              <a:t> </a:t>
            </a:r>
            <a:r>
              <a:rPr lang="ru-RU" b="1" i="1" dirty="0" err="1" smtClean="0"/>
              <a:t>not</a:t>
            </a:r>
            <a:r>
              <a:rPr lang="ru-RU" b="1" i="1" dirty="0" smtClean="0"/>
              <a:t> </a:t>
            </a:r>
            <a:r>
              <a:rPr lang="ru-RU" b="1" i="1" dirty="0" err="1" smtClean="0"/>
              <a:t>a</a:t>
            </a:r>
            <a:r>
              <a:rPr lang="ru-RU" b="1" i="1" dirty="0" smtClean="0"/>
              <a:t> GUI </a:t>
            </a:r>
            <a:r>
              <a:rPr lang="ru-RU" b="1" i="1" dirty="0" err="1" smtClean="0"/>
              <a:t>friendly</a:t>
            </a:r>
            <a:r>
              <a:rPr lang="ru-RU" b="1" i="1" dirty="0" smtClean="0"/>
              <a:t> </a:t>
            </a:r>
            <a:r>
              <a:rPr lang="ru-RU" b="1" i="1" dirty="0" err="1" smtClean="0"/>
              <a:t>facade</a:t>
            </a:r>
            <a:r>
              <a:rPr lang="ru-RU" b="1" i="1" dirty="0" smtClean="0"/>
              <a:t> </a:t>
            </a:r>
            <a:r>
              <a:rPr lang="ru-RU" b="1" i="1" dirty="0" err="1" smtClean="0"/>
              <a:t>to</a:t>
            </a:r>
            <a:r>
              <a:rPr lang="ru-RU" b="1" i="1" dirty="0" smtClean="0"/>
              <a:t> </a:t>
            </a:r>
            <a:r>
              <a:rPr lang="ru-RU" b="1" i="1" dirty="0" err="1" smtClean="0"/>
              <a:t>a</a:t>
            </a:r>
            <a:r>
              <a:rPr lang="ru-RU" b="1" i="1" dirty="0" smtClean="0"/>
              <a:t> </a:t>
            </a:r>
            <a:r>
              <a:rPr lang="ru-RU" b="1" i="1" dirty="0" err="1" smtClean="0"/>
              <a:t>specific</a:t>
            </a:r>
            <a:r>
              <a:rPr lang="ru-RU" b="1" i="1" dirty="0" smtClean="0"/>
              <a:t> </a:t>
            </a:r>
            <a:r>
              <a:rPr lang="ru-RU" b="1" i="1" dirty="0" err="1" smtClean="0"/>
              <a:t>domain</a:t>
            </a:r>
            <a:r>
              <a:rPr lang="ru-RU" b="1" i="1" dirty="0" smtClean="0"/>
              <a:t> </a:t>
            </a:r>
            <a:r>
              <a:rPr lang="ru-RU" b="1" i="1" dirty="0" err="1" smtClean="0"/>
              <a:t>object</a:t>
            </a:r>
            <a:r>
              <a:rPr lang="ru-RU" dirty="0" smtClean="0"/>
              <a:t>" на практике </a:t>
            </a:r>
            <a:r>
              <a:rPr lang="ru-RU" dirty="0" err="1" smtClean="0"/>
              <a:t>PresentationModel</a:t>
            </a:r>
            <a:r>
              <a:rPr lang="ru-RU" dirty="0" smtClean="0"/>
              <a:t>, </a:t>
            </a:r>
            <a:r>
              <a:rPr lang="ru-RU" dirty="0" err="1" smtClean="0"/>
              <a:t>ViewModel</a:t>
            </a:r>
            <a:r>
              <a:rPr lang="ru-RU" dirty="0" smtClean="0"/>
              <a:t>, </a:t>
            </a:r>
            <a:r>
              <a:rPr lang="ru-RU" dirty="0" err="1" smtClean="0"/>
              <a:t>ApplicationModel</a:t>
            </a:r>
            <a:r>
              <a:rPr lang="ru-RU" dirty="0" smtClean="0"/>
              <a:t> не только описывают состояние и поведение представления, но одновременно являются еще и </a:t>
            </a:r>
            <a:r>
              <a:rPr lang="ru-RU" b="1" dirty="0" smtClean="0"/>
              <a:t>Фасадами</a:t>
            </a:r>
            <a:r>
              <a:rPr lang="ru-RU" dirty="0" smtClean="0"/>
              <a:t> к доменной модели.</a:t>
            </a:r>
            <a:br>
              <a:rPr lang="ru-RU" dirty="0" smtClean="0"/>
            </a:br>
            <a:endParaRPr lang="ru-RU" dirty="0" smtClean="0"/>
          </a:p>
          <a:p>
            <a:r>
              <a:rPr lang="en-US" dirty="0" smtClean="0"/>
              <a:t>В </a:t>
            </a:r>
            <a:r>
              <a:rPr lang="en-US" dirty="0" err="1" smtClean="0"/>
              <a:t>примере</a:t>
            </a:r>
            <a:r>
              <a:rPr lang="en-US" dirty="0" smtClean="0"/>
              <a:t>, </a:t>
            </a:r>
            <a:r>
              <a:rPr lang="en-US" dirty="0" err="1" smtClean="0"/>
              <a:t>который</a:t>
            </a:r>
            <a:r>
              <a:rPr lang="en-US" dirty="0" smtClean="0"/>
              <a:t> </a:t>
            </a:r>
            <a:r>
              <a:rPr lang="en-US" dirty="0" err="1" smtClean="0"/>
              <a:t>Фаулер</a:t>
            </a:r>
            <a:r>
              <a:rPr lang="en-US" dirty="0" smtClean="0"/>
              <a:t> </a:t>
            </a:r>
            <a:r>
              <a:rPr lang="en-US" dirty="0" err="1" smtClean="0"/>
              <a:t>подробно</a:t>
            </a:r>
            <a:r>
              <a:rPr lang="en-US" dirty="0" smtClean="0"/>
              <a:t> </a:t>
            </a:r>
            <a:r>
              <a:rPr lang="en-US" dirty="0" err="1" smtClean="0"/>
              <a:t>разбирает</a:t>
            </a:r>
            <a:r>
              <a:rPr lang="en-US" dirty="0" smtClean="0"/>
              <a:t>, </a:t>
            </a:r>
            <a:r>
              <a:rPr lang="en-US" dirty="0" err="1" smtClean="0"/>
              <a:t>хорошо</a:t>
            </a:r>
            <a:r>
              <a:rPr lang="en-US" dirty="0" smtClean="0"/>
              <a:t> </a:t>
            </a:r>
            <a:r>
              <a:rPr lang="en-US" dirty="0" err="1" smtClean="0"/>
              <a:t>видно</a:t>
            </a:r>
            <a:r>
              <a:rPr lang="en-US" dirty="0" smtClean="0"/>
              <a:t>, </a:t>
            </a:r>
            <a:r>
              <a:rPr lang="en-US" dirty="0" err="1" smtClean="0"/>
              <a:t>что</a:t>
            </a:r>
            <a:r>
              <a:rPr lang="en-US" dirty="0" smtClean="0"/>
              <a:t> </a:t>
            </a:r>
            <a:r>
              <a:rPr lang="en-US" dirty="0" err="1" smtClean="0"/>
              <a:t>его</a:t>
            </a:r>
            <a:r>
              <a:rPr lang="en-US" dirty="0" smtClean="0"/>
              <a:t> </a:t>
            </a:r>
            <a:r>
              <a:rPr lang="en-US" dirty="0" err="1" smtClean="0"/>
              <a:t>PresentationModel</a:t>
            </a:r>
            <a:r>
              <a:rPr lang="en-US" dirty="0" smtClean="0"/>
              <a:t> </a:t>
            </a:r>
            <a:r>
              <a:rPr lang="en-US" dirty="0" err="1" smtClean="0"/>
              <a:t>является</a:t>
            </a:r>
            <a:r>
              <a:rPr lang="en-US" dirty="0" smtClean="0"/>
              <a:t> </a:t>
            </a:r>
            <a:r>
              <a:rPr lang="en-US" dirty="0" err="1" smtClean="0"/>
              <a:t>именно</a:t>
            </a:r>
            <a:r>
              <a:rPr lang="en-US" dirty="0" smtClean="0"/>
              <a:t> </a:t>
            </a:r>
            <a:r>
              <a:rPr lang="en-US" dirty="0" err="1" smtClean="0"/>
              <a:t>смесью</a:t>
            </a:r>
            <a:r>
              <a:rPr lang="en-US" dirty="0" smtClean="0"/>
              <a:t> </a:t>
            </a:r>
            <a:r>
              <a:rPr lang="en-US" dirty="0" err="1" smtClean="0"/>
              <a:t>Фасада</a:t>
            </a:r>
            <a:r>
              <a:rPr lang="en-US" dirty="0" smtClean="0"/>
              <a:t> и </a:t>
            </a:r>
            <a:r>
              <a:rPr lang="en-US" dirty="0" err="1" smtClean="0"/>
              <a:t>модели</a:t>
            </a:r>
            <a:r>
              <a:rPr lang="en-US" dirty="0" smtClean="0"/>
              <a:t> </a:t>
            </a:r>
            <a:r>
              <a:rPr lang="en-US" dirty="0" err="1" smtClean="0"/>
              <a:t>представления</a:t>
            </a:r>
            <a:r>
              <a:rPr lang="en-US" dirty="0" smtClean="0"/>
              <a:t>. </a:t>
            </a:r>
            <a:r>
              <a:rPr lang="en-US" dirty="0" err="1" smtClean="0"/>
              <a:t>Ну</a:t>
            </a:r>
            <a:r>
              <a:rPr lang="en-US" dirty="0" smtClean="0"/>
              <a:t> а Microsoft </a:t>
            </a:r>
            <a:r>
              <a:rPr lang="en-US" dirty="0" err="1" smtClean="0"/>
              <a:t>прямо</a:t>
            </a:r>
            <a:r>
              <a:rPr lang="en-US" dirty="0" smtClean="0"/>
              <a:t> </a:t>
            </a:r>
            <a:r>
              <a:rPr lang="en-US" dirty="0" err="1" smtClean="0"/>
              <a:t>пишет</a:t>
            </a:r>
            <a:r>
              <a:rPr lang="en-US" dirty="0" smtClean="0"/>
              <a:t>: "</a:t>
            </a:r>
            <a:r>
              <a:rPr lang="en-US" b="1" i="1" dirty="0" smtClean="0"/>
              <a:t>Presentation model class acts as a façade on the model with UI-specific state and behavior, by encapsulating the access to the model and providing a public interface that is easy to consume from the view</a:t>
            </a:r>
            <a:r>
              <a:rPr lang="en-US" dirty="0" smtClean="0"/>
              <a:t>" (</a:t>
            </a:r>
            <a:r>
              <a:rPr lang="en-US" u="sng" dirty="0" smtClean="0">
                <a:hlinkClick r:id="rId2"/>
              </a:rPr>
              <a:t>MSDN: Presentation Model</a:t>
            </a:r>
            <a:r>
              <a:rPr lang="en-US" dirty="0" smtClean="0"/>
              <a:t>)</a:t>
            </a:r>
            <a:endParaRPr lang="ru-RU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Построение пользовательского интерфейса </a:t>
            </a:r>
            <a:endParaRPr lang="ru-RU" b="1" cap="small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 fontScale="70000" lnSpcReduction="20000"/>
          </a:bodyPr>
          <a:lstStyle/>
          <a:p>
            <a:r>
              <a:rPr lang="ru-RU" dirty="0" smtClean="0"/>
              <a:t>В первой части подробно рассказывается о том, как в MVC был «потерян» Фасад и что из-за этого его роль на себе вынуждены брать другие компоненты. Так вот хотя </a:t>
            </a:r>
            <a:r>
              <a:rPr lang="ru-RU" dirty="0" err="1" smtClean="0"/>
              <a:t>Фаулер</a:t>
            </a:r>
            <a:r>
              <a:rPr lang="ru-RU" dirty="0" smtClean="0"/>
              <a:t> и пишет что "</a:t>
            </a:r>
            <a:r>
              <a:rPr lang="ru-RU" b="1" i="1" dirty="0" err="1" smtClean="0"/>
              <a:t>Presentation</a:t>
            </a:r>
            <a:r>
              <a:rPr lang="ru-RU" b="1" i="1" dirty="0" smtClean="0"/>
              <a:t> </a:t>
            </a:r>
            <a:r>
              <a:rPr lang="ru-RU" b="1" i="1" dirty="0" err="1" smtClean="0"/>
              <a:t>Model</a:t>
            </a:r>
            <a:r>
              <a:rPr lang="ru-RU" b="1" i="1" dirty="0" smtClean="0"/>
              <a:t> </a:t>
            </a:r>
            <a:r>
              <a:rPr lang="ru-RU" b="1" i="1" dirty="0" err="1" smtClean="0"/>
              <a:t>is</a:t>
            </a:r>
            <a:r>
              <a:rPr lang="ru-RU" b="1" i="1" dirty="0" smtClean="0"/>
              <a:t> </a:t>
            </a:r>
            <a:r>
              <a:rPr lang="ru-RU" b="1" i="1" dirty="0" err="1" smtClean="0"/>
              <a:t>not</a:t>
            </a:r>
            <a:r>
              <a:rPr lang="ru-RU" b="1" i="1" dirty="0" smtClean="0"/>
              <a:t> </a:t>
            </a:r>
            <a:r>
              <a:rPr lang="ru-RU" b="1" i="1" dirty="0" err="1" smtClean="0"/>
              <a:t>a</a:t>
            </a:r>
            <a:r>
              <a:rPr lang="ru-RU" b="1" i="1" dirty="0" smtClean="0"/>
              <a:t> GUI </a:t>
            </a:r>
            <a:r>
              <a:rPr lang="ru-RU" b="1" i="1" dirty="0" err="1" smtClean="0"/>
              <a:t>friendly</a:t>
            </a:r>
            <a:r>
              <a:rPr lang="ru-RU" b="1" i="1" dirty="0" smtClean="0"/>
              <a:t> </a:t>
            </a:r>
            <a:r>
              <a:rPr lang="ru-RU" b="1" i="1" dirty="0" err="1" smtClean="0"/>
              <a:t>facade</a:t>
            </a:r>
            <a:r>
              <a:rPr lang="ru-RU" b="1" i="1" dirty="0" smtClean="0"/>
              <a:t> </a:t>
            </a:r>
            <a:r>
              <a:rPr lang="ru-RU" b="1" i="1" dirty="0" err="1" smtClean="0"/>
              <a:t>to</a:t>
            </a:r>
            <a:r>
              <a:rPr lang="ru-RU" b="1" i="1" dirty="0" smtClean="0"/>
              <a:t> </a:t>
            </a:r>
            <a:r>
              <a:rPr lang="ru-RU" b="1" i="1" dirty="0" err="1" smtClean="0"/>
              <a:t>a</a:t>
            </a:r>
            <a:r>
              <a:rPr lang="ru-RU" b="1" i="1" dirty="0" smtClean="0"/>
              <a:t> </a:t>
            </a:r>
            <a:r>
              <a:rPr lang="ru-RU" b="1" i="1" dirty="0" err="1" smtClean="0"/>
              <a:t>specific</a:t>
            </a:r>
            <a:r>
              <a:rPr lang="ru-RU" b="1" i="1" dirty="0" smtClean="0"/>
              <a:t> </a:t>
            </a:r>
            <a:r>
              <a:rPr lang="ru-RU" b="1" i="1" dirty="0" err="1" smtClean="0"/>
              <a:t>domain</a:t>
            </a:r>
            <a:r>
              <a:rPr lang="ru-RU" b="1" i="1" dirty="0" smtClean="0"/>
              <a:t> </a:t>
            </a:r>
            <a:r>
              <a:rPr lang="ru-RU" b="1" i="1" dirty="0" err="1" smtClean="0"/>
              <a:t>object</a:t>
            </a:r>
            <a:r>
              <a:rPr lang="ru-RU" dirty="0" smtClean="0"/>
              <a:t>" на практике </a:t>
            </a:r>
            <a:r>
              <a:rPr lang="ru-RU" dirty="0" err="1" smtClean="0"/>
              <a:t>PresentationModel</a:t>
            </a:r>
            <a:r>
              <a:rPr lang="ru-RU" dirty="0" smtClean="0"/>
              <a:t>, </a:t>
            </a:r>
            <a:r>
              <a:rPr lang="ru-RU" dirty="0" err="1" smtClean="0"/>
              <a:t>ViewModel</a:t>
            </a:r>
            <a:r>
              <a:rPr lang="ru-RU" dirty="0" smtClean="0"/>
              <a:t>, </a:t>
            </a:r>
            <a:r>
              <a:rPr lang="ru-RU" dirty="0" err="1" smtClean="0"/>
              <a:t>ApplicationModel</a:t>
            </a:r>
            <a:r>
              <a:rPr lang="ru-RU" dirty="0" smtClean="0"/>
              <a:t> не только описывают состояние и поведение представления, но одновременно являются еще и </a:t>
            </a:r>
            <a:r>
              <a:rPr lang="ru-RU" b="1" dirty="0" smtClean="0"/>
              <a:t>Фасадами</a:t>
            </a:r>
            <a:r>
              <a:rPr lang="ru-RU" dirty="0" smtClean="0"/>
              <a:t> к доменной модели.</a:t>
            </a:r>
            <a:br>
              <a:rPr lang="ru-RU" dirty="0" smtClean="0"/>
            </a:br>
            <a:endParaRPr lang="ru-RU" dirty="0" smtClean="0"/>
          </a:p>
          <a:p>
            <a:r>
              <a:rPr lang="en-US" dirty="0" smtClean="0"/>
              <a:t>В </a:t>
            </a:r>
            <a:r>
              <a:rPr lang="en-US" dirty="0" err="1" smtClean="0"/>
              <a:t>примере</a:t>
            </a:r>
            <a:r>
              <a:rPr lang="en-US" dirty="0" smtClean="0"/>
              <a:t>, </a:t>
            </a:r>
            <a:r>
              <a:rPr lang="en-US" dirty="0" err="1" smtClean="0"/>
              <a:t>который</a:t>
            </a:r>
            <a:r>
              <a:rPr lang="en-US" dirty="0" smtClean="0"/>
              <a:t> </a:t>
            </a:r>
            <a:r>
              <a:rPr lang="en-US" dirty="0" err="1" smtClean="0"/>
              <a:t>Фаулер</a:t>
            </a:r>
            <a:r>
              <a:rPr lang="en-US" dirty="0" smtClean="0"/>
              <a:t> </a:t>
            </a:r>
            <a:r>
              <a:rPr lang="en-US" dirty="0" err="1" smtClean="0"/>
              <a:t>подробно</a:t>
            </a:r>
            <a:r>
              <a:rPr lang="en-US" dirty="0" smtClean="0"/>
              <a:t> </a:t>
            </a:r>
            <a:r>
              <a:rPr lang="en-US" dirty="0" err="1" smtClean="0"/>
              <a:t>разбирает</a:t>
            </a:r>
            <a:r>
              <a:rPr lang="en-US" dirty="0" smtClean="0"/>
              <a:t>, </a:t>
            </a:r>
            <a:r>
              <a:rPr lang="en-US" dirty="0" err="1" smtClean="0"/>
              <a:t>хорошо</a:t>
            </a:r>
            <a:r>
              <a:rPr lang="en-US" dirty="0" smtClean="0"/>
              <a:t> </a:t>
            </a:r>
            <a:r>
              <a:rPr lang="en-US" dirty="0" err="1" smtClean="0"/>
              <a:t>видно</a:t>
            </a:r>
            <a:r>
              <a:rPr lang="en-US" dirty="0" smtClean="0"/>
              <a:t>, </a:t>
            </a:r>
            <a:r>
              <a:rPr lang="en-US" dirty="0" err="1" smtClean="0"/>
              <a:t>что</a:t>
            </a:r>
            <a:r>
              <a:rPr lang="en-US" dirty="0" smtClean="0"/>
              <a:t> </a:t>
            </a:r>
            <a:r>
              <a:rPr lang="en-US" dirty="0" err="1" smtClean="0"/>
              <a:t>его</a:t>
            </a:r>
            <a:r>
              <a:rPr lang="en-US" dirty="0" smtClean="0"/>
              <a:t> </a:t>
            </a:r>
            <a:r>
              <a:rPr lang="en-US" dirty="0" err="1" smtClean="0"/>
              <a:t>PresentationModel</a:t>
            </a:r>
            <a:r>
              <a:rPr lang="en-US" dirty="0" smtClean="0"/>
              <a:t> </a:t>
            </a:r>
            <a:r>
              <a:rPr lang="en-US" dirty="0" err="1" smtClean="0"/>
              <a:t>является</a:t>
            </a:r>
            <a:r>
              <a:rPr lang="en-US" dirty="0" smtClean="0"/>
              <a:t> </a:t>
            </a:r>
            <a:r>
              <a:rPr lang="en-US" dirty="0" err="1" smtClean="0"/>
              <a:t>именно</a:t>
            </a:r>
            <a:r>
              <a:rPr lang="en-US" dirty="0" smtClean="0"/>
              <a:t> </a:t>
            </a:r>
            <a:r>
              <a:rPr lang="en-US" dirty="0" err="1" smtClean="0"/>
              <a:t>смесью</a:t>
            </a:r>
            <a:r>
              <a:rPr lang="en-US" dirty="0" smtClean="0"/>
              <a:t> </a:t>
            </a:r>
            <a:r>
              <a:rPr lang="en-US" dirty="0" err="1" smtClean="0"/>
              <a:t>Фасада</a:t>
            </a:r>
            <a:r>
              <a:rPr lang="en-US" dirty="0" smtClean="0"/>
              <a:t> и </a:t>
            </a:r>
            <a:r>
              <a:rPr lang="en-US" dirty="0" err="1" smtClean="0"/>
              <a:t>модели</a:t>
            </a:r>
            <a:r>
              <a:rPr lang="en-US" dirty="0" smtClean="0"/>
              <a:t> </a:t>
            </a:r>
            <a:r>
              <a:rPr lang="en-US" dirty="0" err="1" smtClean="0"/>
              <a:t>представления</a:t>
            </a:r>
            <a:r>
              <a:rPr lang="en-US" dirty="0" smtClean="0"/>
              <a:t>. </a:t>
            </a:r>
            <a:r>
              <a:rPr lang="en-US" dirty="0" err="1" smtClean="0"/>
              <a:t>Ну</a:t>
            </a:r>
            <a:r>
              <a:rPr lang="en-US" dirty="0" smtClean="0"/>
              <a:t> а Microsoft </a:t>
            </a:r>
            <a:r>
              <a:rPr lang="en-US" dirty="0" err="1" smtClean="0"/>
              <a:t>прямо</a:t>
            </a:r>
            <a:r>
              <a:rPr lang="en-US" dirty="0" smtClean="0"/>
              <a:t> </a:t>
            </a:r>
            <a:r>
              <a:rPr lang="en-US" dirty="0" err="1" smtClean="0"/>
              <a:t>пишет</a:t>
            </a:r>
            <a:r>
              <a:rPr lang="en-US" dirty="0" smtClean="0"/>
              <a:t>: "</a:t>
            </a:r>
            <a:r>
              <a:rPr lang="en-US" b="1" i="1" dirty="0" smtClean="0"/>
              <a:t>Presentation model class acts as a façade on the model with UI-specific state and behavior, by encapsulating the access to the model and providing a public interface that is easy to consume from the view</a:t>
            </a:r>
            <a:r>
              <a:rPr lang="en-US" dirty="0" smtClean="0"/>
              <a:t>" (</a:t>
            </a:r>
            <a:r>
              <a:rPr lang="en-US" u="sng" dirty="0" smtClean="0">
                <a:hlinkClick r:id="rId2"/>
              </a:rPr>
              <a:t>MSDN: Presentation Model</a:t>
            </a:r>
            <a:r>
              <a:rPr lang="en-US" dirty="0" smtClean="0"/>
              <a:t>)</a:t>
            </a:r>
            <a:endParaRPr lang="ru-RU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Построение пользовательского интерфейса </a:t>
            </a:r>
            <a:endParaRPr lang="ru-RU" b="1" cap="small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133056"/>
          </a:xfrm>
        </p:spPr>
        <p:txBody>
          <a:bodyPr>
            <a:normAutofit fontScale="55000" lnSpcReduction="20000"/>
          </a:bodyPr>
          <a:lstStyle/>
          <a:p>
            <a:r>
              <a:rPr lang="ru-RU" dirty="0" err="1" smtClean="0"/>
              <a:t>Овтор</a:t>
            </a:r>
            <a:r>
              <a:rPr lang="ru-RU" dirty="0" smtClean="0"/>
              <a:t> статьи</a:t>
            </a:r>
            <a:r>
              <a:rPr lang="en-US" dirty="0" smtClean="0"/>
              <a:t> </a:t>
            </a:r>
            <a:r>
              <a:rPr lang="en-US" dirty="0" err="1" smtClean="0"/>
              <a:t>стара</a:t>
            </a:r>
            <a:r>
              <a:rPr lang="ru-RU" dirty="0" err="1" smtClean="0"/>
              <a:t>ется</a:t>
            </a:r>
            <a:r>
              <a:rPr lang="en-US" dirty="0" smtClean="0"/>
              <a:t> </a:t>
            </a:r>
            <a:r>
              <a:rPr lang="en-US" dirty="0" err="1" smtClean="0"/>
              <a:t>первого</a:t>
            </a:r>
            <a:r>
              <a:rPr lang="en-US" dirty="0" smtClean="0"/>
              <a:t> </a:t>
            </a:r>
            <a:r>
              <a:rPr lang="en-US" dirty="0" err="1" smtClean="0"/>
              <a:t>варианта</a:t>
            </a:r>
            <a:r>
              <a:rPr lang="en-US" dirty="0" smtClean="0"/>
              <a:t> </a:t>
            </a:r>
            <a:r>
              <a:rPr lang="en-US" dirty="0" err="1" smtClean="0"/>
              <a:t>избегать</a:t>
            </a:r>
            <a:r>
              <a:rPr lang="en-US" dirty="0" smtClean="0"/>
              <a:t>. </a:t>
            </a:r>
            <a:r>
              <a:rPr lang="ru-RU" dirty="0" smtClean="0"/>
              <a:t>П</a:t>
            </a:r>
            <a:r>
              <a:rPr lang="en-US" dirty="0" err="1" smtClean="0"/>
              <a:t>одобное</a:t>
            </a:r>
            <a:r>
              <a:rPr lang="en-US" dirty="0" smtClean="0"/>
              <a:t> </a:t>
            </a:r>
            <a:r>
              <a:rPr lang="en-US" dirty="0" err="1" smtClean="0"/>
              <a:t>смешение</a:t>
            </a:r>
            <a:r>
              <a:rPr lang="en-US" dirty="0" smtClean="0"/>
              <a:t> </a:t>
            </a:r>
            <a:r>
              <a:rPr lang="en-US" dirty="0" err="1" smtClean="0"/>
              <a:t>хоть</a:t>
            </a:r>
            <a:r>
              <a:rPr lang="en-US" dirty="0" smtClean="0"/>
              <a:t> и </a:t>
            </a:r>
            <a:r>
              <a:rPr lang="en-US" dirty="0" err="1" smtClean="0"/>
              <a:t>соблазняет</a:t>
            </a:r>
            <a:r>
              <a:rPr lang="en-US" dirty="0" smtClean="0"/>
              <a:t> </a:t>
            </a:r>
            <a:r>
              <a:rPr lang="en-US" dirty="0" err="1" smtClean="0"/>
              <a:t>своей</a:t>
            </a:r>
            <a:r>
              <a:rPr lang="en-US" dirty="0" smtClean="0"/>
              <a:t> </a:t>
            </a:r>
            <a:r>
              <a:rPr lang="en-US" dirty="0" err="1" smtClean="0"/>
              <a:t>кажущейся</a:t>
            </a:r>
            <a:r>
              <a:rPr lang="en-US" dirty="0" smtClean="0"/>
              <a:t> </a:t>
            </a:r>
            <a:r>
              <a:rPr lang="en-US" dirty="0" err="1" smtClean="0"/>
              <a:t>простотой</a:t>
            </a:r>
            <a:r>
              <a:rPr lang="en-US" dirty="0" smtClean="0"/>
              <a:t> </a:t>
            </a:r>
            <a:r>
              <a:rPr lang="en-US" dirty="0" err="1" smtClean="0"/>
              <a:t>но</a:t>
            </a:r>
            <a:r>
              <a:rPr lang="en-US" dirty="0" smtClean="0"/>
              <a:t> </a:t>
            </a:r>
            <a:r>
              <a:rPr lang="en-US" dirty="0" err="1" smtClean="0"/>
              <a:t>на</a:t>
            </a:r>
            <a:r>
              <a:rPr lang="en-US" dirty="0" smtClean="0"/>
              <a:t> </a:t>
            </a:r>
            <a:r>
              <a:rPr lang="en-US" dirty="0" err="1" smtClean="0"/>
              <a:t>практике</a:t>
            </a:r>
            <a:r>
              <a:rPr lang="en-US" dirty="0" smtClean="0"/>
              <a:t> </a:t>
            </a:r>
            <a:r>
              <a:rPr lang="en-US" dirty="0" err="1" smtClean="0"/>
              <a:t>приводит</a:t>
            </a:r>
            <a:r>
              <a:rPr lang="en-US" dirty="0" smtClean="0"/>
              <a:t> к </a:t>
            </a:r>
            <a:r>
              <a:rPr lang="en-US" dirty="0" err="1" smtClean="0"/>
              <a:t>тому</a:t>
            </a:r>
            <a:r>
              <a:rPr lang="en-US" dirty="0" smtClean="0"/>
              <a:t> </a:t>
            </a:r>
            <a:r>
              <a:rPr lang="en-US" dirty="0" err="1" smtClean="0"/>
              <a:t>что</a:t>
            </a:r>
            <a:r>
              <a:rPr lang="en-US" dirty="0" smtClean="0"/>
              <a:t> </a:t>
            </a:r>
            <a:r>
              <a:rPr lang="en-US" dirty="0" err="1" smtClean="0"/>
              <a:t>PresentationModel</a:t>
            </a:r>
            <a:r>
              <a:rPr lang="en-US" dirty="0" smtClean="0"/>
              <a:t> </a:t>
            </a:r>
            <a:r>
              <a:rPr lang="en-US" dirty="0" err="1" smtClean="0"/>
              <a:t>превращается</a:t>
            </a:r>
            <a:r>
              <a:rPr lang="en-US" dirty="0" smtClean="0"/>
              <a:t> в </a:t>
            </a:r>
            <a:r>
              <a:rPr lang="en-US" dirty="0" err="1" smtClean="0"/>
              <a:t>большую</a:t>
            </a:r>
            <a:r>
              <a:rPr lang="en-US" dirty="0" smtClean="0"/>
              <a:t> "</a:t>
            </a:r>
            <a:r>
              <a:rPr lang="en-US" dirty="0" err="1" smtClean="0"/>
              <a:t>свалку</a:t>
            </a:r>
            <a:r>
              <a:rPr lang="en-US" dirty="0" smtClean="0"/>
              <a:t>". </a:t>
            </a:r>
            <a:r>
              <a:rPr lang="en-US" dirty="0" err="1" smtClean="0"/>
              <a:t>Представьте</a:t>
            </a:r>
            <a:r>
              <a:rPr lang="en-US" dirty="0" smtClean="0"/>
              <a:t> </a:t>
            </a:r>
            <a:r>
              <a:rPr lang="en-US" dirty="0" err="1" smtClean="0"/>
              <a:t>что</a:t>
            </a:r>
            <a:r>
              <a:rPr lang="en-US" dirty="0" smtClean="0"/>
              <a:t> </a:t>
            </a:r>
            <a:r>
              <a:rPr lang="en-US" dirty="0" err="1" smtClean="0"/>
              <a:t>есть</a:t>
            </a:r>
            <a:r>
              <a:rPr lang="en-US" dirty="0" smtClean="0"/>
              <a:t> </a:t>
            </a:r>
            <a:r>
              <a:rPr lang="en-US" dirty="0" err="1" smtClean="0"/>
              <a:t>реальный</a:t>
            </a:r>
            <a:r>
              <a:rPr lang="en-US" dirty="0" smtClean="0"/>
              <a:t> </a:t>
            </a:r>
            <a:r>
              <a:rPr lang="en-US" dirty="0" err="1" smtClean="0"/>
              <a:t>сложный</a:t>
            </a:r>
            <a:r>
              <a:rPr lang="en-US" dirty="0" smtClean="0"/>
              <a:t> </a:t>
            </a:r>
            <a:r>
              <a:rPr lang="en-US" dirty="0" err="1" smtClean="0"/>
              <a:t>интерфейс</a:t>
            </a:r>
            <a:r>
              <a:rPr lang="en-US" dirty="0" smtClean="0"/>
              <a:t>. </a:t>
            </a:r>
            <a:r>
              <a:rPr lang="en-US" dirty="0" err="1" smtClean="0"/>
              <a:t>Если</a:t>
            </a:r>
            <a:r>
              <a:rPr lang="en-US" dirty="0" smtClean="0"/>
              <a:t> </a:t>
            </a:r>
            <a:r>
              <a:rPr lang="en-US" dirty="0" err="1" smtClean="0"/>
              <a:t>использовать</a:t>
            </a:r>
            <a:r>
              <a:rPr lang="en-US" dirty="0" smtClean="0"/>
              <a:t> </a:t>
            </a:r>
            <a:r>
              <a:rPr lang="en-US" dirty="0" err="1" smtClean="0"/>
              <a:t>подход</a:t>
            </a:r>
            <a:r>
              <a:rPr lang="en-US" dirty="0" smtClean="0"/>
              <a:t> (2), </a:t>
            </a:r>
            <a:r>
              <a:rPr lang="en-US" dirty="0" err="1" smtClean="0"/>
              <a:t>то</a:t>
            </a:r>
            <a:r>
              <a:rPr lang="en-US" dirty="0" smtClean="0"/>
              <a:t> </a:t>
            </a:r>
            <a:r>
              <a:rPr lang="en-US" dirty="0" err="1" smtClean="0"/>
              <a:t>мы</a:t>
            </a:r>
            <a:r>
              <a:rPr lang="en-US" dirty="0" smtClean="0"/>
              <a:t> </a:t>
            </a:r>
            <a:r>
              <a:rPr lang="en-US" dirty="0" err="1" smtClean="0"/>
              <a:t>этот</a:t>
            </a:r>
            <a:r>
              <a:rPr lang="en-US" dirty="0" smtClean="0"/>
              <a:t> </a:t>
            </a:r>
            <a:r>
              <a:rPr lang="en-US" dirty="0" err="1" smtClean="0"/>
              <a:t>интерфейс</a:t>
            </a:r>
            <a:r>
              <a:rPr lang="en-US" dirty="0" smtClean="0"/>
              <a:t> </a:t>
            </a:r>
            <a:r>
              <a:rPr lang="en-US" dirty="0" err="1" smtClean="0"/>
              <a:t>разобьем</a:t>
            </a:r>
            <a:r>
              <a:rPr lang="en-US" dirty="0" smtClean="0"/>
              <a:t> </a:t>
            </a:r>
            <a:r>
              <a:rPr lang="en-US" dirty="0" err="1" smtClean="0"/>
              <a:t>на</a:t>
            </a:r>
            <a:r>
              <a:rPr lang="en-US" dirty="0" smtClean="0"/>
              <a:t> </a:t>
            </a:r>
            <a:r>
              <a:rPr lang="en-US" dirty="0" err="1" smtClean="0"/>
              <a:t>ui-модули</a:t>
            </a:r>
            <a:r>
              <a:rPr lang="en-US" dirty="0" smtClean="0"/>
              <a:t>, и </a:t>
            </a:r>
            <a:r>
              <a:rPr lang="en-US" dirty="0" err="1" smtClean="0"/>
              <a:t>каждый</a:t>
            </a:r>
            <a:r>
              <a:rPr lang="en-US" dirty="0" smtClean="0"/>
              <a:t> </a:t>
            </a:r>
            <a:r>
              <a:rPr lang="en-US" dirty="0" err="1" smtClean="0"/>
              <a:t>модуль</a:t>
            </a:r>
            <a:r>
              <a:rPr lang="en-US" dirty="0" smtClean="0"/>
              <a:t> </a:t>
            </a:r>
            <a:r>
              <a:rPr lang="en-US" dirty="0" err="1" smtClean="0"/>
              <a:t>будет</a:t>
            </a:r>
            <a:r>
              <a:rPr lang="en-US" dirty="0" smtClean="0"/>
              <a:t> </a:t>
            </a:r>
            <a:r>
              <a:rPr lang="en-US" dirty="0" err="1" smtClean="0"/>
              <a:t>инкапсулировать</a:t>
            </a:r>
            <a:r>
              <a:rPr lang="en-US" dirty="0" smtClean="0"/>
              <a:t> </a:t>
            </a:r>
            <a:r>
              <a:rPr lang="en-US" dirty="0" err="1" smtClean="0"/>
              <a:t>свою</a:t>
            </a:r>
            <a:r>
              <a:rPr lang="en-US" dirty="0" smtClean="0"/>
              <a:t> </a:t>
            </a:r>
            <a:r>
              <a:rPr lang="en-US" dirty="0" err="1" smtClean="0"/>
              <a:t>логику</a:t>
            </a:r>
            <a:r>
              <a:rPr lang="en-US" dirty="0" smtClean="0"/>
              <a:t> в </a:t>
            </a:r>
            <a:r>
              <a:rPr lang="en-US" dirty="0" err="1" smtClean="0"/>
              <a:t>виде</a:t>
            </a:r>
            <a:r>
              <a:rPr lang="en-US" dirty="0" smtClean="0"/>
              <a:t> </a:t>
            </a:r>
            <a:r>
              <a:rPr lang="en-US" dirty="0" err="1" smtClean="0"/>
              <a:t>небольшой</a:t>
            </a:r>
            <a:r>
              <a:rPr lang="en-US" dirty="0" smtClean="0"/>
              <a:t> </a:t>
            </a:r>
            <a:r>
              <a:rPr lang="en-US" dirty="0" err="1" smtClean="0"/>
              <a:t>внутренней</a:t>
            </a:r>
            <a:r>
              <a:rPr lang="en-US" dirty="0" smtClean="0"/>
              <a:t> </a:t>
            </a:r>
            <a:r>
              <a:rPr lang="en-US" dirty="0" err="1" smtClean="0"/>
              <a:t>ui</a:t>
            </a:r>
            <a:r>
              <a:rPr lang="en-US" dirty="0" smtClean="0"/>
              <a:t>-state </a:t>
            </a:r>
            <a:r>
              <a:rPr lang="en-US" dirty="0" err="1" smtClean="0"/>
              <a:t>модели</a:t>
            </a:r>
            <a:r>
              <a:rPr lang="en-US" dirty="0" smtClean="0"/>
              <a:t>. А </a:t>
            </a:r>
            <a:r>
              <a:rPr lang="en-US" dirty="0" err="1" smtClean="0"/>
              <a:t>вот</a:t>
            </a:r>
            <a:r>
              <a:rPr lang="en-US" dirty="0" smtClean="0"/>
              <a:t> </a:t>
            </a:r>
            <a:r>
              <a:rPr lang="en-US" dirty="0" err="1" smtClean="0"/>
              <a:t>если</a:t>
            </a:r>
            <a:r>
              <a:rPr lang="en-US" dirty="0" smtClean="0"/>
              <a:t> </a:t>
            </a:r>
            <a:r>
              <a:rPr lang="en-US" dirty="0" err="1" smtClean="0"/>
              <a:t>использовать</a:t>
            </a:r>
            <a:r>
              <a:rPr lang="en-US" dirty="0" smtClean="0"/>
              <a:t> </a:t>
            </a:r>
            <a:r>
              <a:rPr lang="en-US" dirty="0" err="1" smtClean="0"/>
              <a:t>подход</a:t>
            </a:r>
            <a:r>
              <a:rPr lang="en-US" dirty="0" smtClean="0"/>
              <a:t> (1), </a:t>
            </a:r>
            <a:r>
              <a:rPr lang="en-US" dirty="0" err="1" smtClean="0"/>
              <a:t>то</a:t>
            </a:r>
            <a:r>
              <a:rPr lang="en-US" dirty="0" smtClean="0"/>
              <a:t> </a:t>
            </a:r>
            <a:r>
              <a:rPr lang="en-US" dirty="0" err="1" smtClean="0"/>
              <a:t>логика</a:t>
            </a:r>
            <a:r>
              <a:rPr lang="en-US" dirty="0" smtClean="0"/>
              <a:t> </a:t>
            </a:r>
            <a:r>
              <a:rPr lang="en-US" dirty="0" err="1" smtClean="0"/>
              <a:t>работы</a:t>
            </a:r>
            <a:r>
              <a:rPr lang="en-US" dirty="0" smtClean="0"/>
              <a:t> </a:t>
            </a:r>
            <a:r>
              <a:rPr lang="en-US" dirty="0" err="1" smtClean="0"/>
              <a:t>всего</a:t>
            </a:r>
            <a:r>
              <a:rPr lang="en-US" dirty="0" smtClean="0"/>
              <a:t> </a:t>
            </a:r>
            <a:r>
              <a:rPr lang="en-US" dirty="0" err="1" smtClean="0"/>
              <a:t>этого</a:t>
            </a:r>
            <a:r>
              <a:rPr lang="en-US" dirty="0" smtClean="0"/>
              <a:t> </a:t>
            </a:r>
            <a:r>
              <a:rPr lang="en-US" dirty="0" err="1" smtClean="0"/>
              <a:t>большого</a:t>
            </a:r>
            <a:r>
              <a:rPr lang="en-US" dirty="0" smtClean="0"/>
              <a:t> </a:t>
            </a:r>
            <a:r>
              <a:rPr lang="en-US" dirty="0" err="1" smtClean="0"/>
              <a:t>интерфейса</a:t>
            </a:r>
            <a:r>
              <a:rPr lang="en-US" dirty="0" smtClean="0"/>
              <a:t> </a:t>
            </a:r>
            <a:r>
              <a:rPr lang="en-US" dirty="0" err="1" smtClean="0"/>
              <a:t>будет</a:t>
            </a:r>
            <a:r>
              <a:rPr lang="en-US" dirty="0" smtClean="0"/>
              <a:t> </a:t>
            </a:r>
            <a:r>
              <a:rPr lang="en-US" dirty="0" err="1" smtClean="0"/>
              <a:t>свалена</a:t>
            </a:r>
            <a:r>
              <a:rPr lang="en-US" dirty="0" smtClean="0"/>
              <a:t> в </a:t>
            </a:r>
            <a:r>
              <a:rPr lang="en-US" dirty="0" err="1" smtClean="0"/>
              <a:t>кучу</a:t>
            </a:r>
            <a:r>
              <a:rPr lang="en-US" dirty="0" smtClean="0"/>
              <a:t> </a:t>
            </a:r>
            <a:r>
              <a:rPr lang="en-US" dirty="0" err="1" smtClean="0"/>
              <a:t>вперемешку</a:t>
            </a:r>
            <a:r>
              <a:rPr lang="en-US" dirty="0" smtClean="0"/>
              <a:t> с </a:t>
            </a:r>
            <a:r>
              <a:rPr lang="en-US" dirty="0" err="1" smtClean="0"/>
              <a:t>логикой</a:t>
            </a:r>
            <a:r>
              <a:rPr lang="en-US" dirty="0" smtClean="0"/>
              <a:t> </a:t>
            </a:r>
            <a:r>
              <a:rPr lang="en-US" dirty="0" err="1" smtClean="0"/>
              <a:t>фасада</a:t>
            </a:r>
            <a:r>
              <a:rPr lang="en-US" dirty="0" smtClean="0"/>
              <a:t> в </a:t>
            </a:r>
            <a:r>
              <a:rPr lang="en-US" dirty="0" err="1" smtClean="0"/>
              <a:t>PresentationModel</a:t>
            </a:r>
            <a:r>
              <a:rPr lang="en-US" dirty="0" smtClean="0"/>
              <a:t>. </a:t>
            </a:r>
            <a:r>
              <a:rPr lang="en-US" dirty="0" err="1" smtClean="0"/>
              <a:t>Пока</a:t>
            </a:r>
            <a:r>
              <a:rPr lang="en-US" dirty="0" smtClean="0"/>
              <a:t> </a:t>
            </a:r>
            <a:r>
              <a:rPr lang="en-US" dirty="0" err="1" smtClean="0"/>
              <a:t>такая</a:t>
            </a:r>
            <a:r>
              <a:rPr lang="en-US" dirty="0" smtClean="0"/>
              <a:t> </a:t>
            </a:r>
            <a:r>
              <a:rPr lang="en-US" dirty="0" err="1" smtClean="0"/>
              <a:t>PresentationModel</a:t>
            </a:r>
            <a:r>
              <a:rPr lang="en-US" dirty="0" smtClean="0"/>
              <a:t> </a:t>
            </a:r>
            <a:r>
              <a:rPr lang="en-US" dirty="0" err="1" smtClean="0"/>
              <a:t>или</a:t>
            </a:r>
            <a:r>
              <a:rPr lang="en-US" dirty="0" smtClean="0"/>
              <a:t> </a:t>
            </a:r>
            <a:r>
              <a:rPr lang="en-US" dirty="0" err="1" smtClean="0"/>
              <a:t>ApplicationModel</a:t>
            </a:r>
            <a:r>
              <a:rPr lang="en-US" dirty="0" smtClean="0"/>
              <a:t> </a:t>
            </a:r>
            <a:r>
              <a:rPr lang="en-US" dirty="0" err="1" smtClean="0"/>
              <a:t>создается</a:t>
            </a:r>
            <a:r>
              <a:rPr lang="en-US" dirty="0" smtClean="0"/>
              <a:t> и </a:t>
            </a:r>
            <a:r>
              <a:rPr lang="en-US" dirty="0" err="1" smtClean="0"/>
              <a:t>управляется</a:t>
            </a:r>
            <a:r>
              <a:rPr lang="en-US" dirty="0" smtClean="0"/>
              <a:t> </a:t>
            </a:r>
            <a:r>
              <a:rPr lang="en-US" dirty="0" err="1" smtClean="0"/>
              <a:t>автоматически</a:t>
            </a:r>
            <a:r>
              <a:rPr lang="en-US" dirty="0" smtClean="0"/>
              <a:t> </a:t>
            </a:r>
            <a:r>
              <a:rPr lang="en-US" dirty="0" err="1" smtClean="0"/>
              <a:t>неким</a:t>
            </a:r>
            <a:r>
              <a:rPr lang="en-US" dirty="0" smtClean="0"/>
              <a:t> </a:t>
            </a:r>
            <a:r>
              <a:rPr lang="en-US" dirty="0" err="1" smtClean="0"/>
              <a:t>фреймворком</a:t>
            </a:r>
            <a:r>
              <a:rPr lang="en-US" dirty="0" smtClean="0"/>
              <a:t> </a:t>
            </a:r>
            <a:r>
              <a:rPr lang="en-US" dirty="0" err="1" smtClean="0"/>
              <a:t>все</a:t>
            </a:r>
            <a:r>
              <a:rPr lang="en-US" dirty="0" smtClean="0"/>
              <a:t> </a:t>
            </a:r>
            <a:r>
              <a:rPr lang="en-US" dirty="0" err="1" smtClean="0"/>
              <a:t>хорошо</a:t>
            </a:r>
            <a:r>
              <a:rPr lang="en-US" dirty="0" smtClean="0"/>
              <a:t>. </a:t>
            </a:r>
            <a:r>
              <a:rPr lang="en-US" dirty="0" err="1" smtClean="0"/>
              <a:t>Но</a:t>
            </a:r>
            <a:r>
              <a:rPr lang="en-US" dirty="0" smtClean="0"/>
              <a:t> </a:t>
            </a:r>
            <a:r>
              <a:rPr lang="en-US" dirty="0" err="1" smtClean="0"/>
              <a:t>если</a:t>
            </a:r>
            <a:r>
              <a:rPr lang="en-US" dirty="0" smtClean="0"/>
              <a:t> </a:t>
            </a:r>
            <a:r>
              <a:rPr lang="en-US" dirty="0" err="1" smtClean="0"/>
              <a:t>подобное</a:t>
            </a:r>
            <a:r>
              <a:rPr lang="en-US" dirty="0" smtClean="0"/>
              <a:t> </a:t>
            </a:r>
            <a:r>
              <a:rPr lang="en-US" dirty="0" err="1" smtClean="0"/>
              <a:t>писать</a:t>
            </a:r>
            <a:r>
              <a:rPr lang="en-US" dirty="0" smtClean="0"/>
              <a:t> </a:t>
            </a:r>
            <a:r>
              <a:rPr lang="en-US" dirty="0" err="1" smtClean="0"/>
              <a:t>ручками</a:t>
            </a:r>
            <a:r>
              <a:rPr lang="en-US" dirty="0" smtClean="0"/>
              <a:t>… </a:t>
            </a:r>
            <a:r>
              <a:rPr lang="en-US" dirty="0" err="1" smtClean="0"/>
              <a:t>то</a:t>
            </a:r>
            <a:r>
              <a:rPr lang="en-US" dirty="0" smtClean="0"/>
              <a:t> </a:t>
            </a:r>
            <a:r>
              <a:rPr lang="en-US" dirty="0" err="1" smtClean="0"/>
              <a:t>мозг</a:t>
            </a:r>
            <a:r>
              <a:rPr lang="en-US" dirty="0" smtClean="0"/>
              <a:t> </a:t>
            </a:r>
            <a:r>
              <a:rPr lang="en-US" dirty="0" err="1" smtClean="0"/>
              <a:t>начинает</a:t>
            </a:r>
            <a:r>
              <a:rPr lang="en-US" dirty="0" smtClean="0"/>
              <a:t> </a:t>
            </a:r>
            <a:r>
              <a:rPr lang="en-US" dirty="0" err="1" smtClean="0"/>
              <a:t>ломаться</a:t>
            </a:r>
            <a:r>
              <a:rPr lang="en-US" dirty="0" smtClean="0"/>
              <a:t> и </a:t>
            </a:r>
            <a:r>
              <a:rPr lang="en-US" dirty="0" err="1" smtClean="0"/>
              <a:t>часто</a:t>
            </a:r>
            <a:r>
              <a:rPr lang="en-US" dirty="0" smtClean="0"/>
              <a:t> </a:t>
            </a:r>
            <a:r>
              <a:rPr lang="en-US" dirty="0" err="1" smtClean="0"/>
              <a:t>это</a:t>
            </a:r>
            <a:r>
              <a:rPr lang="en-US" dirty="0" smtClean="0"/>
              <a:t> </a:t>
            </a:r>
            <a:r>
              <a:rPr lang="en-US" dirty="0" err="1" smtClean="0"/>
              <a:t>приводит</a:t>
            </a:r>
            <a:r>
              <a:rPr lang="en-US" dirty="0" smtClean="0"/>
              <a:t> к </a:t>
            </a:r>
            <a:r>
              <a:rPr lang="en-US" dirty="0" err="1" smtClean="0"/>
              <a:t>тому</a:t>
            </a:r>
            <a:r>
              <a:rPr lang="en-US" dirty="0" smtClean="0"/>
              <a:t>, </a:t>
            </a:r>
            <a:r>
              <a:rPr lang="en-US" dirty="0" err="1" smtClean="0"/>
              <a:t>что</a:t>
            </a:r>
            <a:r>
              <a:rPr lang="en-US" dirty="0" smtClean="0"/>
              <a:t> </a:t>
            </a:r>
            <a:r>
              <a:rPr lang="en-US" dirty="0" err="1" smtClean="0"/>
              <a:t>логика</a:t>
            </a:r>
            <a:r>
              <a:rPr lang="en-US" dirty="0" smtClean="0"/>
              <a:t> </a:t>
            </a:r>
            <a:r>
              <a:rPr lang="en-US" dirty="0" err="1" smtClean="0"/>
              <a:t>представления</a:t>
            </a:r>
            <a:r>
              <a:rPr lang="en-US" dirty="0" smtClean="0"/>
              <a:t> </a:t>
            </a:r>
            <a:r>
              <a:rPr lang="en-US" dirty="0" err="1" smtClean="0"/>
              <a:t>рано</a:t>
            </a:r>
            <a:r>
              <a:rPr lang="en-US" dirty="0" smtClean="0"/>
              <a:t> </a:t>
            </a:r>
            <a:r>
              <a:rPr lang="en-US" dirty="0" err="1" smtClean="0"/>
              <a:t>или</a:t>
            </a:r>
            <a:r>
              <a:rPr lang="en-US" dirty="0" smtClean="0"/>
              <a:t> </a:t>
            </a:r>
            <a:r>
              <a:rPr lang="en-US" dirty="0" err="1" smtClean="0"/>
              <a:t>поздно</a:t>
            </a:r>
            <a:r>
              <a:rPr lang="en-US" dirty="0" smtClean="0"/>
              <a:t> </a:t>
            </a:r>
            <a:r>
              <a:rPr lang="en-US" dirty="0" err="1" smtClean="0"/>
              <a:t>просачивается</a:t>
            </a:r>
            <a:r>
              <a:rPr lang="en-US" dirty="0" smtClean="0"/>
              <a:t> </a:t>
            </a:r>
            <a:r>
              <a:rPr lang="en-US" dirty="0" err="1" smtClean="0"/>
              <a:t>через</a:t>
            </a:r>
            <a:r>
              <a:rPr lang="en-US" dirty="0" smtClean="0"/>
              <a:t> </a:t>
            </a:r>
            <a:r>
              <a:rPr lang="en-US" dirty="0" err="1" smtClean="0"/>
              <a:t>фасад</a:t>
            </a:r>
            <a:r>
              <a:rPr lang="en-US" dirty="0" smtClean="0"/>
              <a:t> в </a:t>
            </a:r>
            <a:r>
              <a:rPr lang="en-US" dirty="0" err="1" smtClean="0"/>
              <a:t>доменную</a:t>
            </a:r>
            <a:r>
              <a:rPr lang="en-US" dirty="0" smtClean="0"/>
              <a:t> </a:t>
            </a:r>
            <a:r>
              <a:rPr lang="en-US" dirty="0" err="1" smtClean="0"/>
              <a:t>модель</a:t>
            </a:r>
            <a:r>
              <a:rPr lang="en-US" dirty="0" smtClean="0"/>
              <a:t>. </a:t>
            </a:r>
            <a:r>
              <a:rPr lang="en-US" dirty="0" err="1" smtClean="0"/>
              <a:t>Даже</a:t>
            </a:r>
            <a:r>
              <a:rPr lang="en-US" dirty="0" smtClean="0"/>
              <a:t> у </a:t>
            </a:r>
            <a:r>
              <a:rPr lang="en-US" dirty="0" err="1" smtClean="0"/>
              <a:t>такого</a:t>
            </a:r>
            <a:r>
              <a:rPr lang="en-US" dirty="0" smtClean="0"/>
              <a:t> </a:t>
            </a:r>
            <a:r>
              <a:rPr lang="en-US" dirty="0" err="1" smtClean="0"/>
              <a:t>гуру</a:t>
            </a:r>
            <a:r>
              <a:rPr lang="en-US" dirty="0" smtClean="0"/>
              <a:t> </a:t>
            </a:r>
            <a:r>
              <a:rPr lang="en-US" dirty="0" err="1" smtClean="0"/>
              <a:t>как</a:t>
            </a:r>
            <a:r>
              <a:rPr lang="en-US" dirty="0" smtClean="0"/>
              <a:t> </a:t>
            </a:r>
            <a:r>
              <a:rPr lang="en-US" dirty="0" err="1" smtClean="0"/>
              <a:t>Фаулер</a:t>
            </a:r>
            <a:r>
              <a:rPr lang="en-US" dirty="0" smtClean="0"/>
              <a:t>, в </a:t>
            </a:r>
            <a:r>
              <a:rPr lang="en-US" dirty="0" err="1" smtClean="0"/>
              <a:t>его</a:t>
            </a:r>
            <a:r>
              <a:rPr lang="en-US" dirty="0" smtClean="0"/>
              <a:t> </a:t>
            </a:r>
            <a:r>
              <a:rPr lang="en-US" dirty="0" err="1" smtClean="0"/>
              <a:t>детском</a:t>
            </a:r>
            <a:r>
              <a:rPr lang="en-US" dirty="0" smtClean="0"/>
              <a:t> </a:t>
            </a:r>
            <a:r>
              <a:rPr lang="en-US" dirty="0" err="1" smtClean="0"/>
              <a:t>примере</a:t>
            </a:r>
            <a:r>
              <a:rPr lang="en-US" dirty="0" smtClean="0"/>
              <a:t> </a:t>
            </a:r>
            <a:r>
              <a:rPr lang="en-US" dirty="0" err="1" smtClean="0"/>
              <a:t>это</a:t>
            </a:r>
            <a:r>
              <a:rPr lang="en-US" dirty="0" smtClean="0"/>
              <a:t> </a:t>
            </a:r>
            <a:r>
              <a:rPr lang="en-US" dirty="0" err="1" smtClean="0"/>
              <a:t>таки</a:t>
            </a:r>
            <a:r>
              <a:rPr lang="en-US" dirty="0" smtClean="0"/>
              <a:t> </a:t>
            </a:r>
            <a:r>
              <a:rPr lang="en-US" dirty="0" err="1" smtClean="0"/>
              <a:t>произошло</a:t>
            </a:r>
            <a:r>
              <a:rPr lang="en-US" dirty="0" smtClean="0"/>
              <a:t> (</a:t>
            </a:r>
            <a:r>
              <a:rPr lang="en-US" dirty="0" err="1" smtClean="0"/>
              <a:t>интересно</a:t>
            </a:r>
            <a:r>
              <a:rPr lang="en-US" dirty="0" smtClean="0"/>
              <a:t>, </a:t>
            </a:r>
            <a:r>
              <a:rPr lang="en-US" dirty="0" err="1" smtClean="0"/>
              <a:t>кто-нибудь</a:t>
            </a:r>
            <a:r>
              <a:rPr lang="en-US" dirty="0" smtClean="0"/>
              <a:t> </a:t>
            </a:r>
            <a:r>
              <a:rPr lang="en-US" dirty="0" err="1" smtClean="0"/>
              <a:t>еще</a:t>
            </a:r>
            <a:r>
              <a:rPr lang="en-US" dirty="0" smtClean="0"/>
              <a:t> </a:t>
            </a:r>
            <a:r>
              <a:rPr lang="en-US" dirty="0" err="1" smtClean="0"/>
              <a:t>заметил</a:t>
            </a:r>
            <a:r>
              <a:rPr lang="en-US" dirty="0" smtClean="0"/>
              <a:t> </a:t>
            </a:r>
            <a:r>
              <a:rPr lang="en-US" dirty="0" err="1" smtClean="0"/>
              <a:t>это</a:t>
            </a:r>
            <a:r>
              <a:rPr lang="en-US" dirty="0" smtClean="0"/>
              <a:t> </a:t>
            </a:r>
            <a:r>
              <a:rPr lang="en-US" dirty="0" err="1" smtClean="0"/>
              <a:t>место</a:t>
            </a:r>
            <a:r>
              <a:rPr lang="en-US" dirty="0" smtClean="0"/>
              <a:t>?). В </a:t>
            </a:r>
            <a:r>
              <a:rPr lang="en-US" dirty="0" err="1" smtClean="0"/>
              <a:t>архитектуре</a:t>
            </a:r>
            <a:r>
              <a:rPr lang="en-US" dirty="0" smtClean="0"/>
              <a:t>, </a:t>
            </a:r>
            <a:r>
              <a:rPr lang="en-US" dirty="0" err="1" smtClean="0"/>
              <a:t>где</a:t>
            </a:r>
            <a:r>
              <a:rPr lang="en-US" dirty="0" smtClean="0"/>
              <a:t> </a:t>
            </a:r>
            <a:r>
              <a:rPr lang="en-US" dirty="0" err="1" smtClean="0"/>
              <a:t>фасад</a:t>
            </a:r>
            <a:r>
              <a:rPr lang="en-US" dirty="0" smtClean="0"/>
              <a:t> и GUI-state </a:t>
            </a:r>
            <a:r>
              <a:rPr lang="en-US" dirty="0" err="1" smtClean="0"/>
              <a:t>модели</a:t>
            </a:r>
            <a:r>
              <a:rPr lang="en-US" dirty="0" smtClean="0"/>
              <a:t> </a:t>
            </a:r>
            <a:r>
              <a:rPr lang="en-US" dirty="0" err="1" smtClean="0"/>
              <a:t>разделены</a:t>
            </a:r>
            <a:r>
              <a:rPr lang="en-US" dirty="0" smtClean="0"/>
              <a:t>, </a:t>
            </a:r>
            <a:r>
              <a:rPr lang="en-US" dirty="0" err="1" smtClean="0"/>
              <a:t>вероятность</a:t>
            </a:r>
            <a:r>
              <a:rPr lang="en-US" dirty="0" smtClean="0"/>
              <a:t> </a:t>
            </a:r>
            <a:r>
              <a:rPr lang="en-US" dirty="0" err="1" smtClean="0"/>
              <a:t>такого</a:t>
            </a:r>
            <a:r>
              <a:rPr lang="en-US" dirty="0" smtClean="0"/>
              <a:t> </a:t>
            </a:r>
            <a:r>
              <a:rPr lang="en-US" dirty="0" err="1" smtClean="0"/>
              <a:t>рода</a:t>
            </a:r>
            <a:r>
              <a:rPr lang="en-US" dirty="0" smtClean="0"/>
              <a:t> </a:t>
            </a:r>
            <a:r>
              <a:rPr lang="en-US" dirty="0" err="1" smtClean="0"/>
              <a:t>ошибок</a:t>
            </a:r>
            <a:r>
              <a:rPr lang="en-US" dirty="0" smtClean="0"/>
              <a:t> </a:t>
            </a:r>
            <a:r>
              <a:rPr lang="en-US" dirty="0" err="1" smtClean="0"/>
              <a:t>значительно</a:t>
            </a:r>
            <a:r>
              <a:rPr lang="en-US" dirty="0" smtClean="0"/>
              <a:t> </a:t>
            </a:r>
            <a:r>
              <a:rPr lang="en-US" dirty="0" err="1" smtClean="0"/>
              <a:t>ниже</a:t>
            </a:r>
            <a:endParaRPr lang="ru-RU" dirty="0"/>
          </a:p>
        </p:txBody>
      </p:sp>
      <p:pic>
        <p:nvPicPr>
          <p:cNvPr id="5" name="Рисунок 4" descr="MVC PresentationModel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616" y="5157192"/>
            <a:ext cx="7190740" cy="14547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Объединенный </a:t>
            </a:r>
            <a:r>
              <a:rPr lang="ru-RU" b="1" dirty="0" err="1" smtClean="0"/>
              <a:t>ВидКонтроллер</a:t>
            </a:r>
            <a:r>
              <a:rPr lang="ru-RU" b="1" dirty="0" smtClean="0"/>
              <a:t>. «Упрощенный </a:t>
            </a:r>
            <a:r>
              <a:rPr lang="en-US" b="1" dirty="0" smtClean="0"/>
              <a:t>MVC</a:t>
            </a:r>
            <a:r>
              <a:rPr lang="ru-RU" b="1" dirty="0" smtClean="0"/>
              <a:t>»</a:t>
            </a:r>
            <a:endParaRPr lang="ru-RU" b="1" cap="small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196952"/>
          </a:xfrm>
        </p:spPr>
        <p:txBody>
          <a:bodyPr>
            <a:normAutofit fontScale="62500" lnSpcReduction="20000"/>
          </a:bodyPr>
          <a:lstStyle/>
          <a:p>
            <a:r>
              <a:rPr lang="en-US" dirty="0" err="1" smtClean="0"/>
              <a:t>Раз</a:t>
            </a:r>
            <a:r>
              <a:rPr lang="en-US" dirty="0" smtClean="0"/>
              <a:t> </a:t>
            </a:r>
            <a:r>
              <a:rPr lang="en-US" dirty="0" err="1" smtClean="0"/>
              <a:t>уж</a:t>
            </a:r>
            <a:r>
              <a:rPr lang="en-US" dirty="0" smtClean="0"/>
              <a:t> </a:t>
            </a:r>
            <a:r>
              <a:rPr lang="en-US" dirty="0" err="1" smtClean="0"/>
              <a:t>мы</a:t>
            </a:r>
            <a:r>
              <a:rPr lang="en-US" dirty="0" smtClean="0"/>
              <a:t> </a:t>
            </a:r>
            <a:r>
              <a:rPr lang="en-US" dirty="0" err="1" smtClean="0"/>
              <a:t>коснулись</a:t>
            </a:r>
            <a:r>
              <a:rPr lang="en-US" dirty="0" smtClean="0"/>
              <a:t> Java Swing, </a:t>
            </a:r>
            <a:r>
              <a:rPr lang="en-US" dirty="0" err="1" smtClean="0"/>
              <a:t>то</a:t>
            </a:r>
            <a:r>
              <a:rPr lang="en-US" dirty="0" smtClean="0"/>
              <a:t> </a:t>
            </a:r>
            <a:r>
              <a:rPr lang="en-US" dirty="0" err="1" smtClean="0"/>
              <a:t>нужно</a:t>
            </a:r>
            <a:r>
              <a:rPr lang="en-US" dirty="0" smtClean="0"/>
              <a:t> </a:t>
            </a:r>
            <a:r>
              <a:rPr lang="en-US" dirty="0" err="1" smtClean="0"/>
              <a:t>сказать</a:t>
            </a:r>
            <a:r>
              <a:rPr lang="en-US" dirty="0" smtClean="0"/>
              <a:t> </a:t>
            </a:r>
            <a:r>
              <a:rPr lang="en-US" dirty="0" err="1" smtClean="0"/>
              <a:t>еще</a:t>
            </a:r>
            <a:r>
              <a:rPr lang="en-US" dirty="0" smtClean="0"/>
              <a:t> </a:t>
            </a:r>
            <a:r>
              <a:rPr lang="en-US" dirty="0" err="1" smtClean="0"/>
              <a:t>об</a:t>
            </a:r>
            <a:r>
              <a:rPr lang="en-US" dirty="0" smtClean="0"/>
              <a:t> </a:t>
            </a:r>
            <a:r>
              <a:rPr lang="en-US" dirty="0" err="1" smtClean="0"/>
              <a:t>одной</a:t>
            </a:r>
            <a:r>
              <a:rPr lang="en-US" dirty="0" smtClean="0"/>
              <a:t> </a:t>
            </a:r>
            <a:r>
              <a:rPr lang="en-US" dirty="0" err="1" smtClean="0"/>
              <a:t>его</a:t>
            </a:r>
            <a:r>
              <a:rPr lang="en-US" dirty="0" smtClean="0"/>
              <a:t> </a:t>
            </a:r>
            <a:r>
              <a:rPr lang="en-US" dirty="0" err="1" smtClean="0"/>
              <a:t>важной</a:t>
            </a:r>
            <a:r>
              <a:rPr lang="en-US" dirty="0" smtClean="0"/>
              <a:t> </a:t>
            </a:r>
            <a:r>
              <a:rPr lang="en-US" dirty="0" err="1" smtClean="0"/>
              <a:t>особенности</a:t>
            </a:r>
            <a:r>
              <a:rPr lang="en-US" dirty="0" smtClean="0"/>
              <a:t> – в </a:t>
            </a:r>
            <a:r>
              <a:rPr lang="en-US" dirty="0" err="1" smtClean="0"/>
              <a:t>отличие</a:t>
            </a:r>
            <a:r>
              <a:rPr lang="en-US" dirty="0" smtClean="0"/>
              <a:t> </a:t>
            </a:r>
            <a:r>
              <a:rPr lang="en-US" dirty="0" err="1" smtClean="0"/>
              <a:t>от</a:t>
            </a:r>
            <a:r>
              <a:rPr lang="en-US" dirty="0" smtClean="0"/>
              <a:t> SmallTalk-80 </a:t>
            </a:r>
            <a:r>
              <a:rPr lang="en-US" dirty="0" err="1" smtClean="0"/>
              <a:t>где</a:t>
            </a:r>
            <a:r>
              <a:rPr lang="en-US" dirty="0" smtClean="0"/>
              <a:t> и </a:t>
            </a:r>
            <a:r>
              <a:rPr lang="en-US" dirty="0" err="1" smtClean="0"/>
              <a:t>скроллбар</a:t>
            </a:r>
            <a:r>
              <a:rPr lang="en-US" dirty="0" smtClean="0"/>
              <a:t> и pop-up </a:t>
            </a:r>
            <a:r>
              <a:rPr lang="en-US" dirty="0" err="1" smtClean="0"/>
              <a:t>меню</a:t>
            </a:r>
            <a:r>
              <a:rPr lang="en-US" dirty="0" smtClean="0"/>
              <a:t> </a:t>
            </a:r>
            <a:r>
              <a:rPr lang="en-US" dirty="0" err="1" smtClean="0"/>
              <a:t>были</a:t>
            </a:r>
            <a:r>
              <a:rPr lang="en-US" dirty="0" smtClean="0"/>
              <a:t> </a:t>
            </a:r>
            <a:r>
              <a:rPr lang="en-US" dirty="0" err="1" smtClean="0"/>
              <a:t>реализованы</a:t>
            </a:r>
            <a:r>
              <a:rPr lang="en-US" dirty="0" smtClean="0"/>
              <a:t> в </a:t>
            </a:r>
            <a:r>
              <a:rPr lang="en-US" dirty="0" err="1" smtClean="0"/>
              <a:t>виде</a:t>
            </a:r>
            <a:r>
              <a:rPr lang="en-US" dirty="0" smtClean="0"/>
              <a:t> </a:t>
            </a:r>
            <a:r>
              <a:rPr lang="en-US" dirty="0" err="1" smtClean="0"/>
              <a:t>полноценного</a:t>
            </a:r>
            <a:r>
              <a:rPr lang="en-US" dirty="0" smtClean="0"/>
              <a:t> MVC (с </a:t>
            </a:r>
            <a:r>
              <a:rPr lang="en-US" dirty="0" err="1" smtClean="0"/>
              <a:t>внутренней</a:t>
            </a:r>
            <a:r>
              <a:rPr lang="en-US" dirty="0" smtClean="0"/>
              <a:t> </a:t>
            </a:r>
            <a:r>
              <a:rPr lang="en-US" dirty="0" err="1" smtClean="0"/>
              <a:t>моделью</a:t>
            </a:r>
            <a:r>
              <a:rPr lang="en-US" dirty="0" smtClean="0"/>
              <a:t>, </a:t>
            </a:r>
            <a:r>
              <a:rPr lang="en-US" dirty="0" err="1" smtClean="0"/>
              <a:t>внутренним</a:t>
            </a:r>
            <a:r>
              <a:rPr lang="en-US" dirty="0" smtClean="0"/>
              <a:t> </a:t>
            </a:r>
            <a:r>
              <a:rPr lang="en-US" dirty="0" err="1" smtClean="0"/>
              <a:t>низкоуровневым</a:t>
            </a:r>
            <a:r>
              <a:rPr lang="en-US" dirty="0" smtClean="0"/>
              <a:t> </a:t>
            </a:r>
            <a:r>
              <a:rPr lang="en-US" dirty="0" err="1" smtClean="0"/>
              <a:t>контроллером</a:t>
            </a:r>
            <a:r>
              <a:rPr lang="en-US" dirty="0" smtClean="0"/>
              <a:t> и </a:t>
            </a:r>
            <a:r>
              <a:rPr lang="en-US" dirty="0" err="1" smtClean="0"/>
              <a:t>видом</a:t>
            </a:r>
            <a:r>
              <a:rPr lang="en-US" dirty="0" smtClean="0"/>
              <a:t>) Swing в </a:t>
            </a:r>
            <a:r>
              <a:rPr lang="en-US" dirty="0" err="1" smtClean="0"/>
              <a:t>реализации</a:t>
            </a:r>
            <a:r>
              <a:rPr lang="en-US" dirty="0" smtClean="0"/>
              <a:t> </a:t>
            </a:r>
            <a:r>
              <a:rPr lang="en-US" dirty="0" err="1" smtClean="0"/>
              <a:t>базовых</a:t>
            </a:r>
            <a:r>
              <a:rPr lang="en-US" dirty="0" smtClean="0"/>
              <a:t> </a:t>
            </a:r>
            <a:r>
              <a:rPr lang="en-US" dirty="0" err="1" smtClean="0"/>
              <a:t>gui</a:t>
            </a:r>
            <a:r>
              <a:rPr lang="en-US" dirty="0" smtClean="0"/>
              <a:t> </a:t>
            </a:r>
            <a:r>
              <a:rPr lang="en-US" dirty="0" err="1" smtClean="0"/>
              <a:t>компонент</a:t>
            </a:r>
            <a:r>
              <a:rPr lang="en-US" dirty="0" smtClean="0"/>
              <a:t> </a:t>
            </a:r>
            <a:r>
              <a:rPr lang="en-US" dirty="0" err="1" smtClean="0"/>
              <a:t>использует</a:t>
            </a:r>
            <a:r>
              <a:rPr lang="en-US" dirty="0" smtClean="0"/>
              <a:t> «</a:t>
            </a:r>
            <a:r>
              <a:rPr lang="en-US" dirty="0" err="1" smtClean="0"/>
              <a:t>упрощенный</a:t>
            </a:r>
            <a:r>
              <a:rPr lang="en-US" dirty="0" smtClean="0"/>
              <a:t> MVC», в </a:t>
            </a:r>
            <a:r>
              <a:rPr lang="en-US" dirty="0" err="1" smtClean="0"/>
              <a:t>котором</a:t>
            </a:r>
            <a:r>
              <a:rPr lang="en-US" dirty="0" smtClean="0"/>
              <a:t> </a:t>
            </a:r>
            <a:r>
              <a:rPr lang="en-US" dirty="0" err="1" smtClean="0"/>
              <a:t>Вид</a:t>
            </a:r>
            <a:r>
              <a:rPr lang="en-US" dirty="0" smtClean="0"/>
              <a:t> и </a:t>
            </a:r>
            <a:r>
              <a:rPr lang="en-US" dirty="0" err="1" smtClean="0"/>
              <a:t>Контроллер</a:t>
            </a:r>
            <a:r>
              <a:rPr lang="en-US" dirty="0" smtClean="0"/>
              <a:t> </a:t>
            </a:r>
            <a:r>
              <a:rPr lang="en-US" dirty="0" err="1" smtClean="0"/>
              <a:t>объединены</a:t>
            </a:r>
            <a:r>
              <a:rPr lang="en-US" dirty="0" smtClean="0"/>
              <a:t> в </a:t>
            </a:r>
            <a:r>
              <a:rPr lang="en-US" dirty="0" err="1" smtClean="0"/>
              <a:t>единый</a:t>
            </a:r>
            <a:r>
              <a:rPr lang="en-US" dirty="0" smtClean="0"/>
              <a:t> </a:t>
            </a:r>
            <a:r>
              <a:rPr lang="en-US" dirty="0" err="1" smtClean="0"/>
              <a:t>компонент</a:t>
            </a:r>
            <a:r>
              <a:rPr lang="en-US" dirty="0" smtClean="0"/>
              <a:t>, </a:t>
            </a:r>
            <a:r>
              <a:rPr lang="en-US" dirty="0" err="1" smtClean="0"/>
              <a:t>который</a:t>
            </a:r>
            <a:r>
              <a:rPr lang="en-US" dirty="0" smtClean="0"/>
              <a:t> </a:t>
            </a:r>
            <a:r>
              <a:rPr lang="en-US" dirty="0" err="1" smtClean="0"/>
              <a:t>одновременно</a:t>
            </a:r>
            <a:r>
              <a:rPr lang="en-US" dirty="0" smtClean="0"/>
              <a:t> </a:t>
            </a:r>
            <a:r>
              <a:rPr lang="en-US" dirty="0" err="1" smtClean="0"/>
              <a:t>отображает</a:t>
            </a:r>
            <a:r>
              <a:rPr lang="en-US" dirty="0" smtClean="0"/>
              <a:t> </a:t>
            </a:r>
            <a:r>
              <a:rPr lang="en-US" dirty="0" err="1" smtClean="0"/>
              <a:t>данные</a:t>
            </a:r>
            <a:r>
              <a:rPr lang="en-US" dirty="0" smtClean="0"/>
              <a:t> и </a:t>
            </a:r>
            <a:r>
              <a:rPr lang="en-US" dirty="0" err="1" smtClean="0"/>
              <a:t>обрабатывает</a:t>
            </a:r>
            <a:r>
              <a:rPr lang="en-US" dirty="0" smtClean="0"/>
              <a:t> </a:t>
            </a:r>
            <a:r>
              <a:rPr lang="en-US" dirty="0" err="1" smtClean="0"/>
              <a:t>действия</a:t>
            </a:r>
            <a:r>
              <a:rPr lang="en-US" dirty="0" smtClean="0"/>
              <a:t> </a:t>
            </a:r>
            <a:r>
              <a:rPr lang="en-US" dirty="0" err="1" smtClean="0"/>
              <a:t>пользователя</a:t>
            </a:r>
            <a:r>
              <a:rPr lang="en-US" dirty="0" smtClean="0"/>
              <a:t>. </a:t>
            </a:r>
            <a:r>
              <a:rPr lang="en-US" dirty="0" err="1" smtClean="0"/>
              <a:t>Обычно</a:t>
            </a:r>
            <a:r>
              <a:rPr lang="en-US" dirty="0" smtClean="0"/>
              <a:t> </a:t>
            </a:r>
            <a:r>
              <a:rPr lang="en-US" dirty="0" err="1" smtClean="0"/>
              <a:t>он</a:t>
            </a:r>
            <a:r>
              <a:rPr lang="en-US" dirty="0" smtClean="0"/>
              <a:t> </a:t>
            </a:r>
            <a:r>
              <a:rPr lang="en-US" dirty="0" err="1" smtClean="0"/>
              <a:t>так</a:t>
            </a:r>
            <a:r>
              <a:rPr lang="en-US" dirty="0" smtClean="0"/>
              <a:t> и </a:t>
            </a:r>
            <a:r>
              <a:rPr lang="en-US" dirty="0" err="1" smtClean="0"/>
              <a:t>называется</a:t>
            </a:r>
            <a:r>
              <a:rPr lang="en-US" dirty="0" smtClean="0"/>
              <a:t>: </a:t>
            </a:r>
            <a:r>
              <a:rPr lang="en-US" dirty="0" err="1" smtClean="0"/>
              <a:t>объединенный</a:t>
            </a:r>
            <a:r>
              <a:rPr lang="en-US" dirty="0" smtClean="0"/>
              <a:t> </a:t>
            </a:r>
            <a:r>
              <a:rPr lang="en-US" b="1" i="1" dirty="0" err="1" smtClean="0"/>
              <a:t>ViewController</a:t>
            </a:r>
            <a:r>
              <a:rPr lang="en-US" dirty="0" smtClean="0"/>
              <a:t> </a:t>
            </a:r>
            <a:r>
              <a:rPr lang="en-US" dirty="0" err="1" smtClean="0"/>
              <a:t>или</a:t>
            </a:r>
            <a:r>
              <a:rPr lang="en-US" dirty="0" smtClean="0"/>
              <a:t> </a:t>
            </a:r>
            <a:r>
              <a:rPr lang="en-US" b="1" i="1" dirty="0" smtClean="0"/>
              <a:t>UI-object</a:t>
            </a:r>
            <a:r>
              <a:rPr lang="en-US" dirty="0" smtClean="0"/>
              <a:t>, </a:t>
            </a:r>
            <a:r>
              <a:rPr lang="en-US" b="1" i="1" dirty="0" smtClean="0"/>
              <a:t>IU-delegate</a:t>
            </a:r>
            <a:r>
              <a:rPr lang="en-US" dirty="0" smtClean="0"/>
              <a:t>. </a:t>
            </a:r>
            <a:r>
              <a:rPr lang="en-US" dirty="0" err="1" smtClean="0"/>
              <a:t>Вот</a:t>
            </a:r>
            <a:r>
              <a:rPr lang="en-US" dirty="0" smtClean="0"/>
              <a:t> </a:t>
            </a:r>
            <a:r>
              <a:rPr lang="en-US" dirty="0" err="1" smtClean="0"/>
              <a:t>еще</a:t>
            </a:r>
            <a:r>
              <a:rPr lang="en-US" dirty="0" smtClean="0"/>
              <a:t> </a:t>
            </a:r>
            <a:r>
              <a:rPr lang="en-US" dirty="0" err="1" smtClean="0"/>
              <a:t>одна</a:t>
            </a:r>
            <a:r>
              <a:rPr lang="en-US" dirty="0" smtClean="0"/>
              <a:t> </a:t>
            </a:r>
            <a:r>
              <a:rPr lang="en-US" dirty="0" err="1" smtClean="0"/>
              <a:t>статья</a:t>
            </a:r>
            <a:r>
              <a:rPr lang="en-US" dirty="0" smtClean="0"/>
              <a:t>, </a:t>
            </a:r>
            <a:r>
              <a:rPr lang="en-US" dirty="0" err="1" smtClean="0"/>
              <a:t>где</a:t>
            </a:r>
            <a:r>
              <a:rPr lang="en-US" dirty="0" smtClean="0"/>
              <a:t> </a:t>
            </a:r>
            <a:r>
              <a:rPr lang="en-US" dirty="0" err="1" smtClean="0"/>
              <a:t>это</a:t>
            </a:r>
            <a:r>
              <a:rPr lang="en-US" dirty="0" smtClean="0"/>
              <a:t> </a:t>
            </a:r>
            <a:r>
              <a:rPr lang="en-US" dirty="0" err="1" smtClean="0"/>
              <a:t>подробно</a:t>
            </a:r>
            <a:r>
              <a:rPr lang="en-US" dirty="0" smtClean="0"/>
              <a:t> </a:t>
            </a:r>
            <a:r>
              <a:rPr lang="en-US" dirty="0" err="1" smtClean="0"/>
              <a:t>описывается</a:t>
            </a:r>
            <a:r>
              <a:rPr lang="en-US" dirty="0" smtClean="0"/>
              <a:t>: </a:t>
            </a:r>
            <a:r>
              <a:rPr lang="en-US" u="sng" dirty="0" smtClean="0">
                <a:hlinkClick r:id="rId2"/>
              </a:rPr>
              <a:t>MVC meets Swing</a:t>
            </a:r>
            <a:r>
              <a:rPr lang="en-US" dirty="0" smtClean="0"/>
              <a:t>.</a:t>
            </a:r>
            <a:endParaRPr lang="ru-RU" dirty="0"/>
          </a:p>
        </p:txBody>
      </p:sp>
      <p:pic>
        <p:nvPicPr>
          <p:cNvPr id="6" name="Рисунок 5" descr="MVC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7584" y="4293096"/>
            <a:ext cx="2826385" cy="22942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Ш</a:t>
            </a:r>
            <a:r>
              <a:rPr lang="en-US" dirty="0" err="1" smtClean="0"/>
              <a:t>аблон</a:t>
            </a:r>
            <a:r>
              <a:rPr lang="en-US" dirty="0" smtClean="0"/>
              <a:t> </a:t>
            </a:r>
            <a:r>
              <a:rPr lang="en-US" b="1" i="1" dirty="0" smtClean="0"/>
              <a:t>Composite</a:t>
            </a:r>
            <a:r>
              <a:rPr lang="en-US" dirty="0" smtClean="0"/>
              <a:t> </a:t>
            </a:r>
            <a:endParaRPr lang="ru-RU" b="1" cap="small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764904"/>
          </a:xfrm>
        </p:spPr>
        <p:txBody>
          <a:bodyPr>
            <a:normAutofit fontScale="70000" lnSpcReduction="20000"/>
          </a:bodyPr>
          <a:lstStyle/>
          <a:p>
            <a:r>
              <a:rPr lang="ru-RU" dirty="0" smtClean="0"/>
              <a:t>Следствием шаблона </a:t>
            </a:r>
            <a:r>
              <a:rPr lang="ru-RU" b="1" i="1" dirty="0" err="1" smtClean="0"/>
              <a:t>Composite</a:t>
            </a:r>
            <a:r>
              <a:rPr lang="ru-RU" dirty="0" smtClean="0"/>
              <a:t> и того, что каждый gui-компонент может быть реализован в виде небольшого MVC, является некая </a:t>
            </a:r>
            <a:r>
              <a:rPr lang="ru-RU" b="1" dirty="0" smtClean="0"/>
              <a:t>иерархичность</a:t>
            </a:r>
            <a:r>
              <a:rPr lang="ru-RU" dirty="0" smtClean="0"/>
              <a:t> или </a:t>
            </a:r>
            <a:r>
              <a:rPr lang="ru-RU" b="1" dirty="0" smtClean="0"/>
              <a:t>рекурсивность</a:t>
            </a:r>
            <a:r>
              <a:rPr lang="ru-RU" dirty="0" smtClean="0"/>
              <a:t> MVC. Из-за того что об этом редко пишут, аналоги этой идеи тоже </a:t>
            </a:r>
            <a:r>
              <a:rPr lang="ru-RU" dirty="0" err="1" smtClean="0"/>
              <a:t>пере-открываются</a:t>
            </a:r>
            <a:r>
              <a:rPr lang="ru-RU" dirty="0" smtClean="0"/>
              <a:t>. Вот известная статья на эту тему – </a:t>
            </a:r>
            <a:r>
              <a:rPr lang="ru-RU" u="sng" dirty="0" err="1" smtClean="0">
                <a:hlinkClick r:id="rId2"/>
              </a:rPr>
              <a:t>Hierarchical</a:t>
            </a:r>
            <a:r>
              <a:rPr lang="ru-RU" u="sng" dirty="0" smtClean="0">
                <a:hlinkClick r:id="rId2"/>
              </a:rPr>
              <a:t> </a:t>
            </a:r>
            <a:r>
              <a:rPr lang="ru-RU" u="sng" dirty="0" err="1" smtClean="0">
                <a:hlinkClick r:id="rId2"/>
              </a:rPr>
              <a:t>model</a:t>
            </a:r>
            <a:r>
              <a:rPr lang="ru-RU" u="sng" dirty="0" smtClean="0">
                <a:hlinkClick r:id="rId2"/>
              </a:rPr>
              <a:t>–</a:t>
            </a:r>
            <a:r>
              <a:rPr lang="ru-RU" u="sng" dirty="0" err="1" smtClean="0">
                <a:hlinkClick r:id="rId2"/>
              </a:rPr>
              <a:t>view</a:t>
            </a:r>
            <a:r>
              <a:rPr lang="ru-RU" u="sng" dirty="0" smtClean="0">
                <a:hlinkClick r:id="rId2"/>
              </a:rPr>
              <a:t>–</a:t>
            </a:r>
            <a:r>
              <a:rPr lang="ru-RU" u="sng" dirty="0" err="1" smtClean="0">
                <a:hlinkClick r:id="rId2"/>
              </a:rPr>
              <a:t>controller</a:t>
            </a:r>
            <a:r>
              <a:rPr lang="ru-RU" dirty="0" smtClean="0"/>
              <a:t> и интересная дискуссия – </a:t>
            </a:r>
            <a:r>
              <a:rPr lang="ru-RU" u="sng" dirty="0" err="1" smtClean="0">
                <a:hlinkClick r:id="rId3"/>
              </a:rPr>
              <a:t>Recursive</a:t>
            </a:r>
            <a:r>
              <a:rPr lang="ru-RU" u="sng" dirty="0" smtClean="0">
                <a:hlinkClick r:id="rId3"/>
              </a:rPr>
              <a:t> </a:t>
            </a:r>
            <a:r>
              <a:rPr lang="ru-RU" u="sng" dirty="0" err="1" smtClean="0">
                <a:hlinkClick r:id="rId3"/>
              </a:rPr>
              <a:t>Model</a:t>
            </a:r>
            <a:r>
              <a:rPr lang="ru-RU" u="sng" dirty="0" smtClean="0">
                <a:hlinkClick r:id="rId3"/>
              </a:rPr>
              <a:t> </a:t>
            </a:r>
            <a:r>
              <a:rPr lang="ru-RU" u="sng" dirty="0" err="1" smtClean="0">
                <a:hlinkClick r:id="rId3"/>
              </a:rPr>
              <a:t>View</a:t>
            </a:r>
            <a:r>
              <a:rPr lang="ru-RU" u="sng" dirty="0" smtClean="0">
                <a:hlinkClick r:id="rId3"/>
              </a:rPr>
              <a:t> </a:t>
            </a:r>
            <a:r>
              <a:rPr lang="ru-RU" u="sng" dirty="0" err="1" smtClean="0">
                <a:hlinkClick r:id="rId3"/>
              </a:rPr>
              <a:t>Controller</a:t>
            </a:r>
            <a:r>
              <a:rPr lang="ru-RU" dirty="0" smtClean="0"/>
              <a:t>. А вот картинка из статьи:</a:t>
            </a:r>
            <a:endParaRPr lang="ru-RU" dirty="0"/>
          </a:p>
        </p:txBody>
      </p:sp>
      <p:pic>
        <p:nvPicPr>
          <p:cNvPr id="5" name="Рисунок 4" descr="Hierarchical model–view–controller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195736" y="3645024"/>
            <a:ext cx="4968552" cy="32129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M</a:t>
            </a:r>
            <a:r>
              <a:rPr lang="ru-RU" b="1" dirty="0" smtClean="0"/>
              <a:t> в </a:t>
            </a:r>
            <a:r>
              <a:rPr lang="en-US" b="1" dirty="0" smtClean="0"/>
              <a:t>MVC</a:t>
            </a:r>
            <a:r>
              <a:rPr lang="ru-RU" b="1" dirty="0" smtClean="0"/>
              <a:t>: почему модели </a:t>
            </a:r>
            <a:r>
              <a:rPr lang="ru-RU" b="1" dirty="0" err="1" smtClean="0"/>
              <a:t>непоняты</a:t>
            </a:r>
            <a:r>
              <a:rPr lang="ru-RU" b="1" dirty="0" smtClean="0"/>
              <a:t> и недооценены</a:t>
            </a:r>
            <a:r>
              <a:rPr lang="en-US" dirty="0" smtClean="0"/>
              <a:t> </a:t>
            </a:r>
            <a:endParaRPr lang="ru-RU" b="1" cap="small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 fontScale="62500" lnSpcReduction="20000"/>
          </a:bodyPr>
          <a:lstStyle/>
          <a:p>
            <a:r>
              <a:rPr lang="ru-RU" dirty="0" smtClean="0"/>
              <a:t>1. Модель отвечает за сохранения состояния между </a:t>
            </a:r>
            <a:r>
              <a:rPr lang="en-US" dirty="0" smtClean="0"/>
              <a:t>HTTP</a:t>
            </a:r>
            <a:r>
              <a:rPr lang="ru-RU" dirty="0" smtClean="0"/>
              <a:t>-запросами</a:t>
            </a:r>
            <a:br>
              <a:rPr lang="ru-RU" dirty="0" smtClean="0"/>
            </a:b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По сути дела любые данные — в базе данных, файле, сохраненные в сессии или </a:t>
            </a:r>
            <a:r>
              <a:rPr lang="ru-RU" dirty="0" err="1" smtClean="0"/>
              <a:t>закешированные</a:t>
            </a:r>
            <a:r>
              <a:rPr lang="ru-RU" dirty="0" smtClean="0"/>
              <a:t> внутри </a:t>
            </a:r>
            <a:r>
              <a:rPr lang="en-US" dirty="0" smtClean="0"/>
              <a:t>APC</a:t>
            </a:r>
            <a:r>
              <a:rPr lang="ru-RU" dirty="0" smtClean="0"/>
              <a:t>, должны быть сохранены между запросами в виде состояния приложения на момент последнего </a:t>
            </a:r>
            <a:r>
              <a:rPr lang="ru-RU" dirty="0" smtClean="0"/>
              <a:t>запроса. Модель </a:t>
            </a:r>
            <a:r>
              <a:rPr lang="ru-RU" dirty="0" smtClean="0"/>
              <a:t>не ограничивается базой данных. Даже получаемые из </a:t>
            </a:r>
            <a:r>
              <a:rPr lang="ru-RU" dirty="0" err="1" smtClean="0"/>
              <a:t>веб-сервисов</a:t>
            </a:r>
            <a:r>
              <a:rPr lang="ru-RU" dirty="0" smtClean="0"/>
              <a:t> данные могут быть представлены в виде модели! </a:t>
            </a:r>
            <a:r>
              <a:rPr lang="ru-RU" dirty="0" smtClean="0"/>
              <a:t>Стремящиеся </a:t>
            </a:r>
            <a:r>
              <a:rPr lang="ru-RU" dirty="0" smtClean="0"/>
              <a:t>побыстрее познакомить с моделью </a:t>
            </a:r>
            <a:r>
              <a:rPr lang="ru-RU" dirty="0" err="1" smtClean="0"/>
              <a:t>фреймворки</a:t>
            </a:r>
            <a:r>
              <a:rPr lang="ru-RU" dirty="0" smtClean="0"/>
              <a:t> этого никогда не объясняют, усиливая непонимание.</a:t>
            </a:r>
            <a:br>
              <a:rPr lang="ru-RU" dirty="0" smtClean="0"/>
            </a:b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Возьмем в качестве примера разрабатываемый </a:t>
            </a:r>
            <a:r>
              <a:rPr lang="ru-RU" dirty="0" smtClean="0"/>
              <a:t>компонент </a:t>
            </a:r>
            <a:r>
              <a:rPr lang="ru-RU" dirty="0" smtClean="0"/>
              <a:t>под названием </a:t>
            </a:r>
            <a:r>
              <a:rPr lang="en-US" dirty="0" err="1" smtClean="0"/>
              <a:t>Zend</a:t>
            </a:r>
            <a:r>
              <a:rPr lang="ru-RU" dirty="0" smtClean="0"/>
              <a:t>_</a:t>
            </a:r>
            <a:r>
              <a:rPr lang="en-US" dirty="0" smtClean="0"/>
              <a:t>Feed</a:t>
            </a:r>
            <a:r>
              <a:rPr lang="ru-RU" dirty="0" smtClean="0"/>
              <a:t>_</a:t>
            </a:r>
            <a:r>
              <a:rPr lang="en-US" dirty="0" smtClean="0"/>
              <a:t>Reader</a:t>
            </a:r>
            <a:r>
              <a:rPr lang="ru-RU" dirty="0" smtClean="0"/>
              <a:t>, который на самом деле является моделью. Он читает ленты новостей, обрабатывает их, интерпретирует данные, добавляет ограничения, правила и по большому счету создает удобное представление нижележащих данных. Без него мы имеем </a:t>
            </a:r>
            <a:r>
              <a:rPr lang="en-US" dirty="0" err="1" smtClean="0"/>
              <a:t>Zend</a:t>
            </a:r>
            <a:r>
              <a:rPr lang="ru-RU" dirty="0" smtClean="0"/>
              <a:t>_</a:t>
            </a:r>
            <a:r>
              <a:rPr lang="en-US" dirty="0" smtClean="0"/>
              <a:t>Feed</a:t>
            </a:r>
            <a:r>
              <a:rPr lang="ru-RU" dirty="0" smtClean="0"/>
              <a:t> (лучшее средство для чтения новостных лент на данный момент), который требует большого количества работы для получения полноценной модели. Другими словами, </a:t>
            </a:r>
            <a:r>
              <a:rPr lang="en-US" dirty="0" err="1" smtClean="0"/>
              <a:t>Zend</a:t>
            </a:r>
            <a:r>
              <a:rPr lang="ru-RU" dirty="0" smtClean="0"/>
              <a:t>_</a:t>
            </a:r>
            <a:r>
              <a:rPr lang="en-US" dirty="0" smtClean="0"/>
              <a:t>Feed</a:t>
            </a:r>
            <a:r>
              <a:rPr lang="ru-RU" dirty="0" smtClean="0"/>
              <a:t>_</a:t>
            </a:r>
            <a:r>
              <a:rPr lang="en-US" dirty="0" smtClean="0"/>
              <a:t>Reader</a:t>
            </a:r>
            <a:r>
              <a:rPr lang="ru-RU" dirty="0" smtClean="0"/>
              <a:t> является моделью, в то время как </a:t>
            </a:r>
            <a:r>
              <a:rPr lang="en-US" dirty="0" err="1" smtClean="0"/>
              <a:t>Zend</a:t>
            </a:r>
            <a:r>
              <a:rPr lang="ru-RU" dirty="0" smtClean="0"/>
              <a:t>_</a:t>
            </a:r>
            <a:r>
              <a:rPr lang="en-US" dirty="0" smtClean="0"/>
              <a:t>Feed</a:t>
            </a:r>
            <a:r>
              <a:rPr lang="ru-RU" dirty="0" smtClean="0"/>
              <a:t> ограничивается доступом к данным.</a:t>
            </a:r>
            <a:endParaRPr lang="ru-RU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M</a:t>
            </a:r>
            <a:r>
              <a:rPr lang="ru-RU" b="1" dirty="0" smtClean="0"/>
              <a:t> в </a:t>
            </a:r>
            <a:r>
              <a:rPr lang="en-US" b="1" dirty="0" smtClean="0"/>
              <a:t>MVC</a:t>
            </a:r>
            <a:r>
              <a:rPr lang="ru-RU" b="1" dirty="0" smtClean="0"/>
              <a:t>: почему модели </a:t>
            </a:r>
            <a:r>
              <a:rPr lang="ru-RU" b="1" dirty="0" err="1" smtClean="0"/>
              <a:t>непоняты</a:t>
            </a:r>
            <a:r>
              <a:rPr lang="ru-RU" b="1" dirty="0" smtClean="0"/>
              <a:t> и недооценены</a:t>
            </a:r>
            <a:r>
              <a:rPr lang="en-US" dirty="0" smtClean="0"/>
              <a:t> </a:t>
            </a:r>
            <a:endParaRPr lang="ru-RU" b="1" cap="small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 fontScale="62500" lnSpcReduction="20000"/>
          </a:bodyPr>
          <a:lstStyle/>
          <a:p>
            <a:r>
              <a:rPr lang="ru-RU" dirty="0" smtClean="0"/>
              <a:t>2. Модель включает в себя все правила и ограничения, управляет поведением и использованием данной информации.</a:t>
            </a:r>
            <a:br>
              <a:rPr lang="ru-RU" dirty="0" smtClean="0"/>
            </a:b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Для примера, вы пишете бизнес-логику для модели заказа в снабженческом приложении и по внутренним правилам компании на покупки за наличные может быть наложено ограничение в 500 евро. Покупки на сумму более 500 евро должны быть запрещены в вашей модели заказа (для них может требоваться одобрение вышестоящего начальства). У модели должны быть средства для установки подобных ограничений.</a:t>
            </a:r>
            <a:br>
              <a:rPr lang="ru-RU" dirty="0" smtClean="0"/>
            </a:b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Все станет предельно ясно, как только вы задумаетесь над смыслом слова «модель». В климатологии есть модели климата, описывающие данные, процессы, предполагаемое поведение и позволяющие рассчитать возможные результаты. М в </a:t>
            </a:r>
            <a:r>
              <a:rPr lang="en-US" dirty="0" smtClean="0"/>
              <a:t>MVC</a:t>
            </a:r>
            <a:r>
              <a:rPr lang="ru-RU" dirty="0" smtClean="0"/>
              <a:t> называется моделью не просто так. Модель представляет не только данные, она представляет всю систему, в которой полезны эти данные. Само собой система может быть настолько сложной, что ей понадобится несколько взаимодействующих моделей, но вы поняли идею.</a:t>
            </a:r>
            <a:endParaRPr lang="ru-RU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Толстые, тупые, уродливые контроллеры: смиритесь</a:t>
            </a:r>
            <a:r>
              <a:rPr lang="en-US" dirty="0" smtClean="0"/>
              <a:t> </a:t>
            </a:r>
            <a:r>
              <a:rPr lang="ru-RU" dirty="0" smtClean="0"/>
              <a:t>(</a:t>
            </a:r>
            <a:r>
              <a:rPr lang="en-US" dirty="0" smtClean="0"/>
              <a:t>Fat Stupid Ugly Controllers</a:t>
            </a:r>
            <a:r>
              <a:rPr lang="ru-RU" dirty="0" smtClean="0"/>
              <a:t>: </a:t>
            </a:r>
            <a:r>
              <a:rPr lang="en-US" dirty="0" smtClean="0"/>
              <a:t>SUC It Up</a:t>
            </a:r>
            <a:r>
              <a:rPr lang="ru-RU" dirty="0" smtClean="0"/>
              <a:t>)</a:t>
            </a:r>
            <a:r>
              <a:rPr lang="en-US" dirty="0" smtClean="0"/>
              <a:t> </a:t>
            </a:r>
            <a:endParaRPr lang="ru-RU" b="1" cap="small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844824"/>
            <a:ext cx="8229600" cy="5013176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ru-RU" dirty="0" smtClean="0"/>
              <a:t>Так как разработчики почти ничего не знали о моделях, они изобрели новое понятие: толстые тупые уродливые контроллеры (ТТУК). Столь яркое определение я придумал не просто так, оно кажется очень забавным в 10 вечера, после нескольких кружек пива. И все равно вежливее того, что я о них на самом деле думаю. (</a:t>
            </a:r>
            <a:r>
              <a:rPr lang="en-US" dirty="0" smtClean="0"/>
              <a:t>Fat Stupid Ugly Controllers</a:t>
            </a:r>
            <a:r>
              <a:rPr lang="ru-RU" dirty="0" smtClean="0"/>
              <a:t> — </a:t>
            </a:r>
            <a:r>
              <a:rPr lang="en-US" dirty="0" smtClean="0"/>
              <a:t>FSUC</a:t>
            </a:r>
            <a:r>
              <a:rPr lang="ru-RU" dirty="0" smtClean="0"/>
              <a:t> — </a:t>
            </a:r>
            <a:r>
              <a:rPr lang="en-US" dirty="0" smtClean="0"/>
              <a:t>FUC</a:t>
            </a:r>
            <a:r>
              <a:rPr lang="ru-RU" dirty="0" smtClean="0"/>
              <a:t>). Их изобрели потому, что модели были непривычными, чуждыми и похожими на террористов сущностями, которым никто не решался доверить хоть что-то выходящее за пределы доступа к данным</a:t>
            </a:r>
            <a:endParaRPr lang="ru-RU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Толстые, тупые, уродливые контроллеры: смиритесь</a:t>
            </a:r>
            <a:r>
              <a:rPr lang="en-US" dirty="0" smtClean="0"/>
              <a:t> </a:t>
            </a:r>
            <a:r>
              <a:rPr lang="ru-RU" dirty="0" smtClean="0"/>
              <a:t>(</a:t>
            </a:r>
            <a:r>
              <a:rPr lang="en-US" dirty="0" smtClean="0"/>
              <a:t>Fat Stupid Ugly Controllers</a:t>
            </a:r>
            <a:r>
              <a:rPr lang="ru-RU" dirty="0" smtClean="0"/>
              <a:t>: </a:t>
            </a:r>
            <a:r>
              <a:rPr lang="en-US" dirty="0" smtClean="0"/>
              <a:t>SUC It Up</a:t>
            </a:r>
            <a:r>
              <a:rPr lang="ru-RU" dirty="0" smtClean="0"/>
              <a:t>)</a:t>
            </a:r>
            <a:r>
              <a:rPr lang="en-US" dirty="0" smtClean="0"/>
              <a:t> </a:t>
            </a:r>
            <a:endParaRPr lang="ru-RU" b="1" cap="small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844824"/>
            <a:ext cx="8229600" cy="5013176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ru-RU" dirty="0" smtClean="0"/>
              <a:t>Типичный ТТУК читает данные с базы (используя уровень абстракции данных, который разработчики называют моделью), обрабатывает их, проверяет, пишет и передает в представление для вывода на экран. Он невероятно популярен. Я бы сказал, что большинство пользователей </a:t>
            </a:r>
            <a:r>
              <a:rPr lang="ru-RU" dirty="0" err="1" smtClean="0"/>
              <a:t>фреймворков</a:t>
            </a:r>
            <a:r>
              <a:rPr lang="ru-RU" dirty="0" smtClean="0"/>
              <a:t> создают их так же естественно, как раньше создавали контроллеры страницы (</a:t>
            </a:r>
            <a:r>
              <a:rPr lang="en-US" dirty="0" smtClean="0"/>
              <a:t>Page Controllers</a:t>
            </a:r>
            <a:r>
              <a:rPr lang="ru-RU" dirty="0" smtClean="0"/>
              <a:t>). Они популярны, потому что разработчики осознали, что они могут обращаться с контроллерами почти так же, как с контроллерами страницы — это практически не отличается от древней методики использования отдельных </a:t>
            </a:r>
            <a:r>
              <a:rPr lang="en-US" dirty="0" err="1" smtClean="0"/>
              <a:t>php</a:t>
            </a:r>
            <a:r>
              <a:rPr lang="ru-RU" dirty="0" smtClean="0"/>
              <a:t>-файлов для каждой «страницы» приложения.</a:t>
            </a:r>
            <a:endParaRPr lang="ru-RU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Толстые, тупые, уродливые контроллеры: смиритесь</a:t>
            </a:r>
            <a:r>
              <a:rPr lang="en-US" dirty="0" smtClean="0"/>
              <a:t> </a:t>
            </a:r>
            <a:r>
              <a:rPr lang="ru-RU" dirty="0" smtClean="0"/>
              <a:t>(</a:t>
            </a:r>
            <a:r>
              <a:rPr lang="en-US" dirty="0" smtClean="0"/>
              <a:t>Fat Stupid Ugly Controllers</a:t>
            </a:r>
            <a:r>
              <a:rPr lang="ru-RU" dirty="0" smtClean="0"/>
              <a:t>: </a:t>
            </a:r>
            <a:r>
              <a:rPr lang="en-US" dirty="0" smtClean="0"/>
              <a:t>SUC It Up</a:t>
            </a:r>
            <a:r>
              <a:rPr lang="ru-RU" dirty="0" smtClean="0"/>
              <a:t>)</a:t>
            </a:r>
            <a:r>
              <a:rPr lang="en-US" dirty="0" smtClean="0"/>
              <a:t> </a:t>
            </a:r>
            <a:endParaRPr lang="ru-RU" b="1" cap="small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844824"/>
            <a:ext cx="8229600" cy="5013176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ru-RU" dirty="0" smtClean="0"/>
              <a:t>ТТУК </a:t>
            </a:r>
            <a:r>
              <a:rPr lang="ru-RU" dirty="0" smtClean="0"/>
              <a:t>выполняет все возможные действия над данными. Почему? Потому что в отсутствие модели вся логика приложения перемещается в контроллер, что делает его своеобразной моделью-мутантом! </a:t>
            </a:r>
            <a:r>
              <a:rPr lang="ru-RU" dirty="0" smtClean="0"/>
              <a:t>Не </a:t>
            </a:r>
            <a:r>
              <a:rPr lang="ru-RU" dirty="0" smtClean="0"/>
              <a:t>просто так </a:t>
            </a:r>
            <a:r>
              <a:rPr lang="ru-RU" dirty="0" smtClean="0"/>
              <a:t>употребили </a:t>
            </a:r>
            <a:r>
              <a:rPr lang="ru-RU" dirty="0" smtClean="0"/>
              <a:t>слово «мутант». </a:t>
            </a:r>
            <a:r>
              <a:rPr lang="ru-RU" dirty="0" err="1" smtClean="0"/>
              <a:t>ТТУКи</a:t>
            </a:r>
            <a:r>
              <a:rPr lang="ru-RU" dirty="0" smtClean="0"/>
              <a:t> очень большие, громоздкие, уродливые и определенно толстые. Есть </a:t>
            </a:r>
            <a:r>
              <a:rPr lang="ru-RU" dirty="0" err="1" smtClean="0"/>
              <a:t>псевдо-программистский</a:t>
            </a:r>
            <a:r>
              <a:rPr lang="ru-RU" dirty="0" smtClean="0"/>
              <a:t> термин, очень точно описывающий происходящее — "</a:t>
            </a:r>
            <a:r>
              <a:rPr lang="ru-RU" u="sng" dirty="0" smtClean="0">
                <a:hlinkClick r:id="rId2"/>
              </a:rPr>
              <a:t>раздутые</a:t>
            </a:r>
            <a:r>
              <a:rPr lang="ru-RU" dirty="0" smtClean="0"/>
              <a:t>". Они выполняют задачи, для которых никогда не были предназначены. Это полная противоположность всем принципам </a:t>
            </a:r>
            <a:r>
              <a:rPr lang="ru-RU" dirty="0" err="1" smtClean="0"/>
              <a:t>объектно</a:t>
            </a:r>
            <a:r>
              <a:rPr lang="ru-RU" dirty="0" smtClean="0"/>
              <a:t> ориентированного программирования. И они бессмысленны! По каким-то загадочным причинам разработчики предпочитают использовать </a:t>
            </a:r>
            <a:r>
              <a:rPr lang="ru-RU" dirty="0" err="1" smtClean="0"/>
              <a:t>ТТУКи</a:t>
            </a:r>
            <a:r>
              <a:rPr lang="ru-RU" dirty="0" smtClean="0"/>
              <a:t> вместо моделей, несмотря на тот факт, что такие контроллеры на самом деле просто модели-мутанты.</a:t>
            </a:r>
            <a:endParaRPr lang="ru-RU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Архитектура в </a:t>
            </a:r>
            <a:r>
              <a:rPr lang="en-US" b="1" dirty="0" err="1" smtClean="0"/>
              <a:t>Django</a:t>
            </a:r>
            <a:r>
              <a:rPr lang="ru-RU" b="1" dirty="0" smtClean="0"/>
              <a:t> проектах</a:t>
            </a:r>
            <a:r>
              <a:rPr lang="en-US" dirty="0" smtClean="0"/>
              <a:t> </a:t>
            </a:r>
            <a:endParaRPr lang="ru-RU" b="1" cap="small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844824"/>
            <a:ext cx="8229600" cy="5013176"/>
          </a:xfrm>
        </p:spPr>
        <p:txBody>
          <a:bodyPr>
            <a:normAutofit fontScale="77500" lnSpcReduction="20000"/>
          </a:bodyPr>
          <a:lstStyle/>
          <a:p>
            <a:r>
              <a:rPr lang="en-US" dirty="0" err="1" smtClean="0"/>
              <a:t>Первое</a:t>
            </a:r>
            <a:r>
              <a:rPr lang="en-US" dirty="0" smtClean="0"/>
              <a:t>, </a:t>
            </a:r>
            <a:r>
              <a:rPr lang="en-US" dirty="0" err="1" smtClean="0"/>
              <a:t>часто</a:t>
            </a:r>
            <a:r>
              <a:rPr lang="en-US" dirty="0" smtClean="0"/>
              <a:t> </a:t>
            </a:r>
            <a:r>
              <a:rPr lang="en-US" dirty="0" err="1" smtClean="0"/>
              <a:t>под</a:t>
            </a:r>
            <a:r>
              <a:rPr lang="en-US" dirty="0" smtClean="0"/>
              <a:t> M в MVC </a:t>
            </a:r>
            <a:r>
              <a:rPr lang="en-US" dirty="0" err="1" smtClean="0"/>
              <a:t>подразумевают</a:t>
            </a:r>
            <a:r>
              <a:rPr lang="en-US" dirty="0" smtClean="0"/>
              <a:t> — </a:t>
            </a:r>
            <a:r>
              <a:rPr lang="en-US" dirty="0" err="1" smtClean="0"/>
              <a:t>модель</a:t>
            </a:r>
            <a:r>
              <a:rPr lang="en-US" dirty="0" smtClean="0"/>
              <a:t> </a:t>
            </a:r>
            <a:r>
              <a:rPr lang="en-US" dirty="0" err="1" smtClean="0"/>
              <a:t>данных</a:t>
            </a:r>
            <a:r>
              <a:rPr lang="en-US" dirty="0" smtClean="0"/>
              <a:t>, и </a:t>
            </a:r>
            <a:r>
              <a:rPr lang="en-US" dirty="0" err="1" smtClean="0"/>
              <a:t>говорят</a:t>
            </a:r>
            <a:r>
              <a:rPr lang="en-US" dirty="0" smtClean="0"/>
              <a:t>, </a:t>
            </a:r>
            <a:r>
              <a:rPr lang="en-US" dirty="0" err="1" smtClean="0"/>
              <a:t>что</a:t>
            </a:r>
            <a:r>
              <a:rPr lang="en-US" dirty="0" smtClean="0"/>
              <a:t> </a:t>
            </a:r>
            <a:r>
              <a:rPr lang="en-US" dirty="0" err="1" smtClean="0"/>
              <a:t>это</a:t>
            </a:r>
            <a:r>
              <a:rPr lang="en-US" dirty="0" smtClean="0"/>
              <a:t> </a:t>
            </a:r>
            <a:r>
              <a:rPr lang="en-US" dirty="0" err="1" smtClean="0"/>
              <a:t>некий</a:t>
            </a:r>
            <a:r>
              <a:rPr lang="en-US" dirty="0" smtClean="0"/>
              <a:t> </a:t>
            </a:r>
            <a:r>
              <a:rPr lang="en-US" dirty="0" err="1" smtClean="0"/>
              <a:t>класс</a:t>
            </a:r>
            <a:r>
              <a:rPr lang="en-US" dirty="0" smtClean="0"/>
              <a:t>, </a:t>
            </a:r>
            <a:r>
              <a:rPr lang="en-US" dirty="0" err="1" smtClean="0"/>
              <a:t>который</a:t>
            </a:r>
            <a:r>
              <a:rPr lang="en-US" dirty="0" smtClean="0"/>
              <a:t> </a:t>
            </a:r>
            <a:r>
              <a:rPr lang="en-US" dirty="0" err="1" smtClean="0"/>
              <a:t>отвечает</a:t>
            </a:r>
            <a:r>
              <a:rPr lang="en-US" dirty="0" smtClean="0"/>
              <a:t> </a:t>
            </a:r>
            <a:r>
              <a:rPr lang="en-US" dirty="0" err="1" smtClean="0"/>
              <a:t>за</a:t>
            </a:r>
            <a:r>
              <a:rPr lang="en-US" dirty="0" smtClean="0"/>
              <a:t> </a:t>
            </a:r>
            <a:r>
              <a:rPr lang="en-US" dirty="0" err="1" smtClean="0"/>
              <a:t>предоставление</a:t>
            </a:r>
            <a:r>
              <a:rPr lang="en-US" dirty="0" smtClean="0"/>
              <a:t> </a:t>
            </a:r>
            <a:r>
              <a:rPr lang="en-US" dirty="0" err="1" smtClean="0"/>
              <a:t>доступа</a:t>
            </a:r>
            <a:r>
              <a:rPr lang="en-US" dirty="0" smtClean="0"/>
              <a:t> к </a:t>
            </a:r>
            <a:r>
              <a:rPr lang="en-US" dirty="0" err="1" smtClean="0"/>
              <a:t>базе</a:t>
            </a:r>
            <a:r>
              <a:rPr lang="en-US" dirty="0" smtClean="0"/>
              <a:t> </a:t>
            </a:r>
            <a:r>
              <a:rPr lang="en-US" dirty="0" err="1" smtClean="0"/>
              <a:t>данных</a:t>
            </a:r>
            <a:r>
              <a:rPr lang="en-US" dirty="0" smtClean="0"/>
              <a:t>. </a:t>
            </a:r>
            <a:r>
              <a:rPr lang="en-US" dirty="0" err="1" smtClean="0"/>
              <a:t>Что</a:t>
            </a:r>
            <a:r>
              <a:rPr lang="en-US" dirty="0" smtClean="0"/>
              <a:t> </a:t>
            </a:r>
            <a:r>
              <a:rPr lang="en-US" dirty="0" err="1" smtClean="0"/>
              <a:t>неверно</a:t>
            </a:r>
            <a:r>
              <a:rPr lang="en-US" dirty="0" smtClean="0"/>
              <a:t>, и </a:t>
            </a:r>
            <a:r>
              <a:rPr lang="en-US" dirty="0" err="1" smtClean="0"/>
              <a:t>не</a:t>
            </a:r>
            <a:r>
              <a:rPr lang="en-US" dirty="0" smtClean="0"/>
              <a:t> </a:t>
            </a:r>
            <a:r>
              <a:rPr lang="en-US" dirty="0" err="1" smtClean="0"/>
              <a:t>соответствует</a:t>
            </a:r>
            <a:r>
              <a:rPr lang="en-US" dirty="0" smtClean="0"/>
              <a:t> </a:t>
            </a:r>
            <a:r>
              <a:rPr lang="en-US" dirty="0" err="1" smtClean="0"/>
              <a:t>классическому</a:t>
            </a:r>
            <a:r>
              <a:rPr lang="en-US" dirty="0" smtClean="0"/>
              <a:t> MVC и </a:t>
            </a:r>
            <a:r>
              <a:rPr lang="en-US" dirty="0" err="1" smtClean="0"/>
              <a:t>его</a:t>
            </a:r>
            <a:r>
              <a:rPr lang="en-US" dirty="0" smtClean="0"/>
              <a:t> </a:t>
            </a:r>
            <a:r>
              <a:rPr lang="en-US" dirty="0" err="1" smtClean="0"/>
              <a:t>потомкам</a:t>
            </a:r>
            <a:r>
              <a:rPr lang="en-US" dirty="0" smtClean="0"/>
              <a:t> MV*. В </a:t>
            </a:r>
            <a:r>
              <a:rPr lang="en-US" dirty="0" err="1" smtClean="0"/>
              <a:t>классическом</a:t>
            </a:r>
            <a:r>
              <a:rPr lang="en-US" dirty="0" smtClean="0"/>
              <a:t> MVC </a:t>
            </a:r>
            <a:r>
              <a:rPr lang="en-US" dirty="0" err="1" smtClean="0"/>
              <a:t>под</a:t>
            </a:r>
            <a:r>
              <a:rPr lang="en-US" dirty="0" smtClean="0"/>
              <a:t> M </a:t>
            </a:r>
            <a:r>
              <a:rPr lang="en-US" dirty="0" err="1" smtClean="0"/>
              <a:t>подразумевается</a:t>
            </a:r>
            <a:r>
              <a:rPr lang="en-US" dirty="0" smtClean="0"/>
              <a:t> </a:t>
            </a:r>
            <a:r>
              <a:rPr lang="en-US" u="sng" dirty="0" smtClean="0">
                <a:hlinkClick r:id="rId2"/>
              </a:rPr>
              <a:t>domain model</a:t>
            </a:r>
            <a:r>
              <a:rPr lang="en-US" dirty="0" smtClean="0"/>
              <a:t> — </a:t>
            </a:r>
            <a:r>
              <a:rPr lang="en-US" dirty="0" err="1" smtClean="0"/>
              <a:t>объектная</a:t>
            </a:r>
            <a:r>
              <a:rPr lang="en-US" dirty="0" smtClean="0"/>
              <a:t> </a:t>
            </a:r>
            <a:r>
              <a:rPr lang="en-US" dirty="0" err="1" smtClean="0"/>
              <a:t>модель</a:t>
            </a:r>
            <a:r>
              <a:rPr lang="en-US" dirty="0" smtClean="0"/>
              <a:t> </a:t>
            </a:r>
            <a:r>
              <a:rPr lang="en-US" dirty="0" err="1" smtClean="0"/>
              <a:t>домена</a:t>
            </a:r>
            <a:r>
              <a:rPr lang="en-US" dirty="0" smtClean="0"/>
              <a:t>, </a:t>
            </a:r>
            <a:r>
              <a:rPr lang="en-US" dirty="0" err="1" smtClean="0"/>
              <a:t>объединяющая</a:t>
            </a:r>
            <a:r>
              <a:rPr lang="en-US" dirty="0" smtClean="0"/>
              <a:t> </a:t>
            </a:r>
            <a:r>
              <a:rPr lang="en-US" dirty="0" err="1" smtClean="0"/>
              <a:t>данные</a:t>
            </a:r>
            <a:r>
              <a:rPr lang="en-US" dirty="0" smtClean="0"/>
              <a:t> и </a:t>
            </a:r>
            <a:r>
              <a:rPr lang="en-US" dirty="0" err="1" smtClean="0"/>
              <a:t>поведение</a:t>
            </a:r>
            <a:r>
              <a:rPr lang="en-US" dirty="0" smtClean="0"/>
              <a:t>. </a:t>
            </a:r>
            <a:r>
              <a:rPr lang="en-US" dirty="0" err="1" smtClean="0"/>
              <a:t>Если</a:t>
            </a:r>
            <a:r>
              <a:rPr lang="en-US" dirty="0" smtClean="0"/>
              <a:t> </a:t>
            </a:r>
            <a:r>
              <a:rPr lang="en-US" dirty="0" err="1" smtClean="0"/>
              <a:t>говорить</a:t>
            </a:r>
            <a:r>
              <a:rPr lang="en-US" dirty="0" smtClean="0"/>
              <a:t> </a:t>
            </a:r>
            <a:r>
              <a:rPr lang="en-US" dirty="0" err="1" smtClean="0"/>
              <a:t>точнее</a:t>
            </a:r>
            <a:r>
              <a:rPr lang="en-US" dirty="0" smtClean="0"/>
              <a:t>, </a:t>
            </a:r>
            <a:r>
              <a:rPr lang="en-US" dirty="0" err="1" smtClean="0"/>
              <a:t>то</a:t>
            </a:r>
            <a:r>
              <a:rPr lang="en-US" dirty="0" smtClean="0"/>
              <a:t> M в MVC </a:t>
            </a:r>
            <a:r>
              <a:rPr lang="en-US" dirty="0" err="1" smtClean="0"/>
              <a:t>это</a:t>
            </a:r>
            <a:r>
              <a:rPr lang="en-US" dirty="0" smtClean="0"/>
              <a:t> </a:t>
            </a:r>
            <a:r>
              <a:rPr lang="en-US" dirty="0" err="1" smtClean="0"/>
              <a:t>интерфейс</a:t>
            </a:r>
            <a:r>
              <a:rPr lang="en-US" dirty="0" smtClean="0"/>
              <a:t> к </a:t>
            </a:r>
            <a:r>
              <a:rPr lang="en-US" dirty="0" err="1" smtClean="0"/>
              <a:t>доменной</a:t>
            </a:r>
            <a:r>
              <a:rPr lang="en-US" dirty="0" smtClean="0"/>
              <a:t> </a:t>
            </a:r>
            <a:r>
              <a:rPr lang="en-US" dirty="0" err="1" smtClean="0"/>
              <a:t>модели</a:t>
            </a:r>
            <a:r>
              <a:rPr lang="en-US" dirty="0" smtClean="0"/>
              <a:t>, </a:t>
            </a:r>
            <a:r>
              <a:rPr lang="en-US" dirty="0" err="1" smtClean="0"/>
              <a:t>так</a:t>
            </a:r>
            <a:r>
              <a:rPr lang="en-US" dirty="0" smtClean="0"/>
              <a:t> </a:t>
            </a:r>
            <a:r>
              <a:rPr lang="en-US" dirty="0" err="1" smtClean="0"/>
              <a:t>как</a:t>
            </a:r>
            <a:r>
              <a:rPr lang="en-US" dirty="0" smtClean="0"/>
              <a:t> domain model </a:t>
            </a:r>
            <a:r>
              <a:rPr lang="en-US" dirty="0" err="1" smtClean="0"/>
              <a:t>это</a:t>
            </a:r>
            <a:r>
              <a:rPr lang="en-US" dirty="0" smtClean="0"/>
              <a:t> </a:t>
            </a:r>
            <a:r>
              <a:rPr lang="en-US" dirty="0" err="1" smtClean="0"/>
              <a:t>некий</a:t>
            </a:r>
            <a:r>
              <a:rPr lang="en-US" dirty="0" smtClean="0"/>
              <a:t> </a:t>
            </a:r>
            <a:r>
              <a:rPr lang="en-US" dirty="0" err="1" smtClean="0"/>
              <a:t>слой</a:t>
            </a:r>
            <a:r>
              <a:rPr lang="en-US" dirty="0" smtClean="0"/>
              <a:t> </a:t>
            </a:r>
            <a:r>
              <a:rPr lang="en-US" dirty="0" err="1" smtClean="0"/>
              <a:t>объектов</a:t>
            </a:r>
            <a:r>
              <a:rPr lang="en-US" dirty="0" smtClean="0"/>
              <a:t>, </a:t>
            </a:r>
            <a:r>
              <a:rPr lang="en-US" dirty="0" err="1" smtClean="0"/>
              <a:t>описывающий</a:t>
            </a:r>
            <a:r>
              <a:rPr lang="en-US" dirty="0" smtClean="0"/>
              <a:t> </a:t>
            </a:r>
            <a:r>
              <a:rPr lang="en-US" dirty="0" err="1" smtClean="0"/>
              <a:t>различные</a:t>
            </a:r>
            <a:r>
              <a:rPr lang="en-US" dirty="0" smtClean="0"/>
              <a:t> </a:t>
            </a:r>
            <a:r>
              <a:rPr lang="en-US" dirty="0" err="1" smtClean="0"/>
              <a:t>стороны</a:t>
            </a:r>
            <a:r>
              <a:rPr lang="en-US" dirty="0" smtClean="0"/>
              <a:t> </a:t>
            </a:r>
            <a:r>
              <a:rPr lang="en-US" dirty="0" err="1" smtClean="0"/>
              <a:t>определенной</a:t>
            </a:r>
            <a:r>
              <a:rPr lang="en-US" dirty="0" smtClean="0"/>
              <a:t> </a:t>
            </a:r>
            <a:r>
              <a:rPr lang="en-US" dirty="0" err="1" smtClean="0"/>
              <a:t>области</a:t>
            </a:r>
            <a:r>
              <a:rPr lang="en-US" dirty="0" smtClean="0"/>
              <a:t> </a:t>
            </a:r>
            <a:r>
              <a:rPr lang="en-US" dirty="0" err="1" smtClean="0"/>
              <a:t>бизнеса</a:t>
            </a:r>
            <a:r>
              <a:rPr lang="en-US" dirty="0" smtClean="0"/>
              <a:t>. </a:t>
            </a:r>
            <a:r>
              <a:rPr lang="en-US" dirty="0" err="1" smtClean="0"/>
              <a:t>Где</a:t>
            </a:r>
            <a:r>
              <a:rPr lang="en-US" dirty="0" smtClean="0"/>
              <a:t> </a:t>
            </a:r>
            <a:r>
              <a:rPr lang="en-US" dirty="0" err="1" smtClean="0"/>
              <a:t>одни</a:t>
            </a:r>
            <a:r>
              <a:rPr lang="en-US" dirty="0" smtClean="0"/>
              <a:t> </a:t>
            </a:r>
            <a:r>
              <a:rPr lang="en-US" dirty="0" err="1" smtClean="0"/>
              <a:t>объекты</a:t>
            </a:r>
            <a:r>
              <a:rPr lang="en-US" dirty="0" smtClean="0"/>
              <a:t> </a:t>
            </a:r>
            <a:r>
              <a:rPr lang="en-US" dirty="0" err="1" smtClean="0"/>
              <a:t>призваны</a:t>
            </a:r>
            <a:r>
              <a:rPr lang="en-US" dirty="0" smtClean="0"/>
              <a:t> </a:t>
            </a:r>
            <a:r>
              <a:rPr lang="en-US" dirty="0" err="1" smtClean="0"/>
              <a:t>имитировать</a:t>
            </a:r>
            <a:r>
              <a:rPr lang="en-US" dirty="0" smtClean="0"/>
              <a:t> </a:t>
            </a:r>
            <a:r>
              <a:rPr lang="en-US" dirty="0" err="1" smtClean="0"/>
              <a:t>элементы</a:t>
            </a:r>
            <a:r>
              <a:rPr lang="en-US" dirty="0" smtClean="0"/>
              <a:t> </a:t>
            </a:r>
            <a:r>
              <a:rPr lang="en-US" dirty="0" err="1" smtClean="0"/>
              <a:t>данных</a:t>
            </a:r>
            <a:r>
              <a:rPr lang="en-US" dirty="0" smtClean="0"/>
              <a:t>, </a:t>
            </a:r>
            <a:r>
              <a:rPr lang="en-US" dirty="0" err="1" smtClean="0"/>
              <a:t>которыми</a:t>
            </a:r>
            <a:r>
              <a:rPr lang="en-US" dirty="0" smtClean="0"/>
              <a:t> </a:t>
            </a:r>
            <a:r>
              <a:rPr lang="en-US" dirty="0" err="1" smtClean="0"/>
              <a:t>оперируют</a:t>
            </a:r>
            <a:r>
              <a:rPr lang="en-US" dirty="0" smtClean="0"/>
              <a:t> в </a:t>
            </a:r>
            <a:r>
              <a:rPr lang="en-US" dirty="0" err="1" smtClean="0"/>
              <a:t>этой</a:t>
            </a:r>
            <a:r>
              <a:rPr lang="en-US" dirty="0" smtClean="0"/>
              <a:t> </a:t>
            </a:r>
            <a:r>
              <a:rPr lang="en-US" dirty="0" err="1" smtClean="0"/>
              <a:t>области</a:t>
            </a:r>
            <a:r>
              <a:rPr lang="en-US" dirty="0" smtClean="0"/>
              <a:t>, а </a:t>
            </a:r>
            <a:r>
              <a:rPr lang="en-US" dirty="0" err="1" smtClean="0"/>
              <a:t>другие</a:t>
            </a:r>
            <a:r>
              <a:rPr lang="en-US" dirty="0" smtClean="0"/>
              <a:t> </a:t>
            </a:r>
            <a:r>
              <a:rPr lang="en-US" dirty="0" err="1" smtClean="0"/>
              <a:t>должны</a:t>
            </a:r>
            <a:r>
              <a:rPr lang="en-US" dirty="0" smtClean="0"/>
              <a:t> </a:t>
            </a:r>
            <a:r>
              <a:rPr lang="en-US" dirty="0" err="1" smtClean="0"/>
              <a:t>формализовать</a:t>
            </a:r>
            <a:r>
              <a:rPr lang="en-US" dirty="0" smtClean="0"/>
              <a:t> </a:t>
            </a:r>
            <a:r>
              <a:rPr lang="en-US" dirty="0" err="1" smtClean="0"/>
              <a:t>те</a:t>
            </a:r>
            <a:r>
              <a:rPr lang="en-US" dirty="0" smtClean="0"/>
              <a:t> </a:t>
            </a:r>
            <a:r>
              <a:rPr lang="en-US" dirty="0" err="1" smtClean="0"/>
              <a:t>или</a:t>
            </a:r>
            <a:r>
              <a:rPr lang="en-US" dirty="0" smtClean="0"/>
              <a:t> </a:t>
            </a:r>
            <a:r>
              <a:rPr lang="en-US" dirty="0" err="1" smtClean="0"/>
              <a:t>иные</a:t>
            </a:r>
            <a:r>
              <a:rPr lang="en-US" dirty="0" smtClean="0"/>
              <a:t> </a:t>
            </a:r>
            <a:r>
              <a:rPr lang="en-US" dirty="0" err="1" smtClean="0"/>
              <a:t>бизнес-правила</a:t>
            </a:r>
            <a:r>
              <a:rPr lang="en-US" dirty="0" smtClean="0"/>
              <a:t>.</a:t>
            </a:r>
            <a:endParaRPr lang="ru-RU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Архитектура в </a:t>
            </a:r>
            <a:r>
              <a:rPr lang="en-US" b="1" dirty="0" err="1" smtClean="0"/>
              <a:t>Django</a:t>
            </a:r>
            <a:r>
              <a:rPr lang="ru-RU" b="1" dirty="0" smtClean="0"/>
              <a:t> проектах</a:t>
            </a:r>
            <a:r>
              <a:rPr lang="en-US" dirty="0" smtClean="0"/>
              <a:t> </a:t>
            </a:r>
            <a:endParaRPr lang="ru-RU" b="1" cap="small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844824"/>
            <a:ext cx="8229600" cy="5013176"/>
          </a:xfrm>
        </p:spPr>
        <p:txBody>
          <a:bodyPr>
            <a:normAutofit fontScale="85000" lnSpcReduction="20000"/>
          </a:bodyPr>
          <a:lstStyle/>
          <a:p>
            <a:r>
              <a:rPr lang="en-US" dirty="0" err="1" smtClean="0"/>
              <a:t>Второе</a:t>
            </a:r>
            <a:r>
              <a:rPr lang="en-US" dirty="0" smtClean="0"/>
              <a:t>, в  </a:t>
            </a:r>
            <a:r>
              <a:rPr lang="en-US" dirty="0" err="1" smtClean="0"/>
              <a:t>Django</a:t>
            </a:r>
            <a:r>
              <a:rPr lang="en-US" dirty="0" smtClean="0"/>
              <a:t> </a:t>
            </a:r>
            <a:r>
              <a:rPr lang="en-US" dirty="0" err="1" smtClean="0"/>
              <a:t>нет</a:t>
            </a:r>
            <a:r>
              <a:rPr lang="en-US" dirty="0" smtClean="0"/>
              <a:t> </a:t>
            </a:r>
            <a:r>
              <a:rPr lang="en-US" dirty="0" err="1" smtClean="0"/>
              <a:t>выделенного</a:t>
            </a:r>
            <a:r>
              <a:rPr lang="en-US" dirty="0" smtClean="0"/>
              <a:t> </a:t>
            </a:r>
            <a:r>
              <a:rPr lang="en-US" dirty="0" err="1" smtClean="0"/>
              <a:t>слоя</a:t>
            </a:r>
            <a:r>
              <a:rPr lang="en-US" dirty="0" smtClean="0"/>
              <a:t> controller, и </a:t>
            </a:r>
            <a:r>
              <a:rPr lang="en-US" dirty="0" err="1" smtClean="0"/>
              <a:t>когда</a:t>
            </a:r>
            <a:r>
              <a:rPr lang="en-US" dirty="0" smtClean="0"/>
              <a:t> </a:t>
            </a:r>
            <a:r>
              <a:rPr lang="en-US" dirty="0" err="1" smtClean="0"/>
              <a:t>вам</a:t>
            </a:r>
            <a:r>
              <a:rPr lang="en-US" dirty="0" smtClean="0"/>
              <a:t> </a:t>
            </a:r>
            <a:r>
              <a:rPr lang="en-US" dirty="0" err="1" smtClean="0"/>
              <a:t>говорят</a:t>
            </a:r>
            <a:r>
              <a:rPr lang="en-US" dirty="0" smtClean="0"/>
              <a:t>, </a:t>
            </a:r>
            <a:r>
              <a:rPr lang="en-US" dirty="0" err="1" smtClean="0"/>
              <a:t>что</a:t>
            </a:r>
            <a:r>
              <a:rPr lang="en-US" dirty="0" smtClean="0"/>
              <a:t> в </a:t>
            </a:r>
            <a:r>
              <a:rPr lang="en-US" dirty="0" err="1" smtClean="0"/>
              <a:t>Django</a:t>
            </a:r>
            <a:r>
              <a:rPr lang="en-US" dirty="0" smtClean="0"/>
              <a:t> </a:t>
            </a:r>
            <a:r>
              <a:rPr lang="en-US" dirty="0" err="1" smtClean="0"/>
              <a:t>слой</a:t>
            </a:r>
            <a:r>
              <a:rPr lang="en-US" dirty="0" smtClean="0"/>
              <a:t> views — </a:t>
            </a:r>
            <a:r>
              <a:rPr lang="en-US" dirty="0" err="1" smtClean="0"/>
              <a:t>это</a:t>
            </a:r>
            <a:r>
              <a:rPr lang="en-US" dirty="0" smtClean="0"/>
              <a:t> </a:t>
            </a:r>
            <a:r>
              <a:rPr lang="en-US" dirty="0" err="1" smtClean="0"/>
              <a:t>контроллер</a:t>
            </a:r>
            <a:r>
              <a:rPr lang="en-US" dirty="0" smtClean="0"/>
              <a:t>, </a:t>
            </a:r>
            <a:r>
              <a:rPr lang="en-US" dirty="0" err="1" smtClean="0"/>
              <a:t>не</a:t>
            </a:r>
            <a:r>
              <a:rPr lang="en-US" dirty="0" smtClean="0"/>
              <a:t> </a:t>
            </a:r>
            <a:r>
              <a:rPr lang="en-US" dirty="0" err="1" smtClean="0"/>
              <a:t>верьте</a:t>
            </a:r>
            <a:r>
              <a:rPr lang="en-US" dirty="0" smtClean="0"/>
              <a:t> </a:t>
            </a:r>
            <a:r>
              <a:rPr lang="en-US" dirty="0" err="1" smtClean="0"/>
              <a:t>этим</a:t>
            </a:r>
            <a:r>
              <a:rPr lang="en-US" dirty="0" smtClean="0"/>
              <a:t> </a:t>
            </a:r>
            <a:r>
              <a:rPr lang="en-US" dirty="0" err="1" smtClean="0"/>
              <a:t>людям</a:t>
            </a:r>
            <a:r>
              <a:rPr lang="en-US" dirty="0" smtClean="0"/>
              <a:t>. </a:t>
            </a:r>
            <a:r>
              <a:rPr lang="en-US" dirty="0" err="1" smtClean="0"/>
              <a:t>Обратитесь</a:t>
            </a:r>
            <a:r>
              <a:rPr lang="en-US" dirty="0" smtClean="0"/>
              <a:t> к </a:t>
            </a:r>
            <a:r>
              <a:rPr lang="en-US" dirty="0" err="1" smtClean="0"/>
              <a:t>официальной</a:t>
            </a:r>
            <a:r>
              <a:rPr lang="en-US" dirty="0" smtClean="0"/>
              <a:t> </a:t>
            </a:r>
            <a:r>
              <a:rPr lang="en-US" dirty="0" err="1" smtClean="0"/>
              <a:t>документации</a:t>
            </a:r>
            <a:r>
              <a:rPr lang="en-US" dirty="0" smtClean="0"/>
              <a:t>, а </a:t>
            </a:r>
            <a:r>
              <a:rPr lang="en-US" dirty="0" err="1" smtClean="0"/>
              <a:t>точнее</a:t>
            </a:r>
            <a:r>
              <a:rPr lang="en-US" dirty="0" smtClean="0"/>
              <a:t> к </a:t>
            </a:r>
            <a:r>
              <a:rPr lang="en-US" u="sng" dirty="0" smtClean="0">
                <a:hlinkClick r:id="rId2"/>
              </a:rPr>
              <a:t>FAQ</a:t>
            </a:r>
            <a:r>
              <a:rPr lang="en-US" dirty="0" smtClean="0"/>
              <a:t>, </a:t>
            </a:r>
            <a:r>
              <a:rPr lang="en-US" dirty="0" err="1" smtClean="0"/>
              <a:t>тогда</a:t>
            </a:r>
            <a:r>
              <a:rPr lang="en-US" dirty="0" smtClean="0"/>
              <a:t> </a:t>
            </a:r>
            <a:r>
              <a:rPr lang="en-US" dirty="0" err="1" smtClean="0"/>
              <a:t>можно</a:t>
            </a:r>
            <a:r>
              <a:rPr lang="en-US" dirty="0" smtClean="0"/>
              <a:t> </a:t>
            </a:r>
            <a:r>
              <a:rPr lang="en-US" dirty="0" err="1" smtClean="0"/>
              <a:t>увидеть</a:t>
            </a:r>
            <a:r>
              <a:rPr lang="en-US" dirty="0" smtClean="0"/>
              <a:t>, </a:t>
            </a:r>
            <a:r>
              <a:rPr lang="en-US" dirty="0" err="1" smtClean="0"/>
              <a:t>что</a:t>
            </a:r>
            <a:r>
              <a:rPr lang="en-US" dirty="0" smtClean="0"/>
              <a:t> </a:t>
            </a:r>
            <a:r>
              <a:rPr lang="en-US" dirty="0" err="1" smtClean="0"/>
              <a:t>этот</a:t>
            </a:r>
            <a:r>
              <a:rPr lang="en-US" dirty="0" smtClean="0"/>
              <a:t> </a:t>
            </a:r>
            <a:r>
              <a:rPr lang="en-US" dirty="0" err="1" smtClean="0"/>
              <a:t>слой</a:t>
            </a:r>
            <a:r>
              <a:rPr lang="en-US" dirty="0" smtClean="0"/>
              <a:t> </a:t>
            </a:r>
            <a:r>
              <a:rPr lang="en-US" dirty="0" err="1" smtClean="0"/>
              <a:t>вписывается</a:t>
            </a:r>
            <a:r>
              <a:rPr lang="en-US" dirty="0" smtClean="0"/>
              <a:t> в </a:t>
            </a:r>
            <a:r>
              <a:rPr lang="en-US" dirty="0" err="1" smtClean="0"/>
              <a:t>принципы</a:t>
            </a:r>
            <a:r>
              <a:rPr lang="en-US" dirty="0" smtClean="0"/>
              <a:t> </a:t>
            </a:r>
            <a:r>
              <a:rPr lang="en-US" dirty="0" err="1" smtClean="0"/>
              <a:t>слоя</a:t>
            </a:r>
            <a:r>
              <a:rPr lang="en-US" dirty="0" smtClean="0"/>
              <a:t> View в MVC, </a:t>
            </a:r>
            <a:r>
              <a:rPr lang="en-US" dirty="0" err="1" smtClean="0"/>
              <a:t>особенно</a:t>
            </a:r>
            <a:r>
              <a:rPr lang="en-US" dirty="0" smtClean="0"/>
              <a:t>, </a:t>
            </a:r>
            <a:r>
              <a:rPr lang="en-US" dirty="0" err="1" smtClean="0"/>
              <a:t>если</a:t>
            </a:r>
            <a:r>
              <a:rPr lang="en-US" dirty="0" smtClean="0"/>
              <a:t> </a:t>
            </a:r>
            <a:r>
              <a:rPr lang="en-US" dirty="0" err="1" smtClean="0"/>
              <a:t>рассматривать</a:t>
            </a:r>
            <a:r>
              <a:rPr lang="en-US" dirty="0" smtClean="0"/>
              <a:t> DRF, а </a:t>
            </a:r>
            <a:r>
              <a:rPr lang="en-US" dirty="0" err="1" smtClean="0"/>
              <a:t>как</a:t>
            </a:r>
            <a:r>
              <a:rPr lang="en-US" dirty="0" smtClean="0"/>
              <a:t> </a:t>
            </a:r>
            <a:r>
              <a:rPr lang="en-US" dirty="0" err="1" smtClean="0"/>
              <a:t>такового</a:t>
            </a:r>
            <a:r>
              <a:rPr lang="en-US" dirty="0" smtClean="0"/>
              <a:t> </a:t>
            </a:r>
            <a:r>
              <a:rPr lang="en-US" dirty="0" err="1" smtClean="0"/>
              <a:t>слоя</a:t>
            </a:r>
            <a:r>
              <a:rPr lang="en-US" dirty="0" smtClean="0"/>
              <a:t> Controller в </a:t>
            </a:r>
            <a:r>
              <a:rPr lang="en-US" dirty="0" err="1" smtClean="0"/>
              <a:t>Django</a:t>
            </a:r>
            <a:r>
              <a:rPr lang="en-US" dirty="0" smtClean="0"/>
              <a:t> </a:t>
            </a:r>
            <a:r>
              <a:rPr lang="en-US" dirty="0" err="1" smtClean="0"/>
              <a:t>нет</a:t>
            </a:r>
            <a:r>
              <a:rPr lang="en-US" dirty="0" smtClean="0"/>
              <a:t>. </a:t>
            </a:r>
            <a:r>
              <a:rPr lang="en-US" dirty="0" err="1" smtClean="0"/>
              <a:t>Как</a:t>
            </a:r>
            <a:r>
              <a:rPr lang="en-US" dirty="0" smtClean="0"/>
              <a:t> </a:t>
            </a:r>
            <a:r>
              <a:rPr lang="en-US" dirty="0" err="1" smtClean="0"/>
              <a:t>говорится</a:t>
            </a:r>
            <a:r>
              <a:rPr lang="en-US" dirty="0" smtClean="0"/>
              <a:t> в FAQ, </a:t>
            </a:r>
            <a:r>
              <a:rPr lang="en-US" dirty="0" err="1" smtClean="0"/>
              <a:t>если</a:t>
            </a:r>
            <a:r>
              <a:rPr lang="en-US" dirty="0" smtClean="0"/>
              <a:t> </a:t>
            </a:r>
            <a:r>
              <a:rPr lang="en-US" dirty="0" err="1" smtClean="0"/>
              <a:t>вам</a:t>
            </a:r>
            <a:r>
              <a:rPr lang="en-US" dirty="0" smtClean="0"/>
              <a:t> </a:t>
            </a:r>
            <a:r>
              <a:rPr lang="en-US" dirty="0" err="1" smtClean="0"/>
              <a:t>очень</a:t>
            </a:r>
            <a:r>
              <a:rPr lang="en-US" dirty="0" smtClean="0"/>
              <a:t> </a:t>
            </a:r>
            <a:r>
              <a:rPr lang="en-US" dirty="0" err="1" smtClean="0"/>
              <a:t>хочется</a:t>
            </a:r>
            <a:r>
              <a:rPr lang="en-US" dirty="0" smtClean="0"/>
              <a:t> </a:t>
            </a:r>
            <a:r>
              <a:rPr lang="en-US" dirty="0" err="1" smtClean="0"/>
              <a:t>аббревиатур</a:t>
            </a:r>
            <a:r>
              <a:rPr lang="en-US" dirty="0" smtClean="0"/>
              <a:t>, </a:t>
            </a:r>
            <a:r>
              <a:rPr lang="en-US" dirty="0" err="1" smtClean="0"/>
              <a:t>то</a:t>
            </a:r>
            <a:r>
              <a:rPr lang="en-US" dirty="0" smtClean="0"/>
              <a:t> </a:t>
            </a:r>
            <a:r>
              <a:rPr lang="en-US" dirty="0" err="1" smtClean="0"/>
              <a:t>можно</a:t>
            </a:r>
            <a:r>
              <a:rPr lang="en-US" dirty="0" smtClean="0"/>
              <a:t> </a:t>
            </a:r>
            <a:r>
              <a:rPr lang="en-US" dirty="0" err="1" smtClean="0"/>
              <a:t>использовать</a:t>
            </a:r>
            <a:r>
              <a:rPr lang="en-US" dirty="0" smtClean="0"/>
              <a:t> в </a:t>
            </a:r>
            <a:r>
              <a:rPr lang="en-US" dirty="0" err="1" smtClean="0"/>
              <a:t>контексте</a:t>
            </a:r>
            <a:r>
              <a:rPr lang="en-US" dirty="0" smtClean="0"/>
              <a:t> </a:t>
            </a:r>
            <a:r>
              <a:rPr lang="en-US" dirty="0" err="1" smtClean="0"/>
              <a:t>Django</a:t>
            </a:r>
            <a:r>
              <a:rPr lang="en-US" dirty="0" smtClean="0"/>
              <a:t> </a:t>
            </a:r>
            <a:r>
              <a:rPr lang="en-US" dirty="0" err="1" smtClean="0"/>
              <a:t>аббревиатуру</a:t>
            </a:r>
            <a:r>
              <a:rPr lang="en-US" dirty="0" smtClean="0"/>
              <a:t> MTV (Model, Template, and View). </a:t>
            </a:r>
            <a:r>
              <a:rPr lang="en-US" dirty="0" err="1" smtClean="0"/>
              <a:t>Если</a:t>
            </a:r>
            <a:r>
              <a:rPr lang="en-US" dirty="0" smtClean="0"/>
              <a:t> </a:t>
            </a:r>
            <a:r>
              <a:rPr lang="en-US" dirty="0" err="1" smtClean="0"/>
              <a:t>очень</a:t>
            </a:r>
            <a:r>
              <a:rPr lang="en-US" dirty="0" smtClean="0"/>
              <a:t> </a:t>
            </a:r>
            <a:r>
              <a:rPr lang="en-US" dirty="0" err="1" smtClean="0"/>
              <a:t>хочется</a:t>
            </a:r>
            <a:r>
              <a:rPr lang="en-US" dirty="0" smtClean="0"/>
              <a:t> </a:t>
            </a:r>
            <a:r>
              <a:rPr lang="en-US" dirty="0" err="1" smtClean="0"/>
              <a:t>рассматривать</a:t>
            </a:r>
            <a:r>
              <a:rPr lang="en-US" dirty="0" smtClean="0"/>
              <a:t> Web MVC  и </a:t>
            </a:r>
            <a:r>
              <a:rPr lang="en-US" dirty="0" err="1" smtClean="0"/>
              <a:t>сравнивать</a:t>
            </a:r>
            <a:r>
              <a:rPr lang="en-US" dirty="0" smtClean="0"/>
              <a:t> </a:t>
            </a:r>
            <a:r>
              <a:rPr lang="en-US" dirty="0" err="1" smtClean="0"/>
              <a:t>Django</a:t>
            </a:r>
            <a:r>
              <a:rPr lang="en-US" dirty="0" smtClean="0"/>
              <a:t> с </a:t>
            </a:r>
            <a:r>
              <a:rPr lang="en-US" dirty="0" err="1" smtClean="0"/>
              <a:t>другими</a:t>
            </a:r>
            <a:r>
              <a:rPr lang="en-US" dirty="0" smtClean="0"/>
              <a:t> </a:t>
            </a:r>
            <a:r>
              <a:rPr lang="en-US" dirty="0" err="1" smtClean="0"/>
              <a:t>фреймворками</a:t>
            </a:r>
            <a:r>
              <a:rPr lang="en-US" dirty="0" smtClean="0"/>
              <a:t>, </a:t>
            </a:r>
            <a:r>
              <a:rPr lang="en-US" dirty="0" err="1" smtClean="0"/>
              <a:t>то</a:t>
            </a:r>
            <a:r>
              <a:rPr lang="en-US" dirty="0" smtClean="0"/>
              <a:t> </a:t>
            </a:r>
            <a:r>
              <a:rPr lang="en-US" dirty="0" err="1" smtClean="0"/>
              <a:t>для</a:t>
            </a:r>
            <a:r>
              <a:rPr lang="en-US" dirty="0" smtClean="0"/>
              <a:t> </a:t>
            </a:r>
            <a:r>
              <a:rPr lang="en-US" dirty="0" err="1" smtClean="0"/>
              <a:t>простоты</a:t>
            </a:r>
            <a:r>
              <a:rPr lang="en-US" dirty="0" smtClean="0"/>
              <a:t> </a:t>
            </a:r>
            <a:r>
              <a:rPr lang="en-US" dirty="0" err="1" smtClean="0"/>
              <a:t>можно</a:t>
            </a:r>
            <a:r>
              <a:rPr lang="en-US" dirty="0" smtClean="0"/>
              <a:t> </a:t>
            </a:r>
            <a:r>
              <a:rPr lang="en-US" dirty="0" err="1" smtClean="0"/>
              <a:t>считать</a:t>
            </a:r>
            <a:r>
              <a:rPr lang="en-US" dirty="0" smtClean="0"/>
              <a:t> view </a:t>
            </a:r>
            <a:r>
              <a:rPr lang="en-US" dirty="0" err="1" smtClean="0"/>
              <a:t>контроллером</a:t>
            </a:r>
            <a:r>
              <a:rPr lang="en-US" dirty="0" smtClean="0"/>
              <a:t>.</a:t>
            </a:r>
            <a:endParaRPr lang="ru-RU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Архитектура в </a:t>
            </a:r>
            <a:r>
              <a:rPr lang="en-US" b="1" dirty="0" err="1" smtClean="0"/>
              <a:t>Django</a:t>
            </a:r>
            <a:r>
              <a:rPr lang="ru-RU" b="1" dirty="0" smtClean="0"/>
              <a:t> проектах</a:t>
            </a:r>
            <a:r>
              <a:rPr lang="en-US" dirty="0" smtClean="0"/>
              <a:t> </a:t>
            </a:r>
            <a:endParaRPr lang="ru-RU" b="1" cap="small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844824"/>
            <a:ext cx="8229600" cy="5013176"/>
          </a:xfrm>
        </p:spPr>
        <p:txBody>
          <a:bodyPr>
            <a:normAutofit/>
          </a:bodyPr>
          <a:lstStyle/>
          <a:p>
            <a:r>
              <a:rPr lang="ru-RU" dirty="0" smtClean="0"/>
              <a:t>Выделим в </a:t>
            </a:r>
            <a:r>
              <a:rPr lang="ru-RU" dirty="0" err="1" smtClean="0"/>
              <a:t>Django</a:t>
            </a:r>
            <a:r>
              <a:rPr lang="ru-RU" dirty="0" smtClean="0"/>
              <a:t> приложениях несколько слоев, которые есть в каждом </a:t>
            </a:r>
            <a:r>
              <a:rPr lang="ru-RU" dirty="0" err="1" smtClean="0"/>
              <a:t>туториале</a:t>
            </a:r>
            <a:r>
              <a:rPr lang="ru-RU" dirty="0" smtClean="0"/>
              <a:t> и почти в каждом проекте:</a:t>
            </a:r>
          </a:p>
          <a:p>
            <a:pPr lvl="0"/>
            <a:r>
              <a:rPr lang="ru-RU" dirty="0" err="1" smtClean="0"/>
              <a:t>front-end</a:t>
            </a:r>
            <a:r>
              <a:rPr lang="ru-RU" dirty="0" smtClean="0"/>
              <a:t>/</a:t>
            </a:r>
            <a:r>
              <a:rPr lang="ru-RU" dirty="0" err="1" smtClean="0"/>
              <a:t>templates</a:t>
            </a:r>
            <a:endParaRPr lang="ru-RU" dirty="0" smtClean="0"/>
          </a:p>
          <a:p>
            <a:pPr lvl="0"/>
            <a:r>
              <a:rPr lang="ru-RU" dirty="0" err="1" smtClean="0"/>
              <a:t>serializers</a:t>
            </a:r>
            <a:r>
              <a:rPr lang="ru-RU" dirty="0" smtClean="0"/>
              <a:t>/</a:t>
            </a:r>
            <a:r>
              <a:rPr lang="ru-RU" dirty="0" err="1" smtClean="0"/>
              <a:t>forms</a:t>
            </a:r>
            <a:endParaRPr lang="ru-RU" dirty="0" smtClean="0"/>
          </a:p>
          <a:p>
            <a:pPr lvl="0"/>
            <a:r>
              <a:rPr lang="ru-RU" dirty="0" err="1" smtClean="0"/>
              <a:t>views</a:t>
            </a:r>
            <a:endParaRPr lang="ru-RU" dirty="0" smtClean="0"/>
          </a:p>
          <a:p>
            <a:pPr lvl="0"/>
            <a:r>
              <a:rPr lang="ru-RU" dirty="0" err="1" smtClean="0"/>
              <a:t>models</a:t>
            </a:r>
            <a:endParaRPr lang="ru-RU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Архитектура в </a:t>
            </a:r>
            <a:r>
              <a:rPr lang="en-US" b="1" dirty="0" err="1" smtClean="0"/>
              <a:t>Django</a:t>
            </a:r>
            <a:r>
              <a:rPr lang="ru-RU" b="1" dirty="0" smtClean="0"/>
              <a:t> проектах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err="1" smtClean="0"/>
              <a:t>Слой</a:t>
            </a:r>
            <a:r>
              <a:rPr lang="en-US" b="1" dirty="0" smtClean="0"/>
              <a:t> </a:t>
            </a:r>
            <a:r>
              <a:rPr lang="en-US" b="1" dirty="0" err="1" smtClean="0"/>
              <a:t>serializers</a:t>
            </a:r>
            <a:r>
              <a:rPr lang="en-US" b="1" dirty="0" smtClean="0"/>
              <a:t>/forms</a:t>
            </a:r>
            <a:r>
              <a:rPr lang="en-US" dirty="0" smtClean="0"/>
              <a:t> </a:t>
            </a:r>
            <a:endParaRPr lang="ru-RU" b="1" cap="small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844824"/>
            <a:ext cx="8229600" cy="5013176"/>
          </a:xfrm>
        </p:spPr>
        <p:txBody>
          <a:bodyPr>
            <a:normAutofit fontScale="85000" lnSpcReduction="20000"/>
          </a:bodyPr>
          <a:lstStyle/>
          <a:p>
            <a:r>
              <a:rPr lang="ru-RU" dirty="0" smtClean="0"/>
              <a:t>У слоя </a:t>
            </a:r>
            <a:r>
              <a:rPr lang="ru-RU" dirty="0" err="1" smtClean="0"/>
              <a:t>serializers</a:t>
            </a:r>
            <a:r>
              <a:rPr lang="ru-RU" dirty="0" smtClean="0"/>
              <a:t> три основные функции (все выводы для </a:t>
            </a:r>
            <a:r>
              <a:rPr lang="ru-RU" dirty="0" err="1" smtClean="0"/>
              <a:t>serializers</a:t>
            </a:r>
            <a:r>
              <a:rPr lang="ru-RU" dirty="0" smtClean="0"/>
              <a:t> справедливы и для </a:t>
            </a:r>
            <a:r>
              <a:rPr lang="ru-RU" dirty="0" err="1" smtClean="0"/>
              <a:t>forms</a:t>
            </a:r>
            <a:r>
              <a:rPr lang="ru-RU" dirty="0" smtClean="0"/>
              <a:t>):</a:t>
            </a:r>
          </a:p>
          <a:p>
            <a:pPr lvl="1"/>
            <a:r>
              <a:rPr lang="ru-RU" dirty="0" err="1" smtClean="0"/>
              <a:t>валидировать</a:t>
            </a:r>
            <a:r>
              <a:rPr lang="ru-RU" dirty="0" smtClean="0"/>
              <a:t> данные</a:t>
            </a:r>
          </a:p>
          <a:p>
            <a:pPr lvl="1"/>
            <a:r>
              <a:rPr lang="ru-RU" dirty="0" smtClean="0"/>
              <a:t>преобразовывать данные запроса в типы данных </a:t>
            </a:r>
            <a:r>
              <a:rPr lang="ru-RU" dirty="0" err="1" smtClean="0"/>
              <a:t>Python</a:t>
            </a:r>
            <a:endParaRPr lang="ru-RU" dirty="0" smtClean="0"/>
          </a:p>
          <a:p>
            <a:pPr lvl="1"/>
            <a:r>
              <a:rPr lang="ru-RU" dirty="0" smtClean="0"/>
              <a:t>преобразовывать сложные </a:t>
            </a:r>
            <a:r>
              <a:rPr lang="ru-RU" dirty="0" err="1" smtClean="0"/>
              <a:t>Python</a:t>
            </a:r>
            <a:r>
              <a:rPr lang="ru-RU" dirty="0" smtClean="0"/>
              <a:t> объекты в простые типы данных </a:t>
            </a:r>
            <a:r>
              <a:rPr lang="ru-RU" dirty="0" err="1" smtClean="0"/>
              <a:t>Python</a:t>
            </a:r>
            <a:r>
              <a:rPr lang="ru-RU" dirty="0" smtClean="0"/>
              <a:t> (например, </a:t>
            </a:r>
            <a:r>
              <a:rPr lang="ru-RU" dirty="0" err="1" smtClean="0"/>
              <a:t>Django</a:t>
            </a:r>
            <a:r>
              <a:rPr lang="ru-RU" dirty="0" smtClean="0"/>
              <a:t> модели в </a:t>
            </a:r>
            <a:r>
              <a:rPr lang="ru-RU" dirty="0" err="1" smtClean="0"/>
              <a:t>dict</a:t>
            </a:r>
            <a:r>
              <a:rPr lang="ru-RU" dirty="0" smtClean="0"/>
              <a:t>)</a:t>
            </a:r>
          </a:p>
          <a:p>
            <a:r>
              <a:rPr lang="en-US" dirty="0" err="1" smtClean="0"/>
              <a:t>Дополнительно</a:t>
            </a:r>
            <a:r>
              <a:rPr lang="en-US" dirty="0" smtClean="0"/>
              <a:t> </a:t>
            </a:r>
            <a:r>
              <a:rPr lang="en-US" dirty="0" err="1" smtClean="0"/>
              <a:t>сериалайзеры</a:t>
            </a:r>
            <a:r>
              <a:rPr lang="en-US" dirty="0" smtClean="0"/>
              <a:t> </a:t>
            </a:r>
            <a:r>
              <a:rPr lang="en-US" dirty="0" err="1" smtClean="0"/>
              <a:t>имеют</a:t>
            </a:r>
            <a:r>
              <a:rPr lang="en-US" dirty="0" smtClean="0"/>
              <a:t> </a:t>
            </a:r>
            <a:r>
              <a:rPr lang="en-US" dirty="0" err="1" smtClean="0"/>
              <a:t>два</a:t>
            </a:r>
            <a:r>
              <a:rPr lang="en-US" dirty="0" smtClean="0"/>
              <a:t> </a:t>
            </a:r>
            <a:r>
              <a:rPr lang="en-US" dirty="0" err="1" smtClean="0"/>
              <a:t>метода</a:t>
            </a:r>
            <a:r>
              <a:rPr lang="en-US" dirty="0" smtClean="0"/>
              <a:t>, create и update, </a:t>
            </a:r>
            <a:r>
              <a:rPr lang="en-US" dirty="0" err="1" smtClean="0"/>
              <a:t>которые</a:t>
            </a:r>
            <a:r>
              <a:rPr lang="en-US" dirty="0" smtClean="0"/>
              <a:t> </a:t>
            </a:r>
            <a:r>
              <a:rPr lang="en-US" dirty="0" err="1" smtClean="0"/>
              <a:t>вызываются</a:t>
            </a:r>
            <a:r>
              <a:rPr lang="en-US" dirty="0" smtClean="0"/>
              <a:t> в </a:t>
            </a:r>
            <a:r>
              <a:rPr lang="en-US" dirty="0" err="1" smtClean="0"/>
              <a:t>методе</a:t>
            </a:r>
            <a:r>
              <a:rPr lang="en-US" dirty="0" smtClean="0"/>
              <a:t> save() и </a:t>
            </a:r>
            <a:r>
              <a:rPr lang="en-US" dirty="0" err="1" smtClean="0"/>
              <a:t>почти</a:t>
            </a:r>
            <a:r>
              <a:rPr lang="en-US" dirty="0" smtClean="0"/>
              <a:t> </a:t>
            </a:r>
            <a:r>
              <a:rPr lang="en-US" dirty="0" err="1" smtClean="0"/>
              <a:t>всегда</a:t>
            </a:r>
            <a:r>
              <a:rPr lang="en-US" dirty="0" smtClean="0"/>
              <a:t> </a:t>
            </a:r>
            <a:r>
              <a:rPr lang="en-US" dirty="0" err="1" smtClean="0"/>
              <a:t>используются</a:t>
            </a:r>
            <a:r>
              <a:rPr lang="en-US" dirty="0" smtClean="0"/>
              <a:t> </a:t>
            </a:r>
            <a:r>
              <a:rPr lang="en-US" dirty="0" err="1" smtClean="0"/>
              <a:t>во</a:t>
            </a:r>
            <a:r>
              <a:rPr lang="en-US" dirty="0" smtClean="0"/>
              <a:t> view.</a:t>
            </a:r>
          </a:p>
          <a:p>
            <a:r>
              <a:rPr lang="en-US" dirty="0" err="1" smtClean="0"/>
              <a:t>Можно</a:t>
            </a:r>
            <a:r>
              <a:rPr lang="en-US" dirty="0" smtClean="0"/>
              <a:t> </a:t>
            </a:r>
            <a:r>
              <a:rPr lang="en-US" dirty="0" err="1" smtClean="0"/>
              <a:t>использовать</a:t>
            </a:r>
            <a:r>
              <a:rPr lang="en-US" dirty="0" smtClean="0"/>
              <a:t> </a:t>
            </a:r>
            <a:r>
              <a:rPr lang="en-US" b="1" i="1" dirty="0" err="1" smtClean="0"/>
              <a:t>ModelSerializer</a:t>
            </a:r>
            <a:r>
              <a:rPr lang="en-US" dirty="0" smtClean="0"/>
              <a:t> и </a:t>
            </a:r>
            <a:r>
              <a:rPr lang="en-US" b="1" i="1" dirty="0" err="1" smtClean="0"/>
              <a:t>ModelViewSet</a:t>
            </a:r>
            <a:r>
              <a:rPr lang="en-US" dirty="0" smtClean="0"/>
              <a:t>, </a:t>
            </a:r>
            <a:r>
              <a:rPr lang="en-US" dirty="0" err="1" smtClean="0"/>
              <a:t>что</a:t>
            </a:r>
            <a:r>
              <a:rPr lang="en-US" dirty="0" smtClean="0"/>
              <a:t> </a:t>
            </a:r>
            <a:r>
              <a:rPr lang="en-US" dirty="0" err="1" smtClean="0"/>
              <a:t>позволяет</a:t>
            </a:r>
            <a:r>
              <a:rPr lang="en-US" dirty="0" smtClean="0"/>
              <a:t> </a:t>
            </a:r>
            <a:r>
              <a:rPr lang="en-US" dirty="0" err="1" smtClean="0"/>
              <a:t>писать</a:t>
            </a:r>
            <a:r>
              <a:rPr lang="en-US" dirty="0" smtClean="0"/>
              <a:t> CRUD </a:t>
            </a:r>
            <a:r>
              <a:rPr lang="en-US" dirty="0" err="1" smtClean="0"/>
              <a:t>методы</a:t>
            </a:r>
            <a:r>
              <a:rPr lang="en-US" dirty="0" smtClean="0"/>
              <a:t> в </a:t>
            </a:r>
            <a:r>
              <a:rPr lang="en-US" dirty="0" err="1" smtClean="0"/>
              <a:t>пару-тройку</a:t>
            </a:r>
            <a:r>
              <a:rPr lang="en-US" dirty="0" smtClean="0"/>
              <a:t> </a:t>
            </a:r>
            <a:r>
              <a:rPr lang="en-US" dirty="0" err="1" smtClean="0"/>
              <a:t>строк</a:t>
            </a:r>
            <a:r>
              <a:rPr lang="en-US" dirty="0" smtClean="0"/>
              <a:t>.</a:t>
            </a:r>
            <a:endParaRPr lang="ru-RU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Архитектура в </a:t>
            </a:r>
            <a:r>
              <a:rPr lang="en-US" b="1" dirty="0" err="1" smtClean="0"/>
              <a:t>Django</a:t>
            </a:r>
            <a:r>
              <a:rPr lang="ru-RU" b="1" dirty="0" smtClean="0"/>
              <a:t> проектах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ru-RU" b="1" cap="small" dirty="0" smtClean="0"/>
              <a:t>Слой </a:t>
            </a:r>
            <a:r>
              <a:rPr lang="en-US" b="1" cap="small" dirty="0" smtClean="0"/>
              <a:t>Services</a:t>
            </a:r>
            <a:endParaRPr lang="ru-RU" b="1" cap="small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844824"/>
            <a:ext cx="8229600" cy="5013176"/>
          </a:xfrm>
        </p:spPr>
        <p:txBody>
          <a:bodyPr>
            <a:normAutofit fontScale="92500" lnSpcReduction="20000"/>
          </a:bodyPr>
          <a:lstStyle/>
          <a:p>
            <a:r>
              <a:rPr lang="ru-RU" dirty="0" smtClean="0"/>
              <a:t>Мы перебрали все </a:t>
            </a:r>
            <a:r>
              <a:rPr lang="ru-RU" dirty="0" err="1" smtClean="0"/>
              <a:t>дефолтные</a:t>
            </a:r>
            <a:r>
              <a:rPr lang="ru-RU" dirty="0" smtClean="0"/>
              <a:t> слои в </a:t>
            </a:r>
            <a:r>
              <a:rPr lang="ru-RU" dirty="0" err="1" smtClean="0"/>
              <a:t>Django</a:t>
            </a:r>
            <a:r>
              <a:rPr lang="ru-RU" dirty="0" smtClean="0"/>
              <a:t> приложении, теперь можем вспомнить о том, что под слоем </a:t>
            </a:r>
            <a:r>
              <a:rPr lang="ru-RU" dirty="0" err="1" smtClean="0"/>
              <a:t>Model</a:t>
            </a:r>
            <a:r>
              <a:rPr lang="ru-RU" dirty="0" smtClean="0"/>
              <a:t> в MVC подразумевается не один объект, а набор объектов. </a:t>
            </a:r>
          </a:p>
          <a:p>
            <a:r>
              <a:rPr lang="en-US" dirty="0" err="1" smtClean="0"/>
              <a:t>Выделим</a:t>
            </a:r>
            <a:r>
              <a:rPr lang="en-US" dirty="0" smtClean="0"/>
              <a:t> </a:t>
            </a:r>
            <a:r>
              <a:rPr lang="en-US" dirty="0" err="1" smtClean="0"/>
              <a:t>отдельный</a:t>
            </a:r>
            <a:r>
              <a:rPr lang="en-US" dirty="0" smtClean="0"/>
              <a:t> </a:t>
            </a:r>
            <a:r>
              <a:rPr lang="en-US" dirty="0" err="1" smtClean="0"/>
              <a:t>сервисный</a:t>
            </a:r>
            <a:r>
              <a:rPr lang="en-US" dirty="0" smtClean="0"/>
              <a:t> </a:t>
            </a:r>
            <a:r>
              <a:rPr lang="en-US" dirty="0" err="1" smtClean="0"/>
              <a:t>слой</a:t>
            </a:r>
            <a:r>
              <a:rPr lang="en-US" dirty="0" smtClean="0"/>
              <a:t> services </a:t>
            </a:r>
            <a:r>
              <a:rPr lang="en-US" dirty="0" err="1" smtClean="0"/>
              <a:t>внутри</a:t>
            </a:r>
            <a:r>
              <a:rPr lang="en-US" dirty="0" smtClean="0"/>
              <a:t> </a:t>
            </a:r>
            <a:r>
              <a:rPr lang="en-US" dirty="0" err="1" smtClean="0"/>
              <a:t>слоя</a:t>
            </a:r>
            <a:r>
              <a:rPr lang="en-US" dirty="0" smtClean="0"/>
              <a:t> Model, </a:t>
            </a:r>
            <a:r>
              <a:rPr lang="en-US" dirty="0" err="1" smtClean="0"/>
              <a:t>который</a:t>
            </a:r>
            <a:r>
              <a:rPr lang="en-US" dirty="0" smtClean="0"/>
              <a:t> </a:t>
            </a:r>
            <a:r>
              <a:rPr lang="en-US" dirty="0" err="1" smtClean="0"/>
              <a:t>будет</a:t>
            </a:r>
            <a:r>
              <a:rPr lang="en-US" dirty="0" smtClean="0"/>
              <a:t> </a:t>
            </a:r>
            <a:r>
              <a:rPr lang="en-US" dirty="0" err="1" smtClean="0"/>
              <a:t>отвечать</a:t>
            </a:r>
            <a:r>
              <a:rPr lang="en-US" dirty="0" smtClean="0"/>
              <a:t> </a:t>
            </a:r>
            <a:r>
              <a:rPr lang="en-US" dirty="0" err="1" smtClean="0"/>
              <a:t>за</a:t>
            </a:r>
            <a:r>
              <a:rPr lang="en-US" dirty="0" smtClean="0"/>
              <a:t> </a:t>
            </a:r>
            <a:r>
              <a:rPr lang="en-US" dirty="0" err="1" smtClean="0"/>
              <a:t>бизнес-правила</a:t>
            </a:r>
            <a:r>
              <a:rPr lang="en-US" dirty="0" smtClean="0"/>
              <a:t> </a:t>
            </a:r>
            <a:r>
              <a:rPr lang="en-US" dirty="0" err="1" smtClean="0"/>
              <a:t>предметной</a:t>
            </a:r>
            <a:r>
              <a:rPr lang="en-US" dirty="0" smtClean="0"/>
              <a:t> </a:t>
            </a:r>
            <a:r>
              <a:rPr lang="en-US" dirty="0" err="1" smtClean="0"/>
              <a:t>области</a:t>
            </a:r>
            <a:r>
              <a:rPr lang="en-US" dirty="0" smtClean="0"/>
              <a:t> и </a:t>
            </a:r>
            <a:r>
              <a:rPr lang="en-US" dirty="0" err="1" smtClean="0"/>
              <a:t>приложения</a:t>
            </a:r>
            <a:r>
              <a:rPr lang="en-US" dirty="0" smtClean="0"/>
              <a:t>. В models </a:t>
            </a:r>
            <a:r>
              <a:rPr lang="en-US" dirty="0" err="1" smtClean="0"/>
              <a:t>оставить</a:t>
            </a:r>
            <a:r>
              <a:rPr lang="en-US" dirty="0" smtClean="0"/>
              <a:t> </a:t>
            </a:r>
            <a:r>
              <a:rPr lang="en-US" dirty="0" err="1" smtClean="0"/>
              <a:t>только</a:t>
            </a:r>
            <a:r>
              <a:rPr lang="en-US" dirty="0" smtClean="0"/>
              <a:t> </a:t>
            </a:r>
            <a:r>
              <a:rPr lang="en-US" dirty="0" err="1" smtClean="0"/>
              <a:t>простые</a:t>
            </a:r>
            <a:r>
              <a:rPr lang="en-US" dirty="0" smtClean="0"/>
              <a:t> property, в </a:t>
            </a:r>
            <a:r>
              <a:rPr lang="en-US" dirty="0" err="1" smtClean="0"/>
              <a:t>которых</a:t>
            </a:r>
            <a:r>
              <a:rPr lang="en-US" dirty="0" smtClean="0"/>
              <a:t> </a:t>
            </a:r>
            <a:r>
              <a:rPr lang="en-US" dirty="0" err="1" smtClean="0"/>
              <a:t>нет</a:t>
            </a:r>
            <a:r>
              <a:rPr lang="en-US" dirty="0" smtClean="0"/>
              <a:t> </a:t>
            </a:r>
            <a:r>
              <a:rPr lang="en-US" dirty="0" err="1" smtClean="0"/>
              <a:t>сложных</a:t>
            </a:r>
            <a:r>
              <a:rPr lang="en-US" dirty="0" smtClean="0"/>
              <a:t> </a:t>
            </a:r>
            <a:r>
              <a:rPr lang="en-US" dirty="0" err="1" smtClean="0"/>
              <a:t>бизнес-правил</a:t>
            </a:r>
            <a:r>
              <a:rPr lang="en-US" dirty="0" smtClean="0"/>
              <a:t>, и </a:t>
            </a:r>
            <a:r>
              <a:rPr lang="en-US" dirty="0" err="1" smtClean="0"/>
              <a:t>методы</a:t>
            </a:r>
            <a:r>
              <a:rPr lang="en-US" dirty="0" smtClean="0"/>
              <a:t> </a:t>
            </a:r>
            <a:r>
              <a:rPr lang="en-US" dirty="0" err="1" smtClean="0"/>
              <a:t>для</a:t>
            </a:r>
            <a:r>
              <a:rPr lang="en-US" dirty="0" smtClean="0"/>
              <a:t> </a:t>
            </a:r>
            <a:r>
              <a:rPr lang="en-US" dirty="0" err="1" smtClean="0"/>
              <a:t>работы</a:t>
            </a:r>
            <a:r>
              <a:rPr lang="en-US" dirty="0" smtClean="0"/>
              <a:t> с </a:t>
            </a:r>
            <a:r>
              <a:rPr lang="en-US" dirty="0" err="1" smtClean="0"/>
              <a:t>собственными</a:t>
            </a:r>
            <a:r>
              <a:rPr lang="en-US" dirty="0" smtClean="0"/>
              <a:t> </a:t>
            </a:r>
            <a:r>
              <a:rPr lang="en-US" dirty="0" err="1" smtClean="0"/>
              <a:t>данными</a:t>
            </a:r>
            <a:r>
              <a:rPr lang="en-US" dirty="0" smtClean="0"/>
              <a:t> </a:t>
            </a:r>
            <a:r>
              <a:rPr lang="en-US" dirty="0" err="1" smtClean="0"/>
              <a:t>модели</a:t>
            </a:r>
            <a:r>
              <a:rPr lang="en-US" dirty="0" smtClean="0"/>
              <a:t>, </a:t>
            </a:r>
            <a:r>
              <a:rPr lang="en-US" dirty="0" err="1" smtClean="0"/>
              <a:t>например</a:t>
            </a:r>
            <a:r>
              <a:rPr lang="en-US" dirty="0" smtClean="0"/>
              <a:t> </a:t>
            </a:r>
            <a:r>
              <a:rPr lang="en-US" dirty="0" err="1" smtClean="0"/>
              <a:t>обновление</a:t>
            </a:r>
            <a:r>
              <a:rPr lang="en-US" dirty="0" smtClean="0"/>
              <a:t> </a:t>
            </a:r>
            <a:r>
              <a:rPr lang="en-US" dirty="0" err="1" smtClean="0"/>
              <a:t>полей</a:t>
            </a:r>
            <a:r>
              <a:rPr lang="en-US" dirty="0" smtClean="0"/>
              <a:t>. </a:t>
            </a:r>
            <a:endParaRPr lang="ru-RU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Архитектура в </a:t>
            </a:r>
            <a:r>
              <a:rPr lang="en-US" b="1" dirty="0" err="1" smtClean="0"/>
              <a:t>Django</a:t>
            </a:r>
            <a:r>
              <a:rPr lang="ru-RU" b="1" dirty="0" smtClean="0"/>
              <a:t> проектах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ru-RU" b="1" cap="small" dirty="0" smtClean="0"/>
              <a:t>Слой </a:t>
            </a:r>
            <a:r>
              <a:rPr lang="en-US" b="1" cap="small" dirty="0" smtClean="0"/>
              <a:t>Services</a:t>
            </a:r>
            <a:endParaRPr lang="ru-RU" b="1" cap="small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844824"/>
            <a:ext cx="8229600" cy="5013176"/>
          </a:xfrm>
        </p:spPr>
        <p:txBody>
          <a:bodyPr>
            <a:normAutofit fontScale="92500"/>
          </a:bodyPr>
          <a:lstStyle/>
          <a:p>
            <a:r>
              <a:rPr lang="ru-RU" dirty="0" smtClean="0"/>
              <a:t>Стоит придерживаться следующему подходу:</a:t>
            </a:r>
          </a:p>
          <a:p>
            <a:pPr lvl="1"/>
            <a:r>
              <a:rPr lang="ru-RU" dirty="0" err="1" smtClean="0"/>
              <a:t>views</a:t>
            </a:r>
            <a:r>
              <a:rPr lang="ru-RU" dirty="0" smtClean="0"/>
              <a:t> — подготовка данных запроса, вызов бизнес логики, подготовка ответа</a:t>
            </a:r>
          </a:p>
          <a:p>
            <a:pPr lvl="1"/>
            <a:r>
              <a:rPr lang="ru-RU" dirty="0" err="1" smtClean="0"/>
              <a:t>serializers</a:t>
            </a:r>
            <a:r>
              <a:rPr lang="ru-RU" dirty="0" smtClean="0"/>
              <a:t> — </a:t>
            </a:r>
            <a:r>
              <a:rPr lang="ru-RU" dirty="0" err="1" smtClean="0"/>
              <a:t>сериализация</a:t>
            </a:r>
            <a:r>
              <a:rPr lang="ru-RU" dirty="0" smtClean="0"/>
              <a:t> данных, простая </a:t>
            </a:r>
            <a:r>
              <a:rPr lang="ru-RU" dirty="0" err="1" smtClean="0"/>
              <a:t>валидация</a:t>
            </a:r>
            <a:endParaRPr lang="ru-RU" dirty="0" smtClean="0"/>
          </a:p>
          <a:p>
            <a:pPr lvl="1"/>
            <a:r>
              <a:rPr lang="ru-RU" dirty="0" err="1" smtClean="0"/>
              <a:t>services</a:t>
            </a:r>
            <a:r>
              <a:rPr lang="ru-RU" dirty="0" smtClean="0"/>
              <a:t> — простые функции с бизнес правилами или классы (</a:t>
            </a:r>
            <a:r>
              <a:rPr lang="ru-RU" dirty="0" err="1" smtClean="0"/>
              <a:t>Service</a:t>
            </a:r>
            <a:r>
              <a:rPr lang="ru-RU" dirty="0" smtClean="0"/>
              <a:t> </a:t>
            </a:r>
            <a:r>
              <a:rPr lang="ru-RU" dirty="0" err="1" smtClean="0"/>
              <a:t>Objects</a:t>
            </a:r>
            <a:r>
              <a:rPr lang="ru-RU" dirty="0" smtClean="0"/>
              <a:t>)</a:t>
            </a:r>
          </a:p>
          <a:p>
            <a:pPr lvl="1"/>
            <a:r>
              <a:rPr lang="ru-RU" dirty="0" err="1" smtClean="0"/>
              <a:t>managers</a:t>
            </a:r>
            <a:r>
              <a:rPr lang="ru-RU" dirty="0" smtClean="0"/>
              <a:t> — содержит в себе правила работы с данными (доступ к данным)</a:t>
            </a:r>
          </a:p>
          <a:p>
            <a:pPr lvl="1"/>
            <a:r>
              <a:rPr lang="ru-RU" dirty="0" err="1" smtClean="0"/>
              <a:t>models</a:t>
            </a:r>
            <a:r>
              <a:rPr lang="ru-RU" dirty="0" smtClean="0"/>
              <a:t> — единственный окончательный источник правды о данных</a:t>
            </a:r>
            <a:endParaRPr lang="ru-RU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Архитектура в </a:t>
            </a:r>
            <a:r>
              <a:rPr lang="en-US" b="1" dirty="0" err="1" smtClean="0"/>
              <a:t>Django</a:t>
            </a:r>
            <a:r>
              <a:rPr lang="ru-RU" b="1" dirty="0" smtClean="0"/>
              <a:t> проектах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ru-RU" b="1" cap="small" dirty="0"/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 descr="https://habrastorage.org/r/w1560/getpro/habr/upload_files/5e3/0af/5fb/5e30af5fbf6b7c1e501cfe80fa3b61cd.pn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19672" y="980728"/>
            <a:ext cx="6336704" cy="56443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 smtClean="0"/>
              <a:t>Clean</a:t>
            </a:r>
            <a:r>
              <a:rPr lang="ru-RU" dirty="0" smtClean="0"/>
              <a:t> </a:t>
            </a:r>
            <a:r>
              <a:rPr lang="ru-RU" dirty="0" err="1" smtClean="0"/>
              <a:t>Architecture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ru-RU" b="1" cap="small" dirty="0"/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 smtClean="0"/>
              <a:t>В 2011 году </a:t>
            </a:r>
            <a:r>
              <a:rPr lang="ru-RU" dirty="0" err="1" smtClean="0">
                <a:hlinkClick r:id="rId2"/>
              </a:rPr>
              <a:t>Robert</a:t>
            </a:r>
            <a:r>
              <a:rPr lang="ru-RU" dirty="0" smtClean="0">
                <a:hlinkClick r:id="rId2"/>
              </a:rPr>
              <a:t> C. </a:t>
            </a:r>
            <a:r>
              <a:rPr lang="ru-RU" dirty="0" err="1" smtClean="0">
                <a:hlinkClick r:id="rId2"/>
              </a:rPr>
              <a:t>Martin</a:t>
            </a:r>
            <a:r>
              <a:rPr lang="ru-RU" dirty="0" smtClean="0"/>
              <a:t>, также известный как </a:t>
            </a:r>
            <a:r>
              <a:rPr lang="ru-RU" dirty="0" err="1" smtClean="0"/>
              <a:t>Uncle</a:t>
            </a:r>
            <a:r>
              <a:rPr lang="ru-RU" dirty="0" smtClean="0"/>
              <a:t> </a:t>
            </a:r>
            <a:r>
              <a:rPr lang="ru-RU" dirty="0" err="1" smtClean="0"/>
              <a:t>Bob</a:t>
            </a:r>
            <a:r>
              <a:rPr lang="ru-RU" dirty="0" smtClean="0"/>
              <a:t>, опубликовал статью </a:t>
            </a:r>
            <a:r>
              <a:rPr lang="ru-RU" dirty="0" err="1" smtClean="0">
                <a:hlinkClick r:id="rId3"/>
              </a:rPr>
              <a:t>Screaming</a:t>
            </a:r>
            <a:r>
              <a:rPr lang="ru-RU" dirty="0" smtClean="0">
                <a:hlinkClick r:id="rId3"/>
              </a:rPr>
              <a:t> </a:t>
            </a:r>
            <a:r>
              <a:rPr lang="ru-RU" dirty="0" err="1" smtClean="0">
                <a:hlinkClick r:id="rId3"/>
              </a:rPr>
              <a:t>Architecture</a:t>
            </a:r>
            <a:r>
              <a:rPr lang="ru-RU" dirty="0" smtClean="0"/>
              <a:t>, в которой говорится, что архитектура должна «кричать» о самом приложении, а не о том, какие </a:t>
            </a:r>
            <a:r>
              <a:rPr lang="ru-RU" dirty="0" err="1" smtClean="0"/>
              <a:t>фреймворки</a:t>
            </a:r>
            <a:r>
              <a:rPr lang="ru-RU" dirty="0" smtClean="0"/>
              <a:t> в нем используются. Позже вышла </a:t>
            </a:r>
            <a:r>
              <a:rPr lang="ru-RU" dirty="0" smtClean="0">
                <a:hlinkClick r:id="rId4"/>
              </a:rPr>
              <a:t>статья</a:t>
            </a:r>
            <a:r>
              <a:rPr lang="ru-RU" dirty="0" smtClean="0"/>
              <a:t>, в которой </a:t>
            </a:r>
            <a:r>
              <a:rPr lang="ru-RU" dirty="0" err="1" smtClean="0"/>
              <a:t>Uncle</a:t>
            </a:r>
            <a:r>
              <a:rPr lang="ru-RU" dirty="0" smtClean="0"/>
              <a:t> </a:t>
            </a:r>
            <a:r>
              <a:rPr lang="ru-RU" dirty="0" err="1" smtClean="0"/>
              <a:t>Bob</a:t>
            </a:r>
            <a:r>
              <a:rPr lang="ru-RU" dirty="0" smtClean="0"/>
              <a:t> даёт отпор высказывающимся против идей чистой архитектуры. А в 2012 году он опубликовал статью «</a:t>
            </a:r>
            <a:r>
              <a:rPr lang="ru-RU" b="1" dirty="0" err="1" smtClean="0">
                <a:hlinkClick r:id="rId5"/>
              </a:rPr>
              <a:t>The</a:t>
            </a:r>
            <a:r>
              <a:rPr lang="ru-RU" b="1" dirty="0" smtClean="0">
                <a:hlinkClick r:id="rId5"/>
              </a:rPr>
              <a:t> </a:t>
            </a:r>
            <a:r>
              <a:rPr lang="ru-RU" b="1" dirty="0" err="1" smtClean="0">
                <a:hlinkClick r:id="rId5"/>
              </a:rPr>
              <a:t>Clean</a:t>
            </a:r>
            <a:r>
              <a:rPr lang="ru-RU" b="1" dirty="0" smtClean="0">
                <a:hlinkClick r:id="rId5"/>
              </a:rPr>
              <a:t> </a:t>
            </a:r>
            <a:r>
              <a:rPr lang="ru-RU" b="1" dirty="0" err="1" smtClean="0">
                <a:hlinkClick r:id="rId5"/>
              </a:rPr>
              <a:t>Architecture</a:t>
            </a:r>
            <a:r>
              <a:rPr lang="ru-RU" dirty="0" smtClean="0"/>
              <a:t>», </a:t>
            </a:r>
            <a:r>
              <a:rPr lang="ru-RU" i="1" dirty="0" smtClean="0"/>
              <a:t>которая и является основным описанием этого подхода</a:t>
            </a:r>
            <a:r>
              <a:rPr lang="ru-RU" dirty="0" smtClean="0"/>
              <a:t>. Кроме этих статей я также очень рекомендую посмотреть </a:t>
            </a:r>
            <a:r>
              <a:rPr lang="ru-RU" dirty="0" smtClean="0">
                <a:hlinkClick r:id="rId6"/>
              </a:rPr>
              <a:t>видео</a:t>
            </a:r>
            <a:r>
              <a:rPr lang="ru-RU" dirty="0" smtClean="0"/>
              <a:t> выступления Дяди Боба.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 smtClean="0"/>
              <a:t>Clean</a:t>
            </a:r>
            <a:r>
              <a:rPr lang="ru-RU" dirty="0" smtClean="0"/>
              <a:t> </a:t>
            </a:r>
            <a:r>
              <a:rPr lang="ru-RU" dirty="0" err="1" smtClean="0"/>
              <a:t>Architecture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ru-RU" b="1" cap="small" dirty="0"/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ru-RU" dirty="0" smtClean="0"/>
          </a:p>
        </p:txBody>
      </p:sp>
      <p:pic>
        <p:nvPicPr>
          <p:cNvPr id="1026" name="Picture 2" descr="22b033c50a144c7491662c8cd292fbab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1052736"/>
            <a:ext cx="7452320" cy="5472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 smtClean="0"/>
              <a:t>Clean</a:t>
            </a:r>
            <a:r>
              <a:rPr lang="ru-RU" dirty="0" smtClean="0"/>
              <a:t> </a:t>
            </a:r>
            <a:r>
              <a:rPr lang="ru-RU" dirty="0" err="1" smtClean="0"/>
              <a:t>Architecture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ru-RU" b="1" cap="small" dirty="0"/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612776"/>
          </a:xfrm>
        </p:spPr>
        <p:txBody>
          <a:bodyPr>
            <a:normAutofit fontScale="70000" lnSpcReduction="20000"/>
          </a:bodyPr>
          <a:lstStyle/>
          <a:p>
            <a:r>
              <a:rPr lang="ru-RU" dirty="0" smtClean="0"/>
              <a:t>В Android-сообществе </a:t>
            </a:r>
            <a:r>
              <a:rPr lang="ru-RU" dirty="0" err="1" smtClean="0"/>
              <a:t>Clean</a:t>
            </a:r>
            <a:r>
              <a:rPr lang="ru-RU" dirty="0" smtClean="0"/>
              <a:t> стала быстро набирать популярность после статьи </a:t>
            </a:r>
            <a:r>
              <a:rPr lang="ru-RU" b="1" dirty="0" err="1" smtClean="0">
                <a:hlinkClick r:id="rId2"/>
              </a:rPr>
              <a:t>Architecting</a:t>
            </a:r>
            <a:r>
              <a:rPr lang="ru-RU" b="1" dirty="0" smtClean="0">
                <a:hlinkClick r:id="rId2"/>
              </a:rPr>
              <a:t> </a:t>
            </a:r>
            <a:r>
              <a:rPr lang="ru-RU" b="1" dirty="0" err="1" smtClean="0">
                <a:hlinkClick r:id="rId2"/>
              </a:rPr>
              <a:t>Android...The</a:t>
            </a:r>
            <a:r>
              <a:rPr lang="ru-RU" b="1" dirty="0" smtClean="0">
                <a:hlinkClick r:id="rId2"/>
              </a:rPr>
              <a:t> </a:t>
            </a:r>
            <a:r>
              <a:rPr lang="ru-RU" b="1" dirty="0" err="1" smtClean="0">
                <a:hlinkClick r:id="rId2"/>
              </a:rPr>
              <a:t>clean</a:t>
            </a:r>
            <a:r>
              <a:rPr lang="ru-RU" b="1" dirty="0" smtClean="0">
                <a:hlinkClick r:id="rId2"/>
              </a:rPr>
              <a:t> </a:t>
            </a:r>
            <a:r>
              <a:rPr lang="ru-RU" b="1" dirty="0" err="1" smtClean="0">
                <a:hlinkClick r:id="rId2"/>
              </a:rPr>
              <a:t>way</a:t>
            </a:r>
            <a:r>
              <a:rPr lang="ru-RU" b="1" dirty="0" smtClean="0">
                <a:hlinkClick r:id="rId2"/>
              </a:rPr>
              <a:t>?</a:t>
            </a:r>
            <a:r>
              <a:rPr lang="ru-RU" dirty="0" smtClean="0"/>
              <a:t>, написанной </a:t>
            </a:r>
            <a:r>
              <a:rPr lang="ru-RU" dirty="0" err="1" smtClean="0"/>
              <a:t>Fernando</a:t>
            </a:r>
            <a:r>
              <a:rPr lang="ru-RU" dirty="0" smtClean="0"/>
              <a:t> </a:t>
            </a:r>
            <a:r>
              <a:rPr lang="ru-RU" dirty="0" err="1" smtClean="0"/>
              <a:t>Cejas</a:t>
            </a:r>
            <a:r>
              <a:rPr lang="ru-RU" dirty="0" smtClean="0"/>
              <a:t>. Я впервые узнал про </a:t>
            </a:r>
            <a:r>
              <a:rPr lang="ru-RU" dirty="0" err="1" smtClean="0"/>
              <a:t>Clean</a:t>
            </a:r>
            <a:r>
              <a:rPr lang="ru-RU" dirty="0" smtClean="0"/>
              <a:t> </a:t>
            </a:r>
            <a:r>
              <a:rPr lang="ru-RU" dirty="0" err="1" smtClean="0"/>
              <a:t>Architecture</a:t>
            </a:r>
            <a:r>
              <a:rPr lang="ru-RU" dirty="0" smtClean="0"/>
              <a:t> именно из неё. И только потом пошёл искать оригинал. В этой статье </a:t>
            </a:r>
            <a:r>
              <a:rPr lang="ru-RU" dirty="0" err="1" smtClean="0"/>
              <a:t>Fernando</a:t>
            </a:r>
            <a:r>
              <a:rPr lang="ru-RU" dirty="0" smtClean="0"/>
              <a:t> приводит </a:t>
            </a:r>
            <a:r>
              <a:rPr lang="ru-RU" i="1" dirty="0" smtClean="0"/>
              <a:t>такую схему слоёв</a:t>
            </a:r>
            <a:r>
              <a:rPr lang="ru-RU" dirty="0" smtClean="0"/>
              <a:t>:</a:t>
            </a:r>
          </a:p>
          <a:p>
            <a:endParaRPr lang="ru-RU" dirty="0" smtClean="0"/>
          </a:p>
        </p:txBody>
      </p:sp>
      <p:pic>
        <p:nvPicPr>
          <p:cNvPr id="2050" name="Picture 2" descr="9ac65cf9ba3849db8532914040bd89b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536" y="2924944"/>
            <a:ext cx="8305368" cy="36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 smtClean="0"/>
              <a:t>Clean</a:t>
            </a:r>
            <a:r>
              <a:rPr lang="ru-RU" dirty="0" smtClean="0"/>
              <a:t> </a:t>
            </a:r>
            <a:r>
              <a:rPr lang="ru-RU" dirty="0" err="1" smtClean="0"/>
              <a:t>Architecture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ru-RU" b="1" cap="small" dirty="0"/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205063"/>
          </a:xfrm>
        </p:spPr>
        <p:txBody>
          <a:bodyPr>
            <a:normAutofit fontScale="77500" lnSpcReduction="20000"/>
          </a:bodyPr>
          <a:lstStyle/>
          <a:p>
            <a:r>
              <a:rPr lang="ru-RU" dirty="0" err="1" smtClean="0"/>
              <a:t>Clean</a:t>
            </a:r>
            <a:r>
              <a:rPr lang="ru-RU" dirty="0" smtClean="0"/>
              <a:t> </a:t>
            </a:r>
            <a:r>
              <a:rPr lang="ru-RU" dirty="0" err="1" smtClean="0"/>
              <a:t>Architecture</a:t>
            </a:r>
            <a:r>
              <a:rPr lang="ru-RU" dirty="0" smtClean="0"/>
              <a:t> объединила в себе идеи нескольких других архитектурных подходов, которые сходятся в том, что </a:t>
            </a:r>
            <a:r>
              <a:rPr lang="ru-RU" b="1" dirty="0" smtClean="0"/>
              <a:t>архитектура должна</a:t>
            </a:r>
            <a:r>
              <a:rPr lang="ru-RU" dirty="0" smtClean="0"/>
              <a:t>:</a:t>
            </a:r>
          </a:p>
          <a:p>
            <a:pPr>
              <a:buNone/>
            </a:pPr>
            <a:endParaRPr lang="ru-RU" dirty="0" smtClean="0"/>
          </a:p>
          <a:p>
            <a:pPr lvl="0"/>
            <a:r>
              <a:rPr lang="ru-RU" dirty="0" smtClean="0"/>
              <a:t>быть тестируемой;</a:t>
            </a:r>
          </a:p>
          <a:p>
            <a:pPr lvl="0"/>
            <a:r>
              <a:rPr lang="ru-RU" dirty="0" smtClean="0"/>
              <a:t>не зависеть от UI;</a:t>
            </a:r>
          </a:p>
          <a:p>
            <a:pPr lvl="0"/>
            <a:r>
              <a:rPr lang="ru-RU" dirty="0" smtClean="0"/>
              <a:t>не зависеть от БД, внешних </a:t>
            </a:r>
            <a:r>
              <a:rPr lang="ru-RU" dirty="0" err="1" smtClean="0"/>
              <a:t>фреймворков</a:t>
            </a:r>
            <a:r>
              <a:rPr lang="ru-RU" dirty="0" smtClean="0"/>
              <a:t> и библиотек.</a:t>
            </a:r>
            <a:endParaRPr lang="en-US" dirty="0" smtClean="0"/>
          </a:p>
          <a:p>
            <a:pPr lvl="0">
              <a:buNone/>
            </a:pPr>
            <a:endParaRPr lang="ru-RU" dirty="0" smtClean="0"/>
          </a:p>
          <a:p>
            <a:r>
              <a:rPr lang="ru-RU" dirty="0" smtClean="0"/>
              <a:t>Это достигается разделением на слои и следованием </a:t>
            </a:r>
            <a:r>
              <a:rPr lang="ru-RU" dirty="0" err="1" smtClean="0"/>
              <a:t>Dependency</a:t>
            </a:r>
            <a:r>
              <a:rPr lang="ru-RU" dirty="0" smtClean="0"/>
              <a:t> </a:t>
            </a:r>
            <a:r>
              <a:rPr lang="ru-RU" dirty="0" err="1" smtClean="0"/>
              <a:t>Rule</a:t>
            </a:r>
            <a:r>
              <a:rPr lang="ru-RU" dirty="0" smtClean="0"/>
              <a:t> (правилу зависимостей).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 smtClean="0"/>
              <a:t>Clean</a:t>
            </a:r>
            <a:r>
              <a:rPr lang="ru-RU" dirty="0" smtClean="0"/>
              <a:t> </a:t>
            </a:r>
            <a:r>
              <a:rPr lang="ru-RU" dirty="0" err="1" smtClean="0"/>
              <a:t>Architecture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ru-RU" dirty="0" smtClean="0"/>
              <a:t>Слои</a:t>
            </a:r>
            <a:endParaRPr lang="ru-RU" b="1" cap="small" dirty="0"/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>
            <a:normAutofit fontScale="85000" lnSpcReduction="10000"/>
          </a:bodyPr>
          <a:lstStyle/>
          <a:p>
            <a:r>
              <a:rPr lang="ru-RU" dirty="0" err="1" smtClean="0"/>
              <a:t>Uncle</a:t>
            </a:r>
            <a:r>
              <a:rPr lang="ru-RU" dirty="0" smtClean="0"/>
              <a:t> </a:t>
            </a:r>
            <a:r>
              <a:rPr lang="ru-RU" dirty="0" err="1" smtClean="0"/>
              <a:t>Bob</a:t>
            </a:r>
            <a:r>
              <a:rPr lang="ru-RU" dirty="0" smtClean="0"/>
              <a:t> выделяет 4 слоя:</a:t>
            </a:r>
          </a:p>
          <a:p>
            <a:pPr>
              <a:buNone/>
            </a:pPr>
            <a:r>
              <a:rPr lang="ru-RU" dirty="0" smtClean="0"/>
              <a:t> </a:t>
            </a:r>
          </a:p>
          <a:p>
            <a:pPr lvl="0"/>
            <a:r>
              <a:rPr lang="ru-RU" b="1" dirty="0" err="1" smtClean="0"/>
              <a:t>Entities</a:t>
            </a:r>
            <a:r>
              <a:rPr lang="ru-RU" dirty="0" smtClean="0"/>
              <a:t>. Бизнес-логика общая для многих приложений.</a:t>
            </a:r>
          </a:p>
          <a:p>
            <a:pPr lvl="0"/>
            <a:r>
              <a:rPr lang="en-US" b="1" dirty="0" smtClean="0"/>
              <a:t>Use Cases (</a:t>
            </a:r>
            <a:r>
              <a:rPr lang="en-US" b="1" dirty="0" err="1" smtClean="0"/>
              <a:t>Interactors</a:t>
            </a:r>
            <a:r>
              <a:rPr lang="en-US" b="1" dirty="0" smtClean="0"/>
              <a:t>)</a:t>
            </a:r>
            <a:r>
              <a:rPr lang="en-US" dirty="0" smtClean="0"/>
              <a:t>. </a:t>
            </a:r>
            <a:r>
              <a:rPr lang="ru-RU" dirty="0" smtClean="0"/>
              <a:t>Логика приложения</a:t>
            </a:r>
            <a:r>
              <a:rPr lang="en-US" dirty="0" smtClean="0"/>
              <a:t>.</a:t>
            </a:r>
            <a:endParaRPr lang="ru-RU" dirty="0" smtClean="0"/>
          </a:p>
          <a:p>
            <a:pPr lvl="0"/>
            <a:r>
              <a:rPr lang="en-US" b="1" dirty="0" smtClean="0"/>
              <a:t>Interface Adapters</a:t>
            </a:r>
            <a:r>
              <a:rPr lang="en-US" dirty="0" smtClean="0"/>
              <a:t>. </a:t>
            </a:r>
            <a:r>
              <a:rPr lang="ru-RU" dirty="0" smtClean="0"/>
              <a:t>Адаптеры между</a:t>
            </a:r>
            <a:r>
              <a:rPr lang="en-US" dirty="0" smtClean="0"/>
              <a:t> Use Cases </a:t>
            </a:r>
            <a:r>
              <a:rPr lang="ru-RU" dirty="0" smtClean="0"/>
              <a:t>и внешним миром</a:t>
            </a:r>
            <a:r>
              <a:rPr lang="en-US" dirty="0" smtClean="0"/>
              <a:t>. </a:t>
            </a:r>
            <a:r>
              <a:rPr lang="ru-RU" dirty="0" smtClean="0"/>
              <a:t>Сюда попадают </a:t>
            </a:r>
            <a:r>
              <a:rPr lang="ru-RU" dirty="0" err="1" smtClean="0"/>
              <a:t>Presenter’ы</a:t>
            </a:r>
            <a:r>
              <a:rPr lang="ru-RU" dirty="0" smtClean="0"/>
              <a:t> из MVP, а также </a:t>
            </a:r>
            <a:r>
              <a:rPr lang="ru-RU" dirty="0" err="1" smtClean="0"/>
              <a:t>Gateways</a:t>
            </a:r>
            <a:r>
              <a:rPr lang="ru-RU" dirty="0" smtClean="0"/>
              <a:t> (более популярное название </a:t>
            </a:r>
            <a:r>
              <a:rPr lang="ru-RU" dirty="0" err="1" smtClean="0"/>
              <a:t>репозитории</a:t>
            </a:r>
            <a:r>
              <a:rPr lang="ru-RU" dirty="0" smtClean="0"/>
              <a:t>).</a:t>
            </a:r>
          </a:p>
          <a:p>
            <a:pPr lvl="0"/>
            <a:r>
              <a:rPr lang="ru-RU" b="1" dirty="0" err="1" smtClean="0"/>
              <a:t>Frameworks</a:t>
            </a:r>
            <a:r>
              <a:rPr lang="ru-RU" dirty="0" smtClean="0"/>
              <a:t>. Самый внешний слой, тут лежит все остальное: UI, база данных, http-клиент, и т.п.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 smtClean="0"/>
              <a:t>Clean</a:t>
            </a:r>
            <a:r>
              <a:rPr lang="ru-RU" dirty="0" smtClean="0"/>
              <a:t> </a:t>
            </a:r>
            <a:r>
              <a:rPr lang="ru-RU" dirty="0" err="1" smtClean="0"/>
              <a:t>Architecture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ru-RU" dirty="0" smtClean="0"/>
              <a:t>Слои</a:t>
            </a:r>
            <a:endParaRPr lang="ru-RU" b="1" cap="small" dirty="0"/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>
            <a:normAutofit fontScale="85000" lnSpcReduction="10000"/>
          </a:bodyPr>
          <a:lstStyle/>
          <a:p>
            <a:r>
              <a:rPr lang="ru-RU" dirty="0" err="1" smtClean="0"/>
              <a:t>Uncle</a:t>
            </a:r>
            <a:r>
              <a:rPr lang="ru-RU" dirty="0" smtClean="0"/>
              <a:t> </a:t>
            </a:r>
            <a:r>
              <a:rPr lang="ru-RU" dirty="0" err="1" smtClean="0"/>
              <a:t>Bob</a:t>
            </a:r>
            <a:r>
              <a:rPr lang="ru-RU" dirty="0" smtClean="0"/>
              <a:t> выделяет 4 слоя:</a:t>
            </a:r>
          </a:p>
          <a:p>
            <a:pPr>
              <a:buNone/>
            </a:pPr>
            <a:r>
              <a:rPr lang="ru-RU" dirty="0" smtClean="0"/>
              <a:t> </a:t>
            </a:r>
          </a:p>
          <a:p>
            <a:pPr lvl="0"/>
            <a:r>
              <a:rPr lang="ru-RU" b="1" dirty="0" err="1" smtClean="0"/>
              <a:t>Entities</a:t>
            </a:r>
            <a:r>
              <a:rPr lang="ru-RU" dirty="0" smtClean="0"/>
              <a:t>. Бизнес-логика общая для многих приложений.</a:t>
            </a:r>
          </a:p>
          <a:p>
            <a:pPr lvl="0"/>
            <a:r>
              <a:rPr lang="en-US" b="1" dirty="0" smtClean="0"/>
              <a:t>Use Cases (</a:t>
            </a:r>
            <a:r>
              <a:rPr lang="en-US" b="1" dirty="0" err="1" smtClean="0"/>
              <a:t>Interactors</a:t>
            </a:r>
            <a:r>
              <a:rPr lang="en-US" b="1" dirty="0" smtClean="0"/>
              <a:t>)</a:t>
            </a:r>
            <a:r>
              <a:rPr lang="en-US" dirty="0" smtClean="0"/>
              <a:t>. </a:t>
            </a:r>
            <a:r>
              <a:rPr lang="ru-RU" dirty="0" smtClean="0"/>
              <a:t>Логика приложения</a:t>
            </a:r>
            <a:r>
              <a:rPr lang="en-US" dirty="0" smtClean="0"/>
              <a:t>.</a:t>
            </a:r>
            <a:endParaRPr lang="ru-RU" dirty="0" smtClean="0"/>
          </a:p>
          <a:p>
            <a:pPr lvl="0"/>
            <a:r>
              <a:rPr lang="en-US" b="1" dirty="0" smtClean="0"/>
              <a:t>Interface Adapters</a:t>
            </a:r>
            <a:r>
              <a:rPr lang="en-US" dirty="0" smtClean="0"/>
              <a:t>. </a:t>
            </a:r>
            <a:r>
              <a:rPr lang="ru-RU" dirty="0" smtClean="0"/>
              <a:t>Адаптеры между</a:t>
            </a:r>
            <a:r>
              <a:rPr lang="en-US" dirty="0" smtClean="0"/>
              <a:t> Use Cases </a:t>
            </a:r>
            <a:r>
              <a:rPr lang="ru-RU" dirty="0" smtClean="0"/>
              <a:t>и внешним миром</a:t>
            </a:r>
            <a:r>
              <a:rPr lang="en-US" dirty="0" smtClean="0"/>
              <a:t>. </a:t>
            </a:r>
            <a:r>
              <a:rPr lang="ru-RU" dirty="0" smtClean="0"/>
              <a:t>Сюда попадают </a:t>
            </a:r>
            <a:r>
              <a:rPr lang="ru-RU" dirty="0" err="1" smtClean="0"/>
              <a:t>Presenter’ы</a:t>
            </a:r>
            <a:r>
              <a:rPr lang="ru-RU" dirty="0" smtClean="0"/>
              <a:t> из MVP, а также </a:t>
            </a:r>
            <a:r>
              <a:rPr lang="ru-RU" dirty="0" err="1" smtClean="0"/>
              <a:t>Gateways</a:t>
            </a:r>
            <a:r>
              <a:rPr lang="ru-RU" dirty="0" smtClean="0"/>
              <a:t> (более популярное название </a:t>
            </a:r>
            <a:r>
              <a:rPr lang="ru-RU" dirty="0" err="1" smtClean="0"/>
              <a:t>репозитории</a:t>
            </a:r>
            <a:r>
              <a:rPr lang="ru-RU" dirty="0" smtClean="0"/>
              <a:t>).</a:t>
            </a:r>
          </a:p>
          <a:p>
            <a:pPr lvl="0"/>
            <a:r>
              <a:rPr lang="ru-RU" b="1" dirty="0" err="1" smtClean="0"/>
              <a:t>Frameworks</a:t>
            </a:r>
            <a:r>
              <a:rPr lang="ru-RU" dirty="0" smtClean="0"/>
              <a:t>. Самый внешний слой, тут лежит все остальное: UI, база данных, http-клиент, и т.п.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 smtClean="0"/>
              <a:t>Clean</a:t>
            </a:r>
            <a:r>
              <a:rPr lang="ru-RU" dirty="0" smtClean="0"/>
              <a:t> </a:t>
            </a:r>
            <a:r>
              <a:rPr lang="ru-RU" dirty="0" err="1" smtClean="0"/>
              <a:t>Architecture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ru-RU" dirty="0" smtClean="0"/>
              <a:t>Переходы</a:t>
            </a:r>
            <a:endParaRPr lang="ru-RU" b="1" cap="small" dirty="0"/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 fontScale="77500" lnSpcReduction="20000"/>
          </a:bodyPr>
          <a:lstStyle/>
          <a:p>
            <a:r>
              <a:rPr lang="ru-RU" b="1" dirty="0" smtClean="0"/>
              <a:t>Переходы между слоями осуществляются через </a:t>
            </a:r>
            <a:r>
              <a:rPr lang="ru-RU" b="1" dirty="0" err="1" smtClean="0"/>
              <a:t>Boundaries</a:t>
            </a:r>
            <a:r>
              <a:rPr lang="ru-RU" dirty="0" smtClean="0"/>
              <a:t>, то есть через два интерфейса: один для запроса и один для ответа. Их можно увидеть справа на оригинальной схеме (</a:t>
            </a:r>
            <a:r>
              <a:rPr lang="ru-RU" dirty="0" err="1" smtClean="0"/>
              <a:t>Input</a:t>
            </a:r>
            <a:r>
              <a:rPr lang="ru-RU" dirty="0" smtClean="0"/>
              <a:t>/</a:t>
            </a:r>
            <a:r>
              <a:rPr lang="ru-RU" dirty="0" err="1" smtClean="0"/>
              <a:t>OutputPort</a:t>
            </a:r>
            <a:r>
              <a:rPr lang="ru-RU" dirty="0" smtClean="0"/>
              <a:t>). Они нужны, чтобы внутренний слой не зависел от внешнего (следуя </a:t>
            </a:r>
            <a:r>
              <a:rPr lang="ru-RU" dirty="0" err="1" smtClean="0"/>
              <a:t>Dependency</a:t>
            </a:r>
            <a:r>
              <a:rPr lang="ru-RU" dirty="0" smtClean="0"/>
              <a:t> </a:t>
            </a:r>
            <a:r>
              <a:rPr lang="ru-RU" dirty="0" err="1" smtClean="0"/>
              <a:t>Rule</a:t>
            </a:r>
            <a:r>
              <a:rPr lang="ru-RU" dirty="0" smtClean="0"/>
              <a:t>), но при этом мог передать ему данные.</a:t>
            </a:r>
            <a:endParaRPr lang="en-US" dirty="0" smtClean="0"/>
          </a:p>
          <a:p>
            <a:r>
              <a:rPr lang="ru-RU" dirty="0" smtClean="0"/>
              <a:t>Смотрите, </a:t>
            </a:r>
            <a:r>
              <a:rPr lang="ru-RU" dirty="0" err="1" smtClean="0"/>
              <a:t>Controller</a:t>
            </a:r>
            <a:r>
              <a:rPr lang="ru-RU" dirty="0" smtClean="0"/>
              <a:t> вызывает метод у </a:t>
            </a:r>
            <a:r>
              <a:rPr lang="ru-RU" dirty="0" err="1" smtClean="0"/>
              <a:t>InputPort</a:t>
            </a:r>
            <a:r>
              <a:rPr lang="ru-RU" dirty="0" smtClean="0"/>
              <a:t>, его реализует </a:t>
            </a:r>
            <a:r>
              <a:rPr lang="ru-RU" dirty="0" err="1" smtClean="0"/>
              <a:t>UseCase</a:t>
            </a:r>
            <a:r>
              <a:rPr lang="ru-RU" dirty="0" smtClean="0"/>
              <a:t>, а затем </a:t>
            </a:r>
            <a:r>
              <a:rPr lang="ru-RU" dirty="0" err="1" smtClean="0"/>
              <a:t>UseCase</a:t>
            </a:r>
            <a:r>
              <a:rPr lang="ru-RU" dirty="0" smtClean="0"/>
              <a:t> отдает ответ интерфейсу </a:t>
            </a:r>
            <a:r>
              <a:rPr lang="ru-RU" dirty="0" err="1" smtClean="0"/>
              <a:t>OutputPort</a:t>
            </a:r>
            <a:r>
              <a:rPr lang="ru-RU" dirty="0" smtClean="0"/>
              <a:t>, который реализует </a:t>
            </a:r>
            <a:r>
              <a:rPr lang="ru-RU" dirty="0" err="1" smtClean="0"/>
              <a:t>Presenter</a:t>
            </a:r>
            <a:r>
              <a:rPr lang="ru-RU" dirty="0" smtClean="0"/>
              <a:t>. То есть данные пересекли границу между слоями, но при этом все зависимости указывают внутрь на слой </a:t>
            </a:r>
            <a:r>
              <a:rPr lang="ru-RU" dirty="0" err="1" smtClean="0"/>
              <a:t>UseCase’ов</a:t>
            </a:r>
            <a:r>
              <a:rPr lang="ru-RU" dirty="0" smtClean="0"/>
              <a:t>. То есть, вместо того чтобы </a:t>
            </a:r>
            <a:r>
              <a:rPr lang="ru-RU" dirty="0" err="1" smtClean="0"/>
              <a:t>UseCase</a:t>
            </a:r>
            <a:r>
              <a:rPr lang="ru-RU" dirty="0" smtClean="0"/>
              <a:t> напрямую зависел от </a:t>
            </a:r>
            <a:r>
              <a:rPr lang="ru-RU" dirty="0" err="1" smtClean="0"/>
              <a:t>Presenter’a</a:t>
            </a:r>
            <a:r>
              <a:rPr lang="ru-RU" dirty="0" smtClean="0"/>
              <a:t> (что нарушало бы </a:t>
            </a:r>
            <a:r>
              <a:rPr lang="ru-RU" dirty="0" err="1" smtClean="0"/>
              <a:t>Dependency</a:t>
            </a:r>
            <a:r>
              <a:rPr lang="ru-RU" dirty="0" smtClean="0"/>
              <a:t> </a:t>
            </a:r>
            <a:r>
              <a:rPr lang="ru-RU" dirty="0" err="1" smtClean="0"/>
              <a:t>Rule</a:t>
            </a:r>
            <a:r>
              <a:rPr lang="ru-RU" dirty="0" smtClean="0"/>
              <a:t>), он зависит от интерфейса в своём слое, а </a:t>
            </a:r>
            <a:r>
              <a:rPr lang="ru-RU" dirty="0" err="1" smtClean="0"/>
              <a:t>Presenter</a:t>
            </a:r>
            <a:r>
              <a:rPr lang="ru-RU" dirty="0" smtClean="0"/>
              <a:t> должен этот интерфейс реализовать.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 smtClean="0"/>
              <a:t>Clean</a:t>
            </a:r>
            <a:r>
              <a:rPr lang="ru-RU" dirty="0" smtClean="0"/>
              <a:t> </a:t>
            </a:r>
            <a:r>
              <a:rPr lang="ru-RU" dirty="0" err="1" smtClean="0"/>
              <a:t>Architecture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ru-RU" dirty="0" smtClean="0"/>
              <a:t>Переходы</a:t>
            </a:r>
            <a:endParaRPr lang="ru-RU" b="1" cap="small" dirty="0"/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>
          <a:xfrm>
            <a:off x="179512" y="1600200"/>
            <a:ext cx="5194920" cy="5257800"/>
          </a:xfrm>
        </p:spPr>
        <p:txBody>
          <a:bodyPr>
            <a:normAutofit fontScale="70000" lnSpcReduction="20000"/>
          </a:bodyPr>
          <a:lstStyle/>
          <a:p>
            <a:r>
              <a:rPr lang="ru-RU" dirty="0" smtClean="0"/>
              <a:t>Точно та же схема работает и в других местах, например, при обращении </a:t>
            </a:r>
            <a:r>
              <a:rPr lang="ru-RU" dirty="0" err="1" smtClean="0"/>
              <a:t>UseCase</a:t>
            </a:r>
            <a:r>
              <a:rPr lang="ru-RU" dirty="0" smtClean="0"/>
              <a:t> к </a:t>
            </a:r>
            <a:r>
              <a:rPr lang="ru-RU" dirty="0" err="1" smtClean="0"/>
              <a:t>Gateway</a:t>
            </a:r>
            <a:r>
              <a:rPr lang="ru-RU" dirty="0" smtClean="0"/>
              <a:t>/</a:t>
            </a:r>
            <a:r>
              <a:rPr lang="ru-RU" dirty="0" err="1" smtClean="0"/>
              <a:t>Repository</a:t>
            </a:r>
            <a:r>
              <a:rPr lang="ru-RU" dirty="0" smtClean="0"/>
              <a:t>. Чтобы не зависеть от </a:t>
            </a:r>
            <a:r>
              <a:rPr lang="ru-RU" dirty="0" err="1" smtClean="0"/>
              <a:t>репозитория</a:t>
            </a:r>
            <a:r>
              <a:rPr lang="ru-RU" dirty="0" smtClean="0"/>
              <a:t>, выделяется интерфейс и кладется в слой </a:t>
            </a:r>
            <a:r>
              <a:rPr lang="ru-RU" dirty="0" err="1" smtClean="0"/>
              <a:t>UseCases</a:t>
            </a:r>
            <a:r>
              <a:rPr lang="ru-RU" dirty="0" smtClean="0"/>
              <a:t>.</a:t>
            </a:r>
          </a:p>
          <a:p>
            <a:r>
              <a:rPr lang="ru-RU" dirty="0" smtClean="0"/>
              <a:t>Что же касается данных, которые пересекают границы, то это должны быть </a:t>
            </a:r>
            <a:r>
              <a:rPr lang="ru-RU" b="1" dirty="0" smtClean="0"/>
              <a:t>простые структуры</a:t>
            </a:r>
            <a:r>
              <a:rPr lang="ru-RU" dirty="0" smtClean="0"/>
              <a:t>. Они могут передаваться как </a:t>
            </a:r>
            <a:r>
              <a:rPr lang="ru-RU" dirty="0" smtClean="0">
                <a:hlinkClick r:id="rId2"/>
              </a:rPr>
              <a:t>DTO</a:t>
            </a:r>
            <a:r>
              <a:rPr lang="ru-RU" dirty="0" smtClean="0"/>
              <a:t> или быть завернуты в </a:t>
            </a:r>
            <a:r>
              <a:rPr lang="ru-RU" dirty="0" err="1" smtClean="0"/>
              <a:t>HashMap</a:t>
            </a:r>
            <a:r>
              <a:rPr lang="ru-RU" dirty="0" smtClean="0"/>
              <a:t>, или просто быть аргументами при вызове метода. Но они обязательно должны быть </a:t>
            </a:r>
            <a:r>
              <a:rPr lang="ru-RU" i="1" dirty="0" smtClean="0"/>
              <a:t>в форме более удобной для внутреннего слоя</a:t>
            </a:r>
            <a:r>
              <a:rPr lang="ru-RU" dirty="0" smtClean="0"/>
              <a:t> (лежать во внутреннем слое).</a:t>
            </a:r>
          </a:p>
        </p:txBody>
      </p:sp>
      <p:pic>
        <p:nvPicPr>
          <p:cNvPr id="3075" name="Picture 3" descr="afbef2e40b7b4f87939dcde0b1ab6ba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36096" y="1916832"/>
            <a:ext cx="3534730" cy="2952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 smtClean="0"/>
              <a:t>Clean</a:t>
            </a:r>
            <a:r>
              <a:rPr lang="ru-RU" dirty="0" smtClean="0"/>
              <a:t> </a:t>
            </a:r>
            <a:r>
              <a:rPr lang="ru-RU" dirty="0" err="1" smtClean="0"/>
              <a:t>Architecture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ru-RU" dirty="0" smtClean="0"/>
              <a:t>Переходы</a:t>
            </a:r>
            <a:endParaRPr lang="ru-RU" b="1" cap="small" dirty="0"/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>
            <a:normAutofit/>
          </a:bodyPr>
          <a:lstStyle/>
          <a:p>
            <a:endParaRPr lang="ru-RU" dirty="0" smtClean="0"/>
          </a:p>
        </p:txBody>
      </p:sp>
      <p:pic>
        <p:nvPicPr>
          <p:cNvPr id="4098" name="Picture 2" descr="53104c89d9cf44a59c95e351b748557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060848"/>
            <a:ext cx="9718706" cy="3312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 smtClean="0"/>
              <a:t>Clean</a:t>
            </a:r>
            <a:r>
              <a:rPr lang="ru-RU" dirty="0" smtClean="0"/>
              <a:t> </a:t>
            </a:r>
            <a:r>
              <a:rPr lang="ru-RU" dirty="0" err="1" smtClean="0"/>
              <a:t>Architecture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ru-RU" dirty="0" smtClean="0"/>
              <a:t>Слои, а не сущности</a:t>
            </a:r>
            <a:endParaRPr lang="ru-RU" b="1" cap="small" dirty="0"/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>
            <a:normAutofit/>
          </a:bodyPr>
          <a:lstStyle/>
          <a:p>
            <a:endParaRPr lang="ru-RU" dirty="0" smtClean="0"/>
          </a:p>
        </p:txBody>
      </p:sp>
      <p:pic>
        <p:nvPicPr>
          <p:cNvPr id="5122" name="Picture 2" descr="bb3430769e6c4e8fbca757a8bc071f2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556792"/>
            <a:ext cx="8280920" cy="426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 smtClean="0"/>
              <a:t>Clean</a:t>
            </a:r>
            <a:r>
              <a:rPr lang="ru-RU" dirty="0" smtClean="0"/>
              <a:t> </a:t>
            </a:r>
            <a:r>
              <a:rPr lang="ru-RU" dirty="0" err="1" smtClean="0"/>
              <a:t>Architecture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ru-RU" dirty="0" smtClean="0"/>
              <a:t> Слои, а не сущности</a:t>
            </a:r>
            <a:endParaRPr lang="ru-RU" b="1" cap="small" dirty="0"/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 fontScale="62500" lnSpcReduction="20000"/>
          </a:bodyPr>
          <a:lstStyle/>
          <a:p>
            <a:r>
              <a:rPr lang="ru-RU" b="1" dirty="0" smtClean="0"/>
              <a:t>На схемах изображены слои, в них может находиться много сущностей</a:t>
            </a:r>
            <a:r>
              <a:rPr lang="ru-RU" dirty="0" smtClean="0"/>
              <a:t>. В них будут находиться интерфейсы для переходов между слоями (</a:t>
            </a:r>
            <a:r>
              <a:rPr lang="ru-RU" dirty="0" err="1" smtClean="0"/>
              <a:t>Boundaries</a:t>
            </a:r>
            <a:r>
              <a:rPr lang="ru-RU" dirty="0" smtClean="0"/>
              <a:t>), различные DTO, основные классы слоя (</a:t>
            </a:r>
            <a:r>
              <a:rPr lang="ru-RU" dirty="0" err="1" smtClean="0"/>
              <a:t>Interactors</a:t>
            </a:r>
            <a:r>
              <a:rPr lang="ru-RU" dirty="0" smtClean="0"/>
              <a:t> для слоя </a:t>
            </a:r>
            <a:r>
              <a:rPr lang="ru-RU" dirty="0" err="1" smtClean="0"/>
              <a:t>UseCases</a:t>
            </a:r>
            <a:r>
              <a:rPr lang="ru-RU" dirty="0" smtClean="0"/>
              <a:t>, например).</a:t>
            </a:r>
          </a:p>
          <a:p>
            <a:r>
              <a:rPr lang="ru-RU" dirty="0" smtClean="0"/>
              <a:t>C </a:t>
            </a:r>
            <a:r>
              <a:rPr lang="ru-RU" dirty="0" err="1" smtClean="0"/>
              <a:t>Boundaries</a:t>
            </a:r>
            <a:r>
              <a:rPr lang="ru-RU" dirty="0" smtClean="0"/>
              <a:t> мы уже знакомы, интерфейс </a:t>
            </a:r>
            <a:r>
              <a:rPr lang="ru-RU" dirty="0" err="1" smtClean="0"/>
              <a:t>Gateway</a:t>
            </a:r>
            <a:r>
              <a:rPr lang="ru-RU" dirty="0" smtClean="0"/>
              <a:t> – это то же самое. </a:t>
            </a:r>
            <a:r>
              <a:rPr lang="ru-RU" dirty="0" err="1" smtClean="0"/>
              <a:t>Request</a:t>
            </a:r>
            <a:r>
              <a:rPr lang="ru-RU" dirty="0" smtClean="0"/>
              <a:t>/</a:t>
            </a:r>
            <a:r>
              <a:rPr lang="ru-RU" dirty="0" err="1" smtClean="0"/>
              <a:t>ResponseModel</a:t>
            </a:r>
            <a:r>
              <a:rPr lang="ru-RU" dirty="0" smtClean="0"/>
              <a:t> – просто DTO для передачи данных между слоями. По правилу зависимости они должны лежать во внутреннем слое, что мы и видим на картинке.</a:t>
            </a:r>
          </a:p>
          <a:p>
            <a:r>
              <a:rPr lang="ru-RU" dirty="0" smtClean="0"/>
              <a:t>Про </a:t>
            </a:r>
            <a:r>
              <a:rPr lang="ru-RU" dirty="0" err="1" smtClean="0"/>
              <a:t>Controller</a:t>
            </a:r>
            <a:r>
              <a:rPr lang="ru-RU" dirty="0" smtClean="0"/>
              <a:t> мы тоже уже говорили, он нас не интересует. Его функцию у нас выполняет </a:t>
            </a:r>
            <a:r>
              <a:rPr lang="ru-RU" dirty="0" err="1" smtClean="0"/>
              <a:t>Presenter</a:t>
            </a:r>
            <a:r>
              <a:rPr lang="ru-RU" dirty="0" smtClean="0"/>
              <a:t>.</a:t>
            </a:r>
          </a:p>
          <a:p>
            <a:r>
              <a:rPr lang="ru-RU" dirty="0" smtClean="0"/>
              <a:t>А </a:t>
            </a:r>
            <a:r>
              <a:rPr lang="ru-RU" dirty="0" err="1" smtClean="0"/>
              <a:t>ViewModel</a:t>
            </a:r>
            <a:r>
              <a:rPr lang="ru-RU" dirty="0" smtClean="0"/>
              <a:t> на картинке – это не </a:t>
            </a:r>
            <a:r>
              <a:rPr lang="ru-RU" dirty="0" err="1" smtClean="0"/>
              <a:t>ViewModel</a:t>
            </a:r>
            <a:r>
              <a:rPr lang="ru-RU" dirty="0" smtClean="0"/>
              <a:t> из </a:t>
            </a:r>
            <a:r>
              <a:rPr lang="ru-RU" dirty="0" smtClean="0">
                <a:hlinkClick r:id="rId2"/>
              </a:rPr>
              <a:t>MVVM</a:t>
            </a:r>
            <a:r>
              <a:rPr lang="ru-RU" dirty="0" smtClean="0"/>
              <a:t> и не </a:t>
            </a:r>
            <a:r>
              <a:rPr lang="ru-RU" dirty="0" err="1" smtClean="0"/>
              <a:t>ViewModel</a:t>
            </a:r>
            <a:r>
              <a:rPr lang="ru-RU" dirty="0" smtClean="0"/>
              <a:t> из </a:t>
            </a:r>
            <a:r>
              <a:rPr lang="ru-RU" dirty="0" err="1" smtClean="0">
                <a:hlinkClick r:id="rId3"/>
              </a:rPr>
              <a:t>Architecture</a:t>
            </a:r>
            <a:r>
              <a:rPr lang="ru-RU" dirty="0" smtClean="0">
                <a:hlinkClick r:id="rId3"/>
              </a:rPr>
              <a:t> </a:t>
            </a:r>
            <a:r>
              <a:rPr lang="ru-RU" dirty="0" err="1" smtClean="0">
                <a:hlinkClick r:id="rId3"/>
              </a:rPr>
              <a:t>Components</a:t>
            </a:r>
            <a:r>
              <a:rPr lang="ru-RU" dirty="0" smtClean="0"/>
              <a:t>. Это просто DTO для передачи данных </a:t>
            </a:r>
            <a:r>
              <a:rPr lang="ru-RU" dirty="0" err="1" smtClean="0"/>
              <a:t>View</a:t>
            </a:r>
            <a:r>
              <a:rPr lang="ru-RU" dirty="0" smtClean="0"/>
              <a:t>, чтобы </a:t>
            </a:r>
            <a:r>
              <a:rPr lang="ru-RU" dirty="0" err="1" smtClean="0"/>
              <a:t>View</a:t>
            </a:r>
            <a:r>
              <a:rPr lang="ru-RU" dirty="0" smtClean="0"/>
              <a:t> была тупой и просто </a:t>
            </a:r>
            <a:r>
              <a:rPr lang="ru-RU" dirty="0" err="1" smtClean="0"/>
              <a:t>сетила</a:t>
            </a:r>
            <a:r>
              <a:rPr lang="ru-RU" dirty="0" smtClean="0"/>
              <a:t> свои поля. Но это уже детали реализации и будет зависеть от выбора презентационного паттерна и личных подходов.</a:t>
            </a:r>
          </a:p>
          <a:p>
            <a:r>
              <a:rPr lang="ru-RU" dirty="0" smtClean="0"/>
              <a:t>В слое </a:t>
            </a:r>
            <a:r>
              <a:rPr lang="ru-RU" dirty="0" err="1" smtClean="0"/>
              <a:t>UseCases</a:t>
            </a:r>
            <a:r>
              <a:rPr lang="ru-RU" dirty="0" smtClean="0"/>
              <a:t> находятся не только </a:t>
            </a:r>
            <a:r>
              <a:rPr lang="ru-RU" dirty="0" err="1" smtClean="0"/>
              <a:t>Interactor’ы</a:t>
            </a:r>
            <a:r>
              <a:rPr lang="ru-RU" dirty="0" smtClean="0"/>
              <a:t>, но также и </a:t>
            </a:r>
            <a:r>
              <a:rPr lang="ru-RU" dirty="0" err="1" smtClean="0"/>
              <a:t>Boundaries</a:t>
            </a:r>
            <a:r>
              <a:rPr lang="ru-RU" dirty="0" smtClean="0"/>
              <a:t> для работы с </a:t>
            </a:r>
            <a:r>
              <a:rPr lang="ru-RU" dirty="0" err="1" smtClean="0"/>
              <a:t>презентером</a:t>
            </a:r>
            <a:r>
              <a:rPr lang="ru-RU" dirty="0" smtClean="0"/>
              <a:t>, интерфейс для работы с </a:t>
            </a:r>
            <a:r>
              <a:rPr lang="ru-RU" dirty="0" err="1" smtClean="0"/>
              <a:t>репозиторием</a:t>
            </a:r>
            <a:r>
              <a:rPr lang="ru-RU" dirty="0" smtClean="0"/>
              <a:t>, DTO для запроса и ответа. </a:t>
            </a:r>
            <a:r>
              <a:rPr lang="ru-RU" i="1" dirty="0" smtClean="0"/>
              <a:t>Отсюда можно сделать вывод, что на оригинальной схеме отражены всё же слои</a:t>
            </a:r>
            <a:r>
              <a:rPr lang="ru-RU" dirty="0" smtClean="0"/>
              <a:t>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 smtClean="0"/>
              <a:t>Clean</a:t>
            </a:r>
            <a:r>
              <a:rPr lang="ru-RU" dirty="0" smtClean="0"/>
              <a:t> </a:t>
            </a:r>
            <a:r>
              <a:rPr lang="ru-RU" dirty="0" err="1" smtClean="0"/>
              <a:t>Architecture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ru-RU" dirty="0" smtClean="0"/>
              <a:t> </a:t>
            </a:r>
            <a:r>
              <a:rPr lang="ru-RU" dirty="0" err="1" smtClean="0"/>
              <a:t>Entities</a:t>
            </a:r>
            <a:endParaRPr lang="ru-RU" b="1" cap="small" dirty="0"/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 fontScale="55000" lnSpcReduction="20000"/>
          </a:bodyPr>
          <a:lstStyle/>
          <a:p>
            <a:r>
              <a:rPr lang="ru-RU" dirty="0" smtClean="0"/>
              <a:t>В статье </a:t>
            </a:r>
            <a:r>
              <a:rPr lang="ru-RU" dirty="0" err="1" smtClean="0"/>
              <a:t>Uncle</a:t>
            </a:r>
            <a:r>
              <a:rPr lang="ru-RU" dirty="0" smtClean="0"/>
              <a:t> </a:t>
            </a:r>
            <a:r>
              <a:rPr lang="ru-RU" dirty="0" err="1" smtClean="0"/>
              <a:t>Bob</a:t>
            </a:r>
            <a:r>
              <a:rPr lang="ru-RU" dirty="0" smtClean="0"/>
              <a:t> говорит, что </a:t>
            </a:r>
            <a:r>
              <a:rPr lang="ru-RU" b="1" dirty="0" err="1" smtClean="0"/>
              <a:t>Entities</a:t>
            </a:r>
            <a:r>
              <a:rPr lang="ru-RU" b="1" dirty="0" smtClean="0"/>
              <a:t> инкапсулируют логику бизнеса</a:t>
            </a:r>
            <a:r>
              <a:rPr lang="ru-RU" dirty="0" smtClean="0"/>
              <a:t>, </a:t>
            </a:r>
            <a:r>
              <a:rPr lang="ru-RU" i="1" dirty="0" smtClean="0"/>
              <a:t>то есть всё то, что не зависит от конкретного приложения, а будет общим для многих</a:t>
            </a:r>
            <a:r>
              <a:rPr lang="ru-RU" dirty="0" smtClean="0"/>
              <a:t>. Но если у вас отдельное приложение и оно не заточено под какой-то существующий бизнес, то </a:t>
            </a:r>
            <a:r>
              <a:rPr lang="ru-RU" dirty="0" err="1" smtClean="0"/>
              <a:t>Entities</a:t>
            </a:r>
            <a:r>
              <a:rPr lang="ru-RU" dirty="0" smtClean="0"/>
              <a:t> будут являться </a:t>
            </a:r>
            <a:r>
              <a:rPr lang="ru-RU" i="1" dirty="0" err="1" smtClean="0"/>
              <a:t>бизнес-объектами</a:t>
            </a:r>
            <a:r>
              <a:rPr lang="ru-RU" i="1" dirty="0" smtClean="0"/>
              <a:t> приложения, содержащими самые общие и высокоуровневые правила</a:t>
            </a:r>
          </a:p>
          <a:p>
            <a:r>
              <a:rPr lang="ru-RU" dirty="0" smtClean="0"/>
              <a:t>Но в статье также говорится, что </a:t>
            </a:r>
            <a:r>
              <a:rPr lang="ru-RU" i="1" dirty="0" err="1" smtClean="0"/>
              <a:t>Entity</a:t>
            </a:r>
            <a:r>
              <a:rPr lang="ru-RU" i="1" dirty="0" smtClean="0"/>
              <a:t> может быть объектом с методами или набором структур и функций</a:t>
            </a:r>
            <a:r>
              <a:rPr lang="ru-RU" dirty="0" smtClean="0"/>
              <a:t>. То есть упор делается на то, что важны методы, а не данные.</a:t>
            </a:r>
          </a:p>
          <a:p>
            <a:r>
              <a:rPr lang="ru-RU" dirty="0" smtClean="0"/>
              <a:t>Это также подтверждается в </a:t>
            </a:r>
            <a:r>
              <a:rPr lang="ru-RU" dirty="0" smtClean="0">
                <a:hlinkClick r:id="rId2"/>
              </a:rPr>
              <a:t>разъяснении</a:t>
            </a:r>
            <a:r>
              <a:rPr lang="ru-RU" dirty="0" smtClean="0"/>
              <a:t> от </a:t>
            </a:r>
            <a:r>
              <a:rPr lang="ru-RU" dirty="0" err="1" smtClean="0"/>
              <a:t>Uncle</a:t>
            </a:r>
            <a:r>
              <a:rPr lang="ru-RU" dirty="0" smtClean="0"/>
              <a:t> </a:t>
            </a:r>
            <a:r>
              <a:rPr lang="ru-RU" dirty="0" err="1" smtClean="0"/>
              <a:t>Bob’а</a:t>
            </a:r>
            <a:r>
              <a:rPr lang="ru-RU" dirty="0" smtClean="0"/>
              <a:t>, которое я нашел недавно:</a:t>
            </a:r>
            <a:br>
              <a:rPr lang="ru-RU" dirty="0" smtClean="0"/>
            </a:br>
            <a:r>
              <a:rPr lang="ru-RU" dirty="0" err="1" smtClean="0"/>
              <a:t>Uncle</a:t>
            </a:r>
            <a:r>
              <a:rPr lang="ru-RU" dirty="0" smtClean="0"/>
              <a:t> </a:t>
            </a:r>
            <a:r>
              <a:rPr lang="ru-RU" dirty="0" err="1" smtClean="0"/>
              <a:t>Bob</a:t>
            </a:r>
            <a:r>
              <a:rPr lang="ru-RU" dirty="0" smtClean="0"/>
              <a:t> говорит, что для него </a:t>
            </a:r>
            <a:r>
              <a:rPr lang="ru-RU" dirty="0" err="1" smtClean="0"/>
              <a:t>Entities</a:t>
            </a:r>
            <a:r>
              <a:rPr lang="ru-RU" dirty="0" smtClean="0"/>
              <a:t> содержат бизнес-правила, независимые от приложения. И они </a:t>
            </a:r>
            <a:r>
              <a:rPr lang="ru-RU" i="1" dirty="0" smtClean="0"/>
              <a:t>не просто объекты с данными. </a:t>
            </a:r>
            <a:r>
              <a:rPr lang="ru-RU" i="1" dirty="0" err="1" smtClean="0"/>
              <a:t>Entities</a:t>
            </a:r>
            <a:r>
              <a:rPr lang="ru-RU" i="1" dirty="0" smtClean="0"/>
              <a:t> могут содержать ссылки на объекты с данными, но основное их назначение в том, чтобы реализовать методы </a:t>
            </a:r>
            <a:r>
              <a:rPr lang="ru-RU" i="1" dirty="0" err="1" smtClean="0"/>
              <a:t>бизнес-логики</a:t>
            </a:r>
            <a:r>
              <a:rPr lang="ru-RU" i="1" dirty="0" smtClean="0"/>
              <a:t>, которые могут использоваться в различных приложениях</a:t>
            </a:r>
            <a:r>
              <a:rPr lang="ru-RU" dirty="0" smtClean="0"/>
              <a:t>.</a:t>
            </a:r>
          </a:p>
          <a:p>
            <a:r>
              <a:rPr lang="ru-RU" dirty="0" smtClean="0"/>
              <a:t>А </a:t>
            </a:r>
            <a:r>
              <a:rPr lang="ru-RU" dirty="0" err="1" smtClean="0"/>
              <a:t>по-поводу</a:t>
            </a:r>
            <a:r>
              <a:rPr lang="ru-RU" dirty="0" smtClean="0"/>
              <a:t> того, что </a:t>
            </a:r>
            <a:r>
              <a:rPr lang="ru-RU" dirty="0" err="1" smtClean="0"/>
              <a:t>Gateways</a:t>
            </a:r>
            <a:r>
              <a:rPr lang="ru-RU" dirty="0" smtClean="0"/>
              <a:t> возвращают </a:t>
            </a:r>
            <a:r>
              <a:rPr lang="ru-RU" dirty="0" err="1" smtClean="0"/>
              <a:t>Entities</a:t>
            </a:r>
            <a:r>
              <a:rPr lang="ru-RU" dirty="0" smtClean="0"/>
              <a:t> на картинке, он поясняет следующее:</a:t>
            </a:r>
            <a:br>
              <a:rPr lang="ru-RU" dirty="0" smtClean="0"/>
            </a:br>
            <a:r>
              <a:rPr lang="ru-RU" dirty="0" smtClean="0"/>
              <a:t>Реализация </a:t>
            </a:r>
            <a:r>
              <a:rPr lang="ru-RU" dirty="0" err="1" smtClean="0"/>
              <a:t>Gаteway</a:t>
            </a:r>
            <a:r>
              <a:rPr lang="ru-RU" dirty="0" smtClean="0"/>
              <a:t> получает данные из БД, и использует их, чтобы создать структуры данных, которые будут переданы в </a:t>
            </a:r>
            <a:r>
              <a:rPr lang="ru-RU" dirty="0" err="1" smtClean="0"/>
              <a:t>Entities</a:t>
            </a:r>
            <a:r>
              <a:rPr lang="ru-RU" dirty="0" smtClean="0"/>
              <a:t>, которые </a:t>
            </a:r>
            <a:r>
              <a:rPr lang="ru-RU" dirty="0" err="1" smtClean="0"/>
              <a:t>Gateway</a:t>
            </a:r>
            <a:r>
              <a:rPr lang="ru-RU" dirty="0" smtClean="0"/>
              <a:t> вернет.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 smtClean="0"/>
              <a:t>Clean</a:t>
            </a:r>
            <a:r>
              <a:rPr lang="ru-RU" dirty="0" smtClean="0"/>
              <a:t> </a:t>
            </a:r>
            <a:r>
              <a:rPr lang="ru-RU" dirty="0" err="1" smtClean="0"/>
              <a:t>Architecture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ru-RU" dirty="0" smtClean="0"/>
              <a:t> </a:t>
            </a:r>
            <a:r>
              <a:rPr lang="ru-RU" dirty="0" err="1" smtClean="0"/>
              <a:t>Entities</a:t>
            </a:r>
            <a:endParaRPr lang="ru-RU" b="1" cap="small" dirty="0"/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 fontScale="92500" lnSpcReduction="20000"/>
          </a:bodyPr>
          <a:lstStyle/>
          <a:p>
            <a:r>
              <a:rPr lang="ru-RU" dirty="0" smtClean="0"/>
              <a:t>Итак, </a:t>
            </a:r>
            <a:r>
              <a:rPr lang="ru-RU" b="1" dirty="0" smtClean="0"/>
              <a:t>слой </a:t>
            </a:r>
            <a:r>
              <a:rPr lang="ru-RU" b="1" dirty="0" err="1" smtClean="0"/>
              <a:t>Entities</a:t>
            </a:r>
            <a:r>
              <a:rPr lang="ru-RU" b="1" dirty="0" smtClean="0"/>
              <a:t> содержит</a:t>
            </a:r>
            <a:r>
              <a:rPr lang="ru-RU" dirty="0" smtClean="0"/>
              <a:t>:</a:t>
            </a:r>
          </a:p>
          <a:p>
            <a:pPr>
              <a:buNone/>
            </a:pPr>
            <a:endParaRPr lang="ru-RU" dirty="0" smtClean="0"/>
          </a:p>
          <a:p>
            <a:pPr lvl="1"/>
            <a:r>
              <a:rPr lang="ru-RU" dirty="0" err="1" smtClean="0"/>
              <a:t>Entities</a:t>
            </a:r>
            <a:r>
              <a:rPr lang="ru-RU" dirty="0" smtClean="0"/>
              <a:t> – функции или объекты с методами, которые реализуют логику бизнеса, общую для многих приложений (а если бизнеса нет, то самую высокоуровневую логику приложения);</a:t>
            </a:r>
          </a:p>
          <a:p>
            <a:pPr lvl="1"/>
            <a:r>
              <a:rPr lang="ru-RU" dirty="0" smtClean="0"/>
              <a:t>DTO, необходимые для работы и перехода между слоями.</a:t>
            </a:r>
          </a:p>
          <a:p>
            <a:pPr>
              <a:buNone/>
            </a:pPr>
            <a:endParaRPr lang="ru-RU" dirty="0" smtClean="0"/>
          </a:p>
          <a:p>
            <a:r>
              <a:rPr lang="ru-RU" dirty="0" smtClean="0"/>
              <a:t>Кроме того, когда приложение отдельное, то надо стараться находить и выделять в </a:t>
            </a:r>
            <a:r>
              <a:rPr lang="ru-RU" dirty="0" err="1" smtClean="0"/>
              <a:t>Entities</a:t>
            </a:r>
            <a:r>
              <a:rPr lang="ru-RU" dirty="0" smtClean="0"/>
              <a:t> высокоуровневую логику из слоя </a:t>
            </a:r>
            <a:r>
              <a:rPr lang="ru-RU" dirty="0" err="1" smtClean="0"/>
              <a:t>UseCases</a:t>
            </a:r>
            <a:r>
              <a:rPr lang="ru-RU" dirty="0" smtClean="0"/>
              <a:t>, где зачастую она оседает по ошибке.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 smtClean="0"/>
              <a:t>Clean</a:t>
            </a:r>
            <a:r>
              <a:rPr lang="ru-RU" dirty="0" smtClean="0"/>
              <a:t> </a:t>
            </a:r>
            <a:r>
              <a:rPr lang="ru-RU" dirty="0" err="1" smtClean="0"/>
              <a:t>Architecture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ru-RU" dirty="0" smtClean="0"/>
              <a:t> </a:t>
            </a:r>
            <a:r>
              <a:rPr lang="ru-RU" dirty="0" err="1" smtClean="0"/>
              <a:t>UseCase</a:t>
            </a:r>
            <a:r>
              <a:rPr lang="ru-RU" dirty="0" smtClean="0"/>
              <a:t> и/или </a:t>
            </a:r>
            <a:r>
              <a:rPr lang="ru-RU" dirty="0" err="1" smtClean="0"/>
              <a:t>Interactor</a:t>
            </a:r>
            <a:endParaRPr lang="ru-RU" b="1" cap="small" dirty="0"/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396752"/>
          </a:xfrm>
        </p:spPr>
        <p:txBody>
          <a:bodyPr>
            <a:normAutofit fontScale="70000" lnSpcReduction="20000"/>
          </a:bodyPr>
          <a:lstStyle/>
          <a:p>
            <a:r>
              <a:rPr lang="ru-RU" b="1" dirty="0" err="1" smtClean="0"/>
              <a:t>Interactor</a:t>
            </a:r>
            <a:r>
              <a:rPr lang="ru-RU" b="1" dirty="0" smtClean="0"/>
              <a:t> – объект, который реализует </a:t>
            </a:r>
            <a:r>
              <a:rPr lang="ru-RU" b="1" dirty="0" err="1" smtClean="0"/>
              <a:t>use</a:t>
            </a:r>
            <a:r>
              <a:rPr lang="ru-RU" b="1" dirty="0" smtClean="0"/>
              <a:t> </a:t>
            </a:r>
            <a:r>
              <a:rPr lang="ru-RU" b="1" dirty="0" err="1" smtClean="0"/>
              <a:t>case</a:t>
            </a:r>
            <a:r>
              <a:rPr lang="ru-RU" b="1" dirty="0" smtClean="0"/>
              <a:t> (</a:t>
            </a:r>
            <a:r>
              <a:rPr lang="ru-RU" b="1" dirty="0" smtClean="0">
                <a:hlinkClick r:id="rId2"/>
              </a:rPr>
              <a:t>сценарий использования</a:t>
            </a:r>
            <a:r>
              <a:rPr lang="ru-RU" b="1" dirty="0" smtClean="0"/>
              <a:t>), используя </a:t>
            </a:r>
            <a:r>
              <a:rPr lang="ru-RU" b="1" dirty="0" err="1" smtClean="0"/>
              <a:t>бизнес-объекты</a:t>
            </a:r>
            <a:r>
              <a:rPr lang="ru-RU" b="1" dirty="0" smtClean="0"/>
              <a:t> (</a:t>
            </a:r>
            <a:r>
              <a:rPr lang="ru-RU" b="1" dirty="0" err="1" smtClean="0"/>
              <a:t>Entities</a:t>
            </a:r>
            <a:r>
              <a:rPr lang="ru-RU" b="1" dirty="0" smtClean="0"/>
              <a:t>)</a:t>
            </a:r>
            <a:r>
              <a:rPr lang="ru-RU" dirty="0" smtClean="0"/>
              <a:t>.</a:t>
            </a:r>
          </a:p>
          <a:p>
            <a:r>
              <a:rPr lang="ru-RU" i="1" dirty="0" err="1" smtClean="0"/>
              <a:t>Use</a:t>
            </a:r>
            <a:r>
              <a:rPr lang="ru-RU" i="1" dirty="0" smtClean="0"/>
              <a:t> </a:t>
            </a:r>
            <a:r>
              <a:rPr lang="ru-RU" i="1" dirty="0" err="1" smtClean="0"/>
              <a:t>case</a:t>
            </a:r>
            <a:r>
              <a:rPr lang="ru-RU" i="1" dirty="0" smtClean="0"/>
              <a:t> – это детализация, описание действия, которое может совершить пользователь системы</a:t>
            </a:r>
            <a:r>
              <a:rPr lang="ru-RU" dirty="0" smtClean="0"/>
              <a:t>.</a:t>
            </a:r>
          </a:p>
          <a:p>
            <a:endParaRPr lang="ru-RU" dirty="0" smtClean="0"/>
          </a:p>
        </p:txBody>
      </p:sp>
      <p:pic>
        <p:nvPicPr>
          <p:cNvPr id="6147" name="Picture 3" descr="87e46ddcbd124e14afb7e2a86bc4b0f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91680" y="2852936"/>
            <a:ext cx="5645150" cy="3876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 smtClean="0"/>
              <a:t>Clean</a:t>
            </a:r>
            <a:r>
              <a:rPr lang="ru-RU" dirty="0" smtClean="0"/>
              <a:t> </a:t>
            </a:r>
            <a:r>
              <a:rPr lang="ru-RU" dirty="0" err="1" smtClean="0"/>
              <a:t>Architecture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ru-RU" dirty="0" smtClean="0"/>
              <a:t> </a:t>
            </a:r>
            <a:r>
              <a:rPr lang="ru-RU" dirty="0" err="1" smtClean="0"/>
              <a:t>UseCase</a:t>
            </a:r>
            <a:r>
              <a:rPr lang="ru-RU" dirty="0" smtClean="0"/>
              <a:t> и/или </a:t>
            </a:r>
            <a:r>
              <a:rPr lang="ru-RU" dirty="0" err="1" smtClean="0"/>
              <a:t>Interactor</a:t>
            </a:r>
            <a:endParaRPr lang="ru-RU" b="1" cap="small" dirty="0"/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 fontScale="55000" lnSpcReduction="20000"/>
          </a:bodyPr>
          <a:lstStyle/>
          <a:p>
            <a:r>
              <a:rPr lang="ru-RU" b="1" dirty="0" smtClean="0"/>
              <a:t>Когда кто-то говорит, что у </a:t>
            </a:r>
            <a:r>
              <a:rPr lang="ru-RU" b="1" dirty="0" err="1" smtClean="0"/>
              <a:t>Interactor’a</a:t>
            </a:r>
            <a:r>
              <a:rPr lang="ru-RU" b="1" dirty="0" smtClean="0"/>
              <a:t> нет четкого определения – он не прав</a:t>
            </a:r>
            <a:r>
              <a:rPr lang="ru-RU" dirty="0" smtClean="0"/>
              <a:t>. Определение есть и оно вполне четкое. Выше я привел несколько источников.</a:t>
            </a:r>
          </a:p>
          <a:p>
            <a:r>
              <a:rPr lang="ru-RU" dirty="0" smtClean="0"/>
              <a:t>Многим </a:t>
            </a:r>
            <a:r>
              <a:rPr lang="ru-RU" dirty="0" smtClean="0"/>
              <a:t>нравится объединять </a:t>
            </a:r>
            <a:r>
              <a:rPr lang="ru-RU" dirty="0" err="1" smtClean="0"/>
              <a:t>Interactor’ы</a:t>
            </a:r>
            <a:r>
              <a:rPr lang="ru-RU" dirty="0" smtClean="0"/>
              <a:t> в один общий с набором методов, реализующих </a:t>
            </a:r>
            <a:r>
              <a:rPr lang="ru-RU" dirty="0" err="1" smtClean="0"/>
              <a:t>use</a:t>
            </a:r>
            <a:r>
              <a:rPr lang="ru-RU" dirty="0" smtClean="0"/>
              <a:t> </a:t>
            </a:r>
            <a:r>
              <a:rPr lang="ru-RU" dirty="0" err="1" smtClean="0"/>
              <a:t>case’ы</a:t>
            </a:r>
            <a:r>
              <a:rPr lang="ru-RU" dirty="0" smtClean="0"/>
              <a:t>. Если </a:t>
            </a:r>
            <a:r>
              <a:rPr lang="ru-RU" dirty="0" smtClean="0"/>
              <a:t>вам сильно не нравятся отдельные классы, можете так делать, это ваше решение. Я лично за </a:t>
            </a:r>
            <a:r>
              <a:rPr lang="ru-RU" b="1" dirty="0" smtClean="0"/>
              <a:t>отдельные </a:t>
            </a:r>
            <a:r>
              <a:rPr lang="ru-RU" b="1" dirty="0" err="1" smtClean="0"/>
              <a:t>Interactor’ы</a:t>
            </a:r>
            <a:r>
              <a:rPr lang="ru-RU" dirty="0" smtClean="0"/>
              <a:t>, так как это даёт больше гибкости.</a:t>
            </a:r>
          </a:p>
          <a:p>
            <a:r>
              <a:rPr lang="ru-RU" dirty="0" smtClean="0"/>
              <a:t>А </a:t>
            </a:r>
            <a:r>
              <a:rPr lang="ru-RU" dirty="0" smtClean="0"/>
              <a:t>вот давать определение: «</a:t>
            </a:r>
            <a:r>
              <a:rPr lang="ru-RU" dirty="0" err="1" smtClean="0"/>
              <a:t>Интерактор</a:t>
            </a:r>
            <a:r>
              <a:rPr lang="ru-RU" dirty="0" smtClean="0"/>
              <a:t> – это набор </a:t>
            </a:r>
            <a:r>
              <a:rPr lang="ru-RU" dirty="0" err="1" smtClean="0"/>
              <a:t>UseCase’ов</a:t>
            </a:r>
            <a:r>
              <a:rPr lang="ru-RU" dirty="0" smtClean="0"/>
              <a:t>», – вот это уже </a:t>
            </a:r>
            <a:r>
              <a:rPr lang="ru-RU" i="1" dirty="0" smtClean="0"/>
              <a:t>плохо</a:t>
            </a:r>
            <a:r>
              <a:rPr lang="ru-RU" dirty="0" smtClean="0"/>
              <a:t>. А такое определение бытует. Оно ошибочно с точки зрения оригинального толкования термина и вводит начинающих в большие заблуждения, когда в коде получается одновременно есть и </a:t>
            </a:r>
            <a:r>
              <a:rPr lang="ru-RU" dirty="0" err="1" smtClean="0"/>
              <a:t>UseCase</a:t>
            </a:r>
            <a:r>
              <a:rPr lang="ru-RU" dirty="0" smtClean="0"/>
              <a:t> классы и </a:t>
            </a:r>
            <a:r>
              <a:rPr lang="ru-RU" dirty="0" err="1" smtClean="0"/>
              <a:t>Interactor</a:t>
            </a:r>
            <a:r>
              <a:rPr lang="ru-RU" dirty="0" smtClean="0"/>
              <a:t> классы, хотя всё это одно и то же.</a:t>
            </a:r>
          </a:p>
          <a:p>
            <a:r>
              <a:rPr lang="ru-RU" dirty="0" smtClean="0"/>
              <a:t>Призываю </a:t>
            </a:r>
            <a:r>
              <a:rPr lang="ru-RU" dirty="0" smtClean="0"/>
              <a:t>не вводить друг друга в заблуждения и использовать названия </a:t>
            </a:r>
            <a:r>
              <a:rPr lang="ru-RU" dirty="0" err="1" smtClean="0"/>
              <a:t>Interactor</a:t>
            </a:r>
            <a:r>
              <a:rPr lang="ru-RU" dirty="0" smtClean="0"/>
              <a:t> и </a:t>
            </a:r>
            <a:r>
              <a:rPr lang="ru-RU" dirty="0" err="1" smtClean="0"/>
              <a:t>UseCase</a:t>
            </a:r>
            <a:r>
              <a:rPr lang="ru-RU" dirty="0" smtClean="0"/>
              <a:t>, не меняя их изначальный смысл: </a:t>
            </a:r>
            <a:r>
              <a:rPr lang="ru-RU" dirty="0" err="1" smtClean="0"/>
              <a:t>Interactor</a:t>
            </a:r>
            <a:r>
              <a:rPr lang="ru-RU" dirty="0" smtClean="0"/>
              <a:t>/</a:t>
            </a:r>
            <a:r>
              <a:rPr lang="ru-RU" dirty="0" err="1" smtClean="0"/>
              <a:t>UseCase</a:t>
            </a:r>
            <a:r>
              <a:rPr lang="ru-RU" dirty="0" smtClean="0"/>
              <a:t> – объект, реализующий </a:t>
            </a:r>
            <a:r>
              <a:rPr lang="ru-RU" dirty="0" err="1" smtClean="0"/>
              <a:t>use</a:t>
            </a:r>
            <a:r>
              <a:rPr lang="ru-RU" dirty="0" smtClean="0"/>
              <a:t> </a:t>
            </a:r>
            <a:r>
              <a:rPr lang="ru-RU" dirty="0" err="1" smtClean="0"/>
              <a:t>case</a:t>
            </a:r>
            <a:r>
              <a:rPr lang="ru-RU" dirty="0" smtClean="0"/>
              <a:t> (сценарий использования).</a:t>
            </a:r>
          </a:p>
          <a:p>
            <a:r>
              <a:rPr lang="ru-RU" dirty="0" smtClean="0"/>
              <a:t>За </a:t>
            </a:r>
            <a:r>
              <a:rPr lang="ru-RU" dirty="0" smtClean="0"/>
              <a:t>примером того, чем плохо, когда одно название толкуется по-разному, далеко ходить не надо, такой пример рядом – паттерн </a:t>
            </a:r>
            <a:r>
              <a:rPr lang="ru-RU" dirty="0" err="1" smtClean="0"/>
              <a:t>Repository</a:t>
            </a:r>
            <a:r>
              <a:rPr lang="ru-RU" dirty="0" smtClean="0"/>
              <a:t>. В </a:t>
            </a:r>
            <a:r>
              <a:rPr lang="ru-RU" dirty="0" smtClean="0"/>
              <a:t>оригинале </a:t>
            </a:r>
            <a:r>
              <a:rPr lang="ru-RU" dirty="0" err="1" smtClean="0"/>
              <a:t>Repository</a:t>
            </a:r>
            <a:r>
              <a:rPr lang="ru-RU" dirty="0" smtClean="0"/>
              <a:t> инкапсулирует набор сохраненных объектов в более объектно-ориентированном виде. В нем собран код, создающий запросы, который помогает минимизировать дублирование запросов.</a:t>
            </a:r>
          </a:p>
          <a:p>
            <a:endParaRPr lang="ru-RU" dirty="0" smtClean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 smtClean="0"/>
              <a:t>Clean</a:t>
            </a:r>
            <a:r>
              <a:rPr lang="ru-RU" dirty="0" smtClean="0"/>
              <a:t> </a:t>
            </a:r>
            <a:r>
              <a:rPr lang="ru-RU" dirty="0" err="1" smtClean="0"/>
              <a:t>Architecture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ru-RU" dirty="0" smtClean="0"/>
              <a:t> Обязательность </a:t>
            </a:r>
            <a:r>
              <a:rPr lang="ru-RU" dirty="0" err="1" smtClean="0"/>
              <a:t>маппинга</a:t>
            </a:r>
            <a:r>
              <a:rPr lang="ru-RU" dirty="0" smtClean="0"/>
              <a:t> между слоями</a:t>
            </a:r>
            <a:endParaRPr lang="ru-RU" b="1" cap="small" dirty="0"/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 fontScale="70000" lnSpcReduction="20000"/>
          </a:bodyPr>
          <a:lstStyle/>
          <a:p>
            <a:r>
              <a:rPr lang="ru-RU" b="1" dirty="0" err="1" smtClean="0"/>
              <a:t>Маппинг</a:t>
            </a:r>
            <a:r>
              <a:rPr lang="ru-RU" b="1" dirty="0" smtClean="0"/>
              <a:t> DTO на каждом слое</a:t>
            </a:r>
            <a:r>
              <a:rPr lang="ru-RU" dirty="0" smtClean="0"/>
              <a:t>:</a:t>
            </a:r>
          </a:p>
          <a:p>
            <a:endParaRPr lang="ru-RU" dirty="0" smtClean="0"/>
          </a:p>
          <a:p>
            <a:pPr lvl="0"/>
            <a:r>
              <a:rPr lang="ru-RU" dirty="0" smtClean="0"/>
              <a:t>Изменение данных в одном слое не затрагивает другой слой;</a:t>
            </a:r>
          </a:p>
          <a:p>
            <a:pPr lvl="0"/>
            <a:r>
              <a:rPr lang="ru-RU" dirty="0" smtClean="0"/>
              <a:t>Аннотации, нужные для какой-то библиотеки не попадут в другие слои;</a:t>
            </a:r>
          </a:p>
          <a:p>
            <a:pPr lvl="0"/>
            <a:r>
              <a:rPr lang="ru-RU" dirty="0" smtClean="0"/>
              <a:t>Может быть много дублирования;</a:t>
            </a:r>
          </a:p>
          <a:p>
            <a:pPr lvl="0"/>
            <a:r>
              <a:rPr lang="ru-RU" dirty="0" smtClean="0"/>
              <a:t>При изменении данных все равно приходится менять </a:t>
            </a:r>
            <a:r>
              <a:rPr lang="ru-RU" dirty="0" err="1" smtClean="0"/>
              <a:t>маппер</a:t>
            </a:r>
            <a:r>
              <a:rPr lang="ru-RU" dirty="0" smtClean="0"/>
              <a:t>.</a:t>
            </a:r>
          </a:p>
          <a:p>
            <a:endParaRPr lang="ru-RU" dirty="0" smtClean="0"/>
          </a:p>
          <a:p>
            <a:r>
              <a:rPr lang="ru-RU" b="1" dirty="0" smtClean="0"/>
              <a:t>Использование DTO из слоя </a:t>
            </a:r>
            <a:r>
              <a:rPr lang="ru-RU" b="1" dirty="0" err="1" smtClean="0"/>
              <a:t>Enitities</a:t>
            </a:r>
            <a:r>
              <a:rPr lang="ru-RU" dirty="0" smtClean="0"/>
              <a:t>:</a:t>
            </a:r>
          </a:p>
          <a:p>
            <a:endParaRPr lang="ru-RU" dirty="0" smtClean="0"/>
          </a:p>
          <a:p>
            <a:pPr lvl="0"/>
            <a:r>
              <a:rPr lang="ru-RU" dirty="0" smtClean="0"/>
              <a:t>Нет дублирования кода;</a:t>
            </a:r>
          </a:p>
          <a:p>
            <a:pPr lvl="0"/>
            <a:r>
              <a:rPr lang="ru-RU" dirty="0" smtClean="0"/>
              <a:t>Меньше работы;</a:t>
            </a:r>
          </a:p>
          <a:p>
            <a:pPr lvl="0"/>
            <a:r>
              <a:rPr lang="ru-RU" dirty="0" smtClean="0"/>
              <a:t>Присутствие аннотаций, нужных для внешних библиотек на внутреннем слое;</a:t>
            </a:r>
          </a:p>
          <a:p>
            <a:pPr lvl="0"/>
            <a:r>
              <a:rPr lang="ru-RU" dirty="0" smtClean="0"/>
              <a:t>При изменении этого DTO, возможно придется менять код в других слоях.</a:t>
            </a:r>
          </a:p>
          <a:p>
            <a:endParaRPr lang="ru-RU" dirty="0" smtClean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 smtClean="0"/>
              <a:t>Clean</a:t>
            </a:r>
            <a:r>
              <a:rPr lang="ru-RU" dirty="0" smtClean="0"/>
              <a:t> </a:t>
            </a:r>
            <a:r>
              <a:rPr lang="ru-RU" dirty="0" err="1" smtClean="0"/>
              <a:t>Architecture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ru-RU" dirty="0" smtClean="0"/>
              <a:t> Что лучше </a:t>
            </a:r>
            <a:r>
              <a:rPr lang="ru-RU" dirty="0" err="1" smtClean="0"/>
              <a:t>Clean</a:t>
            </a:r>
            <a:r>
              <a:rPr lang="ru-RU" dirty="0" smtClean="0"/>
              <a:t> </a:t>
            </a:r>
            <a:r>
              <a:rPr lang="ru-RU" dirty="0" err="1" smtClean="0"/>
              <a:t>Architecture</a:t>
            </a:r>
            <a:r>
              <a:rPr lang="ru-RU" dirty="0" smtClean="0"/>
              <a:t> или MVP?</a:t>
            </a:r>
            <a:endParaRPr lang="ru-RU" b="1" cap="small" dirty="0"/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/>
          </a:bodyPr>
          <a:lstStyle/>
          <a:p>
            <a:endParaRPr lang="ru-RU" dirty="0" smtClean="0"/>
          </a:p>
          <a:p>
            <a:pPr lvl="0"/>
            <a:r>
              <a:rPr lang="ru-RU" dirty="0" smtClean="0"/>
              <a:t>Архитектура затрагивает всё ваше приложение. И </a:t>
            </a:r>
            <a:r>
              <a:rPr lang="ru-RU" dirty="0" err="1" smtClean="0"/>
              <a:t>Clean</a:t>
            </a:r>
            <a:r>
              <a:rPr lang="ru-RU" dirty="0" smtClean="0"/>
              <a:t> – не исключение.</a:t>
            </a:r>
          </a:p>
          <a:p>
            <a:pPr lvl="0"/>
            <a:r>
              <a:rPr lang="ru-RU" dirty="0" smtClean="0"/>
              <a:t>А презентационные паттерны, например MVP, затрагивают лишь часть, отвечающую за отображение и взаимодействие с UI. Чтобы лучше понять эти паттерны, я рекомендую почитать </a:t>
            </a:r>
            <a:r>
              <a:rPr lang="ru-RU" dirty="0" smtClean="0">
                <a:hlinkClick r:id="rId2"/>
              </a:rPr>
              <a:t>статью</a:t>
            </a:r>
            <a:r>
              <a:rPr lang="ru-RU" dirty="0" smtClean="0"/>
              <a:t> моего коллеги </a:t>
            </a:r>
            <a:r>
              <a:rPr lang="ru-RU" dirty="0" err="1" smtClean="0">
                <a:hlinkClick r:id="rId3"/>
              </a:rPr>
              <a:t>dmdev</a:t>
            </a:r>
            <a:r>
              <a:rPr lang="ru-RU" dirty="0" smtClean="0"/>
              <a:t>.</a:t>
            </a:r>
          </a:p>
          <a:p>
            <a:endParaRPr lang="ru-RU" dirty="0" smtClean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 smtClean="0"/>
              <a:t>Clean</a:t>
            </a:r>
            <a:r>
              <a:rPr lang="ru-RU" dirty="0" smtClean="0"/>
              <a:t> </a:t>
            </a:r>
            <a:r>
              <a:rPr lang="ru-RU" dirty="0" err="1" smtClean="0"/>
              <a:t>Architecture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ru-RU" dirty="0" smtClean="0"/>
              <a:t> </a:t>
            </a:r>
            <a:r>
              <a:rPr lang="ru-RU" dirty="0" err="1" smtClean="0"/>
              <a:t>Clean</a:t>
            </a:r>
            <a:r>
              <a:rPr lang="ru-RU" dirty="0" smtClean="0"/>
              <a:t> </a:t>
            </a:r>
            <a:r>
              <a:rPr lang="ru-RU" dirty="0" err="1" smtClean="0"/>
              <a:t>Architecture</a:t>
            </a:r>
            <a:r>
              <a:rPr lang="ru-RU" dirty="0" smtClean="0"/>
              <a:t> в первых проектах</a:t>
            </a:r>
            <a:endParaRPr lang="ru-RU" b="1" cap="small" dirty="0"/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 fontScale="70000" lnSpcReduction="20000"/>
          </a:bodyPr>
          <a:lstStyle/>
          <a:p>
            <a:r>
              <a:rPr lang="ru-RU" dirty="0" smtClean="0"/>
              <a:t>В последнее время архитектура приложений на слуху. Даже </a:t>
            </a:r>
            <a:r>
              <a:rPr lang="ru-RU" dirty="0" err="1" smtClean="0"/>
              <a:t>Google</a:t>
            </a:r>
            <a:r>
              <a:rPr lang="ru-RU" dirty="0" smtClean="0"/>
              <a:t> решили выпустить свои </a:t>
            </a:r>
            <a:r>
              <a:rPr lang="ru-RU" dirty="0" err="1" smtClean="0"/>
              <a:t>Architecture</a:t>
            </a:r>
            <a:r>
              <a:rPr lang="ru-RU" dirty="0" smtClean="0"/>
              <a:t> </a:t>
            </a:r>
            <a:r>
              <a:rPr lang="ru-RU" dirty="0" err="1" smtClean="0"/>
              <a:t>Components</a:t>
            </a:r>
            <a:r>
              <a:rPr lang="ru-RU" dirty="0" smtClean="0"/>
              <a:t>.</a:t>
            </a:r>
          </a:p>
          <a:p>
            <a:endParaRPr lang="ru-RU" dirty="0" smtClean="0"/>
          </a:p>
          <a:p>
            <a:r>
              <a:rPr lang="ru-RU" dirty="0" smtClean="0"/>
              <a:t>Но этот </a:t>
            </a:r>
            <a:r>
              <a:rPr lang="ru-RU" dirty="0" err="1" smtClean="0"/>
              <a:t>хайп</a:t>
            </a:r>
            <a:r>
              <a:rPr lang="ru-RU" dirty="0" smtClean="0"/>
              <a:t> заставляет молодых разработчиков пытаться затянуть какую-нибудь архитектуру в первые же свои приложения. А это </a:t>
            </a:r>
            <a:r>
              <a:rPr lang="ru-RU" b="1" dirty="0" smtClean="0"/>
              <a:t>чаще всего плохая идея</a:t>
            </a:r>
            <a:r>
              <a:rPr lang="ru-RU" dirty="0" smtClean="0"/>
              <a:t>. Так как на раннем этапе куда полезнее вникнуть в другие вещи.</a:t>
            </a:r>
          </a:p>
          <a:p>
            <a:endParaRPr lang="ru-RU" dirty="0" smtClean="0"/>
          </a:p>
          <a:p>
            <a:r>
              <a:rPr lang="ru-RU" dirty="0" smtClean="0"/>
              <a:t>Конечно, если вам все понятно и есть на это время – то </a:t>
            </a:r>
            <a:r>
              <a:rPr lang="ru-RU" dirty="0" err="1" smtClean="0"/>
              <a:t>супер</a:t>
            </a:r>
            <a:r>
              <a:rPr lang="ru-RU" dirty="0" smtClean="0"/>
              <a:t>. Но если сложно, то не надо себя мучить, делайте проще, набирайтесь опыта. А применять архитектуру начнете позже, само придет.</a:t>
            </a:r>
          </a:p>
          <a:p>
            <a:endParaRPr lang="ru-RU" dirty="0" smtClean="0"/>
          </a:p>
          <a:p>
            <a:r>
              <a:rPr lang="ru-RU" i="1" dirty="0" smtClean="0"/>
              <a:t>Лучше красивый, хорошо работающий код, чем архитектурное спагетти с соусом из недопонимания</a:t>
            </a:r>
            <a:r>
              <a:rPr lang="ru-RU" dirty="0" smtClean="0"/>
              <a:t>.</a:t>
            </a:r>
          </a:p>
          <a:p>
            <a:endParaRPr lang="ru-RU" dirty="0" smtClean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 smtClean="0"/>
              <a:t>Сервис-ориентированная</a:t>
            </a:r>
            <a:r>
              <a:rPr lang="ru-RU" dirty="0" smtClean="0"/>
              <a:t> архитектура (SOA)</a:t>
            </a:r>
            <a:endParaRPr lang="ru-RU" dirty="0"/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 fontScale="77500" lnSpcReduction="20000"/>
          </a:bodyPr>
          <a:lstStyle/>
          <a:p>
            <a:r>
              <a:rPr lang="ru-RU" dirty="0" err="1" smtClean="0"/>
              <a:t>Сервис-ориентированная</a:t>
            </a:r>
            <a:r>
              <a:rPr lang="ru-RU" dirty="0" smtClean="0"/>
              <a:t> архитектура (</a:t>
            </a:r>
            <a:r>
              <a:rPr lang="ru-RU" dirty="0" err="1" smtClean="0"/>
              <a:t>service-oriented</a:t>
            </a:r>
            <a:r>
              <a:rPr lang="ru-RU" dirty="0" smtClean="0"/>
              <a:t> </a:t>
            </a:r>
            <a:r>
              <a:rPr lang="ru-RU" dirty="0" err="1" smtClean="0"/>
              <a:t>architecture</a:t>
            </a:r>
            <a:r>
              <a:rPr lang="ru-RU" dirty="0" smtClean="0"/>
              <a:t>, SOA) придумана в конце 1980-х. Она берёт своё начало в идеях, изложенных в CORBA, DCOM, DCE и других документах. О SOA написано много, есть несколько её реализаций. Но, по сути, SOA можно свести к нескольким идеям, причём архитектура не диктует способы их реализации:</a:t>
            </a:r>
          </a:p>
          <a:p>
            <a:endParaRPr lang="ru-RU" dirty="0" smtClean="0"/>
          </a:p>
          <a:p>
            <a:pPr lvl="0"/>
            <a:r>
              <a:rPr lang="ru-RU" dirty="0" smtClean="0"/>
              <a:t>Сочетаемость приложений, ориентированных на пользователей.</a:t>
            </a:r>
          </a:p>
          <a:p>
            <a:pPr lvl="0"/>
            <a:r>
              <a:rPr lang="ru-RU" dirty="0" smtClean="0"/>
              <a:t>Многократное использование </a:t>
            </a:r>
            <a:r>
              <a:rPr lang="ru-RU" dirty="0" err="1" smtClean="0"/>
              <a:t>бизнес-сервисов</a:t>
            </a:r>
            <a:r>
              <a:rPr lang="ru-RU" dirty="0" smtClean="0"/>
              <a:t>.</a:t>
            </a:r>
          </a:p>
          <a:p>
            <a:pPr lvl="0"/>
            <a:r>
              <a:rPr lang="ru-RU" dirty="0" smtClean="0"/>
              <a:t>Независимость от набора технологий.</a:t>
            </a:r>
          </a:p>
          <a:p>
            <a:r>
              <a:rPr lang="ru-RU" dirty="0" smtClean="0"/>
              <a:t>Автономность (независимые эволюция, </a:t>
            </a:r>
            <a:r>
              <a:rPr lang="ru-RU" dirty="0" err="1" smtClean="0"/>
              <a:t>масштабируемость</a:t>
            </a:r>
            <a:r>
              <a:rPr lang="ru-RU" dirty="0" smtClean="0"/>
              <a:t> и </a:t>
            </a:r>
            <a:r>
              <a:rPr lang="ru-RU" dirty="0" err="1" smtClean="0"/>
              <a:t>развёртываемость</a:t>
            </a:r>
            <a:r>
              <a:rPr lang="ru-RU" dirty="0" smtClean="0"/>
              <a:t>).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Очередь сообщений</a:t>
            </a:r>
            <a:endParaRPr lang="ru-RU" dirty="0"/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 fontScale="70000" lnSpcReduction="20000"/>
          </a:bodyPr>
          <a:lstStyle/>
          <a:p>
            <a:r>
              <a:rPr lang="ru-RU" dirty="0" smtClean="0"/>
              <a:t>У нас есть несколько приложений, которые асинхронно общаются друг с другом с помощью </a:t>
            </a:r>
            <a:r>
              <a:rPr lang="ru-RU" dirty="0" err="1" smtClean="0"/>
              <a:t>платформо-независимых</a:t>
            </a:r>
            <a:r>
              <a:rPr lang="ru-RU" dirty="0" smtClean="0"/>
              <a:t> сообщений. Очередь сообщений улучшает </a:t>
            </a:r>
            <a:r>
              <a:rPr lang="ru-RU" dirty="0" err="1" smtClean="0"/>
              <a:t>масштабируемость</a:t>
            </a:r>
            <a:r>
              <a:rPr lang="ru-RU" dirty="0" smtClean="0"/>
              <a:t> и усиливает изолированность приложений. Им не нужно знать, где находятся другие приложения, сколько их и даже что они собой представляют. Однако все эти приложения должны использовать один язык обмена сообщениями, т. е. заранее определённый текстовый формат представления данных.</a:t>
            </a:r>
          </a:p>
          <a:p>
            <a:endParaRPr lang="ru-RU" dirty="0" smtClean="0"/>
          </a:p>
          <a:p>
            <a:r>
              <a:rPr lang="ru-RU" dirty="0" smtClean="0"/>
              <a:t>Очередь сообщений использует в качестве компонента инфраструктуры программный брокер сообщений (</a:t>
            </a:r>
            <a:r>
              <a:rPr lang="ru-RU" dirty="0" err="1" smtClean="0"/>
              <a:t>RabbitMQ</a:t>
            </a:r>
            <a:r>
              <a:rPr lang="ru-RU" dirty="0" smtClean="0"/>
              <a:t>, </a:t>
            </a:r>
            <a:r>
              <a:rPr lang="ru-RU" dirty="0" err="1" smtClean="0"/>
              <a:t>Beanstalkd</a:t>
            </a:r>
            <a:r>
              <a:rPr lang="ru-RU" dirty="0" smtClean="0"/>
              <a:t>, </a:t>
            </a:r>
            <a:r>
              <a:rPr lang="ru-RU" dirty="0" err="1" smtClean="0"/>
              <a:t>Kafka</a:t>
            </a:r>
            <a:r>
              <a:rPr lang="ru-RU" dirty="0" smtClean="0"/>
              <a:t> и т. д.). Для реализации связи между приложениями можно по-разному настроить очередь:</a:t>
            </a:r>
          </a:p>
          <a:p>
            <a:endParaRPr lang="ru-RU" dirty="0" smtClean="0"/>
          </a:p>
          <a:p>
            <a:pPr lvl="1"/>
            <a:r>
              <a:rPr lang="ru-RU" b="1" dirty="0" smtClean="0"/>
              <a:t>Запрос/Ответ</a:t>
            </a:r>
            <a:endParaRPr lang="en-US" b="1" dirty="0" smtClean="0"/>
          </a:p>
          <a:p>
            <a:pPr lvl="1"/>
            <a:r>
              <a:rPr lang="ru-RU" b="1" dirty="0" smtClean="0"/>
              <a:t>Публикация/Подписка</a:t>
            </a:r>
            <a:endParaRPr lang="ru-RU" dirty="0" smtClean="0"/>
          </a:p>
          <a:p>
            <a:pPr lvl="2"/>
            <a:r>
              <a:rPr lang="ru-RU" b="1" dirty="0" smtClean="0"/>
              <a:t>По спискам</a:t>
            </a:r>
            <a:endParaRPr lang="en-US" b="1" dirty="0" smtClean="0"/>
          </a:p>
          <a:p>
            <a:pPr lvl="2"/>
            <a:r>
              <a:rPr lang="ru-RU" b="1" dirty="0" smtClean="0"/>
              <a:t>На основе вещания</a:t>
            </a:r>
            <a:endParaRPr lang="ru-RU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i="1" dirty="0" err="1" smtClean="0"/>
              <a:t>pull</a:t>
            </a:r>
            <a:r>
              <a:rPr lang="ru-RU" i="1" dirty="0" smtClean="0"/>
              <a:t>- (</a:t>
            </a:r>
            <a:r>
              <a:rPr lang="ru-RU" i="1" dirty="0" err="1" smtClean="0"/>
              <a:t>polling</a:t>
            </a:r>
            <a:r>
              <a:rPr lang="ru-RU" i="1" dirty="0" smtClean="0"/>
              <a:t>)</a:t>
            </a:r>
            <a:r>
              <a:rPr lang="ru-RU" dirty="0" smtClean="0"/>
              <a:t>, или </a:t>
            </a:r>
            <a:r>
              <a:rPr lang="ru-RU" i="1" dirty="0" smtClean="0"/>
              <a:t>push</a:t>
            </a:r>
            <a:r>
              <a:rPr lang="ru-RU" dirty="0" smtClean="0"/>
              <a:t>-подход</a:t>
            </a:r>
            <a:endParaRPr lang="ru-RU" dirty="0"/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 lnSpcReduction="10000"/>
          </a:bodyPr>
          <a:lstStyle/>
          <a:p>
            <a:pPr lvl="0"/>
            <a:r>
              <a:rPr lang="ru-RU" dirty="0" smtClean="0"/>
              <a:t>В pull-сценарии клиент опрашивает очередь с определённой частотой. Клиент управляет своей нагрузкой, но при этом может возникнуть задержка: сообщение уже лежит в очереди, а клиент его ещё не обрабатывает, потому что не пришло время следующего опроса очереди.</a:t>
            </a:r>
          </a:p>
          <a:p>
            <a:r>
              <a:rPr lang="ru-RU" dirty="0" smtClean="0"/>
              <a:t>В push-сценарии очередь сразу же отдаёт клиентам сообщения по мере поступления. Задержки нет, но клиенты не управляют своей нагрузкой</a:t>
            </a:r>
            <a:endParaRPr lang="ru-RU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Сервисная шина предприятия (ESB)</a:t>
            </a:r>
            <a:endParaRPr lang="ru-RU" dirty="0"/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 fontScale="70000" lnSpcReduction="20000"/>
          </a:bodyPr>
          <a:lstStyle/>
          <a:p>
            <a:r>
              <a:rPr lang="ru-RU" dirty="0" smtClean="0"/>
              <a:t>В этой архитектуре используется модульное приложение (</a:t>
            </a:r>
            <a:r>
              <a:rPr lang="ru-RU" dirty="0" err="1" smtClean="0"/>
              <a:t>composite</a:t>
            </a:r>
            <a:r>
              <a:rPr lang="ru-RU" dirty="0" smtClean="0"/>
              <a:t> </a:t>
            </a:r>
            <a:r>
              <a:rPr lang="ru-RU" dirty="0" err="1" smtClean="0"/>
              <a:t>application</a:t>
            </a:r>
            <a:r>
              <a:rPr lang="ru-RU" dirty="0" smtClean="0"/>
              <a:t>), обычно ориентированное на пользователей, которое общается с </a:t>
            </a:r>
            <a:r>
              <a:rPr lang="ru-RU" dirty="0" err="1" smtClean="0"/>
              <a:t>веб-сервисами</a:t>
            </a:r>
            <a:r>
              <a:rPr lang="ru-RU" dirty="0" smtClean="0"/>
              <a:t> для выполнения каких-то операций. В свою очередь, эти </a:t>
            </a:r>
            <a:r>
              <a:rPr lang="ru-RU" dirty="0" err="1" smtClean="0"/>
              <a:t>веб-сервисы</a:t>
            </a:r>
            <a:r>
              <a:rPr lang="ru-RU" dirty="0" smtClean="0"/>
              <a:t> тоже могут общаться с другими </a:t>
            </a:r>
            <a:r>
              <a:rPr lang="ru-RU" dirty="0" err="1" smtClean="0"/>
              <a:t>веб-сервисами</a:t>
            </a:r>
            <a:r>
              <a:rPr lang="ru-RU" dirty="0" smtClean="0"/>
              <a:t>, впоследствии возвращая приложению какие-то данные. Но ни приложение, ни </a:t>
            </a:r>
            <a:r>
              <a:rPr lang="ru-RU" dirty="0" err="1" smtClean="0"/>
              <a:t>бэкенд-сервисы</a:t>
            </a:r>
            <a:r>
              <a:rPr lang="ru-RU" dirty="0" smtClean="0"/>
              <a:t> ничего друг о друге не знают, включая расположение и протоколы связи. Они знают лишь, с каким сервисом хотят связаться и где находится сервисная шина.</a:t>
            </a:r>
          </a:p>
          <a:p>
            <a:endParaRPr lang="ru-RU" dirty="0" smtClean="0"/>
          </a:p>
          <a:p>
            <a:r>
              <a:rPr lang="ru-RU" dirty="0" smtClean="0"/>
              <a:t>Клиент (сервис или модульное приложение) отправляет запрос на сервисную шину, которая </a:t>
            </a:r>
            <a:r>
              <a:rPr lang="ru-RU" b="1" dirty="0" smtClean="0"/>
              <a:t>преобразует</a:t>
            </a:r>
            <a:r>
              <a:rPr lang="ru-RU" dirty="0" smtClean="0"/>
              <a:t> сообщение в формат, поддерживаемый в точке назначения, и </a:t>
            </a:r>
            <a:r>
              <a:rPr lang="ru-RU" dirty="0" err="1" smtClean="0"/>
              <a:t>перенаправляет</a:t>
            </a:r>
            <a:r>
              <a:rPr lang="ru-RU" dirty="0" smtClean="0"/>
              <a:t> туда запрос. </a:t>
            </a:r>
            <a:r>
              <a:rPr lang="ru-RU" b="1" dirty="0" smtClean="0"/>
              <a:t>Всё</a:t>
            </a:r>
            <a:r>
              <a:rPr lang="ru-RU" dirty="0" smtClean="0"/>
              <a:t> взаимодействие идёт через сервисную шину, так что если она падает, то с ней падают и все остальные системы. То есть ESB — ключевой посредник, очень сложный компонент системы.</a:t>
            </a:r>
            <a:endParaRPr lang="ru-RU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Сервисная шина предприятия (ESB)</a:t>
            </a:r>
            <a:endParaRPr lang="ru-RU" dirty="0"/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>
          <a:xfrm>
            <a:off x="395536" y="1212776"/>
            <a:ext cx="8229600" cy="5645224"/>
          </a:xfrm>
        </p:spPr>
        <p:txBody>
          <a:bodyPr>
            <a:normAutofit fontScale="62500" lnSpcReduction="20000"/>
          </a:bodyPr>
          <a:lstStyle/>
          <a:p>
            <a:r>
              <a:rPr lang="ru-RU" dirty="0" smtClean="0"/>
              <a:t>Более того, хотя ESB является главным компонентом архитектуры, в системе могут использоваться и другие компоненты вроде доменных брокеров (</a:t>
            </a:r>
            <a:r>
              <a:rPr lang="ru-RU" dirty="0" err="1" smtClean="0"/>
              <a:t>Domain</a:t>
            </a:r>
            <a:r>
              <a:rPr lang="ru-RU" dirty="0" smtClean="0"/>
              <a:t> </a:t>
            </a:r>
            <a:r>
              <a:rPr lang="ru-RU" dirty="0" err="1" smtClean="0"/>
              <a:t>Broker</a:t>
            </a:r>
            <a:r>
              <a:rPr lang="ru-RU" dirty="0" smtClean="0"/>
              <a:t>), сервисов данных (</a:t>
            </a:r>
            <a:r>
              <a:rPr lang="ru-RU" dirty="0" err="1" smtClean="0"/>
              <a:t>Data</a:t>
            </a:r>
            <a:r>
              <a:rPr lang="ru-RU" dirty="0" smtClean="0"/>
              <a:t> </a:t>
            </a:r>
            <a:r>
              <a:rPr lang="ru-RU" dirty="0" err="1" smtClean="0"/>
              <a:t>Service</a:t>
            </a:r>
            <a:r>
              <a:rPr lang="ru-RU" dirty="0" smtClean="0"/>
              <a:t>), сервисов процессной оркестровки (</a:t>
            </a:r>
            <a:r>
              <a:rPr lang="ru-RU" dirty="0" err="1" smtClean="0"/>
              <a:t>Process</a:t>
            </a:r>
            <a:r>
              <a:rPr lang="ru-RU" dirty="0" smtClean="0"/>
              <a:t> </a:t>
            </a:r>
            <a:r>
              <a:rPr lang="ru-RU" dirty="0" err="1" smtClean="0"/>
              <a:t>Orchestration</a:t>
            </a:r>
            <a:r>
              <a:rPr lang="ru-RU" dirty="0" smtClean="0"/>
              <a:t> </a:t>
            </a:r>
            <a:r>
              <a:rPr lang="ru-RU" dirty="0" err="1" smtClean="0"/>
              <a:t>Service</a:t>
            </a:r>
            <a:r>
              <a:rPr lang="ru-RU" dirty="0" smtClean="0"/>
              <a:t>) и обработчиков правил (</a:t>
            </a:r>
            <a:r>
              <a:rPr lang="ru-RU" dirty="0" err="1" smtClean="0"/>
              <a:t>Rules</a:t>
            </a:r>
            <a:r>
              <a:rPr lang="ru-RU" dirty="0" smtClean="0"/>
              <a:t> </a:t>
            </a:r>
            <a:r>
              <a:rPr lang="ru-RU" dirty="0" err="1" smtClean="0"/>
              <a:t>Engine</a:t>
            </a:r>
            <a:r>
              <a:rPr lang="ru-RU" dirty="0" smtClean="0"/>
              <a:t>). Тот же паттерн может использовать интегрированная архитектура (</a:t>
            </a:r>
            <a:r>
              <a:rPr lang="ru-RU" dirty="0" err="1" smtClean="0"/>
              <a:t>federated</a:t>
            </a:r>
            <a:r>
              <a:rPr lang="ru-RU" dirty="0" smtClean="0"/>
              <a:t> </a:t>
            </a:r>
            <a:r>
              <a:rPr lang="ru-RU" dirty="0" err="1" smtClean="0"/>
              <a:t>design</a:t>
            </a:r>
            <a:r>
              <a:rPr lang="ru-RU" dirty="0" smtClean="0"/>
              <a:t>): система разделена на </a:t>
            </a:r>
            <a:r>
              <a:rPr lang="ru-RU" dirty="0" err="1" smtClean="0"/>
              <a:t>бизнес-домены</a:t>
            </a:r>
            <a:r>
              <a:rPr lang="ru-RU" dirty="0" smtClean="0"/>
              <a:t> со своими ESB, и все ESB соединены друг с другом. У такой схемы выше производительность и нет единой точки отказа: если какая-то ESB упадёт, то пострадает лишь её бизнес-домен.</a:t>
            </a:r>
          </a:p>
          <a:p>
            <a:r>
              <a:rPr lang="ru-RU" dirty="0" smtClean="0"/>
              <a:t>Главные обязанности ESB:</a:t>
            </a:r>
          </a:p>
          <a:p>
            <a:pPr lvl="1"/>
            <a:r>
              <a:rPr lang="ru-RU" dirty="0" smtClean="0"/>
              <a:t>Отслеживать и маршрутизировать обмен сообщениями между сервисами.</a:t>
            </a:r>
          </a:p>
          <a:p>
            <a:pPr lvl="1"/>
            <a:r>
              <a:rPr lang="ru-RU" dirty="0" smtClean="0"/>
              <a:t>Преобразовывать сообщения между общающимися сервисными компонентами.</a:t>
            </a:r>
          </a:p>
          <a:p>
            <a:pPr lvl="1"/>
            <a:r>
              <a:rPr lang="ru-RU" dirty="0" smtClean="0"/>
              <a:t>Управлять развёртыванием и </a:t>
            </a:r>
            <a:r>
              <a:rPr lang="ru-RU" dirty="0" err="1" smtClean="0"/>
              <a:t>версионированием</a:t>
            </a:r>
            <a:r>
              <a:rPr lang="ru-RU" dirty="0" smtClean="0"/>
              <a:t> сервисов.</a:t>
            </a:r>
          </a:p>
          <a:p>
            <a:pPr lvl="1"/>
            <a:r>
              <a:rPr lang="ru-RU" dirty="0" smtClean="0"/>
              <a:t>Управлять использованием избыточных сервисов.</a:t>
            </a:r>
          </a:p>
          <a:p>
            <a:pPr lvl="1"/>
            <a:r>
              <a:rPr lang="ru-RU" dirty="0" smtClean="0"/>
              <a:t>Предоставлять стандартные сервисы обработки событий, преобразования и сопоставления данных, сервисы очередей сообщений и событий, сервисы обеспечения безопасности или обработки исключений, сервисы преобразования протоколов и обеспечения необходимого качества связи.</a:t>
            </a:r>
            <a:endParaRPr lang="ru-RU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Сервисная шина предприятия (ESB)</a:t>
            </a:r>
            <a:endParaRPr lang="ru-RU" dirty="0"/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>
          <a:xfrm>
            <a:off x="395536" y="1212776"/>
            <a:ext cx="8229600" cy="5645224"/>
          </a:xfrm>
        </p:spPr>
        <p:txBody>
          <a:bodyPr>
            <a:normAutofit fontScale="92500" lnSpcReduction="20000"/>
          </a:bodyPr>
          <a:lstStyle/>
          <a:p>
            <a:r>
              <a:rPr lang="ru-RU" dirty="0" smtClean="0"/>
              <a:t>У этого архитектурного паттерна есть положительные стороны. Однако он особенно </a:t>
            </a:r>
            <a:r>
              <a:rPr lang="ru-RU" dirty="0" err="1" smtClean="0"/>
              <a:t>полезнен</a:t>
            </a:r>
            <a:r>
              <a:rPr lang="ru-RU" dirty="0" smtClean="0"/>
              <a:t> в случаях, когда мы не «владеем» </a:t>
            </a:r>
            <a:r>
              <a:rPr lang="ru-RU" dirty="0" err="1" smtClean="0"/>
              <a:t>веб-сервисами</a:t>
            </a:r>
            <a:r>
              <a:rPr lang="ru-RU" dirty="0" smtClean="0"/>
              <a:t> и нам нужен посредник для трансляции сообщений между сервисами, для </a:t>
            </a:r>
            <a:r>
              <a:rPr lang="ru-RU" dirty="0" err="1" smtClean="0"/>
              <a:t>оркестрирования</a:t>
            </a:r>
            <a:r>
              <a:rPr lang="ru-RU" dirty="0" smtClean="0"/>
              <a:t> бизнес-процессами, использующими несколько </a:t>
            </a:r>
            <a:r>
              <a:rPr lang="ru-RU" dirty="0" err="1" smtClean="0"/>
              <a:t>веб-сервисов</a:t>
            </a:r>
            <a:r>
              <a:rPr lang="ru-RU" dirty="0" smtClean="0"/>
              <a:t>, и прочих задач.</a:t>
            </a:r>
          </a:p>
          <a:p>
            <a:endParaRPr lang="ru-RU" dirty="0" smtClean="0"/>
          </a:p>
          <a:p>
            <a:r>
              <a:rPr lang="ru-RU" dirty="0" smtClean="0"/>
              <a:t>Реализации </a:t>
            </a:r>
            <a:r>
              <a:rPr lang="ru-RU" dirty="0" smtClean="0"/>
              <a:t>ESB уже достаточно развиты и в большинстве случаев позволяют использовать для своего конфигурирования пользовательский интерфейс с поддержкой </a:t>
            </a:r>
            <a:r>
              <a:rPr lang="ru-RU" dirty="0" err="1" smtClean="0"/>
              <a:t>drag</a:t>
            </a:r>
            <a:r>
              <a:rPr lang="ru-RU" dirty="0" smtClean="0"/>
              <a:t> &amp; </a:t>
            </a:r>
            <a:r>
              <a:rPr lang="ru-RU" dirty="0" err="1" smtClean="0"/>
              <a:t>drop</a:t>
            </a:r>
            <a:r>
              <a:rPr lang="ru-RU" dirty="0" smtClean="0"/>
              <a:t>.</a:t>
            </a:r>
            <a:endParaRPr lang="ru-RU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err="1" smtClean="0"/>
              <a:t>Микросервисы</a:t>
            </a:r>
            <a:endParaRPr lang="ru-RU" dirty="0"/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 fontScale="62500" lnSpcReduction="20000"/>
          </a:bodyPr>
          <a:lstStyle/>
          <a:p>
            <a:r>
              <a:rPr lang="ru-RU" dirty="0" smtClean="0"/>
              <a:t>Главное различие </a:t>
            </a:r>
            <a:r>
              <a:rPr lang="ru-RU" dirty="0" err="1" smtClean="0"/>
              <a:t>микросервисов</a:t>
            </a:r>
            <a:r>
              <a:rPr lang="ru-RU" dirty="0" smtClean="0"/>
              <a:t> и шины в том, что ESB была создана в контексте </a:t>
            </a:r>
            <a:r>
              <a:rPr lang="ru-RU" b="1" dirty="0" smtClean="0"/>
              <a:t>интеграции отдельных приложений</a:t>
            </a:r>
            <a:r>
              <a:rPr lang="ru-RU" dirty="0" smtClean="0"/>
              <a:t>, чтобы получилось единое корпоративное распределённое приложение. А </a:t>
            </a:r>
            <a:r>
              <a:rPr lang="ru-RU" dirty="0" err="1" smtClean="0"/>
              <a:t>микросервисная</a:t>
            </a:r>
            <a:r>
              <a:rPr lang="ru-RU" dirty="0" smtClean="0"/>
              <a:t> архитектура создавалась в контексте быстро и постоянно меняющихся </a:t>
            </a:r>
            <a:r>
              <a:rPr lang="ru-RU" b="1" dirty="0" smtClean="0"/>
              <a:t>бизнесов, которые (в основном) с нуля создают собственные облачные приложения.</a:t>
            </a:r>
            <a:endParaRPr lang="ru-RU" dirty="0" smtClean="0"/>
          </a:p>
          <a:p>
            <a:endParaRPr lang="ru-RU" dirty="0" smtClean="0"/>
          </a:p>
          <a:p>
            <a:r>
              <a:rPr lang="ru-RU" dirty="0" smtClean="0"/>
              <a:t>То есть в случае с ESB у нас </a:t>
            </a:r>
            <a:r>
              <a:rPr lang="ru-RU" b="1" dirty="0" smtClean="0"/>
              <a:t>уже были приложения, которые нам не «принадлежат»</a:t>
            </a:r>
            <a:r>
              <a:rPr lang="ru-RU" dirty="0" smtClean="0"/>
              <a:t>, и поэтому мы не могли их изменить. А в случае с </a:t>
            </a:r>
            <a:r>
              <a:rPr lang="ru-RU" dirty="0" err="1" smtClean="0"/>
              <a:t>микросервисами</a:t>
            </a:r>
            <a:r>
              <a:rPr lang="ru-RU" dirty="0" smtClean="0"/>
              <a:t> мы </a:t>
            </a:r>
            <a:r>
              <a:rPr lang="ru-RU" b="1" dirty="0" smtClean="0"/>
              <a:t>полностью контролируем приложения</a:t>
            </a:r>
            <a:r>
              <a:rPr lang="ru-RU" dirty="0" smtClean="0"/>
              <a:t> (при этом в системе могут использоваться и сторонние </a:t>
            </a:r>
            <a:r>
              <a:rPr lang="ru-RU" dirty="0" err="1" smtClean="0"/>
              <a:t>веб-сервисы</a:t>
            </a:r>
            <a:r>
              <a:rPr lang="ru-RU" dirty="0" smtClean="0"/>
              <a:t>).</a:t>
            </a:r>
          </a:p>
          <a:p>
            <a:endParaRPr lang="ru-RU" dirty="0" smtClean="0"/>
          </a:p>
          <a:p>
            <a:r>
              <a:rPr lang="ru-RU" dirty="0" smtClean="0"/>
              <a:t>Характер построения/проектирования </a:t>
            </a:r>
            <a:r>
              <a:rPr lang="ru-RU" dirty="0" err="1" smtClean="0"/>
              <a:t>микросервисов</a:t>
            </a:r>
            <a:r>
              <a:rPr lang="ru-RU" dirty="0" smtClean="0"/>
              <a:t> не требует глубокой интеграции. </a:t>
            </a:r>
            <a:r>
              <a:rPr lang="ru-RU" dirty="0" err="1" smtClean="0"/>
              <a:t>Микросервисы</a:t>
            </a:r>
            <a:r>
              <a:rPr lang="ru-RU" dirty="0" smtClean="0"/>
              <a:t> должны соответствовать </a:t>
            </a:r>
            <a:r>
              <a:rPr lang="ru-RU" dirty="0" err="1" smtClean="0"/>
              <a:t>бизнес-концепции</a:t>
            </a:r>
            <a:r>
              <a:rPr lang="ru-RU" dirty="0" smtClean="0"/>
              <a:t>, ограниченному контексту. Они должны сохранять своё состояние, быть независимыми от других </a:t>
            </a:r>
            <a:r>
              <a:rPr lang="ru-RU" dirty="0" err="1" smtClean="0"/>
              <a:t>микросервисов</a:t>
            </a:r>
            <a:r>
              <a:rPr lang="ru-RU" dirty="0" smtClean="0"/>
              <a:t>, и потому они меньше нуждаются в интеграции. То есть низкая взаимозависимость и высокая связность привели к замечательному побочному эффекту — уменьшению потребности в интеграции.</a:t>
            </a:r>
            <a:endParaRPr lang="ru-RU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err="1" smtClean="0"/>
              <a:t>Микросервисы</a:t>
            </a:r>
            <a:endParaRPr lang="ru-RU" dirty="0"/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 fontScale="47500" lnSpcReduction="20000"/>
          </a:bodyPr>
          <a:lstStyle/>
          <a:p>
            <a:r>
              <a:rPr lang="ru-RU" dirty="0" smtClean="0"/>
              <a:t>Сэм </a:t>
            </a:r>
            <a:r>
              <a:rPr lang="ru-RU" dirty="0" err="1" smtClean="0"/>
              <a:t>Ньюман</a:t>
            </a:r>
            <a:r>
              <a:rPr lang="ru-RU" dirty="0" smtClean="0"/>
              <a:t>, автор </a:t>
            </a:r>
            <a:r>
              <a:rPr lang="ru-RU" i="1" dirty="0" err="1" smtClean="0"/>
              <a:t>Building</a:t>
            </a:r>
            <a:r>
              <a:rPr lang="ru-RU" i="1" dirty="0" smtClean="0"/>
              <a:t> </a:t>
            </a:r>
            <a:r>
              <a:rPr lang="ru-RU" i="1" dirty="0" err="1" smtClean="0"/>
              <a:t>Microservices</a:t>
            </a:r>
            <a:r>
              <a:rPr lang="ru-RU" dirty="0" smtClean="0"/>
              <a:t>, выделяет восемь принципов </a:t>
            </a:r>
            <a:r>
              <a:rPr lang="ru-RU" dirty="0" err="1" smtClean="0"/>
              <a:t>микросервисной</a:t>
            </a:r>
            <a:r>
              <a:rPr lang="ru-RU" dirty="0" smtClean="0"/>
              <a:t> архитектуры. Это:</a:t>
            </a:r>
          </a:p>
          <a:p>
            <a:endParaRPr lang="ru-RU" dirty="0" smtClean="0"/>
          </a:p>
          <a:p>
            <a:pPr lvl="0"/>
            <a:r>
              <a:rPr lang="ru-RU" b="1" dirty="0" smtClean="0"/>
              <a:t>Проектирование сервисов вокруг </a:t>
            </a:r>
            <a:r>
              <a:rPr lang="ru-RU" b="1" dirty="0" err="1" smtClean="0"/>
              <a:t>бизнес-доменов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Это может дать нам стабильные интерфейсы, </a:t>
            </a:r>
            <a:r>
              <a:rPr lang="ru-RU" dirty="0" err="1" smtClean="0"/>
              <a:t>высокосвязные</a:t>
            </a:r>
            <a:r>
              <a:rPr lang="ru-RU" dirty="0" smtClean="0"/>
              <a:t> и мало зависящие друг от друга модули кода, а также чётко определённые разграниченные контексты.</a:t>
            </a:r>
          </a:p>
          <a:p>
            <a:pPr lvl="0"/>
            <a:r>
              <a:rPr lang="ru-RU" b="1" dirty="0" smtClean="0"/>
              <a:t>Культура автоматизации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Это даст нам гораздо больше свободы, мы сможем развернуть больше модулей.</a:t>
            </a:r>
          </a:p>
          <a:p>
            <a:pPr lvl="0"/>
            <a:r>
              <a:rPr lang="ru-RU" b="1" dirty="0" smtClean="0"/>
              <a:t>Скрытие подробностей реализации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Это позволяет сервисам развиваться независимо друг от друга.</a:t>
            </a:r>
          </a:p>
          <a:p>
            <a:pPr lvl="0"/>
            <a:r>
              <a:rPr lang="ru-RU" b="1" dirty="0" smtClean="0"/>
              <a:t>Полная децентрализация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Децентрализуйте принятие решений и архитектурные концепции, предоставьте командам автономность, чтобы компания сама превратилась в сложную адаптивную систему, способную быстро приспосабливаться к переменам.</a:t>
            </a:r>
          </a:p>
          <a:p>
            <a:pPr lvl="0"/>
            <a:r>
              <a:rPr lang="ru-RU" b="1" dirty="0" smtClean="0"/>
              <a:t>Независимое развёртывание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Можно развёртывать новую версию сервиса, не меняя ничего другого.</a:t>
            </a:r>
          </a:p>
          <a:p>
            <a:pPr lvl="0"/>
            <a:r>
              <a:rPr lang="ru-RU" b="1" dirty="0" smtClean="0"/>
              <a:t>Сначала потребитель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Сервис должен быть простым в использовании, в том числе другими сервисами.</a:t>
            </a:r>
          </a:p>
          <a:p>
            <a:pPr lvl="0"/>
            <a:r>
              <a:rPr lang="ru-RU" b="1" dirty="0" smtClean="0"/>
              <a:t>Изолирование сбоев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Если один сервис падает, другие продолжают работать, это делает всю систему устойчивой к сбоям.</a:t>
            </a:r>
          </a:p>
          <a:p>
            <a:pPr lvl="0"/>
            <a:r>
              <a:rPr lang="ru-RU" b="1" dirty="0" smtClean="0"/>
              <a:t>Удобство мониторинга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В системе много компонентов, поэтому трудно уследить за всем, что в ней происходит. Нам нужны сложные инструменты мониторинга, позволяющие заглянуть в каждый уголок системы и отследить любую цепочку событий.</a:t>
            </a:r>
            <a:endParaRPr lang="ru-RU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DTO </a:t>
            </a:r>
            <a:r>
              <a:rPr lang="en-US" dirty="0" err="1" smtClean="0"/>
              <a:t>vs</a:t>
            </a:r>
            <a:r>
              <a:rPr lang="en-US" dirty="0" smtClean="0"/>
              <a:t> POCO </a:t>
            </a:r>
            <a:r>
              <a:rPr lang="en-US" dirty="0" err="1" smtClean="0"/>
              <a:t>vs</a:t>
            </a:r>
            <a:r>
              <a:rPr lang="en-US" dirty="0" smtClean="0"/>
              <a:t> Value Object</a:t>
            </a:r>
            <a:endParaRPr lang="ru-RU" dirty="0"/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 fontScale="62500" lnSpcReduction="20000"/>
          </a:bodyPr>
          <a:lstStyle/>
          <a:p>
            <a:r>
              <a:rPr lang="ru-RU" dirty="0" smtClean="0"/>
              <a:t>DTO — это класс, содержащий данные без какой-либо логики для работы с ними. DTO обычно используются для передачи данных между различными приложениями, либо между слоями внутри одного приложения. Их можно рассматривать как хранилище информации, единственная цель которого — передать эту информацию получателю.</a:t>
            </a:r>
            <a:br>
              <a:rPr lang="ru-RU" dirty="0" smtClean="0"/>
            </a:b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С другой стороны, </a:t>
            </a:r>
            <a:r>
              <a:rPr lang="ru-RU" dirty="0" err="1" smtClean="0"/>
              <a:t>Value</a:t>
            </a:r>
            <a:r>
              <a:rPr lang="ru-RU" dirty="0" smtClean="0"/>
              <a:t> </a:t>
            </a:r>
            <a:r>
              <a:rPr lang="ru-RU" dirty="0" err="1" smtClean="0"/>
              <a:t>Object</a:t>
            </a:r>
            <a:r>
              <a:rPr lang="ru-RU" dirty="0" smtClean="0"/>
              <a:t> — это полноценный член вашей доменной модели. Он подчиняется тем же правилам, что и сущности (</a:t>
            </a:r>
            <a:r>
              <a:rPr lang="ru-RU" dirty="0" err="1" smtClean="0"/>
              <a:t>Entities</a:t>
            </a:r>
            <a:r>
              <a:rPr lang="ru-RU" dirty="0" smtClean="0"/>
              <a:t>). Единственное отличие между </a:t>
            </a:r>
            <a:r>
              <a:rPr lang="ru-RU" dirty="0" err="1" smtClean="0">
                <a:hlinkClick r:id="rId2"/>
              </a:rPr>
              <a:t>Value</a:t>
            </a:r>
            <a:r>
              <a:rPr lang="ru-RU" dirty="0" smtClean="0">
                <a:hlinkClick r:id="rId2"/>
              </a:rPr>
              <a:t> </a:t>
            </a:r>
            <a:r>
              <a:rPr lang="ru-RU" dirty="0" err="1" smtClean="0">
                <a:hlinkClick r:id="rId2"/>
              </a:rPr>
              <a:t>Object</a:t>
            </a:r>
            <a:r>
              <a:rPr lang="ru-RU" dirty="0" smtClean="0"/>
              <a:t> и </a:t>
            </a:r>
            <a:r>
              <a:rPr lang="ru-RU" dirty="0" err="1" smtClean="0">
                <a:hlinkClick r:id="rId3"/>
              </a:rPr>
              <a:t>Entity</a:t>
            </a:r>
            <a:r>
              <a:rPr lang="ru-RU" dirty="0" smtClean="0"/>
              <a:t> в том, что у </a:t>
            </a:r>
            <a:r>
              <a:rPr lang="ru-RU" dirty="0" err="1" smtClean="0"/>
              <a:t>Value</a:t>
            </a:r>
            <a:r>
              <a:rPr lang="ru-RU" dirty="0" smtClean="0"/>
              <a:t> Object-а нет собственной идентичности. Это означает, что два </a:t>
            </a:r>
            <a:r>
              <a:rPr lang="ru-RU" dirty="0" err="1" smtClean="0"/>
              <a:t>Value</a:t>
            </a:r>
            <a:r>
              <a:rPr lang="ru-RU" dirty="0" smtClean="0"/>
              <a:t> Object-а с одинаковыми свойствами могут считаться идентичными, в то время как две сущности отличаются друг от друга даже в случае если их свойства полностью совпадают.</a:t>
            </a:r>
            <a:br>
              <a:rPr lang="ru-RU" dirty="0" smtClean="0"/>
            </a:b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err="1" smtClean="0"/>
              <a:t>Value</a:t>
            </a:r>
            <a:r>
              <a:rPr lang="ru-RU" dirty="0" smtClean="0"/>
              <a:t> </a:t>
            </a:r>
            <a:r>
              <a:rPr lang="ru-RU" dirty="0" err="1" smtClean="0"/>
              <a:t>Object-ы</a:t>
            </a:r>
            <a:r>
              <a:rPr lang="ru-RU" dirty="0" smtClean="0"/>
              <a:t> </a:t>
            </a:r>
            <a:r>
              <a:rPr lang="ru-RU" b="1" dirty="0" smtClean="0"/>
              <a:t>могут</a:t>
            </a:r>
            <a:r>
              <a:rPr lang="ru-RU" dirty="0" smtClean="0"/>
              <a:t> содержать логику и обычно они не используются для передачи информации между приложениями.</a:t>
            </a:r>
            <a:br>
              <a:rPr lang="ru-RU" dirty="0" smtClean="0"/>
            </a:b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POCO (</a:t>
            </a:r>
            <a:r>
              <a:rPr lang="ru-RU" dirty="0" err="1" smtClean="0"/>
              <a:t>Plain</a:t>
            </a:r>
            <a:r>
              <a:rPr lang="ru-RU" dirty="0" smtClean="0"/>
              <a:t> </a:t>
            </a:r>
            <a:r>
              <a:rPr lang="ru-RU" dirty="0" err="1" smtClean="0"/>
              <a:t>Old</a:t>
            </a:r>
            <a:r>
              <a:rPr lang="ru-RU" dirty="0" smtClean="0"/>
              <a:t> CLR </a:t>
            </a:r>
            <a:r>
              <a:rPr lang="ru-RU" dirty="0" err="1" smtClean="0"/>
              <a:t>Object</a:t>
            </a:r>
            <a:r>
              <a:rPr lang="ru-RU" dirty="0" smtClean="0"/>
              <a:t>) — термин, созданный как аналогия для POJO. POJO не может использоваться в .NET из-за того, что буква “J” в нем означает “</a:t>
            </a:r>
            <a:r>
              <a:rPr lang="ru-RU" dirty="0" err="1" smtClean="0"/>
              <a:t>Java</a:t>
            </a:r>
            <a:r>
              <a:rPr lang="ru-RU" dirty="0" smtClean="0"/>
              <a:t>”. POCO имеет ту же семантику, что и POJO</a:t>
            </a:r>
            <a:endParaRPr lang="ru-RU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DTO </a:t>
            </a:r>
            <a:r>
              <a:rPr lang="en-US" dirty="0" err="1" smtClean="0"/>
              <a:t>vs</a:t>
            </a:r>
            <a:r>
              <a:rPr lang="en-US" dirty="0" smtClean="0"/>
              <a:t> POCO </a:t>
            </a:r>
            <a:r>
              <a:rPr lang="en-US" dirty="0" err="1" smtClean="0"/>
              <a:t>vs</a:t>
            </a:r>
            <a:r>
              <a:rPr lang="en-US" dirty="0" smtClean="0"/>
              <a:t> Value Object</a:t>
            </a:r>
            <a:endParaRPr lang="ru-RU" dirty="0"/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/>
          </a:bodyPr>
          <a:lstStyle/>
          <a:p>
            <a:endParaRPr lang="ru-RU" dirty="0"/>
          </a:p>
        </p:txBody>
      </p:sp>
      <p:pic>
        <p:nvPicPr>
          <p:cNvPr id="5" name="Рисунок 4" descr="image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616" y="1385392"/>
            <a:ext cx="6768752" cy="54726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460</TotalTime>
  <Words>3485</Words>
  <Application>Microsoft Office PowerPoint</Application>
  <PresentationFormat>Экран (4:3)</PresentationFormat>
  <Paragraphs>293</Paragraphs>
  <Slides>75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75</vt:i4>
      </vt:variant>
    </vt:vector>
  </HeadingPairs>
  <TitlesOfParts>
    <vt:vector size="76" baseType="lpstr">
      <vt:lpstr>Тема Office</vt:lpstr>
      <vt:lpstr>Слайд 1</vt:lpstr>
      <vt:lpstr>Охота на мифический MVC</vt:lpstr>
      <vt:lpstr>Охота на мифический MVC</vt:lpstr>
      <vt:lpstr>Охота на мифический MVC</vt:lpstr>
      <vt:lpstr>Охота на мифический MVC</vt:lpstr>
      <vt:lpstr>Охота на мифический MVC</vt:lpstr>
      <vt:lpstr>Охота на мифический MVC</vt:lpstr>
      <vt:lpstr>Охота на мифический MVC</vt:lpstr>
      <vt:lpstr>Охота на мифический MVC</vt:lpstr>
      <vt:lpstr>Охота на мифический MVC</vt:lpstr>
      <vt:lpstr>«Трехуровневый MVC» от веб</vt:lpstr>
      <vt:lpstr>«Трехуровневый MVC» от веб</vt:lpstr>
      <vt:lpstr>«Трехуровневый MVC» от веб</vt:lpstr>
      <vt:lpstr>«Архитектурный MVC»</vt:lpstr>
      <vt:lpstr>«Архитектурный MVC»</vt:lpstr>
      <vt:lpstr>«Архитектурный MVC»</vt:lpstr>
      <vt:lpstr>«Архитектурный MVC»</vt:lpstr>
      <vt:lpstr>«Original MVC»</vt:lpstr>
      <vt:lpstr>«Original MVC»</vt:lpstr>
      <vt:lpstr>«Original MVC»</vt:lpstr>
      <vt:lpstr>Типичные ошибки: </vt:lpstr>
      <vt:lpstr>Типичные ошибки: </vt:lpstr>
      <vt:lpstr>Построение пользовательского интерфейса </vt:lpstr>
      <vt:lpstr>Построение пользовательского интерфейса </vt:lpstr>
      <vt:lpstr>Построение пользовательского интерфейса </vt:lpstr>
      <vt:lpstr>Построение пользовательского интерфейса </vt:lpstr>
      <vt:lpstr>Построение пользовательского интерфейса </vt:lpstr>
      <vt:lpstr>Построение пользовательского интерфейса </vt:lpstr>
      <vt:lpstr>Построение пользовательского интерфейса </vt:lpstr>
      <vt:lpstr>Построение пользовательского интерфейса </vt:lpstr>
      <vt:lpstr>Построение пользовательского интерфейса </vt:lpstr>
      <vt:lpstr>Построение пользовательского интерфейса </vt:lpstr>
      <vt:lpstr>Построение пользовательского интерфейса </vt:lpstr>
      <vt:lpstr>Объединенный ВидКонтроллер. «Упрощенный MVC»</vt:lpstr>
      <vt:lpstr>Шаблон Composite </vt:lpstr>
      <vt:lpstr>M в MVC: почему модели непоняты и недооценены </vt:lpstr>
      <vt:lpstr>M в MVC: почему модели непоняты и недооценены </vt:lpstr>
      <vt:lpstr>Толстые, тупые, уродливые контроллеры: смиритесь (Fat Stupid Ugly Controllers: SUC It Up) </vt:lpstr>
      <vt:lpstr>Толстые, тупые, уродливые контроллеры: смиритесь (Fat Stupid Ugly Controllers: SUC It Up) </vt:lpstr>
      <vt:lpstr>Толстые, тупые, уродливые контроллеры: смиритесь (Fat Stupid Ugly Controllers: SUC It Up) </vt:lpstr>
      <vt:lpstr>Архитектура в Django проектах </vt:lpstr>
      <vt:lpstr>Архитектура в Django проектах </vt:lpstr>
      <vt:lpstr>Архитектура в Django проектах </vt:lpstr>
      <vt:lpstr>Архитектура в Django проектах Слой serializers/forms </vt:lpstr>
      <vt:lpstr>Архитектура в Django проектах Слой Services</vt:lpstr>
      <vt:lpstr>Архитектура в Django проектах Слой Services</vt:lpstr>
      <vt:lpstr>Архитектура в Django проектах </vt:lpstr>
      <vt:lpstr>Clean Architecture </vt:lpstr>
      <vt:lpstr>Clean Architecture </vt:lpstr>
      <vt:lpstr>Clean Architecture </vt:lpstr>
      <vt:lpstr>Clean Architecture </vt:lpstr>
      <vt:lpstr>Clean Architecture Слои</vt:lpstr>
      <vt:lpstr>Clean Architecture Слои</vt:lpstr>
      <vt:lpstr>Clean Architecture Переходы</vt:lpstr>
      <vt:lpstr>Clean Architecture Переходы</vt:lpstr>
      <vt:lpstr>Clean Architecture Переходы</vt:lpstr>
      <vt:lpstr>Clean Architecture Слои, а не сущности</vt:lpstr>
      <vt:lpstr>Clean Architecture  Слои, а не сущности</vt:lpstr>
      <vt:lpstr>Clean Architecture  Entities</vt:lpstr>
      <vt:lpstr>Clean Architecture  Entities</vt:lpstr>
      <vt:lpstr>Clean Architecture  UseCase и/или Interactor</vt:lpstr>
      <vt:lpstr>Clean Architecture  UseCase и/или Interactor</vt:lpstr>
      <vt:lpstr>Clean Architecture  Обязательность маппинга между слоями</vt:lpstr>
      <vt:lpstr>Clean Architecture  Что лучше Clean Architecture или MVP?</vt:lpstr>
      <vt:lpstr>Clean Architecture  Clean Architecture в первых проектах</vt:lpstr>
      <vt:lpstr>Сервис-ориентированная архитектура (SOA)</vt:lpstr>
      <vt:lpstr>Очередь сообщений</vt:lpstr>
      <vt:lpstr>pull- (polling), или push-подход</vt:lpstr>
      <vt:lpstr>Сервисная шина предприятия (ESB)</vt:lpstr>
      <vt:lpstr>Сервисная шина предприятия (ESB)</vt:lpstr>
      <vt:lpstr>Сервисная шина предприятия (ESB)</vt:lpstr>
      <vt:lpstr>Микросервисы</vt:lpstr>
      <vt:lpstr>Микросервисы</vt:lpstr>
      <vt:lpstr>DTO vs POCO vs Value Object</vt:lpstr>
      <vt:lpstr>DTO vs POCO vs Value Object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Александра Титова</dc:creator>
  <cp:lastModifiedBy>Александра Титова</cp:lastModifiedBy>
  <cp:revision>30</cp:revision>
  <dcterms:created xsi:type="dcterms:W3CDTF">2023-10-20T15:16:07Z</dcterms:created>
  <dcterms:modified xsi:type="dcterms:W3CDTF">2023-11-03T07:57:05Z</dcterms:modified>
</cp:coreProperties>
</file>