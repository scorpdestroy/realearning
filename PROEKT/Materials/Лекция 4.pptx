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834" y="-12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4746EF-C0EF-4BF7-9724-D332BF61FB8F}" type="datetimeFigureOut">
              <a:rPr lang="ru-RU" smtClean="0"/>
              <a:t>13.10.2023</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1383E8-8AB8-47E9-8C0D-660A0EA90CEE}" type="slidenum">
              <a:rPr lang="ru-RU" smtClean="0"/>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11</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12</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13</a:t>
            </a:fld>
            <a:endParaRPr lang="ru-R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14</a:t>
            </a:fld>
            <a:endParaRPr lang="ru-R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15</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16</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17</a:t>
            </a:fld>
            <a:endParaRPr lang="ru-R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18</a:t>
            </a:fld>
            <a:endParaRPr lang="ru-R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19</a:t>
            </a:fld>
            <a:endParaRPr lang="ru-R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20</a:t>
            </a:fld>
            <a:endParaRPr lang="ru-R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21</a:t>
            </a:fld>
            <a:endParaRPr lang="ru-R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22</a:t>
            </a:fld>
            <a:endParaRPr lang="ru-R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23</a:t>
            </a:fld>
            <a:endParaRPr 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24</a:t>
            </a:fld>
            <a:endParaRPr lang="ru-R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25</a:t>
            </a:fld>
            <a:endParaRPr lang="ru-R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26</a:t>
            </a:fld>
            <a:endParaRPr lang="ru-R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27</a:t>
            </a:fld>
            <a:endParaRPr lang="ru-R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28</a:t>
            </a:fld>
            <a:endParaRPr lang="ru-R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29</a:t>
            </a:fld>
            <a:endParaRPr lang="ru-R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30</a:t>
            </a:fld>
            <a:endParaRPr lang="ru-R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31</a:t>
            </a:fld>
            <a:endParaRPr lang="ru-R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32</a:t>
            </a:fld>
            <a:endParaRPr lang="ru-R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33</a:t>
            </a:fld>
            <a:endParaRPr lang="ru-R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34</a:t>
            </a:fld>
            <a:endParaRPr lang="ru-R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dirty="0"/>
          </a:p>
        </p:txBody>
      </p:sp>
      <p:sp>
        <p:nvSpPr>
          <p:cNvPr id="4" name="Номер слайда 3"/>
          <p:cNvSpPr>
            <a:spLocks noGrp="1"/>
          </p:cNvSpPr>
          <p:nvPr>
            <p:ph type="sldNum" sz="quarter" idx="10"/>
          </p:nvPr>
        </p:nvSpPr>
        <p:spPr/>
        <p:txBody>
          <a:bodyPr/>
          <a:lstStyle/>
          <a:p>
            <a:fld id="{D41383E8-8AB8-47E9-8C0D-660A0EA90CEE}" type="slidenum">
              <a:rPr lang="ru-RU" smtClean="0"/>
              <a:t>35</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25C68B6-61C2-468F-89AB-4B9F7531AA68}"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106E36-FD25-4E2D-B0AA-010F637433A0}" type="datetimeFigureOut">
              <a:rPr lang="ru-RU" smtClean="0"/>
              <a:pPr/>
              <a:t>13.10.2023</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5C68B6-61C2-468F-89AB-4B9F7531AA68}"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err="1" smtClean="0"/>
              <a:t>Антипаттерны</a:t>
            </a:r>
            <a:r>
              <a:rPr lang="ru-RU" dirty="0" smtClean="0"/>
              <a:t> и паттерны</a:t>
            </a:r>
            <a:endParaRPr lang="ru-RU" dirty="0"/>
          </a:p>
        </p:txBody>
      </p:sp>
      <p:sp>
        <p:nvSpPr>
          <p:cNvPr id="3" name="Подзаголовок 2"/>
          <p:cNvSpPr>
            <a:spLocks noGrp="1"/>
          </p:cNvSpPr>
          <p:nvPr>
            <p:ph type="subTitle" idx="1"/>
          </p:nvPr>
        </p:nvSpPr>
        <p:spPr/>
        <p:txBody>
          <a:bodyPr/>
          <a:lstStyle/>
          <a:p>
            <a:endParaRPr lang="ru-RU"/>
          </a:p>
        </p:txBody>
      </p:sp>
      <p:pic>
        <p:nvPicPr>
          <p:cNvPr id="5122" name="Picture 2" descr="Patterns and Anti-Patterns in the Software Lifecycle - AnAr Solutions"/>
          <p:cNvPicPr>
            <a:picLocks noChangeAspect="1" noChangeArrowheads="1"/>
          </p:cNvPicPr>
          <p:nvPr/>
        </p:nvPicPr>
        <p:blipFill>
          <a:blip r:embed="rId2" cstate="print"/>
          <a:srcRect/>
          <a:stretch>
            <a:fillRect/>
          </a:stretch>
        </p:blipFill>
        <p:spPr bwMode="auto">
          <a:xfrm>
            <a:off x="2411760" y="3573016"/>
            <a:ext cx="4486275" cy="282892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err="1" smtClean="0"/>
              <a:t>Анти-паттерны</a:t>
            </a:r>
            <a:endParaRPr lang="ru-RU" dirty="0"/>
          </a:p>
        </p:txBody>
      </p:sp>
      <p:sp>
        <p:nvSpPr>
          <p:cNvPr id="3" name="Содержимое 2"/>
          <p:cNvSpPr>
            <a:spLocks noGrp="1"/>
          </p:cNvSpPr>
          <p:nvPr>
            <p:ph idx="1"/>
          </p:nvPr>
        </p:nvSpPr>
        <p:spPr/>
        <p:txBody>
          <a:bodyPr>
            <a:normAutofit fontScale="92500" lnSpcReduction="10000"/>
          </a:bodyPr>
          <a:lstStyle/>
          <a:p>
            <a:r>
              <a:rPr lang="ru-RU" dirty="0" err="1" smtClean="0"/>
              <a:t>Анти-паттерны</a:t>
            </a:r>
            <a:r>
              <a:rPr lang="ru-RU" dirty="0" smtClean="0"/>
              <a:t> — полная противоположность паттернам. Если паттерны проектирования — </a:t>
            </a:r>
            <a:br>
              <a:rPr lang="ru-RU" dirty="0" smtClean="0"/>
            </a:br>
            <a:r>
              <a:rPr lang="ru-RU" dirty="0" smtClean="0"/>
              <a:t>это примеры практик хорошего программирования, то есть шаблоны решения определённых задач. То </a:t>
            </a:r>
            <a:r>
              <a:rPr lang="ru-RU" dirty="0" err="1" smtClean="0"/>
              <a:t>анти-паттерны</a:t>
            </a:r>
            <a:r>
              <a:rPr lang="ru-RU" dirty="0" smtClean="0"/>
              <a:t> — их полная противоположность, это — шаблоны ошибок, которые совершаются при решении различных задач. Частью практик хорошего программирования является именно избежание </a:t>
            </a:r>
            <a:r>
              <a:rPr lang="ru-RU" dirty="0" err="1" smtClean="0"/>
              <a:t>анти-паттернов</a:t>
            </a:r>
            <a:r>
              <a:rPr lang="ru-RU" dirty="0" smtClean="0"/>
              <a:t>.</a:t>
            </a: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Программирование </a:t>
            </a:r>
            <a:r>
              <a:rPr lang="ru-RU" dirty="0" err="1" smtClean="0"/>
              <a:t>копи-пастом</a:t>
            </a:r>
            <a:r>
              <a:rPr lang="ru-RU" dirty="0" smtClean="0"/>
              <a:t> (</a:t>
            </a:r>
            <a:r>
              <a:rPr lang="ru-RU" dirty="0" err="1" smtClean="0"/>
              <a:t>Copy</a:t>
            </a:r>
            <a:r>
              <a:rPr lang="ru-RU" dirty="0" smtClean="0"/>
              <a:t> </a:t>
            </a:r>
            <a:r>
              <a:rPr lang="ru-RU" dirty="0" err="1" smtClean="0"/>
              <a:t>and</a:t>
            </a:r>
            <a:r>
              <a:rPr lang="ru-RU" dirty="0" smtClean="0"/>
              <a:t> </a:t>
            </a:r>
            <a:r>
              <a:rPr lang="ru-RU" dirty="0" err="1" smtClean="0"/>
              <a:t>Paste</a:t>
            </a:r>
            <a:r>
              <a:rPr lang="ru-RU" dirty="0" smtClean="0"/>
              <a:t> </a:t>
            </a:r>
            <a:r>
              <a:rPr lang="ru-RU" dirty="0" err="1" smtClean="0"/>
              <a:t>Programming</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1026" name="Picture 2" descr="Вырезать, копировать, вставить — Википедия"/>
          <p:cNvPicPr>
            <a:picLocks noChangeAspect="1" noChangeArrowheads="1"/>
          </p:cNvPicPr>
          <p:nvPr/>
        </p:nvPicPr>
        <p:blipFill>
          <a:blip r:embed="rId2" cstate="print"/>
          <a:srcRect/>
          <a:stretch>
            <a:fillRect/>
          </a:stretch>
        </p:blipFill>
        <p:spPr bwMode="auto">
          <a:xfrm>
            <a:off x="2051720" y="1484784"/>
            <a:ext cx="5112568" cy="511257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Спагетти-код (</a:t>
            </a:r>
            <a:r>
              <a:rPr lang="ru-RU" dirty="0" err="1" smtClean="0"/>
              <a:t>Spaghetti</a:t>
            </a:r>
            <a:r>
              <a:rPr lang="ru-RU" dirty="0" smtClean="0"/>
              <a:t> </a:t>
            </a:r>
            <a:r>
              <a:rPr lang="ru-RU" dirty="0" err="1" smtClean="0"/>
              <a:t>code</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16386" name="Picture 2" descr="Spaghetti Code vs. Structured Code – Cal Lab Solutions"/>
          <p:cNvPicPr>
            <a:picLocks noChangeAspect="1" noChangeArrowheads="1"/>
          </p:cNvPicPr>
          <p:nvPr/>
        </p:nvPicPr>
        <p:blipFill>
          <a:blip r:embed="rId2" cstate="print"/>
          <a:srcRect/>
          <a:stretch>
            <a:fillRect/>
          </a:stretch>
        </p:blipFill>
        <p:spPr bwMode="auto">
          <a:xfrm>
            <a:off x="1331640" y="1268760"/>
            <a:ext cx="6768752" cy="7833501"/>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Золотой молоток (</a:t>
            </a:r>
            <a:r>
              <a:rPr lang="ru-RU" dirty="0" err="1" smtClean="0"/>
              <a:t>Golden</a:t>
            </a:r>
            <a:r>
              <a:rPr lang="ru-RU" dirty="0" smtClean="0"/>
              <a:t> </a:t>
            </a:r>
            <a:r>
              <a:rPr lang="ru-RU" dirty="0" err="1" smtClean="0"/>
              <a:t>hammer</a:t>
            </a:r>
            <a:r>
              <a:rPr lang="ru-RU" smtClean="0"/>
              <a:t>)</a:t>
            </a:r>
            <a:endParaRPr lang="ru-RU" dirty="0"/>
          </a:p>
        </p:txBody>
      </p:sp>
      <p:sp>
        <p:nvSpPr>
          <p:cNvPr id="4" name="Содержимое 3"/>
          <p:cNvSpPr>
            <a:spLocks noGrp="1"/>
          </p:cNvSpPr>
          <p:nvPr>
            <p:ph idx="1"/>
          </p:nvPr>
        </p:nvSpPr>
        <p:spPr/>
        <p:txBody>
          <a:bodyPr/>
          <a:lstStyle/>
          <a:p>
            <a:endParaRPr lang="ru-RU"/>
          </a:p>
        </p:txBody>
      </p:sp>
      <p:pic>
        <p:nvPicPr>
          <p:cNvPr id="1028" name="Picture 4" descr="Кодогенерация и метагенерация в 1С"/>
          <p:cNvPicPr>
            <a:picLocks noChangeAspect="1" noChangeArrowheads="1"/>
          </p:cNvPicPr>
          <p:nvPr/>
        </p:nvPicPr>
        <p:blipFill>
          <a:blip r:embed="rId2" cstate="print"/>
          <a:srcRect/>
          <a:stretch>
            <a:fillRect/>
          </a:stretch>
        </p:blipFill>
        <p:spPr bwMode="auto">
          <a:xfrm>
            <a:off x="323528" y="1556792"/>
            <a:ext cx="8566154" cy="4824536"/>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Магические числа (</a:t>
            </a:r>
            <a:r>
              <a:rPr lang="ru-RU" dirty="0" err="1" smtClean="0"/>
              <a:t>Magic</a:t>
            </a:r>
            <a:r>
              <a:rPr lang="ru-RU" dirty="0" smtClean="0"/>
              <a:t> </a:t>
            </a:r>
            <a:r>
              <a:rPr lang="ru-RU" dirty="0" err="1" smtClean="0"/>
              <a:t>numbers</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18434" name="Picture 2" descr="What is a 'magic number' in programming? - Quora"/>
          <p:cNvPicPr>
            <a:picLocks noChangeAspect="1" noChangeArrowheads="1"/>
          </p:cNvPicPr>
          <p:nvPr/>
        </p:nvPicPr>
        <p:blipFill>
          <a:blip r:embed="rId2" cstate="print"/>
          <a:srcRect/>
          <a:stretch>
            <a:fillRect/>
          </a:stretch>
        </p:blipFill>
        <p:spPr bwMode="auto">
          <a:xfrm>
            <a:off x="0" y="1988840"/>
            <a:ext cx="8882950" cy="36004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Жёсткое кодирование (</a:t>
            </a:r>
            <a:r>
              <a:rPr lang="ru-RU" dirty="0" err="1" smtClean="0"/>
              <a:t>Hard</a:t>
            </a:r>
            <a:r>
              <a:rPr lang="ru-RU" dirty="0" smtClean="0"/>
              <a:t> </a:t>
            </a:r>
            <a:r>
              <a:rPr lang="ru-RU" dirty="0" err="1" smtClean="0"/>
              <a:t>code</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19458" name="Picture 2" descr="What Is Hard Coding Example"/>
          <p:cNvPicPr>
            <a:picLocks noChangeAspect="1" noChangeArrowheads="1"/>
          </p:cNvPicPr>
          <p:nvPr/>
        </p:nvPicPr>
        <p:blipFill>
          <a:blip r:embed="rId2" cstate="print"/>
          <a:srcRect/>
          <a:stretch>
            <a:fillRect/>
          </a:stretch>
        </p:blipFill>
        <p:spPr bwMode="auto">
          <a:xfrm>
            <a:off x="251520" y="1340768"/>
            <a:ext cx="8733329" cy="5184576"/>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Мягкое кодирование (</a:t>
            </a:r>
            <a:r>
              <a:rPr lang="ru-RU" dirty="0" err="1" smtClean="0"/>
              <a:t>Soft</a:t>
            </a:r>
            <a:r>
              <a:rPr lang="ru-RU" dirty="0" smtClean="0"/>
              <a:t> </a:t>
            </a:r>
            <a:r>
              <a:rPr lang="ru-RU" dirty="0" err="1" smtClean="0"/>
              <a:t>code</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20482" name="Picture 2" descr="Visual Studio | Проекты и решения"/>
          <p:cNvPicPr>
            <a:picLocks noChangeAspect="1" noChangeArrowheads="1"/>
          </p:cNvPicPr>
          <p:nvPr/>
        </p:nvPicPr>
        <p:blipFill>
          <a:blip r:embed="rId2" cstate="print"/>
          <a:srcRect/>
          <a:stretch>
            <a:fillRect/>
          </a:stretch>
        </p:blipFill>
        <p:spPr bwMode="auto">
          <a:xfrm>
            <a:off x="395536" y="1333500"/>
            <a:ext cx="8210550" cy="5524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Ненужная сложность (</a:t>
            </a:r>
            <a:r>
              <a:rPr lang="ru-RU" dirty="0" err="1" smtClean="0"/>
              <a:t>Accidental</a:t>
            </a:r>
            <a:r>
              <a:rPr lang="ru-RU" dirty="0" smtClean="0"/>
              <a:t> </a:t>
            </a:r>
            <a:r>
              <a:rPr lang="ru-RU" dirty="0" err="1" smtClean="0"/>
              <a:t>complexity</a:t>
            </a:r>
            <a:r>
              <a:rPr lang="ru-RU" dirty="0" smtClean="0"/>
              <a:t>)</a:t>
            </a:r>
            <a:endParaRPr lang="ru-RU" dirty="0"/>
          </a:p>
        </p:txBody>
      </p:sp>
      <p:sp>
        <p:nvSpPr>
          <p:cNvPr id="4" name="Содержимое 3"/>
          <p:cNvSpPr>
            <a:spLocks noGrp="1"/>
          </p:cNvSpPr>
          <p:nvPr>
            <p:ph idx="1"/>
          </p:nvPr>
        </p:nvSpPr>
        <p:spPr/>
        <p:txBody>
          <a:bodyPr/>
          <a:lstStyle/>
          <a:p>
            <a:endParaRPr lang="ru-RU"/>
          </a:p>
        </p:txBody>
      </p:sp>
      <p:pic>
        <p:nvPicPr>
          <p:cNvPr id="21506" name="Picture 2" descr="Управление сложностью программного проекта | Блог компании Грамант"/>
          <p:cNvPicPr>
            <a:picLocks noChangeAspect="1" noChangeArrowheads="1"/>
          </p:cNvPicPr>
          <p:nvPr/>
        </p:nvPicPr>
        <p:blipFill>
          <a:blip r:embed="rId2" cstate="print"/>
          <a:srcRect/>
          <a:stretch>
            <a:fillRect/>
          </a:stretch>
        </p:blipFill>
        <p:spPr bwMode="auto">
          <a:xfrm>
            <a:off x="467544" y="1844824"/>
            <a:ext cx="8421645" cy="4608512"/>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Лодочный якорь (</a:t>
            </a:r>
            <a:r>
              <a:rPr lang="ru-RU" dirty="0" err="1" smtClean="0"/>
              <a:t>Boat</a:t>
            </a:r>
            <a:r>
              <a:rPr lang="ru-RU" dirty="0" smtClean="0"/>
              <a:t> </a:t>
            </a:r>
            <a:r>
              <a:rPr lang="ru-RU" dirty="0" err="1" smtClean="0"/>
              <a:t>anchor</a:t>
            </a:r>
            <a:r>
              <a:rPr lang="ru-RU" dirty="0" smtClean="0"/>
              <a:t>)</a:t>
            </a:r>
            <a:endParaRPr lang="ru-RU" dirty="0"/>
          </a:p>
        </p:txBody>
      </p:sp>
      <p:sp>
        <p:nvSpPr>
          <p:cNvPr id="4" name="Содержимое 3"/>
          <p:cNvSpPr>
            <a:spLocks noGrp="1"/>
          </p:cNvSpPr>
          <p:nvPr>
            <p:ph idx="1"/>
          </p:nvPr>
        </p:nvSpPr>
        <p:spPr/>
        <p:txBody>
          <a:bodyPr>
            <a:normAutofit fontScale="77500" lnSpcReduction="20000"/>
          </a:bodyPr>
          <a:lstStyle/>
          <a:p>
            <a:r>
              <a:rPr lang="ru-RU" dirty="0" smtClean="0"/>
              <a:t>Этот </a:t>
            </a:r>
            <a:r>
              <a:rPr lang="ru-RU" dirty="0" err="1" smtClean="0"/>
              <a:t>анти-паттерн</a:t>
            </a:r>
            <a:r>
              <a:rPr lang="ru-RU" dirty="0" smtClean="0"/>
              <a:t> означает сохранение неиспользуемых частей системы, которые остались после оптимизации или </a:t>
            </a:r>
            <a:r>
              <a:rPr lang="ru-RU" dirty="0" err="1" smtClean="0"/>
              <a:t>рефакторинга</a:t>
            </a:r>
            <a:r>
              <a:rPr lang="ru-RU" dirty="0" smtClean="0"/>
              <a:t>. Часто, после </a:t>
            </a:r>
            <a:r>
              <a:rPr lang="ru-RU" dirty="0" err="1" smtClean="0"/>
              <a:t>рефакторинга</a:t>
            </a:r>
            <a:r>
              <a:rPr lang="ru-RU" dirty="0" smtClean="0"/>
              <a:t> когда, который является результатом </a:t>
            </a:r>
            <a:r>
              <a:rPr lang="ru-RU" dirty="0" err="1" smtClean="0"/>
              <a:t>анти-паттерна</a:t>
            </a:r>
            <a:r>
              <a:rPr lang="ru-RU" dirty="0" smtClean="0"/>
              <a:t>, некоторые части кода остаются в системе, хотя они уже больше не используются. Так же некоторые части кода могут быть оставлены «на будущее», авось придётся ещё их использовать. Такой код только усложняет системы, не неся абсолютно никакой практической ценности. Эффективным методом борьбы с лодочными якорями является </a:t>
            </a:r>
            <a:r>
              <a:rPr lang="ru-RU" dirty="0" err="1" smtClean="0"/>
              <a:t>рефакторинг</a:t>
            </a:r>
            <a:r>
              <a:rPr lang="ru-RU" dirty="0" smtClean="0"/>
              <a:t> кода для их устранения, а так же процесс планирования разработки, с целью предотвращения возникновения якорей</a:t>
            </a:r>
            <a:r>
              <a:rPr lang="ru-RU" dirty="0" smtClean="0"/>
              <a:t>.</a:t>
            </a:r>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Изобретение велосипеда</a:t>
            </a:r>
            <a:r>
              <a:rPr lang="en-US" dirty="0" smtClean="0"/>
              <a:t> (Reinventing the wheel)</a:t>
            </a:r>
            <a:endParaRPr lang="ru-RU" dirty="0"/>
          </a:p>
        </p:txBody>
      </p:sp>
      <p:sp>
        <p:nvSpPr>
          <p:cNvPr id="4" name="Содержимое 3"/>
          <p:cNvSpPr>
            <a:spLocks noGrp="1"/>
          </p:cNvSpPr>
          <p:nvPr>
            <p:ph idx="1"/>
          </p:nvPr>
        </p:nvSpPr>
        <p:spPr/>
        <p:txBody>
          <a:bodyPr>
            <a:normAutofit/>
          </a:bodyPr>
          <a:lstStyle/>
          <a:p>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4585" name="Picture 9"/>
          <p:cNvPicPr>
            <a:picLocks noChangeAspect="1" noChangeArrowheads="1"/>
          </p:cNvPicPr>
          <p:nvPr/>
        </p:nvPicPr>
        <p:blipFill>
          <a:blip r:embed="rId3" cstate="print"/>
          <a:srcRect/>
          <a:stretch>
            <a:fillRect/>
          </a:stretch>
        </p:blipFill>
        <p:spPr bwMode="auto">
          <a:xfrm>
            <a:off x="899592" y="1484784"/>
            <a:ext cx="7534275" cy="45815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Поток лавы (</a:t>
            </a:r>
            <a:r>
              <a:rPr lang="ru-RU" dirty="0" err="1" smtClean="0"/>
              <a:t>Lava</a:t>
            </a:r>
            <a:r>
              <a:rPr lang="ru-RU" dirty="0" smtClean="0"/>
              <a:t> </a:t>
            </a:r>
            <a:r>
              <a:rPr lang="ru-RU" dirty="0" err="1" smtClean="0"/>
              <a:t>flow</a:t>
            </a:r>
            <a:r>
              <a:rPr lang="ru-RU" dirty="0" smtClean="0"/>
              <a:t>)</a:t>
            </a:r>
            <a:endParaRPr lang="ru-RU" dirty="0"/>
          </a:p>
        </p:txBody>
      </p:sp>
      <p:sp>
        <p:nvSpPr>
          <p:cNvPr id="4" name="Содержимое 3"/>
          <p:cNvSpPr>
            <a:spLocks noGrp="1"/>
          </p:cNvSpPr>
          <p:nvPr>
            <p:ph idx="1"/>
          </p:nvPr>
        </p:nvSpPr>
        <p:spPr/>
        <p:txBody>
          <a:bodyPr>
            <a:normAutofit/>
          </a:bodyPr>
          <a:lstStyle/>
          <a:p>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27650" name="Picture 2" descr="Lava Flow"/>
          <p:cNvPicPr>
            <a:picLocks noChangeAspect="1" noChangeArrowheads="1"/>
          </p:cNvPicPr>
          <p:nvPr/>
        </p:nvPicPr>
        <p:blipFill>
          <a:blip r:embed="rId3" cstate="print"/>
          <a:srcRect/>
          <a:stretch>
            <a:fillRect/>
          </a:stretch>
        </p:blipFill>
        <p:spPr bwMode="auto">
          <a:xfrm>
            <a:off x="2339752" y="1268760"/>
            <a:ext cx="4800600" cy="5276851"/>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Программирование перебором (</a:t>
            </a:r>
            <a:r>
              <a:rPr lang="ru-RU" dirty="0" err="1" smtClean="0"/>
              <a:t>Programming</a:t>
            </a:r>
            <a:r>
              <a:rPr lang="ru-RU" dirty="0" smtClean="0"/>
              <a:t> </a:t>
            </a:r>
            <a:r>
              <a:rPr lang="ru-RU" dirty="0" err="1" smtClean="0"/>
              <a:t>by</a:t>
            </a:r>
            <a:r>
              <a:rPr lang="ru-RU" dirty="0" smtClean="0"/>
              <a:t> </a:t>
            </a:r>
            <a:r>
              <a:rPr lang="ru-RU" dirty="0" err="1" smtClean="0"/>
              <a:t>permutation</a:t>
            </a:r>
            <a:r>
              <a:rPr lang="ru-RU" dirty="0" smtClean="0"/>
              <a:t>)</a:t>
            </a:r>
            <a:endParaRPr lang="ru-RU" dirty="0"/>
          </a:p>
        </p:txBody>
      </p:sp>
      <p:sp>
        <p:nvSpPr>
          <p:cNvPr id="4" name="Содержимое 3"/>
          <p:cNvSpPr>
            <a:spLocks noGrp="1"/>
          </p:cNvSpPr>
          <p:nvPr>
            <p:ph idx="1"/>
          </p:nvPr>
        </p:nvSpPr>
        <p:spPr/>
        <p:txBody>
          <a:bodyPr>
            <a:normAutofit fontScale="92500" lnSpcReduction="20000"/>
          </a:bodyPr>
          <a:lstStyle/>
          <a:p>
            <a:r>
              <a:rPr lang="ru-RU" dirty="0" smtClean="0"/>
              <a:t>Многие начинающие программисты пытаются решать некоторые задачи методом перебора — не </a:t>
            </a:r>
            <a:r>
              <a:rPr lang="ru-RU" dirty="0" err="1" smtClean="0"/>
              <a:t>брутфорсом</a:t>
            </a:r>
            <a:r>
              <a:rPr lang="ru-RU" dirty="0" smtClean="0"/>
              <a:t> решения, а именно подбором параметров, порядка вызова функций и так далее. Все эти игры с +1, -1 к параметрам и подобные штучки устраняют только симптомы, и не дают понимания сути происходящего. А если программист не понимает происходящего, то он не сможет предусмотреть все варианты развития событий и обязательно о чём-то забудет.</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Слепая вера (</a:t>
            </a:r>
            <a:r>
              <a:rPr lang="ru-RU" dirty="0" err="1" smtClean="0"/>
              <a:t>Blind</a:t>
            </a:r>
            <a:r>
              <a:rPr lang="ru-RU" dirty="0" smtClean="0"/>
              <a:t> </a:t>
            </a:r>
            <a:r>
              <a:rPr lang="ru-RU" dirty="0" err="1" smtClean="0"/>
              <a:t>faith</a:t>
            </a:r>
            <a:r>
              <a:rPr lang="ru-RU" dirty="0" smtClean="0"/>
              <a:t>)</a:t>
            </a:r>
            <a:endParaRPr lang="ru-RU" dirty="0"/>
          </a:p>
        </p:txBody>
      </p:sp>
      <p:sp>
        <p:nvSpPr>
          <p:cNvPr id="4" name="Содержимое 3"/>
          <p:cNvSpPr>
            <a:spLocks noGrp="1"/>
          </p:cNvSpPr>
          <p:nvPr>
            <p:ph idx="1"/>
          </p:nvPr>
        </p:nvSpPr>
        <p:spPr>
          <a:xfrm>
            <a:off x="457200" y="1600200"/>
            <a:ext cx="8229600" cy="4997152"/>
          </a:xfrm>
        </p:spPr>
        <p:txBody>
          <a:bodyPr>
            <a:normAutofit fontScale="85000" lnSpcReduction="20000"/>
          </a:bodyPr>
          <a:lstStyle/>
          <a:p>
            <a:r>
              <a:rPr lang="ru-RU" dirty="0" smtClean="0"/>
              <a:t>Этот </a:t>
            </a:r>
            <a:r>
              <a:rPr lang="ru-RU" dirty="0" err="1" smtClean="0"/>
              <a:t>анти-паттерн</a:t>
            </a:r>
            <a:r>
              <a:rPr lang="ru-RU" dirty="0" smtClean="0"/>
              <a:t> — недостаточная проверка корректности входных данных, исправления ошибки или результатов работы кода. Очень часто программист думает, что его код всегда будет в идеальных условиях, никогда не выдаст ошибки и не получит неверных входных данных или, ещё чего, данных неверного типа. Но все лгут ©, поэтому нельзя доверять никакому коду, даже собственному. Но и не следует доводить это недоверие до паранойи, то есть приходить к </a:t>
            </a:r>
            <a:r>
              <a:rPr lang="ru-RU" dirty="0" err="1" smtClean="0"/>
              <a:t>анти-паттерну</a:t>
            </a:r>
            <a:r>
              <a:rPr lang="ru-RU" dirty="0" smtClean="0"/>
              <a:t> ненужной сложности. Просто следует помнить про проверку входных данных и возможные проблемы у чужого кода, который используете вы.</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Божественный объект (</a:t>
            </a:r>
            <a:r>
              <a:rPr lang="ru-RU" dirty="0" err="1" smtClean="0"/>
              <a:t>God</a:t>
            </a:r>
            <a:r>
              <a:rPr lang="ru-RU" dirty="0" smtClean="0"/>
              <a:t> </a:t>
            </a:r>
            <a:r>
              <a:rPr lang="ru-RU" dirty="0" err="1" smtClean="0"/>
              <a:t>Object</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29698" name="Picture 2" descr="Что такое антипаттерны? Разбираем примеры"/>
          <p:cNvPicPr>
            <a:picLocks noChangeAspect="1" noChangeArrowheads="1"/>
          </p:cNvPicPr>
          <p:nvPr/>
        </p:nvPicPr>
        <p:blipFill>
          <a:blip r:embed="rId3" cstate="print"/>
          <a:srcRect/>
          <a:stretch>
            <a:fillRect/>
          </a:stretch>
        </p:blipFill>
        <p:spPr bwMode="auto">
          <a:xfrm>
            <a:off x="2411760" y="1124744"/>
            <a:ext cx="4104456" cy="5589048"/>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Виды паттернов</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34818" name="Picture 2"/>
          <p:cNvPicPr>
            <a:picLocks noGrp="1" noChangeAspect="1" noChangeArrowheads="1"/>
          </p:cNvPicPr>
          <p:nvPr>
            <p:ph idx="1"/>
          </p:nvPr>
        </p:nvPicPr>
        <p:blipFill>
          <a:blip r:embed="rId3" cstate="print"/>
          <a:srcRect/>
          <a:stretch>
            <a:fillRect/>
          </a:stretch>
        </p:blipFill>
        <p:spPr bwMode="auto">
          <a:xfrm>
            <a:off x="623887" y="2058194"/>
            <a:ext cx="7896225" cy="36099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smtClean="0"/>
              <a:t>Виды паттернов</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349/055/ba9/349055ba96e21b43c7d3e506d4920bc8.jpg"/>
          <p:cNvPicPr>
            <a:picLocks noChangeAspect="1"/>
          </p:cNvPicPr>
          <p:nvPr/>
        </p:nvPicPr>
        <p:blipFill>
          <a:blip r:embed="rId3" cstate="print"/>
          <a:srcRect/>
          <a:stretch>
            <a:fillRect/>
          </a:stretch>
        </p:blipFill>
        <p:spPr bwMode="auto">
          <a:xfrm>
            <a:off x="0" y="1268760"/>
            <a:ext cx="9144000" cy="518457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Singleton</a:t>
            </a:r>
            <a:r>
              <a:rPr lang="ru-RU" dirty="0" smtClean="0"/>
              <a:t> (одиночка)</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f80/871/aaf/f80871aaf46238adcc0cd2468f19a4c5.jpg"/>
          <p:cNvPicPr>
            <a:picLocks noChangeAspect="1"/>
          </p:cNvPicPr>
          <p:nvPr/>
        </p:nvPicPr>
        <p:blipFill>
          <a:blip r:embed="rId3" cstate="print"/>
          <a:srcRect/>
          <a:stretch>
            <a:fillRect/>
          </a:stretch>
        </p:blipFill>
        <p:spPr bwMode="auto">
          <a:xfrm>
            <a:off x="503040" y="2348880"/>
            <a:ext cx="8640960" cy="342705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Prototype</a:t>
            </a:r>
            <a:r>
              <a:rPr lang="ru-RU" dirty="0" smtClean="0"/>
              <a:t> (прототип</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a9d/715/4a9/a9d7154a9b7e321a6330ab0c0337c061.jpg"/>
          <p:cNvPicPr/>
          <p:nvPr/>
        </p:nvPicPr>
        <p:blipFill>
          <a:blip r:embed="rId3" cstate="print"/>
          <a:srcRect/>
          <a:stretch>
            <a:fillRect/>
          </a:stretch>
        </p:blipFill>
        <p:spPr bwMode="auto">
          <a:xfrm>
            <a:off x="0" y="1700808"/>
            <a:ext cx="9144000" cy="403244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Factory</a:t>
            </a:r>
            <a:r>
              <a:rPr lang="ru-RU" dirty="0" smtClean="0"/>
              <a:t> (фабрика</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710/505/d1a/710505d1aff5667c97fcb06215faee31.jpg"/>
          <p:cNvPicPr>
            <a:picLocks noChangeAspect="1"/>
          </p:cNvPicPr>
          <p:nvPr/>
        </p:nvPicPr>
        <p:blipFill>
          <a:blip r:embed="rId3" cstate="print"/>
          <a:srcRect/>
          <a:stretch>
            <a:fillRect/>
          </a:stretch>
        </p:blipFill>
        <p:spPr bwMode="auto">
          <a:xfrm>
            <a:off x="0" y="1988840"/>
            <a:ext cx="9144000" cy="3865311"/>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Builder</a:t>
            </a:r>
            <a:r>
              <a:rPr lang="ru-RU" dirty="0" smtClean="0"/>
              <a:t> (строитель</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16b/2fe/a7f/16b2fea7f7f4dcd14fe2ad0b0bb9bf84.jpg"/>
          <p:cNvPicPr/>
          <p:nvPr/>
        </p:nvPicPr>
        <p:blipFill>
          <a:blip r:embed="rId3" cstate="print"/>
          <a:srcRect/>
          <a:stretch>
            <a:fillRect/>
          </a:stretch>
        </p:blipFill>
        <p:spPr bwMode="auto">
          <a:xfrm>
            <a:off x="0" y="1556792"/>
            <a:ext cx="9144000" cy="424847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Service</a:t>
            </a:r>
            <a:r>
              <a:rPr lang="ru-RU" dirty="0" smtClean="0"/>
              <a:t> </a:t>
            </a:r>
            <a:r>
              <a:rPr lang="ru-RU" dirty="0" err="1" smtClean="0"/>
              <a:t>Locator</a:t>
            </a:r>
            <a:r>
              <a:rPr lang="ru-RU" dirty="0" smtClean="0"/>
              <a:t> (локатор служб</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normAutofit fontScale="70000" lnSpcReduction="20000"/>
          </a:bodyPr>
          <a:lstStyle/>
          <a:p>
            <a:r>
              <a:rPr lang="ru-RU" dirty="0" smtClean="0"/>
              <a:t>«Локатор служб» является методом реализации «внедрения зависимости». Он возвращает разные типы объектов (компаний) в зависимости от кода инициализации. Пускай задача стоит доставить наш пакет сока, созданный строителем, фабрикой или ещё чем, куда захотел покупатель. Мы спрашиваем у локатора «дай нам службу доставки», и он нам соединяет на со службой доставки по номеру телефона, который директор ему дал (потому что </a:t>
            </a:r>
            <a:r>
              <a:rPr lang="ru-RU" strike="sngStrike" dirty="0" smtClean="0"/>
              <a:t>получает откат</a:t>
            </a:r>
            <a:r>
              <a:rPr lang="ru-RU" dirty="0" smtClean="0"/>
              <a:t> они нам дают скидку как постоянным клиентам), а мы уже просим службу доставить сок по нужному адресу. Сегодня одна служба, а завтра может быть другая. Нам без разницы какая это конкретно служба, решение принимает директор и сообщает об этом локатору служб, нам важно знать лишь что они могут доставлять то, что мы им скажем туда, куда скажем, то есть службы реализуют интерфейс «Доставить &lt;предмет&gt; на &lt;адрес&gt;».</a:t>
            </a:r>
            <a:endParaRPr lang="ru-R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smtClean="0"/>
              <a:t>Adapter</a:t>
            </a:r>
            <a:r>
              <a:rPr lang="ru-RU" dirty="0" smtClean="0"/>
              <a:t> или </a:t>
            </a:r>
            <a:r>
              <a:rPr lang="ru-RU" dirty="0" err="1" smtClean="0"/>
              <a:t>wrapper</a:t>
            </a:r>
            <a:r>
              <a:rPr lang="ru-RU" dirty="0" smtClean="0"/>
              <a:t> (адаптер, обертка)</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6" name="Содержимое 5" descr="https://habrastorage.org/getpro/habr/post_images/4ae/931/8d8/4ae9318d8b986cf4efada94b9de54761.jpg"/>
          <p:cNvPicPr>
            <a:picLocks noGrp="1"/>
          </p:cNvPicPr>
          <p:nvPr>
            <p:ph idx="1"/>
          </p:nvPr>
        </p:nvPicPr>
        <p:blipFill>
          <a:blip r:embed="rId3" cstate="print"/>
          <a:srcRect/>
          <a:stretch>
            <a:fillRect/>
          </a:stretch>
        </p:blipFill>
        <p:spPr bwMode="auto">
          <a:xfrm>
            <a:off x="0" y="1844824"/>
            <a:ext cx="9144000" cy="403244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smtClean="0"/>
              <a:t>Decorator</a:t>
            </a:r>
            <a:r>
              <a:rPr lang="ru-RU" dirty="0" smtClean="0"/>
              <a:t> (декоратор, оформитель</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15c/27c/26e/15c27c26e08f1936e3f73089ecac3d05.jpg"/>
          <p:cNvPicPr/>
          <p:nvPr/>
        </p:nvPicPr>
        <p:blipFill>
          <a:blip r:embed="rId3" cstate="print"/>
          <a:srcRect/>
          <a:stretch>
            <a:fillRect/>
          </a:stretch>
        </p:blipFill>
        <p:spPr bwMode="auto">
          <a:xfrm>
            <a:off x="0" y="1628800"/>
            <a:ext cx="9144000" cy="388843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Facade</a:t>
            </a:r>
            <a:r>
              <a:rPr lang="ru-RU" dirty="0" smtClean="0"/>
              <a:t> (фасад</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049/2df/3bf/0492df3bf1fc55c520276c618815298a.jpg"/>
          <p:cNvPicPr/>
          <p:nvPr/>
        </p:nvPicPr>
        <p:blipFill>
          <a:blip r:embed="rId3" cstate="print"/>
          <a:srcRect/>
          <a:stretch>
            <a:fillRect/>
          </a:stretch>
        </p:blipFill>
        <p:spPr bwMode="auto">
          <a:xfrm>
            <a:off x="0" y="1844824"/>
            <a:ext cx="9144000" cy="3744416"/>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smtClean="0"/>
              <a:t>Proxy</a:t>
            </a:r>
            <a:r>
              <a:rPr lang="ru-RU" dirty="0" smtClean="0"/>
              <a:t> или </a:t>
            </a:r>
            <a:r>
              <a:rPr lang="ru-RU" dirty="0" err="1" smtClean="0"/>
              <a:t>surrogate</a:t>
            </a:r>
            <a:r>
              <a:rPr lang="ru-RU" dirty="0" smtClean="0"/>
              <a:t> (</a:t>
            </a:r>
            <a:r>
              <a:rPr lang="ru-RU" dirty="0" err="1" smtClean="0"/>
              <a:t>прокси</a:t>
            </a:r>
            <a:r>
              <a:rPr lang="ru-RU" dirty="0" smtClean="0"/>
              <a:t>, заместитель, суррогат</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3c3/c0f/87d/3c3c0f87d7e200b0b383223e547c7f4e.jpg"/>
          <p:cNvPicPr/>
          <p:nvPr/>
        </p:nvPicPr>
        <p:blipFill>
          <a:blip r:embed="rId3" cstate="print"/>
          <a:srcRect/>
          <a:stretch>
            <a:fillRect/>
          </a:stretch>
        </p:blipFill>
        <p:spPr bwMode="auto">
          <a:xfrm>
            <a:off x="0" y="1556792"/>
            <a:ext cx="9144000" cy="4176464"/>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smtClean="0"/>
              <a:t>Command</a:t>
            </a:r>
            <a:r>
              <a:rPr lang="ru-RU" dirty="0" smtClean="0"/>
              <a:t> или </a:t>
            </a:r>
            <a:r>
              <a:rPr lang="ru-RU" dirty="0" err="1" smtClean="0"/>
              <a:t>action</a:t>
            </a:r>
            <a:r>
              <a:rPr lang="ru-RU" dirty="0" smtClean="0"/>
              <a:t> (команда, действие</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0b9/09b/8fb/0b909b8fbe9fa7d4c02225c2004cb126.jpg"/>
          <p:cNvPicPr/>
          <p:nvPr/>
        </p:nvPicPr>
        <p:blipFill>
          <a:blip r:embed="rId3" cstate="print"/>
          <a:srcRect/>
          <a:stretch>
            <a:fillRect/>
          </a:stretch>
        </p:blipFill>
        <p:spPr bwMode="auto">
          <a:xfrm>
            <a:off x="0" y="1556792"/>
            <a:ext cx="9144000" cy="4032448"/>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Iterator</a:t>
            </a:r>
            <a:r>
              <a:rPr lang="ru-RU" dirty="0" smtClean="0"/>
              <a:t> (итератор, указатель</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af1/992/b68/af1992b6809a68dd7743f8e7756ad635.jpg"/>
          <p:cNvPicPr/>
          <p:nvPr/>
        </p:nvPicPr>
        <p:blipFill>
          <a:blip r:embed="rId3" cstate="print"/>
          <a:srcRect/>
          <a:stretch>
            <a:fillRect/>
          </a:stretch>
        </p:blipFill>
        <p:spPr bwMode="auto">
          <a:xfrm>
            <a:off x="0" y="1772816"/>
            <a:ext cx="9144000" cy="3528392"/>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Mediator</a:t>
            </a:r>
            <a:r>
              <a:rPr lang="ru-RU" dirty="0" smtClean="0"/>
              <a:t> (посредник)</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6" name="Рисунок 5" descr="https://habrastorage.org/getpro/habr/post_images/9c4/8eb/8ab/9c48eb8ab34d448fc5886c5c965de090.jpg"/>
          <p:cNvPicPr/>
          <p:nvPr/>
        </p:nvPicPr>
        <p:blipFill>
          <a:blip r:embed="rId3" cstate="print"/>
          <a:srcRect/>
          <a:stretch>
            <a:fillRect/>
          </a:stretch>
        </p:blipFill>
        <p:spPr bwMode="auto">
          <a:xfrm>
            <a:off x="0" y="1988840"/>
            <a:ext cx="9144000" cy="324036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err="1" smtClean="0"/>
              <a:t>Observer</a:t>
            </a:r>
            <a:r>
              <a:rPr lang="ru-RU" dirty="0" smtClean="0"/>
              <a:t> или </a:t>
            </a:r>
            <a:r>
              <a:rPr lang="ru-RU" dirty="0" err="1" smtClean="0"/>
              <a:t>Listener</a:t>
            </a:r>
            <a:r>
              <a:rPr lang="ru-RU" dirty="0" smtClean="0"/>
              <a:t> (наблюдатель, слушатель</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lstStyle/>
          <a:p>
            <a:endParaRPr lang="ru-RU"/>
          </a:p>
        </p:txBody>
      </p:sp>
      <p:pic>
        <p:nvPicPr>
          <p:cNvPr id="7" name="Рисунок 6" descr="https://habrastorage.org/getpro/habr/post_images/cad/355/d48/cad355d48e3b9a2debcad55bc6504beb.jpg"/>
          <p:cNvPicPr/>
          <p:nvPr/>
        </p:nvPicPr>
        <p:blipFill>
          <a:blip r:embed="rId3" cstate="print"/>
          <a:srcRect/>
          <a:stretch>
            <a:fillRect/>
          </a:stretch>
        </p:blipFill>
        <p:spPr bwMode="auto">
          <a:xfrm>
            <a:off x="0" y="1844824"/>
            <a:ext cx="9144000" cy="3744416"/>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Blackboard</a:t>
            </a:r>
            <a:r>
              <a:rPr lang="ru-RU" dirty="0" smtClean="0"/>
              <a:t> (доска объявлений)</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Содержимое 4"/>
          <p:cNvSpPr>
            <a:spLocks noGrp="1"/>
          </p:cNvSpPr>
          <p:nvPr>
            <p:ph idx="1"/>
          </p:nvPr>
        </p:nvSpPr>
        <p:spPr/>
        <p:txBody>
          <a:bodyPr>
            <a:normAutofit fontScale="92500" lnSpcReduction="10000"/>
          </a:bodyPr>
          <a:lstStyle/>
          <a:p>
            <a:r>
              <a:rPr lang="ru-RU" dirty="0" smtClean="0"/>
              <a:t>Данный паттерн служит для обеспечения взаимодействия между большим количеством объектов. Он является расширением паттерна «наблюдатель» и позволяет централизованно обслуживать как «наблюдателей», так и «создателей событий». В аналогии подпиской на </a:t>
            </a:r>
            <a:r>
              <a:rPr lang="ru-RU" dirty="0" err="1" smtClean="0"/>
              <a:t>email</a:t>
            </a:r>
            <a:r>
              <a:rPr lang="ru-RU" dirty="0" smtClean="0"/>
              <a:t> уведомления, это будет сам сайт подписки, который обслуживает множество подписчиков и тех, кто для них создает информацию (сообщения).</a:t>
            </a:r>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Strategy</a:t>
            </a:r>
            <a:r>
              <a:rPr lang="ru-RU" dirty="0" smtClean="0"/>
              <a:t> (стратегия)</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6" name="Содержимое 5" descr="https://habrastorage.org/getpro/habr/post_images/8d8/303/cdb/8d8303cdbc70de33f376454c2eb6934a.jpg"/>
          <p:cNvPicPr>
            <a:picLocks noGrp="1"/>
          </p:cNvPicPr>
          <p:nvPr>
            <p:ph idx="1"/>
          </p:nvPr>
        </p:nvPicPr>
        <p:blipFill>
          <a:blip r:embed="rId3" cstate="print"/>
          <a:srcRect/>
          <a:stretch>
            <a:fillRect/>
          </a:stretch>
        </p:blipFill>
        <p:spPr bwMode="auto">
          <a:xfrm>
            <a:off x="0" y="1700808"/>
            <a:ext cx="9144000" cy="3888432"/>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State</a:t>
            </a:r>
            <a:r>
              <a:rPr lang="ru-RU" dirty="0" smtClean="0"/>
              <a:t> (состояние</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5" name="Рисунок 4" descr="https://habrastorage.org/getpro/habr/post_images/4fb/72c/31e/4fb72c31e718d89f6cefb97af767b6ee.jpg"/>
          <p:cNvPicPr/>
          <p:nvPr/>
        </p:nvPicPr>
        <p:blipFill>
          <a:blip r:embed="rId3" cstate="print"/>
          <a:srcRect/>
          <a:stretch>
            <a:fillRect/>
          </a:stretch>
        </p:blipFill>
        <p:spPr bwMode="auto">
          <a:xfrm>
            <a:off x="0" y="1556792"/>
            <a:ext cx="9144000" cy="396044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dirty="0" err="1" smtClean="0"/>
              <a:t>Visitor</a:t>
            </a:r>
            <a:r>
              <a:rPr lang="ru-RU" dirty="0" smtClean="0"/>
              <a:t> (посетитель</a:t>
            </a:r>
            <a:r>
              <a:rPr lang="ru-RU" dirty="0" smtClean="0"/>
              <a:t>)</a:t>
            </a:r>
            <a:endParaRPr lang="ru-RU" dirty="0"/>
          </a:p>
        </p:txBody>
      </p:sp>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6" name="Рисунок 5" descr="https://habrastorage.org/getpro/habr/post_images/ecb/a77/f17/ecba77f1762c4e96b5b468810bf9edb0.jpg"/>
          <p:cNvPicPr/>
          <p:nvPr/>
        </p:nvPicPr>
        <p:blipFill>
          <a:blip r:embed="rId3" cstate="print"/>
          <a:srcRect/>
          <a:stretch>
            <a:fillRect/>
          </a:stretch>
        </p:blipFill>
        <p:spPr bwMode="auto">
          <a:xfrm>
            <a:off x="0" y="1700808"/>
            <a:ext cx="9144000" cy="3744416"/>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AutoShape 2" descr="Reinventing the Square Wheel - The Daily Software Anti-Patter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sp>
        <p:nvSpPr>
          <p:cNvPr id="5" name="Заголовок 4"/>
          <p:cNvSpPr>
            <a:spLocks noGrp="1"/>
          </p:cNvSpPr>
          <p:nvPr>
            <p:ph type="title"/>
          </p:nvPr>
        </p:nvSpPr>
        <p:spPr/>
        <p:txBody>
          <a:bodyPr/>
          <a:lstStyle/>
          <a:p>
            <a:endParaRPr lang="ru-RU"/>
          </a:p>
        </p:txBody>
      </p:sp>
      <p:pic>
        <p:nvPicPr>
          <p:cNvPr id="36866" name="Picture 2" descr="Паттерны объектно-ориентированного проектирования | Влиссидес Джон, Хелм  Ричард | Электронная книга - купить с доставкой по выгодным ценам в  интернет-магазине OZON (935655689)"/>
          <p:cNvPicPr>
            <a:picLocks noChangeAspect="1" noChangeArrowheads="1"/>
          </p:cNvPicPr>
          <p:nvPr/>
        </p:nvPicPr>
        <p:blipFill>
          <a:blip r:embed="rId3" cstate="print"/>
          <a:srcRect/>
          <a:stretch>
            <a:fillRect/>
          </a:stretch>
        </p:blipFill>
        <p:spPr bwMode="auto">
          <a:xfrm>
            <a:off x="467544" y="0"/>
            <a:ext cx="4608512" cy="6429708"/>
          </a:xfrm>
          <a:prstGeom prst="rect">
            <a:avLst/>
          </a:prstGeom>
          <a:noFill/>
        </p:spPr>
      </p:pic>
      <p:pic>
        <p:nvPicPr>
          <p:cNvPr id="36868" name="Picture 4" descr="https://upload.wikimedia.org/wikipedia/en/7/78/Design_Patterns_cover.jpg"/>
          <p:cNvPicPr>
            <a:picLocks noChangeAspect="1" noChangeArrowheads="1"/>
          </p:cNvPicPr>
          <p:nvPr/>
        </p:nvPicPr>
        <p:blipFill>
          <a:blip r:embed="rId4" cstate="print"/>
          <a:srcRect/>
          <a:stretch>
            <a:fillRect/>
          </a:stretch>
        </p:blipFill>
        <p:spPr bwMode="auto">
          <a:xfrm>
            <a:off x="5292080" y="980728"/>
            <a:ext cx="3571597" cy="4464496"/>
          </a:xfrm>
          <a:prstGeom prst="rect">
            <a:avLst/>
          </a:prstGeom>
          <a:noFill/>
        </p:spPr>
      </p:pic>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619</Words>
  <Application>Microsoft Office PowerPoint</Application>
  <PresentationFormat>Экран (4:3)</PresentationFormat>
  <Paragraphs>65</Paragraphs>
  <Slides>35</Slides>
  <Notes>25</Notes>
  <HiddenSlides>0</HiddenSlides>
  <MMClips>0</MMClips>
  <ScaleCrop>false</ScaleCrop>
  <HeadingPairs>
    <vt:vector size="4" baseType="variant">
      <vt:variant>
        <vt:lpstr>Тема</vt:lpstr>
      </vt:variant>
      <vt:variant>
        <vt:i4>1</vt:i4>
      </vt:variant>
      <vt:variant>
        <vt:lpstr>Заголовки слайдов</vt:lpstr>
      </vt:variant>
      <vt:variant>
        <vt:i4>35</vt:i4>
      </vt:variant>
    </vt:vector>
  </HeadingPairs>
  <TitlesOfParts>
    <vt:vector size="36" baseType="lpstr">
      <vt:lpstr>Тема Office</vt:lpstr>
      <vt:lpstr>Антипаттерны и паттерны</vt:lpstr>
      <vt:lpstr>Анти-паттерны</vt:lpstr>
      <vt:lpstr>Программирование копи-пастом (Copy and Paste Programming)</vt:lpstr>
      <vt:lpstr>Спагетти-код (Spaghetti code)</vt:lpstr>
      <vt:lpstr>Золотой молоток (Golden hammer)</vt:lpstr>
      <vt:lpstr>Магические числа (Magic numbers)</vt:lpstr>
      <vt:lpstr>Жёсткое кодирование (Hard code)</vt:lpstr>
      <vt:lpstr>Мягкое кодирование (Soft code)</vt:lpstr>
      <vt:lpstr>Ненужная сложность (Accidental complexity)</vt:lpstr>
      <vt:lpstr>Лодочный якорь (Boat anchor)</vt:lpstr>
      <vt:lpstr>Изобретение велосипеда (Reinventing the wheel)</vt:lpstr>
      <vt:lpstr>Поток лавы (Lava flow)</vt:lpstr>
      <vt:lpstr>Программирование перебором (Programming by permutation)</vt:lpstr>
      <vt:lpstr>Слепая вера (Blind faith)</vt:lpstr>
      <vt:lpstr>Божественный объект (God Object)</vt:lpstr>
      <vt:lpstr>Виды паттернов</vt:lpstr>
      <vt:lpstr>Виды паттернов</vt:lpstr>
      <vt:lpstr>Singleton (одиночка)</vt:lpstr>
      <vt:lpstr>Prototype (прототип)</vt:lpstr>
      <vt:lpstr>Factory (фабрика)</vt:lpstr>
      <vt:lpstr>Builder (строитель)</vt:lpstr>
      <vt:lpstr>Service Locator (локатор служб)</vt:lpstr>
      <vt:lpstr>Adapter или wrapper (адаптер, обертка)</vt:lpstr>
      <vt:lpstr>Decorator (декоратор, оформитель)</vt:lpstr>
      <vt:lpstr>Facade (фасад)</vt:lpstr>
      <vt:lpstr>Proxy или surrogate (прокси, заместитель, суррогат)</vt:lpstr>
      <vt:lpstr>Command или action (команда, действие)</vt:lpstr>
      <vt:lpstr>Iterator (итератор, указатель)</vt:lpstr>
      <vt:lpstr>Mediator (посредник)</vt:lpstr>
      <vt:lpstr>Observer или Listener (наблюдатель, слушатель)</vt:lpstr>
      <vt:lpstr>Blackboard (доска объявлений)</vt:lpstr>
      <vt:lpstr>Strategy (стратегия)</vt:lpstr>
      <vt:lpstr>State (состояние)</vt:lpstr>
      <vt:lpstr>Visitor (посетитель)</vt:lpstr>
      <vt:lpstr>Слайд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Антипаттерны и паттерны</dc:title>
  <dc:creator>Александра Титова</dc:creator>
  <cp:lastModifiedBy>Александра Титова</cp:lastModifiedBy>
  <cp:revision>5</cp:revision>
  <dcterms:created xsi:type="dcterms:W3CDTF">2023-10-13T09:25:35Z</dcterms:created>
  <dcterms:modified xsi:type="dcterms:W3CDTF">2023-10-13T15:48:35Z</dcterms:modified>
</cp:coreProperties>
</file>